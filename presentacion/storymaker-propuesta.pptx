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Fraunces Medium" pitchFamily="2" charset="0"/>
      <p:italic r:id="rId26"/>
    </p:embeddedFont>
    <p:embeddedFont>
      <p:font typeface="Fraunces SemiBold" pitchFamily="2" charset="0"/>
      <p:bold r:id="rId27"/>
      <p:boldItalic r:id="rId28"/>
    </p:embeddedFont>
    <p:embeddedFont>
      <p:font typeface="Inter" panose="02000503000000020004" pitchFamily="2" charset="0"/>
      <p:regular r:id="rId29"/>
      <p:bold r:id="rId30"/>
    </p:embeddedFont>
    <p:embeddedFont>
      <p:font typeface="Inter Medium" panose="02000503000000020004" pitchFamily="2" charset="0"/>
      <p:regular r:id="rId31"/>
    </p:embeddedFont>
    <p:embeddedFont>
      <p:font typeface="Inter SemiBold" panose="02000503000000020004" pitchFamily="2" charset="0"/>
      <p:bold r:id="rId32"/>
    </p:embeddedFont>
    <p:embeddedFont>
      <p:font typeface="JetBrains Mono" panose="02000009000000000000" pitchFamily="49" charset="0"/>
      <p:regular r:id="rId33"/>
      <p:bold r:id="rId34"/>
    </p:embeddedFont>
    <p:embeddedFont>
      <p:font typeface="JetBrains Mono Medium" panose="02000009000000000000" pitchFamily="49" charset="0"/>
      <p:regular r:id="rId3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369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Soy [TU NOMBRE], de Qapítulo, una iniciativa de Qaracter. Venimos a proponer a Relicario una línea de producto nueva: la Novela Relicario, novelas históricas personalizadas para regalar, verificadas antes de llegar a quien las recibe. Lo que os enseñamos es la prueba de concepto, la versión 1, funcionando de verdad; al final veréis cómo sería la versión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idea cabe en una frase. El comprador nos da un nombre, una época, unos recuerdos y lo que no debe aparecer. El sistema investiga la época, escribe diez capítulos y verifica cada uno antes de seguir. Abajo tenéis tres novelas reales de diez capítulos, ya publicadas: una cerera en la Santiago del Pórtico de la Gloria, un aprendiz de relojero en el Madrid de Carlos III y una ayudante de iluminación en la Fuente Mágica de Montjuïc.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Quien compra en Relicario no busca un objeto: busca que la otra persona se emocione. Son hijos que preparan una jubilación, parejas en un aniversario o una boda, amigos en unos sesenta. Todos esperan lo mismo: que el homenajeado se reconozca, con su nombre, sus manías y sus recuerdos; que se lea de un tirón, y que sea único, no una plantilla con el nombre cambiado. Y esas dos exigencias pesan igual.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Hoy hay tres opciones y cada una falla en algo. El libro de plantilla es barato, pero solo cambia el nombre. El escritor por encargo lo hace todo bien, pero cuesta cientos de euros y tarda semanas. Un chatbot escribe bien una escena, pero en diez capítulos se contradice, repite frases y cierra de golpe. Ese es nuestro hueco: no escribimos mejor que el modelo, lo controlamos capítulo a capítulo. A 59 euros y en horas.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 empieza con una conversación corta. El comprador escribe una premisa libre y un agente entrevistador pregunta solo lo que falta. Sale un brief validado con schema, que el autor aprueba en el primer gate. Por el camino, cuatro detectores de código, no del modelo, buscan contradicciones, como una edad que no encaja con la época. Si el comprador pega una carta, el texto se trata como no confiable: va a cuarentena y de ahí solo salen hechos tipados. Aquí también se dice qué no debe aparecer: en este brief de Cádiz, «pirata», «tesoro» y «naufragio».</a:t>
            </a:r>
          </a:p>
          <a:p>
            <a:endParaRPr/>
          </a:p>
          <a:p>
            <a:r>
              <a:t>Gesto. Señala la línea de palabras prohibidas del YAML: vuelve en la slide 17.</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novela se lee en web y en PDF, y las dos salen de la misma ruta: el PDF es la web impresa con Playwright, así que nunca divergen. Tiene un índice navegable que marca los capítulos que cambiaron, una ficha de personajes y lugares sacada de la story bible con enlaces a cada capítulo, y una portada con dedicatoria. Para pedir un cambio, el lector selecciona el fragmento y escribe lo que quiere: eso va al gate de Regeneración. La versión anterior se conserva siempre.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dentro hay seis fases. En Intake se cierra el brief. En Investigation el investigador, el único con internet, busca los hechos de la época, y un verificador comprueba que cada cita dice lo que el hecho afirma. En Plotting, el planner, el arquitecto, escribe el canon y la escaleta, y se sella el corpus. En Writing trabajan el writer y el editor. Publication la cierra el juez con Lean y el render. Y Regeneration atiende los cambios del lector. Son nueve roles, todos en Haiku 4.5, orquestados con LangGraph, y con una regla: quien escribe no aprueba. El editor repara dentro del bucle y el juez mide fuera sin tocar el texto. En cinco puntos decide un humano.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decisión de la que cuelga todo: los validadores son nodos del grafo, no herramientas que un agente decide llamar. Lo que un modelo puede olvidarse de invocar no es una comprobación. Cada capítulo pasa primero lo gratis, que es longitud, nombres y palabras prohibidas; solo si sale limpio se paga el extractor y Lean. Si algo falla, el editor emite un parche, con dos reintentos como máximo y un contador compartido. Y el checkpoint va en la misma transacción que el capítulo: si el proceso muere, se reanuda sin perder ni duplicar nada.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writer no busca su contexto: lo recibe. Un módulo de código sin nada de inteligente le arma un paquete de siete bloques, con doce mil tokens de techo: el encargo, los personajes que salen, lo que ya ha pasado, el capítulo anterior entero, los hechos históricos con su firmeza, las reglas y la personalización del capítulo. Todo sale de la story bible, un SQLite por novela en el que cada hecho sabe qué capítulos lo usan. Y los cien mil tokens concurrentes no se vigilan: se garantizan por construcción. El peor caso son cuarenta y cinco mil.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decisiones lo explican todo. Validar no es opcional. El estado vive en un solo sitio. Y nada se sobrescribe: una versión es una lista de capítulos inmutables, así que conservar la anterior sale gratis. Para trabajar con Claude Code hay un CLAUDE.md, una skill de continuidad y dos hooks, uno que valida el capítulo editado y otro de policy, que usan el mismo código que el grafo.</a:t>
            </a:r>
          </a:p>
          <a:p>
            <a:endParaRPr/>
          </a:p>
          <a:p>
            <a:r>
              <a:t>Si vas justo, di solo las tres decisiones y pasa.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cuatro familias de validadores. Once programáticos y deterministas, del schema al render visual con Playwright. Semánticos: el juez, con ocho criterios y justificación, y una revisión humana con la misma rúbrica; en la novela de Barcelona, la persona dio 8,75 y el juez 7,88. Lean 4 para la cronología de la historia. Y TLA+ para el propio harness. Cada uno en su punto del grafo, y todos mandan su resultado a Langfuse.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evals de verdad: cinco briefs de diez capítulos, dos adversariales y tres novelas de referencia, todas publicadas. Cada cruz convertida en check es un rechazo de un validador que el editor reparó antes de publicar: los sesenta capítulos pasan los deterministas y Lean. Y hay dos filas que no escondemos. En la de Cádiz se colaron en dos capítulos las etiquetas de privacidad de la organización, y en el adversarial temporal Lean no vio a Gravina vivo en 1808. Cada novela cuesta entre dos y tres dólares y medio, y el juez da una media de 7,49.</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mejora más importante la encontró una lectura humana. En la novela de Sevilla, el juez puso un ocho en continuidad mientras la firma de un mapa se contradecía en cinco capítulos. Cambiamos dos cosas: el juez enumera ahora las contradicciones antes de puntuar, y Python le topa la nota. En Cádiz 1812 encontró tres y la continuidad bajó a cuatro. Además, el writer recibe lo que ya pasó y las palabras ya gastadas.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caso que pide el enunciado. En la novela de Madrid 1919, la homenajeada nace en 1967 y la novela la pone en 1917. Ningún validador de texto lo ve y el juez le dio un 7. Lean compara fechas: «nadie antes de nacer» falla en nueve escenas y veintiséis eventos. Hoy eso bloquea la publicación. Y el límite, que encontró nuestro propio adversarial: Lean es tan fiable como sus fechas. El arquitecto movió la muerte de Gravina a 1809 sin fuente, y Lean validó contra ella.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Lean verifica la historia; TLA+ verifica el sistema. TLC recorre todos los estados del modelo, doce mil seiscientos en interactivo y cuatro mil cuatrocientos en batch, sin violaciones. Antes cazó tres errores de diseño: un «rehacer» que duplicaba capítulos, un juez que podía rechazar para siempre y una equidad que no bastaba.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 se ve en Langfuse: un span por rol con sus herramientas y los scores de todos los validadores. Esta novela costó 3,62 dólares, exactamente lo que registra el arnés.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¿Recordáis «tesoro»? El writer escribió «no el oro, sino el tesoro que permanecería». El guardrail lo cazó, el capítulo volvió al editor y el siguiente intento salió sin la palabra. Pero el red-team encontró lo contrario: de cuatro rechazos reales, tres eran falsos positivos. «Respiratorio» contiene la raíz de «pirata», y eso detuvo una novela. Es el siguiente arreglo. Una carta con cinco órdenes inyectadas no metió ni una en el texto. Y el único rol con internet nunca recibe los datos del homenajeado.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Vamos a los números. Una novela de diez capítulos gasta en tokens una media de tres dólares, medida fase a fase: unos 2,77 euros. Las cinco novelas publicadas de diez capítulos lo confirman. Con las revisiones, la infraestructura, el mantenimiento y veinte minutos de supervisión humana, el coste es de 13,90 euros. La vendemos a 59, con tres revisiones incluidas: 34,86 euros de margen, un 71,5 %. Y ojo: lo caro no son los tokens, es la supervisión de los gates.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desarrollo lo estimamos en 420 horas a 65 euros: 27.300 euros entre diseño, desarrollo, validación y despliegue. Con 590 euros de fijos al mes, el margen mensual es de unos 1.250 euros con 50 novelas, 10.500 con 300 y 36.000 con mil. La sensibilidad dice dónde está el riesgo: si los tokens suben un 50 %, perdemos un 5 %; si un cliente pide seis revisiones, un 34 %. Por eso, a partir de la cuarta revisión se cobran 4,90 euros y el margen se recupera.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 novela del aguador, el lector no quiere que un personaje se llame Cayetano. Lo selecciona en el capítulo 1 y escribe «se llama Amancio». El sistema busca en la story bible y enseña al autor los candidatos con su coste: habría que regenerar los capítulos 1, 2, 4 y 5 y revisar el 3. El autor confirma la fila y el nombre nuevo; ningún modelo interpreta la petición. Se reescriben esos capítulos, y aquí también el 3, porque su primer intento se pasó de longitud. Lean y el render dan el visto bueno, se publica la versión 3 y las anteriores quedan intactas. Costó 94 céntimos de dólar. En una novela de diez capítulos, un cambio parecido reescribió tres y reutilizó siete.</a:t>
            </a:r>
          </a:p>
          <a:p>
            <a:endParaRPr/>
          </a:p>
          <a:p>
            <a:r>
              <a:t>Y en directo. La rama fase-6-regeneracion tiene un gate de Regeneración pendiente. Si hay tiempo, apruébalo delante del tribunal y enseña cómo arranca. El resultado tarda minutos, así que remite a esta slide.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Esto es la versión 1, una prueba de concepto. Hoy un humano aprueba cinco gates, y eso es lo que más cuesta: veinte minutos por novela. En la versión 2, esos gates los sustituyen críticos internos que revisan con más dureza la investigación histórica, el canon y la escaleta, y cada capítulo, con modelos mejores donde hace falta. Hay dos escenarios. Con Sonnet 5 en los roles clave, los tokens suben a 7,7 euros, pero la supervisión baja a cinco minutos por muestreo, y la novela cuesta prácticamente lo mismo, 14 euros, con un 71 % de margen. Con Opus 5 en el arquitecto, los críticos y el juez, cuesta 19,5 euros y el margen es del 60 %. Desarrollarlo son 210 horas, unos 14.000 euros.</a:t>
            </a:r>
          </a:p>
          <a:p>
            <a:endParaRPr/>
          </a:p>
          <a:p>
            <a:r>
              <a:t>Si preguntan por qué no se hizo ya así. Porque primero había que medir: sin los gates humanos no habríamos visto RT-07, RT-08 ni RT-09, y un crítico solo sustituye a un gate cuando las evals demuestran que caza lo mismo.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riesgos, con franqueza. Hoy el modelo corre sobre una sesión de Claude Code, y producción necesita una API propia. El juez es el mismo modelo que escribe, y lo calibramos con revisión humana. Y las fechas de los personajes históricos que no están en el corpus las pone el arquitecto. Lo siguiente, por orden: un piloto de cincuenta novelas con Relicario, sacar esas fechas del corpus, que es un arreglo determinista, y después la versión 2 con sus críticos.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Gracias. Quedamos a vuestra disposición para las preguntas técnicas.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2433"/>
        </a:solidFill>
        <a:effectLst/>
      </p:bgPr>
    </p:bg>
    <p:spTree>
      <p:nvGrpSpPr>
        <p:cNvPr id="1" name=""/>
        <p:cNvGrpSpPr/>
        <p:nvPr/>
      </p:nvGrpSpPr>
      <p:grpSpPr>
        <a:xfrm>
          <a:off x="0" y="0"/>
          <a:ext cx="0" cy="0"/>
          <a:chOff x="0" y="0"/>
          <a:chExt cx="0" cy="0"/>
        </a:xfrm>
      </p:grpSpPr>
      <p:sp>
        <p:nvSpPr>
          <p:cNvPr id="2" name="Rectangle 1"/>
          <p:cNvSpPr/>
          <p:nvPr/>
        </p:nvSpPr>
        <p:spPr>
          <a:xfrm>
            <a:off x="1428750" y="609600"/>
            <a:ext cx="5143500" cy="5638800"/>
          </a:xfrm>
          <a:prstGeom prst="rect">
            <a:avLst/>
          </a:prstGeom>
          <a:noFill/>
          <a:ln w="9525">
            <a:solidFill>
              <a:srgbClr val="C9A34E"/>
            </a:solidFill>
          </a:ln>
        </p:spPr>
        <p:txBody>
          <a:bodyPr rtlCol="0" anchor="ctr"/>
          <a:lstStyle/>
          <a:p>
            <a:endParaRPr/>
          </a:p>
        </p:txBody>
      </p:sp>
      <p:sp>
        <p:nvSpPr>
          <p:cNvPr id="3" name="Rectangle 2"/>
          <p:cNvSpPr/>
          <p:nvPr/>
        </p:nvSpPr>
        <p:spPr>
          <a:xfrm>
            <a:off x="1552575" y="733425"/>
            <a:ext cx="4895850" cy="5391150"/>
          </a:xfrm>
          <a:prstGeom prst="rect">
            <a:avLst/>
          </a:prstGeom>
          <a:noFill/>
          <a:ln w="9525">
            <a:solidFill>
              <a:srgbClr val="C9A34E"/>
            </a:solidFill>
          </a:ln>
        </p:spPr>
        <p:txBody>
          <a:bodyPr rtlCol="0" anchor="ctr"/>
          <a:lstStyle/>
          <a:p>
            <a:endParaRPr/>
          </a:p>
        </p:txBody>
      </p:sp>
      <p:pic>
        <p:nvPicPr>
          <p:cNvPr id="4" name="Picture 3" descr="r000.png"/>
          <p:cNvPicPr>
            <a:picLocks noChangeAspect="1"/>
          </p:cNvPicPr>
          <p:nvPr/>
        </p:nvPicPr>
        <p:blipFill>
          <a:blip r:embed="rId3"/>
          <a:stretch>
            <a:fillRect/>
          </a:stretch>
        </p:blipFill>
        <p:spPr>
          <a:xfrm>
            <a:off x="1971675" y="1228725"/>
            <a:ext cx="552450" cy="609600"/>
          </a:xfrm>
          <a:prstGeom prst="rect">
            <a:avLst/>
          </a:prstGeom>
        </p:spPr>
      </p:pic>
      <p:sp>
        <p:nvSpPr>
          <p:cNvPr id="5" name="TextBox 4"/>
          <p:cNvSpPr txBox="1"/>
          <p:nvPr/>
        </p:nvSpPr>
        <p:spPr>
          <a:xfrm>
            <a:off x="2676525" y="1285875"/>
            <a:ext cx="1796415" cy="495300"/>
          </a:xfrm>
          <a:prstGeom prst="rect">
            <a:avLst/>
          </a:prstGeom>
          <a:noFill/>
        </p:spPr>
        <p:txBody>
          <a:bodyPr wrap="none" lIns="0" tIns="0" rIns="0" bIns="0" anchor="t">
            <a:noAutofit/>
          </a:bodyPr>
          <a:lstStyle/>
          <a:p>
            <a:pPr algn="l">
              <a:lnSpc>
                <a:spcPts val="3600"/>
              </a:lnSpc>
              <a:spcBef>
                <a:spcPts val="0"/>
              </a:spcBef>
              <a:spcAft>
                <a:spcPts val="0"/>
              </a:spcAft>
            </a:pPr>
            <a:r>
              <a:rPr sz="3150" b="0" i="0">
                <a:solidFill>
                  <a:srgbClr val="F5EFE3"/>
                </a:solidFill>
                <a:latin typeface="Fraunces SemiBold"/>
                <a:ea typeface="Fraunces SemiBold"/>
                <a:cs typeface="Fraunces SemiBold"/>
              </a:rPr>
              <a:t>Qapítulo</a:t>
            </a:r>
          </a:p>
        </p:txBody>
      </p:sp>
      <p:sp>
        <p:nvSpPr>
          <p:cNvPr id="6" name="TextBox 5"/>
          <p:cNvSpPr txBox="1"/>
          <p:nvPr/>
        </p:nvSpPr>
        <p:spPr>
          <a:xfrm>
            <a:off x="2676525" y="1914525"/>
            <a:ext cx="1826133"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A5A5A3"/>
                </a:solidFill>
                <a:latin typeface="Inter"/>
                <a:ea typeface="Inter"/>
                <a:cs typeface="Inter"/>
              </a:rPr>
              <a:t>una iniciativa de Qaracter</a:t>
            </a:r>
          </a:p>
        </p:txBody>
      </p:sp>
      <p:sp>
        <p:nvSpPr>
          <p:cNvPr id="7" name="TextBox 6"/>
          <p:cNvSpPr txBox="1"/>
          <p:nvPr/>
        </p:nvSpPr>
        <p:spPr>
          <a:xfrm>
            <a:off x="1971675" y="2447925"/>
            <a:ext cx="4091521" cy="1247775"/>
          </a:xfrm>
          <a:prstGeom prst="rect">
            <a:avLst/>
          </a:prstGeom>
          <a:noFill/>
        </p:spPr>
        <p:txBody>
          <a:bodyPr wrap="square" lIns="0" tIns="0" rIns="0" bIns="0" anchor="t">
            <a:noAutofit/>
          </a:bodyPr>
          <a:lstStyle/>
          <a:p>
            <a:pPr algn="l">
              <a:lnSpc>
                <a:spcPts val="4650"/>
              </a:lnSpc>
              <a:spcBef>
                <a:spcPts val="0"/>
              </a:spcBef>
              <a:spcAft>
                <a:spcPts val="0"/>
              </a:spcAft>
            </a:pPr>
            <a:r>
              <a:rPr sz="4200" b="0" i="0">
                <a:solidFill>
                  <a:srgbClr val="F5EFE3"/>
                </a:solidFill>
                <a:latin typeface="Fraunces SemiBold"/>
                <a:ea typeface="Fraunces SemiBold"/>
                <a:cs typeface="Fraunces SemiBold"/>
              </a:rPr>
              <a:t>Novela Relicario</a:t>
            </a:r>
          </a:p>
        </p:txBody>
      </p:sp>
      <p:sp>
        <p:nvSpPr>
          <p:cNvPr id="8" name="TextBox 7"/>
          <p:cNvSpPr txBox="1"/>
          <p:nvPr/>
        </p:nvSpPr>
        <p:spPr>
          <a:xfrm>
            <a:off x="1971675" y="3819525"/>
            <a:ext cx="4091521" cy="533400"/>
          </a:xfrm>
          <a:prstGeom prst="rect">
            <a:avLst/>
          </a:prstGeom>
          <a:noFill/>
        </p:spPr>
        <p:txBody>
          <a:bodyPr wrap="square" lIns="0" tIns="0" rIns="0" bIns="0" anchor="t">
            <a:noAutofit/>
          </a:bodyPr>
          <a:lstStyle/>
          <a:p>
            <a:pPr algn="l">
              <a:lnSpc>
                <a:spcPts val="2250"/>
              </a:lnSpc>
              <a:spcBef>
                <a:spcPts val="0"/>
              </a:spcBef>
              <a:spcAft>
                <a:spcPts val="0"/>
              </a:spcAft>
            </a:pPr>
            <a:r>
              <a:rPr sz="1650" b="0" i="0">
                <a:solidFill>
                  <a:srgbClr val="C9A34E"/>
                </a:solidFill>
                <a:latin typeface="Inter"/>
                <a:ea typeface="Inter"/>
                <a:cs typeface="Inter"/>
              </a:rPr>
              <a:t>Novelas históricas personalizadas, verificadas antes de regalarse</a:t>
            </a:r>
          </a:p>
        </p:txBody>
      </p:sp>
      <p:sp>
        <p:nvSpPr>
          <p:cNvPr id="9" name="Rectangle 8"/>
          <p:cNvSpPr/>
          <p:nvPr/>
        </p:nvSpPr>
        <p:spPr>
          <a:xfrm>
            <a:off x="1971675" y="4638675"/>
            <a:ext cx="685800" cy="9525"/>
          </a:xfrm>
          <a:prstGeom prst="rect">
            <a:avLst/>
          </a:prstGeom>
          <a:noFill/>
          <a:ln>
            <a:noFill/>
          </a:ln>
        </p:spPr>
        <p:txBody>
          <a:bodyPr rtlCol="0" anchor="ctr"/>
          <a:lstStyle/>
          <a:p>
            <a:endParaRPr/>
          </a:p>
        </p:txBody>
      </p:sp>
      <p:cxnSp>
        <p:nvCxnSpPr>
          <p:cNvPr id="10" name="Connector 9"/>
          <p:cNvCxnSpPr/>
          <p:nvPr/>
        </p:nvCxnSpPr>
        <p:spPr>
          <a:xfrm>
            <a:off x="1971675" y="4643438"/>
            <a:ext cx="685800" cy="0"/>
          </a:xfrm>
          <a:prstGeom prst="line">
            <a:avLst/>
          </a:prstGeom>
          <a:ln w="9525">
            <a:solidFill>
              <a:srgbClr val="C9A34E"/>
            </a:solidFill>
          </a:ln>
        </p:spPr>
      </p:cxnSp>
      <p:sp>
        <p:nvSpPr>
          <p:cNvPr id="11" name="TextBox 10"/>
          <p:cNvSpPr txBox="1"/>
          <p:nvPr/>
        </p:nvSpPr>
        <p:spPr>
          <a:xfrm>
            <a:off x="1971675" y="4867275"/>
            <a:ext cx="3470374" cy="190500"/>
          </a:xfrm>
          <a:prstGeom prst="rect">
            <a:avLst/>
          </a:prstGeom>
          <a:noFill/>
        </p:spPr>
        <p:txBody>
          <a:bodyPr wrap="none" lIns="0" tIns="0" rIns="0" bIns="0" anchor="t">
            <a:noAutofit/>
          </a:bodyPr>
          <a:lstStyle/>
          <a:p>
            <a:pPr algn="l">
              <a:lnSpc>
                <a:spcPts val="2025"/>
              </a:lnSpc>
              <a:spcBef>
                <a:spcPts val="0"/>
              </a:spcBef>
              <a:spcAft>
                <a:spcPts val="0"/>
              </a:spcAft>
            </a:pPr>
            <a:r>
              <a:rPr sz="1300" b="0" i="0">
                <a:solidFill>
                  <a:srgbClr val="CFCCC6"/>
                </a:solidFill>
                <a:latin typeface="Inter"/>
                <a:ea typeface="Inter"/>
                <a:cs typeface="Inter"/>
              </a:rPr>
              <a:t>Propuesta técnico-comercial para Relicario</a:t>
            </a:r>
          </a:p>
        </p:txBody>
      </p:sp>
      <p:sp>
        <p:nvSpPr>
          <p:cNvPr id="12" name="TextBox 11"/>
          <p:cNvSpPr txBox="1"/>
          <p:nvPr/>
        </p:nvSpPr>
        <p:spPr>
          <a:xfrm>
            <a:off x="1971675" y="5124450"/>
            <a:ext cx="2956655" cy="161925"/>
          </a:xfrm>
          <a:prstGeom prst="rect">
            <a:avLst/>
          </a:prstGeom>
          <a:noFill/>
        </p:spPr>
        <p:txBody>
          <a:bodyPr wrap="none" lIns="0" tIns="0" rIns="0" bIns="0" anchor="t">
            <a:noAutofit/>
          </a:bodyPr>
          <a:lstStyle/>
          <a:p>
            <a:pPr algn="l">
              <a:lnSpc>
                <a:spcPts val="1500"/>
              </a:lnSpc>
              <a:spcBef>
                <a:spcPts val="0"/>
              </a:spcBef>
              <a:spcAft>
                <a:spcPts val="0"/>
              </a:spcAft>
            </a:pPr>
            <a:r>
              <a:rPr sz="1050" b="0" i="0" spc="126">
                <a:solidFill>
                  <a:srgbClr val="C9A34E"/>
                </a:solidFill>
                <a:latin typeface="Inter SemiBold"/>
                <a:ea typeface="Inter SemiBold"/>
                <a:cs typeface="Inter SemiBold"/>
              </a:rPr>
              <a:t>PRUEBA DE CONCEPTO · VERSIÓN 1</a:t>
            </a:r>
          </a:p>
        </p:txBody>
      </p:sp>
      <p:sp>
        <p:nvSpPr>
          <p:cNvPr id="13" name="TextBox 12"/>
          <p:cNvSpPr txBox="1"/>
          <p:nvPr/>
        </p:nvSpPr>
        <p:spPr>
          <a:xfrm>
            <a:off x="1971675" y="5391150"/>
            <a:ext cx="4091521" cy="447675"/>
          </a:xfrm>
          <a:prstGeom prst="rect">
            <a:avLst/>
          </a:prstGeom>
          <a:noFill/>
        </p:spPr>
        <p:txBody>
          <a:bodyPr wrap="square" lIns="0" tIns="0" rIns="0" bIns="0" anchor="t">
            <a:noAutofit/>
          </a:bodyPr>
          <a:lstStyle/>
          <a:p>
            <a:pPr algn="l">
              <a:lnSpc>
                <a:spcPts val="2025"/>
              </a:lnSpc>
              <a:spcBef>
                <a:spcPts val="0"/>
              </a:spcBef>
              <a:spcAft>
                <a:spcPts val="0"/>
              </a:spcAft>
            </a:pPr>
            <a:r>
              <a:rPr sz="1300" b="0" i="0">
                <a:solidFill>
                  <a:srgbClr val="CFCCC6"/>
                </a:solidFill>
                <a:latin typeface="Inter"/>
                <a:ea typeface="Inter"/>
                <a:cs typeface="Inter"/>
              </a:rPr>
              <a:t>[FECHA DE LA PRESENTACIÓN]</a:t>
            </a:r>
          </a:p>
          <a:p>
            <a:pPr algn="l">
              <a:lnSpc>
                <a:spcPts val="2025"/>
              </a:lnSpc>
              <a:spcBef>
                <a:spcPts val="0"/>
              </a:spcBef>
              <a:spcAft>
                <a:spcPts val="0"/>
              </a:spcAft>
            </a:pPr>
            <a:r>
              <a:rPr sz="1300" b="0" i="0">
                <a:solidFill>
                  <a:srgbClr val="CFCCC6"/>
                </a:solidFill>
                <a:latin typeface="Inter"/>
                <a:ea typeface="Inter"/>
                <a:cs typeface="Inter"/>
              </a:rPr>
              <a:t>Presenta: [TU NOMBRE] · Qapítulo</a:t>
            </a:r>
          </a:p>
        </p:txBody>
      </p:sp>
      <p:pic>
        <p:nvPicPr>
          <p:cNvPr id="14" name="Picture 13" descr="r001.png"/>
          <p:cNvPicPr>
            <a:picLocks noChangeAspect="1"/>
          </p:cNvPicPr>
          <p:nvPr/>
        </p:nvPicPr>
        <p:blipFill>
          <a:blip r:embed="rId4"/>
          <a:stretch>
            <a:fillRect/>
          </a:stretch>
        </p:blipFill>
        <p:spPr>
          <a:xfrm>
            <a:off x="7524750" y="2705100"/>
            <a:ext cx="590550" cy="762000"/>
          </a:xfrm>
          <a:prstGeom prst="rect">
            <a:avLst/>
          </a:prstGeom>
        </p:spPr>
      </p:pic>
      <p:sp>
        <p:nvSpPr>
          <p:cNvPr id="15" name="TextBox 14"/>
          <p:cNvSpPr txBox="1"/>
          <p:nvPr/>
        </p:nvSpPr>
        <p:spPr>
          <a:xfrm>
            <a:off x="8324850" y="2495550"/>
            <a:ext cx="1125593"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A5A5A3"/>
                </a:solidFill>
                <a:latin typeface="Inter"/>
                <a:ea typeface="Inter"/>
                <a:cs typeface="Inter"/>
              </a:rPr>
              <a:t>Preparado para</a:t>
            </a:r>
          </a:p>
        </p:txBody>
      </p:sp>
      <p:sp>
        <p:nvSpPr>
          <p:cNvPr id="16" name="TextBox 15"/>
          <p:cNvSpPr txBox="1"/>
          <p:nvPr/>
        </p:nvSpPr>
        <p:spPr>
          <a:xfrm>
            <a:off x="8324850" y="2676525"/>
            <a:ext cx="1517809" cy="400050"/>
          </a:xfrm>
          <a:prstGeom prst="rect">
            <a:avLst/>
          </a:prstGeom>
          <a:noFill/>
        </p:spPr>
        <p:txBody>
          <a:bodyPr wrap="none" lIns="0" tIns="0" rIns="0" bIns="0" anchor="t">
            <a:noAutofit/>
          </a:bodyPr>
          <a:lstStyle/>
          <a:p>
            <a:pPr algn="l">
              <a:lnSpc>
                <a:spcPts val="3000"/>
              </a:lnSpc>
              <a:spcBef>
                <a:spcPts val="0"/>
              </a:spcBef>
              <a:spcAft>
                <a:spcPts val="0"/>
              </a:spcAft>
            </a:pPr>
            <a:r>
              <a:rPr sz="2550" b="0" i="0">
                <a:solidFill>
                  <a:srgbClr val="F5EFE3"/>
                </a:solidFill>
                <a:latin typeface="Fraunces SemiBold"/>
                <a:ea typeface="Fraunces SemiBold"/>
                <a:cs typeface="Fraunces SemiBold"/>
              </a:rPr>
              <a:t>Relicario</a:t>
            </a:r>
          </a:p>
        </p:txBody>
      </p:sp>
      <p:sp>
        <p:nvSpPr>
          <p:cNvPr id="17" name="TextBox 16"/>
          <p:cNvSpPr txBox="1"/>
          <p:nvPr/>
        </p:nvSpPr>
        <p:spPr>
          <a:xfrm>
            <a:off x="8324850" y="3105150"/>
            <a:ext cx="2654198" cy="5619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A5A5A3"/>
                </a:solidFill>
                <a:latin typeface="Inter"/>
                <a:ea typeface="Inter"/>
                <a:cs typeface="Inter"/>
              </a:rPr>
              <a:t>Regalos personalizados para bodas, aniversarios, jubilaciones y cumpleaños redondos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37445" y="323850"/>
            <a:ext cx="100362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EL ENCARGO</a:t>
            </a:r>
          </a:p>
        </p:txBody>
      </p:sp>
      <p:sp>
        <p:nvSpPr>
          <p:cNvPr id="3" name="TextBox 2"/>
          <p:cNvSpPr txBox="1"/>
          <p:nvPr/>
        </p:nvSpPr>
        <p:spPr>
          <a:xfrm>
            <a:off x="609600" y="323850"/>
            <a:ext cx="903946"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a:t>
            </a:r>
          </a:p>
        </p:txBody>
      </p:sp>
      <p:sp>
        <p:nvSpPr>
          <p:cNvPr id="4" name="Rectangle 3"/>
          <p:cNvSpPr/>
          <p:nvPr/>
        </p:nvSpPr>
        <p:spPr>
          <a:xfrm>
            <a:off x="1556445" y="395288"/>
            <a:ext cx="266700" cy="9525"/>
          </a:xfrm>
          <a:prstGeom prst="rect">
            <a:avLst/>
          </a:prstGeom>
          <a:noFill/>
          <a:ln>
            <a:noFill/>
          </a:ln>
        </p:spPr>
        <p:txBody>
          <a:bodyPr rtlCol="0" anchor="ctr"/>
          <a:lstStyle/>
          <a:p>
            <a:endParaRPr/>
          </a:p>
        </p:txBody>
      </p:sp>
      <p:cxnSp>
        <p:nvCxnSpPr>
          <p:cNvPr id="5" name="Connector 4"/>
          <p:cNvCxnSpPr/>
          <p:nvPr/>
        </p:nvCxnSpPr>
        <p:spPr>
          <a:xfrm>
            <a:off x="1556445"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Convertimos a la persona homenajeada en protagonista de un momento histórico real</a:t>
            </a:r>
          </a:p>
        </p:txBody>
      </p:sp>
      <p:sp>
        <p:nvSpPr>
          <p:cNvPr id="7" name="Rounded Rectangle 6"/>
          <p:cNvSpPr/>
          <p:nvPr/>
        </p:nvSpPr>
        <p:spPr>
          <a:xfrm>
            <a:off x="609600" y="1695450"/>
            <a:ext cx="3067050" cy="2190750"/>
          </a:xfrm>
          <a:prstGeom prst="roundRect">
            <a:avLst>
              <a:gd name="adj" fmla="val 3478"/>
            </a:avLst>
          </a:prstGeom>
          <a:solidFill>
            <a:srgbClr val="FBF8F1"/>
          </a:solidFill>
          <a:ln w="9525">
            <a:solidFill>
              <a:srgbClr val="1C2433"/>
            </a:solidFill>
          </a:ln>
        </p:spPr>
        <p:txBody>
          <a:bodyPr rtlCol="0" anchor="ctr"/>
          <a:lstStyle/>
          <a:p>
            <a:endParaRPr/>
          </a:p>
        </p:txBody>
      </p:sp>
      <p:sp>
        <p:nvSpPr>
          <p:cNvPr id="8" name="TextBox 7"/>
          <p:cNvSpPr txBox="1"/>
          <p:nvPr/>
        </p:nvSpPr>
        <p:spPr>
          <a:xfrm>
            <a:off x="828675" y="1866900"/>
            <a:ext cx="223838" cy="466725"/>
          </a:xfrm>
          <a:prstGeom prst="rect">
            <a:avLst/>
          </a:prstGeom>
          <a:noFill/>
        </p:spPr>
        <p:txBody>
          <a:bodyPr wrap="none" lIns="0" tIns="0" rIns="0" bIns="0" anchor="t">
            <a:noAutofit/>
          </a:bodyPr>
          <a:lstStyle/>
          <a:p>
            <a:pPr algn="l">
              <a:lnSpc>
                <a:spcPts val="3300"/>
              </a:lnSpc>
              <a:spcBef>
                <a:spcPts val="0"/>
              </a:spcBef>
              <a:spcAft>
                <a:spcPts val="0"/>
              </a:spcAft>
            </a:pPr>
            <a:r>
              <a:rPr sz="3000" b="0" i="0">
                <a:solidFill>
                  <a:srgbClr val="C9A34E"/>
                </a:solidFill>
                <a:latin typeface="Fraunces SemiBold"/>
                <a:ea typeface="Fraunces SemiBold"/>
                <a:cs typeface="Fraunces SemiBold"/>
              </a:rPr>
              <a:t>1</a:t>
            </a:r>
          </a:p>
        </p:txBody>
      </p:sp>
      <p:sp>
        <p:nvSpPr>
          <p:cNvPr id="9" name="TextBox 8"/>
          <p:cNvSpPr txBox="1"/>
          <p:nvPr/>
        </p:nvSpPr>
        <p:spPr>
          <a:xfrm>
            <a:off x="828675" y="2409825"/>
            <a:ext cx="2654198" cy="495300"/>
          </a:xfrm>
          <a:prstGeom prst="rect">
            <a:avLst/>
          </a:prstGeom>
          <a:noFill/>
        </p:spPr>
        <p:txBody>
          <a:bodyPr wrap="square" lIns="0" tIns="0" rIns="0" bIns="0" anchor="t">
            <a:noAutofit/>
          </a:bodyPr>
          <a:lstStyle/>
          <a:p>
            <a:pPr algn="l">
              <a:lnSpc>
                <a:spcPts val="1950"/>
              </a:lnSpc>
              <a:spcBef>
                <a:spcPts val="0"/>
              </a:spcBef>
              <a:spcAft>
                <a:spcPts val="0"/>
              </a:spcAft>
            </a:pPr>
            <a:r>
              <a:rPr sz="1600" b="0" i="0">
                <a:solidFill>
                  <a:srgbClr val="1C2433"/>
                </a:solidFill>
                <a:latin typeface="Fraunces SemiBold"/>
                <a:ea typeface="Fraunces SemiBold"/>
                <a:cs typeface="Fraunces SemiBold"/>
              </a:rPr>
              <a:t>Lo que aporta el comprador</a:t>
            </a:r>
          </a:p>
        </p:txBody>
      </p:sp>
      <p:sp>
        <p:nvSpPr>
          <p:cNvPr id="10" name="TextBox 9"/>
          <p:cNvSpPr txBox="1"/>
          <p:nvPr/>
        </p:nvSpPr>
        <p:spPr>
          <a:xfrm>
            <a:off x="828675" y="3019425"/>
            <a:ext cx="2654198" cy="419100"/>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1C2433"/>
                </a:solidFill>
                <a:latin typeface="Inter"/>
                <a:ea typeface="Inter"/>
                <a:cs typeface="Inter"/>
              </a:rPr>
              <a:t>Nombre, época, recuerdos y palabras que no deben aparecer.</a:t>
            </a:r>
          </a:p>
        </p:txBody>
      </p:sp>
      <p:sp>
        <p:nvSpPr>
          <p:cNvPr id="11" name="Rounded Rectangle 10"/>
          <p:cNvSpPr/>
          <p:nvPr/>
        </p:nvSpPr>
        <p:spPr>
          <a:xfrm>
            <a:off x="4562475" y="1695450"/>
            <a:ext cx="3067050" cy="2190750"/>
          </a:xfrm>
          <a:prstGeom prst="roundRect">
            <a:avLst>
              <a:gd name="adj" fmla="val 3478"/>
            </a:avLst>
          </a:prstGeom>
          <a:solidFill>
            <a:srgbClr val="FBF8F1"/>
          </a:solidFill>
          <a:ln w="9525">
            <a:solidFill>
              <a:srgbClr val="1C2433"/>
            </a:solidFill>
          </a:ln>
        </p:spPr>
        <p:txBody>
          <a:bodyPr rtlCol="0" anchor="ctr"/>
          <a:lstStyle/>
          <a:p>
            <a:endParaRPr/>
          </a:p>
        </p:txBody>
      </p:sp>
      <p:sp>
        <p:nvSpPr>
          <p:cNvPr id="12" name="TextBox 11"/>
          <p:cNvSpPr txBox="1"/>
          <p:nvPr/>
        </p:nvSpPr>
        <p:spPr>
          <a:xfrm>
            <a:off x="4781550" y="1866900"/>
            <a:ext cx="283119" cy="466725"/>
          </a:xfrm>
          <a:prstGeom prst="rect">
            <a:avLst/>
          </a:prstGeom>
          <a:noFill/>
        </p:spPr>
        <p:txBody>
          <a:bodyPr wrap="none" lIns="0" tIns="0" rIns="0" bIns="0" anchor="t">
            <a:noAutofit/>
          </a:bodyPr>
          <a:lstStyle/>
          <a:p>
            <a:pPr algn="l">
              <a:lnSpc>
                <a:spcPts val="3300"/>
              </a:lnSpc>
              <a:spcBef>
                <a:spcPts val="0"/>
              </a:spcBef>
              <a:spcAft>
                <a:spcPts val="0"/>
              </a:spcAft>
            </a:pPr>
            <a:r>
              <a:rPr sz="3000" b="0" i="0">
                <a:solidFill>
                  <a:srgbClr val="C9A34E"/>
                </a:solidFill>
                <a:latin typeface="Fraunces SemiBold"/>
                <a:ea typeface="Fraunces SemiBold"/>
                <a:cs typeface="Fraunces SemiBold"/>
              </a:rPr>
              <a:t>2</a:t>
            </a:r>
          </a:p>
        </p:txBody>
      </p:sp>
      <p:sp>
        <p:nvSpPr>
          <p:cNvPr id="13" name="TextBox 12"/>
          <p:cNvSpPr txBox="1"/>
          <p:nvPr/>
        </p:nvSpPr>
        <p:spPr>
          <a:xfrm>
            <a:off x="4781550" y="2409825"/>
            <a:ext cx="2267105" cy="247650"/>
          </a:xfrm>
          <a:prstGeom prst="rect">
            <a:avLst/>
          </a:prstGeom>
          <a:noFill/>
        </p:spPr>
        <p:txBody>
          <a:bodyPr wrap="none" lIns="0" tIns="0" rIns="0" bIns="0" anchor="t">
            <a:noAutofit/>
          </a:bodyPr>
          <a:lstStyle/>
          <a:p>
            <a:pPr algn="l">
              <a:lnSpc>
                <a:spcPts val="1950"/>
              </a:lnSpc>
              <a:spcBef>
                <a:spcPts val="0"/>
              </a:spcBef>
              <a:spcAft>
                <a:spcPts val="0"/>
              </a:spcAft>
            </a:pPr>
            <a:r>
              <a:rPr sz="1600" b="0" i="0">
                <a:solidFill>
                  <a:srgbClr val="1C2433"/>
                </a:solidFill>
                <a:latin typeface="Fraunces SemiBold"/>
                <a:ea typeface="Fraunces SemiBold"/>
                <a:cs typeface="Fraunces SemiBold"/>
              </a:rPr>
              <a:t>Lo que hace el sistema</a:t>
            </a:r>
          </a:p>
        </p:txBody>
      </p:sp>
      <p:sp>
        <p:nvSpPr>
          <p:cNvPr id="14" name="TextBox 13"/>
          <p:cNvSpPr txBox="1"/>
          <p:nvPr/>
        </p:nvSpPr>
        <p:spPr>
          <a:xfrm>
            <a:off x="4781550" y="2771775"/>
            <a:ext cx="2654198" cy="647700"/>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1C2433"/>
                </a:solidFill>
                <a:latin typeface="Inter"/>
                <a:ea typeface="Inter"/>
                <a:cs typeface="Inter"/>
              </a:rPr>
              <a:t>Investiga la época, escribe diez capítulos y verifica cada uno antes de seguir.</a:t>
            </a:r>
          </a:p>
        </p:txBody>
      </p:sp>
      <p:sp>
        <p:nvSpPr>
          <p:cNvPr id="15" name="Rounded Rectangle 14"/>
          <p:cNvSpPr/>
          <p:nvPr/>
        </p:nvSpPr>
        <p:spPr>
          <a:xfrm>
            <a:off x="8515350" y="1695450"/>
            <a:ext cx="3067050" cy="2190750"/>
          </a:xfrm>
          <a:prstGeom prst="roundRect">
            <a:avLst>
              <a:gd name="adj" fmla="val 3478"/>
            </a:avLst>
          </a:prstGeom>
          <a:solidFill>
            <a:srgbClr val="FBF8F1"/>
          </a:solidFill>
          <a:ln w="9525">
            <a:solidFill>
              <a:srgbClr val="1C2433"/>
            </a:solidFill>
          </a:ln>
        </p:spPr>
        <p:txBody>
          <a:bodyPr rtlCol="0" anchor="ctr"/>
          <a:lstStyle/>
          <a:p>
            <a:endParaRPr/>
          </a:p>
        </p:txBody>
      </p:sp>
      <p:sp>
        <p:nvSpPr>
          <p:cNvPr id="16" name="TextBox 15"/>
          <p:cNvSpPr txBox="1"/>
          <p:nvPr/>
        </p:nvSpPr>
        <p:spPr>
          <a:xfrm>
            <a:off x="8734425" y="1866900"/>
            <a:ext cx="262068" cy="466725"/>
          </a:xfrm>
          <a:prstGeom prst="rect">
            <a:avLst/>
          </a:prstGeom>
          <a:noFill/>
        </p:spPr>
        <p:txBody>
          <a:bodyPr wrap="none" lIns="0" tIns="0" rIns="0" bIns="0" anchor="t">
            <a:noAutofit/>
          </a:bodyPr>
          <a:lstStyle/>
          <a:p>
            <a:pPr algn="l">
              <a:lnSpc>
                <a:spcPts val="3300"/>
              </a:lnSpc>
              <a:spcBef>
                <a:spcPts val="0"/>
              </a:spcBef>
              <a:spcAft>
                <a:spcPts val="0"/>
              </a:spcAft>
            </a:pPr>
            <a:r>
              <a:rPr sz="3000" b="0" i="0">
                <a:solidFill>
                  <a:srgbClr val="C9A34E"/>
                </a:solidFill>
                <a:latin typeface="Fraunces SemiBold"/>
                <a:ea typeface="Fraunces SemiBold"/>
                <a:cs typeface="Fraunces SemiBold"/>
              </a:rPr>
              <a:t>3</a:t>
            </a:r>
          </a:p>
        </p:txBody>
      </p:sp>
      <p:sp>
        <p:nvSpPr>
          <p:cNvPr id="17" name="TextBox 16"/>
          <p:cNvSpPr txBox="1"/>
          <p:nvPr/>
        </p:nvSpPr>
        <p:spPr>
          <a:xfrm>
            <a:off x="8734425" y="2409825"/>
            <a:ext cx="2654198" cy="495300"/>
          </a:xfrm>
          <a:prstGeom prst="rect">
            <a:avLst/>
          </a:prstGeom>
          <a:noFill/>
        </p:spPr>
        <p:txBody>
          <a:bodyPr wrap="square" lIns="0" tIns="0" rIns="0" bIns="0" anchor="t">
            <a:noAutofit/>
          </a:bodyPr>
          <a:lstStyle/>
          <a:p>
            <a:pPr algn="l">
              <a:lnSpc>
                <a:spcPts val="1950"/>
              </a:lnSpc>
              <a:spcBef>
                <a:spcPts val="0"/>
              </a:spcBef>
              <a:spcAft>
                <a:spcPts val="0"/>
              </a:spcAft>
            </a:pPr>
            <a:r>
              <a:rPr sz="1600" b="0" i="0">
                <a:solidFill>
                  <a:srgbClr val="1C2433"/>
                </a:solidFill>
                <a:latin typeface="Fraunces SemiBold"/>
                <a:ea typeface="Fraunces SemiBold"/>
                <a:cs typeface="Fraunces SemiBold"/>
              </a:rPr>
              <a:t>Lo que recibe el homenajeado</a:t>
            </a:r>
          </a:p>
        </p:txBody>
      </p:sp>
      <p:sp>
        <p:nvSpPr>
          <p:cNvPr id="18" name="TextBox 17"/>
          <p:cNvSpPr txBox="1"/>
          <p:nvPr/>
        </p:nvSpPr>
        <p:spPr>
          <a:xfrm>
            <a:off x="8734425" y="3019425"/>
            <a:ext cx="2654198" cy="419100"/>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1C2433"/>
                </a:solidFill>
                <a:latin typeface="Inter"/>
                <a:ea typeface="Inter"/>
                <a:cs typeface="Inter"/>
              </a:rPr>
              <a:t>Una novela en web y en PDF, con su dedicatoria.</a:t>
            </a:r>
          </a:p>
        </p:txBody>
      </p:sp>
      <p:pic>
        <p:nvPicPr>
          <p:cNvPr id="19" name="Picture 18" descr="r002.png"/>
          <p:cNvPicPr>
            <a:picLocks noChangeAspect="1"/>
          </p:cNvPicPr>
          <p:nvPr/>
        </p:nvPicPr>
        <p:blipFill>
          <a:blip r:embed="rId3"/>
          <a:stretch>
            <a:fillRect/>
          </a:stretch>
        </p:blipFill>
        <p:spPr>
          <a:xfrm>
            <a:off x="609600" y="1695450"/>
            <a:ext cx="10972800" cy="2190750"/>
          </a:xfrm>
          <a:prstGeom prst="rect">
            <a:avLst/>
          </a:prstGeom>
        </p:spPr>
      </p:pic>
      <p:sp>
        <p:nvSpPr>
          <p:cNvPr id="20" name="Rectangle 19"/>
          <p:cNvSpPr/>
          <p:nvPr/>
        </p:nvSpPr>
        <p:spPr>
          <a:xfrm>
            <a:off x="609600" y="4286250"/>
            <a:ext cx="3479750" cy="904875"/>
          </a:xfrm>
          <a:prstGeom prst="rect">
            <a:avLst/>
          </a:prstGeom>
          <a:noFill/>
          <a:ln>
            <a:noFill/>
          </a:ln>
        </p:spPr>
        <p:txBody>
          <a:bodyPr rtlCol="0" anchor="ctr"/>
          <a:lstStyle/>
          <a:p>
            <a:endParaRPr/>
          </a:p>
        </p:txBody>
      </p:sp>
      <p:cxnSp>
        <p:nvCxnSpPr>
          <p:cNvPr id="21" name="Connector 20"/>
          <p:cNvCxnSpPr/>
          <p:nvPr/>
        </p:nvCxnSpPr>
        <p:spPr>
          <a:xfrm>
            <a:off x="609600" y="4291012"/>
            <a:ext cx="3479750" cy="0"/>
          </a:xfrm>
          <a:prstGeom prst="line">
            <a:avLst/>
          </a:prstGeom>
          <a:ln w="9525">
            <a:solidFill>
              <a:srgbClr val="C9A34E"/>
            </a:solidFill>
          </a:ln>
        </p:spPr>
      </p:cxnSp>
      <p:sp>
        <p:nvSpPr>
          <p:cNvPr id="22" name="TextBox 21"/>
          <p:cNvSpPr txBox="1"/>
          <p:nvPr/>
        </p:nvSpPr>
        <p:spPr>
          <a:xfrm>
            <a:off x="609600" y="4400550"/>
            <a:ext cx="418552" cy="200025"/>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9A7A2E"/>
                </a:solidFill>
                <a:latin typeface="JetBrains Mono Medium"/>
                <a:ea typeface="JetBrains Mono Medium"/>
                <a:cs typeface="JetBrains Mono Medium"/>
              </a:rPr>
              <a:t>1188</a:t>
            </a:r>
          </a:p>
        </p:txBody>
      </p:sp>
      <p:sp>
        <p:nvSpPr>
          <p:cNvPr id="23" name="TextBox 22"/>
          <p:cNvSpPr txBox="1"/>
          <p:nvPr/>
        </p:nvSpPr>
        <p:spPr>
          <a:xfrm>
            <a:off x="609600" y="4667250"/>
            <a:ext cx="3510154" cy="514350"/>
          </a:xfrm>
          <a:prstGeom prst="rect">
            <a:avLst/>
          </a:prstGeom>
          <a:noFill/>
        </p:spPr>
        <p:txBody>
          <a:bodyPr wrap="square" lIns="0" tIns="0" rIns="0" bIns="0" anchor="t">
            <a:noAutofit/>
          </a:bodyPr>
          <a:lstStyle/>
          <a:p>
            <a:pPr algn="l">
              <a:lnSpc>
                <a:spcPts val="2100"/>
              </a:lnSpc>
              <a:spcBef>
                <a:spcPts val="0"/>
              </a:spcBef>
              <a:spcAft>
                <a:spcPts val="0"/>
              </a:spcAft>
            </a:pPr>
            <a:r>
              <a:rPr sz="1600" b="0" i="1">
                <a:solidFill>
                  <a:srgbClr val="1C2433"/>
                </a:solidFill>
                <a:latin typeface="Fraunces Medium"/>
                <a:ea typeface="Fraunces Medium"/>
                <a:cs typeface="Fraunces Medium"/>
              </a:rPr>
              <a:t>una cerera en la Santiago del Pórtico de la Gloria</a:t>
            </a:r>
          </a:p>
        </p:txBody>
      </p:sp>
      <p:sp>
        <p:nvSpPr>
          <p:cNvPr id="24" name="Rectangle 23"/>
          <p:cNvSpPr/>
          <p:nvPr/>
        </p:nvSpPr>
        <p:spPr>
          <a:xfrm>
            <a:off x="4356050" y="4286250"/>
            <a:ext cx="3479899" cy="904875"/>
          </a:xfrm>
          <a:prstGeom prst="rect">
            <a:avLst/>
          </a:prstGeom>
          <a:noFill/>
          <a:ln>
            <a:noFill/>
          </a:ln>
        </p:spPr>
        <p:txBody>
          <a:bodyPr rtlCol="0" anchor="ctr"/>
          <a:lstStyle/>
          <a:p>
            <a:endParaRPr/>
          </a:p>
        </p:txBody>
      </p:sp>
      <p:cxnSp>
        <p:nvCxnSpPr>
          <p:cNvPr id="25" name="Connector 24"/>
          <p:cNvCxnSpPr/>
          <p:nvPr/>
        </p:nvCxnSpPr>
        <p:spPr>
          <a:xfrm>
            <a:off x="4356050" y="4291012"/>
            <a:ext cx="3479900" cy="0"/>
          </a:xfrm>
          <a:prstGeom prst="line">
            <a:avLst/>
          </a:prstGeom>
          <a:ln w="9525">
            <a:solidFill>
              <a:srgbClr val="C9A34E"/>
            </a:solidFill>
          </a:ln>
        </p:spPr>
      </p:cxnSp>
      <p:sp>
        <p:nvSpPr>
          <p:cNvPr id="26" name="TextBox 25"/>
          <p:cNvSpPr txBox="1"/>
          <p:nvPr/>
        </p:nvSpPr>
        <p:spPr>
          <a:xfrm>
            <a:off x="4356050" y="4400550"/>
            <a:ext cx="418552" cy="200025"/>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9A7A2E"/>
                </a:solidFill>
                <a:latin typeface="JetBrains Mono Medium"/>
                <a:ea typeface="JetBrains Mono Medium"/>
                <a:cs typeface="JetBrains Mono Medium"/>
              </a:rPr>
              <a:t>1788</a:t>
            </a:r>
          </a:p>
        </p:txBody>
      </p:sp>
      <p:sp>
        <p:nvSpPr>
          <p:cNvPr id="27" name="TextBox 26"/>
          <p:cNvSpPr txBox="1"/>
          <p:nvPr/>
        </p:nvSpPr>
        <p:spPr>
          <a:xfrm>
            <a:off x="4356050" y="4667250"/>
            <a:ext cx="3510304" cy="514350"/>
          </a:xfrm>
          <a:prstGeom prst="rect">
            <a:avLst/>
          </a:prstGeom>
          <a:noFill/>
        </p:spPr>
        <p:txBody>
          <a:bodyPr wrap="square" lIns="0" tIns="0" rIns="0" bIns="0" anchor="t">
            <a:noAutofit/>
          </a:bodyPr>
          <a:lstStyle/>
          <a:p>
            <a:pPr algn="l">
              <a:lnSpc>
                <a:spcPts val="2100"/>
              </a:lnSpc>
              <a:spcBef>
                <a:spcPts val="0"/>
              </a:spcBef>
              <a:spcAft>
                <a:spcPts val="0"/>
              </a:spcAft>
            </a:pPr>
            <a:r>
              <a:rPr sz="1600" b="0" i="1">
                <a:solidFill>
                  <a:srgbClr val="1C2433"/>
                </a:solidFill>
                <a:latin typeface="Fraunces Medium"/>
                <a:ea typeface="Fraunces Medium"/>
                <a:cs typeface="Fraunces Medium"/>
              </a:rPr>
              <a:t>un aprendiz de relojero en el Madrid de Carlos III</a:t>
            </a:r>
          </a:p>
        </p:txBody>
      </p:sp>
      <p:sp>
        <p:nvSpPr>
          <p:cNvPr id="28" name="Rectangle 27"/>
          <p:cNvSpPr/>
          <p:nvPr/>
        </p:nvSpPr>
        <p:spPr>
          <a:xfrm>
            <a:off x="8102650" y="4286250"/>
            <a:ext cx="3479750" cy="904875"/>
          </a:xfrm>
          <a:prstGeom prst="rect">
            <a:avLst/>
          </a:prstGeom>
          <a:noFill/>
          <a:ln>
            <a:noFill/>
          </a:ln>
        </p:spPr>
        <p:txBody>
          <a:bodyPr rtlCol="0" anchor="ctr"/>
          <a:lstStyle/>
          <a:p>
            <a:endParaRPr/>
          </a:p>
        </p:txBody>
      </p:sp>
      <p:cxnSp>
        <p:nvCxnSpPr>
          <p:cNvPr id="29" name="Connector 28"/>
          <p:cNvCxnSpPr/>
          <p:nvPr/>
        </p:nvCxnSpPr>
        <p:spPr>
          <a:xfrm>
            <a:off x="8102650" y="4291012"/>
            <a:ext cx="3479750" cy="0"/>
          </a:xfrm>
          <a:prstGeom prst="line">
            <a:avLst/>
          </a:prstGeom>
          <a:ln w="9525">
            <a:solidFill>
              <a:srgbClr val="C9A34E"/>
            </a:solidFill>
          </a:ln>
        </p:spPr>
      </p:cxnSp>
      <p:sp>
        <p:nvSpPr>
          <p:cNvPr id="30" name="TextBox 29"/>
          <p:cNvSpPr txBox="1"/>
          <p:nvPr/>
        </p:nvSpPr>
        <p:spPr>
          <a:xfrm>
            <a:off x="8102650" y="4400550"/>
            <a:ext cx="418552" cy="200025"/>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9A7A2E"/>
                </a:solidFill>
                <a:latin typeface="JetBrains Mono Medium"/>
                <a:ea typeface="JetBrains Mono Medium"/>
                <a:cs typeface="JetBrains Mono Medium"/>
              </a:rPr>
              <a:t>1929</a:t>
            </a:r>
          </a:p>
        </p:txBody>
      </p:sp>
      <p:sp>
        <p:nvSpPr>
          <p:cNvPr id="31" name="TextBox 30"/>
          <p:cNvSpPr txBox="1"/>
          <p:nvPr/>
        </p:nvSpPr>
        <p:spPr>
          <a:xfrm>
            <a:off x="8102650" y="4667250"/>
            <a:ext cx="3510154" cy="514350"/>
          </a:xfrm>
          <a:prstGeom prst="rect">
            <a:avLst/>
          </a:prstGeom>
          <a:noFill/>
        </p:spPr>
        <p:txBody>
          <a:bodyPr wrap="square" lIns="0" tIns="0" rIns="0" bIns="0" anchor="t">
            <a:noAutofit/>
          </a:bodyPr>
          <a:lstStyle/>
          <a:p>
            <a:pPr algn="l">
              <a:lnSpc>
                <a:spcPts val="2100"/>
              </a:lnSpc>
              <a:spcBef>
                <a:spcPts val="0"/>
              </a:spcBef>
              <a:spcAft>
                <a:spcPts val="0"/>
              </a:spcAft>
            </a:pPr>
            <a:r>
              <a:rPr sz="1600" b="0" i="1">
                <a:solidFill>
                  <a:srgbClr val="1C2433"/>
                </a:solidFill>
                <a:latin typeface="Fraunces Medium"/>
                <a:ea typeface="Fraunces Medium"/>
                <a:cs typeface="Fraunces Medium"/>
              </a:rPr>
              <a:t>una ayudante de iluminación en la Fuente Mágica de Montjuïc</a:t>
            </a:r>
          </a:p>
        </p:txBody>
      </p:sp>
      <p:sp>
        <p:nvSpPr>
          <p:cNvPr id="32" name="TextBox 31"/>
          <p:cNvSpPr txBox="1"/>
          <p:nvPr/>
        </p:nvSpPr>
        <p:spPr>
          <a:xfrm>
            <a:off x="609600" y="5429250"/>
            <a:ext cx="5263825"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7D7869"/>
                </a:solidFill>
                <a:latin typeface="Inter"/>
                <a:ea typeface="Inter"/>
                <a:cs typeface="Inter"/>
              </a:rPr>
              <a:t>Tres novelas reales de diez capítulos, escritas por el sistema y publicadas.</a:t>
            </a:r>
          </a:p>
        </p:txBody>
      </p:sp>
      <p:pic>
        <p:nvPicPr>
          <p:cNvPr id="33" name="Picture 32" descr="r003.png"/>
          <p:cNvPicPr>
            <a:picLocks noChangeAspect="1"/>
          </p:cNvPicPr>
          <p:nvPr/>
        </p:nvPicPr>
        <p:blipFill>
          <a:blip r:embed="rId4"/>
          <a:stretch>
            <a:fillRect/>
          </a:stretch>
        </p:blipFill>
        <p:spPr>
          <a:xfrm>
            <a:off x="381000" y="6343650"/>
            <a:ext cx="11430000" cy="76200"/>
          </a:xfrm>
          <a:prstGeom prst="rect">
            <a:avLst/>
          </a:prstGeom>
        </p:spPr>
      </p:pic>
      <p:pic>
        <p:nvPicPr>
          <p:cNvPr id="34" name="Picture 33" descr="r004.png"/>
          <p:cNvPicPr>
            <a:picLocks noChangeAspect="1"/>
          </p:cNvPicPr>
          <p:nvPr/>
        </p:nvPicPr>
        <p:blipFill>
          <a:blip r:embed="rId5"/>
          <a:stretch>
            <a:fillRect/>
          </a:stretch>
        </p:blipFill>
        <p:spPr>
          <a:xfrm>
            <a:off x="381000" y="6505575"/>
            <a:ext cx="171450" cy="190500"/>
          </a:xfrm>
          <a:prstGeom prst="rect">
            <a:avLst/>
          </a:prstGeom>
        </p:spPr>
      </p:pic>
      <p:sp>
        <p:nvSpPr>
          <p:cNvPr id="35" name="TextBox 34"/>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36" name="TextBox 35"/>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7" name="TextBox 36"/>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38" name="TextBox 37"/>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02 / 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87004" y="323850"/>
            <a:ext cx="1091696"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EL PROBLEMA</a:t>
            </a:r>
          </a:p>
        </p:txBody>
      </p:sp>
      <p:sp>
        <p:nvSpPr>
          <p:cNvPr id="3" name="TextBox 2"/>
          <p:cNvSpPr txBox="1"/>
          <p:nvPr/>
        </p:nvSpPr>
        <p:spPr>
          <a:xfrm>
            <a:off x="609600" y="323850"/>
            <a:ext cx="95548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II</a:t>
            </a:r>
          </a:p>
        </p:txBody>
      </p:sp>
      <p:sp>
        <p:nvSpPr>
          <p:cNvPr id="4" name="Rectangle 3"/>
          <p:cNvSpPr/>
          <p:nvPr/>
        </p:nvSpPr>
        <p:spPr>
          <a:xfrm>
            <a:off x="1606004" y="395288"/>
            <a:ext cx="266700" cy="9525"/>
          </a:xfrm>
          <a:prstGeom prst="rect">
            <a:avLst/>
          </a:prstGeom>
          <a:noFill/>
          <a:ln>
            <a:noFill/>
          </a:ln>
        </p:spPr>
        <p:txBody>
          <a:bodyPr rtlCol="0" anchor="ctr"/>
          <a:lstStyle/>
          <a:p>
            <a:endParaRPr/>
          </a:p>
        </p:txBody>
      </p:sp>
      <p:cxnSp>
        <p:nvCxnSpPr>
          <p:cNvPr id="5" name="Connector 4"/>
          <p:cNvCxnSpPr/>
          <p:nvPr/>
        </p:nvCxnSpPr>
        <p:spPr>
          <a:xfrm>
            <a:off x="1606004"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Relicario vende emoción, y el regalo personalizado de hoy se queda en la superficie</a:t>
            </a:r>
          </a:p>
        </p:txBody>
      </p:sp>
      <p:sp>
        <p:nvSpPr>
          <p:cNvPr id="7" name="TextBox 6"/>
          <p:cNvSpPr txBox="1"/>
          <p:nvPr/>
        </p:nvSpPr>
        <p:spPr>
          <a:xfrm>
            <a:off x="609600" y="1524000"/>
            <a:ext cx="126613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QUIÉN COMPRA</a:t>
            </a:r>
          </a:p>
        </p:txBody>
      </p:sp>
      <p:sp>
        <p:nvSpPr>
          <p:cNvPr id="8" name="Rounded Rectangle 7"/>
          <p:cNvSpPr/>
          <p:nvPr/>
        </p:nvSpPr>
        <p:spPr>
          <a:xfrm>
            <a:off x="609600" y="1752600"/>
            <a:ext cx="5143500" cy="819150"/>
          </a:xfrm>
          <a:prstGeom prst="roundRect">
            <a:avLst>
              <a:gd name="adj" fmla="val 9302"/>
            </a:avLst>
          </a:prstGeom>
          <a:solidFill>
            <a:srgbClr val="FBF8F1"/>
          </a:solidFill>
          <a:ln w="9525">
            <a:solidFill>
              <a:srgbClr val="D9D2C3"/>
            </a:solidFill>
          </a:ln>
        </p:spPr>
        <p:txBody>
          <a:bodyPr rtlCol="0" anchor="ctr"/>
          <a:lstStyle/>
          <a:p>
            <a:endParaRPr/>
          </a:p>
        </p:txBody>
      </p:sp>
      <p:pic>
        <p:nvPicPr>
          <p:cNvPr id="9" name="Picture 8" descr="r005.png"/>
          <p:cNvPicPr>
            <a:picLocks noChangeAspect="1"/>
          </p:cNvPicPr>
          <p:nvPr/>
        </p:nvPicPr>
        <p:blipFill>
          <a:blip r:embed="rId3"/>
          <a:stretch>
            <a:fillRect/>
          </a:stretch>
        </p:blipFill>
        <p:spPr>
          <a:xfrm>
            <a:off x="790575" y="1971675"/>
            <a:ext cx="381000" cy="381000"/>
          </a:xfrm>
          <a:prstGeom prst="rect">
            <a:avLst/>
          </a:prstGeom>
        </p:spPr>
      </p:pic>
      <p:sp>
        <p:nvSpPr>
          <p:cNvPr id="10" name="TextBox 9"/>
          <p:cNvSpPr txBox="1"/>
          <p:nvPr/>
        </p:nvSpPr>
        <p:spPr>
          <a:xfrm>
            <a:off x="1323975" y="1943100"/>
            <a:ext cx="4283164" cy="428625"/>
          </a:xfrm>
          <a:prstGeom prst="rect">
            <a:avLst/>
          </a:prstGeom>
          <a:noFill/>
        </p:spPr>
        <p:txBody>
          <a:bodyPr wrap="square" lIns="0" tIns="0" rIns="0" bIns="0" anchor="t">
            <a:noAutofit/>
          </a:bodyPr>
          <a:lstStyle/>
          <a:p>
            <a:pPr algn="l">
              <a:lnSpc>
                <a:spcPts val="1800"/>
              </a:lnSpc>
              <a:spcBef>
                <a:spcPts val="0"/>
              </a:spcBef>
              <a:spcAft>
                <a:spcPts val="0"/>
              </a:spcAft>
            </a:pPr>
            <a:r>
              <a:rPr sz="1350" b="0" i="0">
                <a:solidFill>
                  <a:srgbClr val="1C2433"/>
                </a:solidFill>
                <a:latin typeface="Inter"/>
                <a:ea typeface="Inter"/>
                <a:cs typeface="Inter"/>
              </a:rPr>
              <a:t>Hijos que buscan un regalo de jubilación para su padre o su madre</a:t>
            </a:r>
          </a:p>
        </p:txBody>
      </p:sp>
      <p:sp>
        <p:nvSpPr>
          <p:cNvPr id="11" name="Rounded Rectangle 10"/>
          <p:cNvSpPr/>
          <p:nvPr/>
        </p:nvSpPr>
        <p:spPr>
          <a:xfrm>
            <a:off x="609600" y="2724150"/>
            <a:ext cx="5143500" cy="742950"/>
          </a:xfrm>
          <a:prstGeom prst="roundRect">
            <a:avLst>
              <a:gd name="adj" fmla="val 10256"/>
            </a:avLst>
          </a:prstGeom>
          <a:solidFill>
            <a:srgbClr val="FBF8F1"/>
          </a:solidFill>
          <a:ln w="9525">
            <a:solidFill>
              <a:srgbClr val="D9D2C3"/>
            </a:solidFill>
          </a:ln>
        </p:spPr>
        <p:txBody>
          <a:bodyPr rtlCol="0" anchor="ctr"/>
          <a:lstStyle/>
          <a:p>
            <a:endParaRPr/>
          </a:p>
        </p:txBody>
      </p:sp>
      <p:pic>
        <p:nvPicPr>
          <p:cNvPr id="12" name="Picture 11" descr="r006.png"/>
          <p:cNvPicPr>
            <a:picLocks noChangeAspect="1"/>
          </p:cNvPicPr>
          <p:nvPr/>
        </p:nvPicPr>
        <p:blipFill>
          <a:blip r:embed="rId4"/>
          <a:stretch>
            <a:fillRect/>
          </a:stretch>
        </p:blipFill>
        <p:spPr>
          <a:xfrm>
            <a:off x="790575" y="2905125"/>
            <a:ext cx="381000" cy="381000"/>
          </a:xfrm>
          <a:prstGeom prst="rect">
            <a:avLst/>
          </a:prstGeom>
        </p:spPr>
      </p:pic>
      <p:sp>
        <p:nvSpPr>
          <p:cNvPr id="13" name="TextBox 12"/>
          <p:cNvSpPr txBox="1"/>
          <p:nvPr/>
        </p:nvSpPr>
        <p:spPr>
          <a:xfrm>
            <a:off x="1323975" y="2990850"/>
            <a:ext cx="3151525" cy="200025"/>
          </a:xfrm>
          <a:prstGeom prst="rect">
            <a:avLst/>
          </a:prstGeom>
          <a:noFill/>
        </p:spPr>
        <p:txBody>
          <a:bodyPr wrap="none" lIns="0" tIns="0" rIns="0" bIns="0" anchor="t">
            <a:noAutofit/>
          </a:bodyPr>
          <a:lstStyle/>
          <a:p>
            <a:pPr algn="l">
              <a:lnSpc>
                <a:spcPts val="1800"/>
              </a:lnSpc>
              <a:spcBef>
                <a:spcPts val="0"/>
              </a:spcBef>
              <a:spcAft>
                <a:spcPts val="0"/>
              </a:spcAft>
            </a:pPr>
            <a:r>
              <a:rPr sz="1350" b="0" i="0">
                <a:solidFill>
                  <a:srgbClr val="1C2433"/>
                </a:solidFill>
                <a:latin typeface="Inter"/>
                <a:ea typeface="Inter"/>
                <a:cs typeface="Inter"/>
              </a:rPr>
              <a:t>Parejas en un aniversario o una boda</a:t>
            </a:r>
          </a:p>
        </p:txBody>
      </p:sp>
      <p:sp>
        <p:nvSpPr>
          <p:cNvPr id="14" name="Rounded Rectangle 13"/>
          <p:cNvSpPr/>
          <p:nvPr/>
        </p:nvSpPr>
        <p:spPr>
          <a:xfrm>
            <a:off x="609600" y="3619500"/>
            <a:ext cx="5143500" cy="819150"/>
          </a:xfrm>
          <a:prstGeom prst="roundRect">
            <a:avLst>
              <a:gd name="adj" fmla="val 9302"/>
            </a:avLst>
          </a:prstGeom>
          <a:solidFill>
            <a:srgbClr val="FBF8F1"/>
          </a:solidFill>
          <a:ln w="9525">
            <a:solidFill>
              <a:srgbClr val="D9D2C3"/>
            </a:solidFill>
          </a:ln>
        </p:spPr>
        <p:txBody>
          <a:bodyPr rtlCol="0" anchor="ctr"/>
          <a:lstStyle/>
          <a:p>
            <a:endParaRPr/>
          </a:p>
        </p:txBody>
      </p:sp>
      <p:pic>
        <p:nvPicPr>
          <p:cNvPr id="15" name="Picture 14" descr="r007.png"/>
          <p:cNvPicPr>
            <a:picLocks noChangeAspect="1"/>
          </p:cNvPicPr>
          <p:nvPr/>
        </p:nvPicPr>
        <p:blipFill>
          <a:blip r:embed="rId5"/>
          <a:stretch>
            <a:fillRect/>
          </a:stretch>
        </p:blipFill>
        <p:spPr>
          <a:xfrm>
            <a:off x="790575" y="3838575"/>
            <a:ext cx="381000" cy="381000"/>
          </a:xfrm>
          <a:prstGeom prst="rect">
            <a:avLst/>
          </a:prstGeom>
        </p:spPr>
      </p:pic>
      <p:sp>
        <p:nvSpPr>
          <p:cNvPr id="16" name="TextBox 15"/>
          <p:cNvSpPr txBox="1"/>
          <p:nvPr/>
        </p:nvSpPr>
        <p:spPr>
          <a:xfrm>
            <a:off x="1323975" y="3810000"/>
            <a:ext cx="4283164" cy="428625"/>
          </a:xfrm>
          <a:prstGeom prst="rect">
            <a:avLst/>
          </a:prstGeom>
          <a:noFill/>
        </p:spPr>
        <p:txBody>
          <a:bodyPr wrap="square" lIns="0" tIns="0" rIns="0" bIns="0" anchor="t">
            <a:noAutofit/>
          </a:bodyPr>
          <a:lstStyle/>
          <a:p>
            <a:pPr algn="l">
              <a:lnSpc>
                <a:spcPts val="1800"/>
              </a:lnSpc>
              <a:spcBef>
                <a:spcPts val="0"/>
              </a:spcBef>
              <a:spcAft>
                <a:spcPts val="0"/>
              </a:spcAft>
            </a:pPr>
            <a:r>
              <a:rPr sz="1350" b="0" i="0">
                <a:solidFill>
                  <a:srgbClr val="1C2433"/>
                </a:solidFill>
                <a:latin typeface="Inter"/>
                <a:ea typeface="Inter"/>
                <a:cs typeface="Inter"/>
              </a:rPr>
              <a:t>Amigos y familia en un cumpleaños redondo: 50, 60, 70</a:t>
            </a:r>
          </a:p>
        </p:txBody>
      </p:sp>
      <p:sp>
        <p:nvSpPr>
          <p:cNvPr id="17" name="TextBox 16"/>
          <p:cNvSpPr txBox="1"/>
          <p:nvPr/>
        </p:nvSpPr>
        <p:spPr>
          <a:xfrm>
            <a:off x="6515100" y="1524000"/>
            <a:ext cx="1139523"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QUÉ ESPERAN</a:t>
            </a:r>
          </a:p>
        </p:txBody>
      </p:sp>
      <p:sp>
        <p:nvSpPr>
          <p:cNvPr id="18" name="TextBox 17"/>
          <p:cNvSpPr txBox="1"/>
          <p:nvPr/>
        </p:nvSpPr>
        <p:spPr>
          <a:xfrm>
            <a:off x="6515100" y="1733550"/>
            <a:ext cx="247983" cy="276225"/>
          </a:xfrm>
          <a:prstGeom prst="rect">
            <a:avLst/>
          </a:prstGeom>
          <a:noFill/>
        </p:spPr>
        <p:txBody>
          <a:bodyPr wrap="none" lIns="0" tIns="0" rIns="0" bIns="0" anchor="t">
            <a:noAutofit/>
          </a:bodyPr>
          <a:lstStyle/>
          <a:p>
            <a:pPr algn="l">
              <a:lnSpc>
                <a:spcPts val="1950"/>
              </a:lnSpc>
              <a:spcBef>
                <a:spcPts val="0"/>
              </a:spcBef>
              <a:spcAft>
                <a:spcPts val="0"/>
              </a:spcAft>
            </a:pPr>
            <a:r>
              <a:rPr sz="1800" b="1" i="0">
                <a:solidFill>
                  <a:srgbClr val="9A7A2E"/>
                </a:solidFill>
                <a:latin typeface="Inter"/>
                <a:ea typeface="Inter"/>
                <a:cs typeface="Inter"/>
              </a:rPr>
              <a:t>✓</a:t>
            </a:r>
          </a:p>
        </p:txBody>
      </p:sp>
      <p:sp>
        <p:nvSpPr>
          <p:cNvPr id="19" name="TextBox 18"/>
          <p:cNvSpPr txBox="1"/>
          <p:nvPr/>
        </p:nvSpPr>
        <p:spPr>
          <a:xfrm>
            <a:off x="6858000" y="1771650"/>
            <a:ext cx="4762271" cy="485775"/>
          </a:xfrm>
          <a:prstGeom prst="rect">
            <a:avLst/>
          </a:prstGeom>
          <a:noFill/>
        </p:spPr>
        <p:txBody>
          <a:bodyPr wrap="square" lIns="0" tIns="0" rIns="0" bIns="0" anchor="t">
            <a:noAutofit/>
          </a:bodyPr>
          <a:lstStyle/>
          <a:p>
            <a:pPr algn="l">
              <a:lnSpc>
                <a:spcPts val="2025"/>
              </a:lnSpc>
              <a:spcBef>
                <a:spcPts val="0"/>
              </a:spcBef>
              <a:spcAft>
                <a:spcPts val="0"/>
              </a:spcAft>
            </a:pPr>
            <a:r>
              <a:rPr sz="1500" b="0" i="0">
                <a:solidFill>
                  <a:srgbClr val="1C2433"/>
                </a:solidFill>
                <a:latin typeface="Inter"/>
                <a:ea typeface="Inter"/>
                <a:cs typeface="Inter"/>
              </a:rPr>
              <a:t>Que la persona se reconozca: su nombre, sus manías, sus recuerdos</a:t>
            </a:r>
          </a:p>
        </p:txBody>
      </p:sp>
      <p:sp>
        <p:nvSpPr>
          <p:cNvPr id="20" name="TextBox 19"/>
          <p:cNvSpPr txBox="1"/>
          <p:nvPr/>
        </p:nvSpPr>
        <p:spPr>
          <a:xfrm>
            <a:off x="6515100" y="2466975"/>
            <a:ext cx="247983" cy="276225"/>
          </a:xfrm>
          <a:prstGeom prst="rect">
            <a:avLst/>
          </a:prstGeom>
          <a:noFill/>
        </p:spPr>
        <p:txBody>
          <a:bodyPr wrap="none" lIns="0" tIns="0" rIns="0" bIns="0" anchor="t">
            <a:noAutofit/>
          </a:bodyPr>
          <a:lstStyle/>
          <a:p>
            <a:pPr algn="l">
              <a:lnSpc>
                <a:spcPts val="1950"/>
              </a:lnSpc>
              <a:spcBef>
                <a:spcPts val="0"/>
              </a:spcBef>
              <a:spcAft>
                <a:spcPts val="0"/>
              </a:spcAft>
            </a:pPr>
            <a:r>
              <a:rPr sz="1800" b="1" i="0">
                <a:solidFill>
                  <a:srgbClr val="9A7A2E"/>
                </a:solidFill>
                <a:latin typeface="Inter"/>
                <a:ea typeface="Inter"/>
                <a:cs typeface="Inter"/>
              </a:rPr>
              <a:t>✓</a:t>
            </a:r>
          </a:p>
        </p:txBody>
      </p:sp>
      <p:sp>
        <p:nvSpPr>
          <p:cNvPr id="21" name="TextBox 20"/>
          <p:cNvSpPr txBox="1"/>
          <p:nvPr/>
        </p:nvSpPr>
        <p:spPr>
          <a:xfrm>
            <a:off x="6858000" y="2505075"/>
            <a:ext cx="3393448" cy="228600"/>
          </a:xfrm>
          <a:prstGeom prst="rect">
            <a:avLst/>
          </a:prstGeom>
          <a:noFill/>
        </p:spPr>
        <p:txBody>
          <a:bodyPr wrap="none" lIns="0" tIns="0" rIns="0" bIns="0" anchor="t">
            <a:noAutofit/>
          </a:bodyPr>
          <a:lstStyle/>
          <a:p>
            <a:pPr algn="l">
              <a:lnSpc>
                <a:spcPts val="2025"/>
              </a:lnSpc>
              <a:spcBef>
                <a:spcPts val="0"/>
              </a:spcBef>
              <a:spcAft>
                <a:spcPts val="0"/>
              </a:spcAft>
            </a:pPr>
            <a:r>
              <a:rPr sz="1500" b="0" i="0">
                <a:solidFill>
                  <a:srgbClr val="1C2433"/>
                </a:solidFill>
                <a:latin typeface="Inter"/>
                <a:ea typeface="Inter"/>
                <a:cs typeface="Inter"/>
              </a:rPr>
              <a:t>Que se lea de un tirón, sin tropiezos</a:t>
            </a:r>
          </a:p>
        </p:txBody>
      </p:sp>
      <p:sp>
        <p:nvSpPr>
          <p:cNvPr id="22" name="TextBox 21"/>
          <p:cNvSpPr txBox="1"/>
          <p:nvPr/>
        </p:nvSpPr>
        <p:spPr>
          <a:xfrm>
            <a:off x="6515100" y="2943225"/>
            <a:ext cx="247983" cy="276225"/>
          </a:xfrm>
          <a:prstGeom prst="rect">
            <a:avLst/>
          </a:prstGeom>
          <a:noFill/>
        </p:spPr>
        <p:txBody>
          <a:bodyPr wrap="none" lIns="0" tIns="0" rIns="0" bIns="0" anchor="t">
            <a:noAutofit/>
          </a:bodyPr>
          <a:lstStyle/>
          <a:p>
            <a:pPr algn="l">
              <a:lnSpc>
                <a:spcPts val="1950"/>
              </a:lnSpc>
              <a:spcBef>
                <a:spcPts val="0"/>
              </a:spcBef>
              <a:spcAft>
                <a:spcPts val="0"/>
              </a:spcAft>
            </a:pPr>
            <a:r>
              <a:rPr sz="1800" b="1" i="0">
                <a:solidFill>
                  <a:srgbClr val="9A7A2E"/>
                </a:solidFill>
                <a:latin typeface="Inter"/>
                <a:ea typeface="Inter"/>
                <a:cs typeface="Inter"/>
              </a:rPr>
              <a:t>✓</a:t>
            </a:r>
          </a:p>
        </p:txBody>
      </p:sp>
      <p:sp>
        <p:nvSpPr>
          <p:cNvPr id="23" name="TextBox 22"/>
          <p:cNvSpPr txBox="1"/>
          <p:nvPr/>
        </p:nvSpPr>
        <p:spPr>
          <a:xfrm>
            <a:off x="6858000" y="2981325"/>
            <a:ext cx="4762271" cy="485775"/>
          </a:xfrm>
          <a:prstGeom prst="rect">
            <a:avLst/>
          </a:prstGeom>
          <a:noFill/>
        </p:spPr>
        <p:txBody>
          <a:bodyPr wrap="square" lIns="0" tIns="0" rIns="0" bIns="0" anchor="t">
            <a:noAutofit/>
          </a:bodyPr>
          <a:lstStyle/>
          <a:p>
            <a:pPr algn="l">
              <a:lnSpc>
                <a:spcPts val="2025"/>
              </a:lnSpc>
              <a:spcBef>
                <a:spcPts val="0"/>
              </a:spcBef>
              <a:spcAft>
                <a:spcPts val="0"/>
              </a:spcAft>
            </a:pPr>
            <a:r>
              <a:rPr sz="1500" b="0" i="0">
                <a:solidFill>
                  <a:srgbClr val="1C2433"/>
                </a:solidFill>
                <a:latin typeface="Inter"/>
                <a:ea typeface="Inter"/>
                <a:cs typeface="Inter"/>
              </a:rPr>
              <a:t>Que sea único, y no una plantilla con el nombre cambiado</a:t>
            </a:r>
          </a:p>
        </p:txBody>
      </p:sp>
      <p:sp>
        <p:nvSpPr>
          <p:cNvPr id="24" name="Rounded Rectangle 23"/>
          <p:cNvSpPr/>
          <p:nvPr/>
        </p:nvSpPr>
        <p:spPr>
          <a:xfrm>
            <a:off x="609600" y="5067300"/>
            <a:ext cx="10972800" cy="514350"/>
          </a:xfrm>
          <a:prstGeom prst="roundRect">
            <a:avLst>
              <a:gd name="adj" fmla="val 14814"/>
            </a:avLst>
          </a:prstGeom>
          <a:solidFill>
            <a:srgbClr val="1C2433"/>
          </a:solidFill>
          <a:ln>
            <a:noFill/>
          </a:ln>
        </p:spPr>
        <p:txBody>
          <a:bodyPr rtlCol="0" anchor="ctr"/>
          <a:lstStyle/>
          <a:p>
            <a:endParaRPr/>
          </a:p>
        </p:txBody>
      </p:sp>
      <p:sp>
        <p:nvSpPr>
          <p:cNvPr id="25" name="TextBox 24"/>
          <p:cNvSpPr txBox="1"/>
          <p:nvPr/>
        </p:nvSpPr>
        <p:spPr>
          <a:xfrm>
            <a:off x="800100" y="5210175"/>
            <a:ext cx="7305234" cy="219075"/>
          </a:xfrm>
          <a:prstGeom prst="rect">
            <a:avLst/>
          </a:prstGeom>
          <a:noFill/>
        </p:spPr>
        <p:txBody>
          <a:bodyPr wrap="none" lIns="0" tIns="0" rIns="0" bIns="0" anchor="t">
            <a:noAutofit/>
          </a:bodyPr>
          <a:lstStyle/>
          <a:p>
            <a:pPr algn="l">
              <a:lnSpc>
                <a:spcPts val="1950"/>
              </a:lnSpc>
              <a:spcBef>
                <a:spcPts val="0"/>
              </a:spcBef>
              <a:spcAft>
                <a:spcPts val="0"/>
              </a:spcAft>
            </a:pPr>
            <a:r>
              <a:rPr sz="1400" b="0" i="0">
                <a:solidFill>
                  <a:srgbClr val="F5EFE3"/>
                </a:solidFill>
                <a:latin typeface="Inter"/>
                <a:ea typeface="Inter"/>
                <a:cs typeface="Inter"/>
              </a:rPr>
              <a:t>Dos exigencias igual de importantes: </a:t>
            </a:r>
            <a:r>
              <a:rPr sz="1400" b="0" i="0">
                <a:solidFill>
                  <a:srgbClr val="C9A34E"/>
                </a:solidFill>
                <a:latin typeface="Inter SemiBold"/>
                <a:ea typeface="Inter SemiBold"/>
                <a:cs typeface="Inter SemiBold"/>
              </a:rPr>
              <a:t>personalización</a:t>
            </a:r>
            <a:r>
              <a:rPr sz="1400" b="0" i="0">
                <a:solidFill>
                  <a:srgbClr val="F5EFE3"/>
                </a:solidFill>
                <a:latin typeface="Inter"/>
                <a:ea typeface="Inter"/>
                <a:cs typeface="Inter"/>
              </a:rPr>
              <a:t> y </a:t>
            </a:r>
            <a:r>
              <a:rPr sz="1400" b="0" i="0">
                <a:solidFill>
                  <a:srgbClr val="C9A34E"/>
                </a:solidFill>
                <a:latin typeface="Inter SemiBold"/>
                <a:ea typeface="Inter SemiBold"/>
                <a:cs typeface="Inter SemiBold"/>
              </a:rPr>
              <a:t>calidad narrativa mínima</a:t>
            </a:r>
            <a:r>
              <a:rPr sz="1400" b="0" i="0">
                <a:solidFill>
                  <a:srgbClr val="F5EFE3"/>
                </a:solidFill>
                <a:latin typeface="Inter"/>
                <a:ea typeface="Inter"/>
                <a:cs typeface="Inter"/>
              </a:rPr>
              <a:t>.</a:t>
            </a:r>
          </a:p>
        </p:txBody>
      </p:sp>
      <p:pic>
        <p:nvPicPr>
          <p:cNvPr id="26" name="Picture 25" descr="r003.png"/>
          <p:cNvPicPr>
            <a:picLocks noChangeAspect="1"/>
          </p:cNvPicPr>
          <p:nvPr/>
        </p:nvPicPr>
        <p:blipFill>
          <a:blip r:embed="rId6"/>
          <a:stretch>
            <a:fillRect/>
          </a:stretch>
        </p:blipFill>
        <p:spPr>
          <a:xfrm>
            <a:off x="381000" y="6343650"/>
            <a:ext cx="11430000" cy="76200"/>
          </a:xfrm>
          <a:prstGeom prst="rect">
            <a:avLst/>
          </a:prstGeom>
        </p:spPr>
      </p:pic>
      <p:pic>
        <p:nvPicPr>
          <p:cNvPr id="27" name="Picture 26" descr="r004.png"/>
          <p:cNvPicPr>
            <a:picLocks noChangeAspect="1"/>
          </p:cNvPicPr>
          <p:nvPr/>
        </p:nvPicPr>
        <p:blipFill>
          <a:blip r:embed="rId7"/>
          <a:stretch>
            <a:fillRect/>
          </a:stretch>
        </p:blipFill>
        <p:spPr>
          <a:xfrm>
            <a:off x="381000" y="6505575"/>
            <a:ext cx="171450" cy="190500"/>
          </a:xfrm>
          <a:prstGeom prst="rect">
            <a:avLst/>
          </a:prstGeom>
        </p:spPr>
      </p:pic>
      <p:sp>
        <p:nvSpPr>
          <p:cNvPr id="28" name="TextBox 27"/>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29" name="TextBox 28"/>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0" name="TextBox 29"/>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31" name="TextBox 30"/>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03 /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87004" y="323850"/>
            <a:ext cx="1091696"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EL PROBLEMA</a:t>
            </a:r>
          </a:p>
        </p:txBody>
      </p:sp>
      <p:sp>
        <p:nvSpPr>
          <p:cNvPr id="3" name="TextBox 2"/>
          <p:cNvSpPr txBox="1"/>
          <p:nvPr/>
        </p:nvSpPr>
        <p:spPr>
          <a:xfrm>
            <a:off x="609600" y="323850"/>
            <a:ext cx="95548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II</a:t>
            </a:r>
          </a:p>
        </p:txBody>
      </p:sp>
      <p:sp>
        <p:nvSpPr>
          <p:cNvPr id="4" name="Rectangle 3"/>
          <p:cNvSpPr/>
          <p:nvPr/>
        </p:nvSpPr>
        <p:spPr>
          <a:xfrm>
            <a:off x="1606004" y="395288"/>
            <a:ext cx="266700" cy="9525"/>
          </a:xfrm>
          <a:prstGeom prst="rect">
            <a:avLst/>
          </a:prstGeom>
          <a:noFill/>
          <a:ln>
            <a:noFill/>
          </a:ln>
        </p:spPr>
        <p:txBody>
          <a:bodyPr rtlCol="0" anchor="ctr"/>
          <a:lstStyle/>
          <a:p>
            <a:endParaRPr/>
          </a:p>
        </p:txBody>
      </p:sp>
      <p:cxnSp>
        <p:nvCxnSpPr>
          <p:cNvPr id="5" name="Connector 4"/>
          <p:cNvCxnSpPr/>
          <p:nvPr/>
        </p:nvCxnSpPr>
        <p:spPr>
          <a:xfrm>
            <a:off x="1606004"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Ninguna alternativa actual da a la vez personalización, calidad y precio</a:t>
            </a:r>
          </a:p>
        </p:txBody>
      </p:sp>
      <p:sp>
        <p:nvSpPr>
          <p:cNvPr id="7" name="Rectangle 6"/>
          <p:cNvSpPr/>
          <p:nvPr/>
        </p:nvSpPr>
        <p:spPr>
          <a:xfrm>
            <a:off x="609600" y="1524000"/>
            <a:ext cx="2381250" cy="323850"/>
          </a:xfrm>
          <a:prstGeom prst="rect">
            <a:avLst/>
          </a:prstGeom>
          <a:solidFill>
            <a:srgbClr val="1C2433"/>
          </a:solidFill>
          <a:ln>
            <a:noFill/>
          </a:ln>
        </p:spPr>
        <p:txBody>
          <a:bodyPr rtlCol="0" anchor="ctr"/>
          <a:lstStyle/>
          <a:p>
            <a:endParaRPr/>
          </a:p>
        </p:txBody>
      </p:sp>
      <p:sp>
        <p:nvSpPr>
          <p:cNvPr id="8" name="TextBox 7"/>
          <p:cNvSpPr txBox="1"/>
          <p:nvPr/>
        </p:nvSpPr>
        <p:spPr>
          <a:xfrm>
            <a:off x="704850" y="1590675"/>
            <a:ext cx="825472"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F5EFE3"/>
                </a:solidFill>
                <a:latin typeface="Inter SemiBold"/>
                <a:ea typeface="Inter SemiBold"/>
                <a:cs typeface="Inter SemiBold"/>
              </a:rPr>
              <a:t>Alternativa</a:t>
            </a:r>
          </a:p>
        </p:txBody>
      </p:sp>
      <p:sp>
        <p:nvSpPr>
          <p:cNvPr id="9" name="Rectangle 8"/>
          <p:cNvSpPr/>
          <p:nvPr/>
        </p:nvSpPr>
        <p:spPr>
          <a:xfrm>
            <a:off x="2990850" y="1524000"/>
            <a:ext cx="2750195" cy="323850"/>
          </a:xfrm>
          <a:prstGeom prst="rect">
            <a:avLst/>
          </a:prstGeom>
          <a:solidFill>
            <a:srgbClr val="1C2433"/>
          </a:solidFill>
          <a:ln>
            <a:noFill/>
          </a:ln>
        </p:spPr>
        <p:txBody>
          <a:bodyPr rtlCol="0" anchor="ctr"/>
          <a:lstStyle/>
          <a:p>
            <a:endParaRPr/>
          </a:p>
        </p:txBody>
      </p:sp>
      <p:sp>
        <p:nvSpPr>
          <p:cNvPr id="10" name="TextBox 9"/>
          <p:cNvSpPr txBox="1"/>
          <p:nvPr/>
        </p:nvSpPr>
        <p:spPr>
          <a:xfrm>
            <a:off x="3086100" y="1590675"/>
            <a:ext cx="1488865"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F5EFE3"/>
                </a:solidFill>
                <a:latin typeface="Inter SemiBold"/>
                <a:ea typeface="Inter SemiBold"/>
                <a:cs typeface="Inter SemiBold"/>
              </a:rPr>
              <a:t>Personalización real</a:t>
            </a:r>
          </a:p>
        </p:txBody>
      </p:sp>
      <p:sp>
        <p:nvSpPr>
          <p:cNvPr id="11" name="Rectangle 10"/>
          <p:cNvSpPr/>
          <p:nvPr/>
        </p:nvSpPr>
        <p:spPr>
          <a:xfrm>
            <a:off x="5741045" y="1524000"/>
            <a:ext cx="2824014" cy="323850"/>
          </a:xfrm>
          <a:prstGeom prst="rect">
            <a:avLst/>
          </a:prstGeom>
          <a:solidFill>
            <a:srgbClr val="1C2433"/>
          </a:solidFill>
          <a:ln>
            <a:noFill/>
          </a:ln>
        </p:spPr>
        <p:txBody>
          <a:bodyPr rtlCol="0" anchor="ctr"/>
          <a:lstStyle/>
          <a:p>
            <a:endParaRPr/>
          </a:p>
        </p:txBody>
      </p:sp>
      <p:sp>
        <p:nvSpPr>
          <p:cNvPr id="12" name="TextBox 11"/>
          <p:cNvSpPr txBox="1"/>
          <p:nvPr/>
        </p:nvSpPr>
        <p:spPr>
          <a:xfrm>
            <a:off x="5836295" y="1590675"/>
            <a:ext cx="1261181"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F5EFE3"/>
                </a:solidFill>
                <a:latin typeface="Inter SemiBold"/>
                <a:ea typeface="Inter SemiBold"/>
                <a:cs typeface="Inter SemiBold"/>
              </a:rPr>
              <a:t>Calidad narrativa</a:t>
            </a:r>
          </a:p>
        </p:txBody>
      </p:sp>
      <p:sp>
        <p:nvSpPr>
          <p:cNvPr id="13" name="Rectangle 12"/>
          <p:cNvSpPr/>
          <p:nvPr/>
        </p:nvSpPr>
        <p:spPr>
          <a:xfrm>
            <a:off x="8565059" y="1524000"/>
            <a:ext cx="1867793" cy="323850"/>
          </a:xfrm>
          <a:prstGeom prst="rect">
            <a:avLst/>
          </a:prstGeom>
          <a:solidFill>
            <a:srgbClr val="1C2433"/>
          </a:solidFill>
          <a:ln>
            <a:noFill/>
          </a:ln>
        </p:spPr>
        <p:txBody>
          <a:bodyPr rtlCol="0" anchor="ctr"/>
          <a:lstStyle/>
          <a:p>
            <a:endParaRPr/>
          </a:p>
        </p:txBody>
      </p:sp>
      <p:sp>
        <p:nvSpPr>
          <p:cNvPr id="14" name="TextBox 13"/>
          <p:cNvSpPr txBox="1"/>
          <p:nvPr/>
        </p:nvSpPr>
        <p:spPr>
          <a:xfrm>
            <a:off x="8660309" y="1590675"/>
            <a:ext cx="493466"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F5EFE3"/>
                </a:solidFill>
                <a:latin typeface="Inter SemiBold"/>
                <a:ea typeface="Inter SemiBold"/>
                <a:cs typeface="Inter SemiBold"/>
              </a:rPr>
              <a:t>Precio</a:t>
            </a:r>
          </a:p>
        </p:txBody>
      </p:sp>
      <p:sp>
        <p:nvSpPr>
          <p:cNvPr id="15" name="Rectangle 14"/>
          <p:cNvSpPr/>
          <p:nvPr/>
        </p:nvSpPr>
        <p:spPr>
          <a:xfrm>
            <a:off x="10432852" y="1524000"/>
            <a:ext cx="1149548" cy="323850"/>
          </a:xfrm>
          <a:prstGeom prst="rect">
            <a:avLst/>
          </a:prstGeom>
          <a:solidFill>
            <a:srgbClr val="1C2433"/>
          </a:solidFill>
          <a:ln>
            <a:noFill/>
          </a:ln>
        </p:spPr>
        <p:txBody>
          <a:bodyPr rtlCol="0" anchor="ctr"/>
          <a:lstStyle/>
          <a:p>
            <a:endParaRPr/>
          </a:p>
        </p:txBody>
      </p:sp>
      <p:sp>
        <p:nvSpPr>
          <p:cNvPr id="16" name="TextBox 15"/>
          <p:cNvSpPr txBox="1"/>
          <p:nvPr/>
        </p:nvSpPr>
        <p:spPr>
          <a:xfrm>
            <a:off x="10528102" y="1590675"/>
            <a:ext cx="430161"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F5EFE3"/>
                </a:solidFill>
                <a:latin typeface="Inter SemiBold"/>
                <a:ea typeface="Inter SemiBold"/>
                <a:cs typeface="Inter SemiBold"/>
              </a:rPr>
              <a:t>Plazo</a:t>
            </a:r>
          </a:p>
        </p:txBody>
      </p:sp>
      <p:sp>
        <p:nvSpPr>
          <p:cNvPr id="17" name="Rectangle 16"/>
          <p:cNvSpPr/>
          <p:nvPr/>
        </p:nvSpPr>
        <p:spPr>
          <a:xfrm>
            <a:off x="609600" y="1847850"/>
            <a:ext cx="2381250" cy="595312"/>
          </a:xfrm>
          <a:prstGeom prst="rect">
            <a:avLst/>
          </a:prstGeom>
          <a:noFill/>
          <a:ln>
            <a:noFill/>
          </a:ln>
        </p:spPr>
        <p:txBody>
          <a:bodyPr rtlCol="0" anchor="ctr"/>
          <a:lstStyle/>
          <a:p>
            <a:endParaRPr/>
          </a:p>
        </p:txBody>
      </p:sp>
      <p:cxnSp>
        <p:nvCxnSpPr>
          <p:cNvPr id="18" name="Connector 17"/>
          <p:cNvCxnSpPr/>
          <p:nvPr/>
        </p:nvCxnSpPr>
        <p:spPr>
          <a:xfrm>
            <a:off x="609600" y="2438400"/>
            <a:ext cx="2381250" cy="0"/>
          </a:xfrm>
          <a:prstGeom prst="line">
            <a:avLst/>
          </a:prstGeom>
          <a:ln w="9525">
            <a:solidFill>
              <a:srgbClr val="D9D2C3"/>
            </a:solidFill>
          </a:ln>
        </p:spPr>
      </p:cxnSp>
      <p:sp>
        <p:nvSpPr>
          <p:cNvPr id="19" name="TextBox 18"/>
          <p:cNvSpPr txBox="1"/>
          <p:nvPr/>
        </p:nvSpPr>
        <p:spPr>
          <a:xfrm>
            <a:off x="723900" y="1952625"/>
            <a:ext cx="2175091" cy="381000"/>
          </a:xfrm>
          <a:prstGeom prst="rect">
            <a:avLst/>
          </a:prstGeom>
          <a:noFill/>
        </p:spPr>
        <p:txBody>
          <a:bodyPr wrap="square" lIns="0" tIns="0" rIns="0" bIns="0" anchor="t">
            <a:noAutofit/>
          </a:bodyPr>
          <a:lstStyle/>
          <a:p>
            <a:pPr algn="l">
              <a:lnSpc>
                <a:spcPts val="1500"/>
              </a:lnSpc>
              <a:spcBef>
                <a:spcPts val="0"/>
              </a:spcBef>
              <a:spcAft>
                <a:spcPts val="0"/>
              </a:spcAft>
            </a:pPr>
            <a:r>
              <a:rPr sz="1300" b="0" i="0">
                <a:solidFill>
                  <a:srgbClr val="1C2433"/>
                </a:solidFill>
                <a:latin typeface="Inter SemiBold"/>
                <a:ea typeface="Inter SemiBold"/>
                <a:cs typeface="Inter SemiBold"/>
              </a:rPr>
              <a:t>Libro de plantilla con el nombre insertado</a:t>
            </a:r>
          </a:p>
        </p:txBody>
      </p:sp>
      <p:sp>
        <p:nvSpPr>
          <p:cNvPr id="20" name="Rectangle 19"/>
          <p:cNvSpPr/>
          <p:nvPr/>
        </p:nvSpPr>
        <p:spPr>
          <a:xfrm>
            <a:off x="2990850" y="1847850"/>
            <a:ext cx="2750195" cy="595312"/>
          </a:xfrm>
          <a:prstGeom prst="rect">
            <a:avLst/>
          </a:prstGeom>
          <a:noFill/>
          <a:ln>
            <a:noFill/>
          </a:ln>
        </p:spPr>
        <p:txBody>
          <a:bodyPr rtlCol="0" anchor="ctr"/>
          <a:lstStyle/>
          <a:p>
            <a:endParaRPr/>
          </a:p>
        </p:txBody>
      </p:sp>
      <p:cxnSp>
        <p:nvCxnSpPr>
          <p:cNvPr id="21" name="Connector 20"/>
          <p:cNvCxnSpPr/>
          <p:nvPr/>
        </p:nvCxnSpPr>
        <p:spPr>
          <a:xfrm>
            <a:off x="2990850" y="2438400"/>
            <a:ext cx="2750195" cy="0"/>
          </a:xfrm>
          <a:prstGeom prst="line">
            <a:avLst/>
          </a:prstGeom>
          <a:ln w="9525">
            <a:solidFill>
              <a:srgbClr val="D9D2C3"/>
            </a:solidFill>
          </a:ln>
        </p:spPr>
      </p:cxnSp>
      <p:sp>
        <p:nvSpPr>
          <p:cNvPr id="22" name="Rounded Rectangle 21"/>
          <p:cNvSpPr/>
          <p:nvPr/>
        </p:nvSpPr>
        <p:spPr>
          <a:xfrm>
            <a:off x="3105150" y="2019300"/>
            <a:ext cx="1131391" cy="247650"/>
          </a:xfrm>
          <a:prstGeom prst="roundRect">
            <a:avLst>
              <a:gd name="adj" fmla="val 26923"/>
            </a:avLst>
          </a:prstGeom>
          <a:solidFill>
            <a:srgbClr val="EEE0C0"/>
          </a:solidFill>
          <a:ln w="9525">
            <a:solidFill>
              <a:srgbClr val="C9A34E"/>
            </a:solidFill>
          </a:ln>
        </p:spPr>
        <p:txBody>
          <a:bodyPr rtlCol="0" anchor="ctr"/>
          <a:lstStyle/>
          <a:p>
            <a:endParaRPr/>
          </a:p>
        </p:txBody>
      </p:sp>
      <p:sp>
        <p:nvSpPr>
          <p:cNvPr id="23" name="TextBox 22"/>
          <p:cNvSpPr txBox="1"/>
          <p:nvPr/>
        </p:nvSpPr>
        <p:spPr>
          <a:xfrm>
            <a:off x="3190875" y="2057400"/>
            <a:ext cx="1036439"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1C2433"/>
                </a:solidFill>
                <a:latin typeface="Inter SemiBold"/>
                <a:ea typeface="Inter SemiBold"/>
                <a:cs typeface="Inter SemiBold"/>
              </a:rPr>
              <a:t>Solo el nombre</a:t>
            </a:r>
          </a:p>
        </p:txBody>
      </p:sp>
      <p:sp>
        <p:nvSpPr>
          <p:cNvPr id="24" name="Rectangle 23"/>
          <p:cNvSpPr/>
          <p:nvPr/>
        </p:nvSpPr>
        <p:spPr>
          <a:xfrm>
            <a:off x="5741045" y="1847850"/>
            <a:ext cx="2824014" cy="595312"/>
          </a:xfrm>
          <a:prstGeom prst="rect">
            <a:avLst/>
          </a:prstGeom>
          <a:noFill/>
          <a:ln>
            <a:noFill/>
          </a:ln>
        </p:spPr>
        <p:txBody>
          <a:bodyPr rtlCol="0" anchor="ctr"/>
          <a:lstStyle/>
          <a:p>
            <a:endParaRPr/>
          </a:p>
        </p:txBody>
      </p:sp>
      <p:cxnSp>
        <p:nvCxnSpPr>
          <p:cNvPr id="25" name="Connector 24"/>
          <p:cNvCxnSpPr/>
          <p:nvPr/>
        </p:nvCxnSpPr>
        <p:spPr>
          <a:xfrm>
            <a:off x="5741045" y="2438400"/>
            <a:ext cx="2824014" cy="0"/>
          </a:xfrm>
          <a:prstGeom prst="line">
            <a:avLst/>
          </a:prstGeom>
          <a:ln w="9525">
            <a:solidFill>
              <a:srgbClr val="D9D2C3"/>
            </a:solidFill>
          </a:ln>
        </p:spPr>
      </p:cxnSp>
      <p:sp>
        <p:nvSpPr>
          <p:cNvPr id="26" name="Rounded Rectangle 25"/>
          <p:cNvSpPr/>
          <p:nvPr/>
        </p:nvSpPr>
        <p:spPr>
          <a:xfrm>
            <a:off x="5855345" y="2019300"/>
            <a:ext cx="1854547"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27" name="TextBox 26"/>
          <p:cNvSpPr txBox="1"/>
          <p:nvPr/>
        </p:nvSpPr>
        <p:spPr>
          <a:xfrm>
            <a:off x="5941070" y="2057400"/>
            <a:ext cx="1788521"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Correcta, pero genérica</a:t>
            </a:r>
          </a:p>
        </p:txBody>
      </p:sp>
      <p:sp>
        <p:nvSpPr>
          <p:cNvPr id="28" name="Rectangle 27"/>
          <p:cNvSpPr/>
          <p:nvPr/>
        </p:nvSpPr>
        <p:spPr>
          <a:xfrm>
            <a:off x="8565059" y="1847850"/>
            <a:ext cx="1867793" cy="595312"/>
          </a:xfrm>
          <a:prstGeom prst="rect">
            <a:avLst/>
          </a:prstGeom>
          <a:noFill/>
          <a:ln>
            <a:noFill/>
          </a:ln>
        </p:spPr>
        <p:txBody>
          <a:bodyPr rtlCol="0" anchor="ctr"/>
          <a:lstStyle/>
          <a:p>
            <a:endParaRPr/>
          </a:p>
        </p:txBody>
      </p:sp>
      <p:cxnSp>
        <p:nvCxnSpPr>
          <p:cNvPr id="29" name="Connector 28"/>
          <p:cNvCxnSpPr/>
          <p:nvPr/>
        </p:nvCxnSpPr>
        <p:spPr>
          <a:xfrm>
            <a:off x="8565059" y="2438400"/>
            <a:ext cx="1867793" cy="0"/>
          </a:xfrm>
          <a:prstGeom prst="line">
            <a:avLst/>
          </a:prstGeom>
          <a:ln w="9525">
            <a:solidFill>
              <a:srgbClr val="D9D2C3"/>
            </a:solidFill>
          </a:ln>
        </p:spPr>
      </p:cxnSp>
      <p:sp>
        <p:nvSpPr>
          <p:cNvPr id="30" name="Rounded Rectangle 29"/>
          <p:cNvSpPr/>
          <p:nvPr/>
        </p:nvSpPr>
        <p:spPr>
          <a:xfrm>
            <a:off x="8679359" y="2019300"/>
            <a:ext cx="863203"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31" name="TextBox 30"/>
          <p:cNvSpPr txBox="1"/>
          <p:nvPr/>
        </p:nvSpPr>
        <p:spPr>
          <a:xfrm>
            <a:off x="8765084" y="2057400"/>
            <a:ext cx="757523"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30–40 €</a:t>
            </a:r>
          </a:p>
        </p:txBody>
      </p:sp>
      <p:sp>
        <p:nvSpPr>
          <p:cNvPr id="32" name="Rectangle 31"/>
          <p:cNvSpPr/>
          <p:nvPr/>
        </p:nvSpPr>
        <p:spPr>
          <a:xfrm>
            <a:off x="10432852" y="1847850"/>
            <a:ext cx="1149548" cy="595312"/>
          </a:xfrm>
          <a:prstGeom prst="rect">
            <a:avLst/>
          </a:prstGeom>
          <a:noFill/>
          <a:ln>
            <a:noFill/>
          </a:ln>
        </p:spPr>
        <p:txBody>
          <a:bodyPr rtlCol="0" anchor="ctr"/>
          <a:lstStyle/>
          <a:p>
            <a:endParaRPr/>
          </a:p>
        </p:txBody>
      </p:sp>
      <p:cxnSp>
        <p:nvCxnSpPr>
          <p:cNvPr id="33" name="Connector 32"/>
          <p:cNvCxnSpPr/>
          <p:nvPr/>
        </p:nvCxnSpPr>
        <p:spPr>
          <a:xfrm>
            <a:off x="10432852" y="2438400"/>
            <a:ext cx="1149548" cy="0"/>
          </a:xfrm>
          <a:prstGeom prst="line">
            <a:avLst/>
          </a:prstGeom>
          <a:ln w="9525">
            <a:solidFill>
              <a:srgbClr val="D9D2C3"/>
            </a:solidFill>
          </a:ln>
        </p:spPr>
      </p:cxnSp>
      <p:sp>
        <p:nvSpPr>
          <p:cNvPr id="34" name="Rounded Rectangle 33"/>
          <p:cNvSpPr/>
          <p:nvPr/>
        </p:nvSpPr>
        <p:spPr>
          <a:xfrm>
            <a:off x="10547152" y="2019300"/>
            <a:ext cx="603796"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35" name="TextBox 34"/>
          <p:cNvSpPr txBox="1"/>
          <p:nvPr/>
        </p:nvSpPr>
        <p:spPr>
          <a:xfrm>
            <a:off x="10632877" y="2057400"/>
            <a:ext cx="487740"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Días</a:t>
            </a:r>
          </a:p>
        </p:txBody>
      </p:sp>
      <p:sp>
        <p:nvSpPr>
          <p:cNvPr id="36" name="Rectangle 35"/>
          <p:cNvSpPr/>
          <p:nvPr/>
        </p:nvSpPr>
        <p:spPr>
          <a:xfrm>
            <a:off x="609600" y="2443162"/>
            <a:ext cx="2381250" cy="466725"/>
          </a:xfrm>
          <a:prstGeom prst="rect">
            <a:avLst/>
          </a:prstGeom>
          <a:noFill/>
          <a:ln>
            <a:noFill/>
          </a:ln>
        </p:spPr>
        <p:txBody>
          <a:bodyPr rtlCol="0" anchor="ctr"/>
          <a:lstStyle/>
          <a:p>
            <a:endParaRPr/>
          </a:p>
        </p:txBody>
      </p:sp>
      <p:cxnSp>
        <p:nvCxnSpPr>
          <p:cNvPr id="37" name="Connector 36"/>
          <p:cNvCxnSpPr/>
          <p:nvPr/>
        </p:nvCxnSpPr>
        <p:spPr>
          <a:xfrm>
            <a:off x="609600" y="2905125"/>
            <a:ext cx="2381250" cy="0"/>
          </a:xfrm>
          <a:prstGeom prst="line">
            <a:avLst/>
          </a:prstGeom>
          <a:ln w="9525">
            <a:solidFill>
              <a:srgbClr val="D9D2C3"/>
            </a:solidFill>
          </a:ln>
        </p:spPr>
      </p:cxnSp>
      <p:sp>
        <p:nvSpPr>
          <p:cNvPr id="38" name="TextBox 37"/>
          <p:cNvSpPr txBox="1"/>
          <p:nvPr/>
        </p:nvSpPr>
        <p:spPr>
          <a:xfrm>
            <a:off x="723900" y="2581275"/>
            <a:ext cx="1699367" cy="190500"/>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1C2433"/>
                </a:solidFill>
                <a:latin typeface="Inter SemiBold"/>
                <a:ea typeface="Inter SemiBold"/>
                <a:cs typeface="Inter SemiBold"/>
              </a:rPr>
              <a:t>Escritor por encargo</a:t>
            </a:r>
          </a:p>
        </p:txBody>
      </p:sp>
      <p:sp>
        <p:nvSpPr>
          <p:cNvPr id="39" name="Rectangle 38"/>
          <p:cNvSpPr/>
          <p:nvPr/>
        </p:nvSpPr>
        <p:spPr>
          <a:xfrm>
            <a:off x="2990850" y="2443162"/>
            <a:ext cx="2750195" cy="466725"/>
          </a:xfrm>
          <a:prstGeom prst="rect">
            <a:avLst/>
          </a:prstGeom>
          <a:noFill/>
          <a:ln>
            <a:noFill/>
          </a:ln>
        </p:spPr>
        <p:txBody>
          <a:bodyPr rtlCol="0" anchor="ctr"/>
          <a:lstStyle/>
          <a:p>
            <a:endParaRPr/>
          </a:p>
        </p:txBody>
      </p:sp>
      <p:cxnSp>
        <p:nvCxnSpPr>
          <p:cNvPr id="40" name="Connector 39"/>
          <p:cNvCxnSpPr/>
          <p:nvPr/>
        </p:nvCxnSpPr>
        <p:spPr>
          <a:xfrm>
            <a:off x="2990850" y="2905125"/>
            <a:ext cx="2750195" cy="0"/>
          </a:xfrm>
          <a:prstGeom prst="line">
            <a:avLst/>
          </a:prstGeom>
          <a:ln w="9525">
            <a:solidFill>
              <a:srgbClr val="D9D2C3"/>
            </a:solidFill>
          </a:ln>
        </p:spPr>
      </p:cxnSp>
      <p:sp>
        <p:nvSpPr>
          <p:cNvPr id="41" name="Rounded Rectangle 40"/>
          <p:cNvSpPr/>
          <p:nvPr/>
        </p:nvSpPr>
        <p:spPr>
          <a:xfrm>
            <a:off x="3105150" y="2552700"/>
            <a:ext cx="640854"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42" name="TextBox 41"/>
          <p:cNvSpPr txBox="1"/>
          <p:nvPr/>
        </p:nvSpPr>
        <p:spPr>
          <a:xfrm>
            <a:off x="3190875" y="2590800"/>
            <a:ext cx="526280"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Total</a:t>
            </a:r>
          </a:p>
        </p:txBody>
      </p:sp>
      <p:sp>
        <p:nvSpPr>
          <p:cNvPr id="43" name="Rectangle 42"/>
          <p:cNvSpPr/>
          <p:nvPr/>
        </p:nvSpPr>
        <p:spPr>
          <a:xfrm>
            <a:off x="5741045" y="2443162"/>
            <a:ext cx="2824014" cy="466725"/>
          </a:xfrm>
          <a:prstGeom prst="rect">
            <a:avLst/>
          </a:prstGeom>
          <a:noFill/>
          <a:ln>
            <a:noFill/>
          </a:ln>
        </p:spPr>
        <p:txBody>
          <a:bodyPr rtlCol="0" anchor="ctr"/>
          <a:lstStyle/>
          <a:p>
            <a:endParaRPr/>
          </a:p>
        </p:txBody>
      </p:sp>
      <p:cxnSp>
        <p:nvCxnSpPr>
          <p:cNvPr id="44" name="Connector 43"/>
          <p:cNvCxnSpPr/>
          <p:nvPr/>
        </p:nvCxnSpPr>
        <p:spPr>
          <a:xfrm>
            <a:off x="5741045" y="2905125"/>
            <a:ext cx="2824014" cy="0"/>
          </a:xfrm>
          <a:prstGeom prst="line">
            <a:avLst/>
          </a:prstGeom>
          <a:ln w="9525">
            <a:solidFill>
              <a:srgbClr val="D9D2C3"/>
            </a:solidFill>
          </a:ln>
        </p:spPr>
      </p:cxnSp>
      <p:sp>
        <p:nvSpPr>
          <p:cNvPr id="45" name="Rounded Rectangle 44"/>
          <p:cNvSpPr/>
          <p:nvPr/>
        </p:nvSpPr>
        <p:spPr>
          <a:xfrm>
            <a:off x="5855345" y="2552700"/>
            <a:ext cx="581025"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46" name="TextBox 45"/>
          <p:cNvSpPr txBox="1"/>
          <p:nvPr/>
        </p:nvSpPr>
        <p:spPr>
          <a:xfrm>
            <a:off x="5941070" y="2590800"/>
            <a:ext cx="464058"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Alta</a:t>
            </a:r>
          </a:p>
        </p:txBody>
      </p:sp>
      <p:sp>
        <p:nvSpPr>
          <p:cNvPr id="47" name="Rectangle 46"/>
          <p:cNvSpPr/>
          <p:nvPr/>
        </p:nvSpPr>
        <p:spPr>
          <a:xfrm>
            <a:off x="8565059" y="2443162"/>
            <a:ext cx="1867793" cy="466725"/>
          </a:xfrm>
          <a:prstGeom prst="rect">
            <a:avLst/>
          </a:prstGeom>
          <a:noFill/>
          <a:ln>
            <a:noFill/>
          </a:ln>
        </p:spPr>
        <p:txBody>
          <a:bodyPr rtlCol="0" anchor="ctr"/>
          <a:lstStyle/>
          <a:p>
            <a:endParaRPr/>
          </a:p>
        </p:txBody>
      </p:sp>
      <p:cxnSp>
        <p:nvCxnSpPr>
          <p:cNvPr id="48" name="Connector 47"/>
          <p:cNvCxnSpPr/>
          <p:nvPr/>
        </p:nvCxnSpPr>
        <p:spPr>
          <a:xfrm>
            <a:off x="8565059" y="2905125"/>
            <a:ext cx="1867793" cy="0"/>
          </a:xfrm>
          <a:prstGeom prst="line">
            <a:avLst/>
          </a:prstGeom>
          <a:ln w="9525">
            <a:solidFill>
              <a:srgbClr val="D9D2C3"/>
            </a:solidFill>
          </a:ln>
        </p:spPr>
      </p:cxnSp>
      <p:sp>
        <p:nvSpPr>
          <p:cNvPr id="49" name="Rounded Rectangle 48"/>
          <p:cNvSpPr/>
          <p:nvPr/>
        </p:nvSpPr>
        <p:spPr>
          <a:xfrm>
            <a:off x="8679359" y="2552700"/>
            <a:ext cx="1618059" cy="247650"/>
          </a:xfrm>
          <a:prstGeom prst="roundRect">
            <a:avLst>
              <a:gd name="adj" fmla="val 26923"/>
            </a:avLst>
          </a:prstGeom>
          <a:solidFill>
            <a:srgbClr val="EDD9CC"/>
          </a:solidFill>
          <a:ln w="9525">
            <a:solidFill>
              <a:srgbClr val="B23A2B"/>
            </a:solidFill>
          </a:ln>
        </p:spPr>
        <p:txBody>
          <a:bodyPr rtlCol="0" anchor="ctr"/>
          <a:lstStyle/>
          <a:p>
            <a:endParaRPr/>
          </a:p>
        </p:txBody>
      </p:sp>
      <p:sp>
        <p:nvSpPr>
          <p:cNvPr id="50" name="TextBox 49"/>
          <p:cNvSpPr txBox="1"/>
          <p:nvPr/>
        </p:nvSpPr>
        <p:spPr>
          <a:xfrm>
            <a:off x="8765084" y="2590800"/>
            <a:ext cx="1542574"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B23A2B"/>
                </a:solidFill>
                <a:latin typeface="Inter SemiBold"/>
                <a:ea typeface="Inter SemiBold"/>
                <a:cs typeface="Inter SemiBold"/>
              </a:rPr>
              <a:t>✕ Cientos o miles de €</a:t>
            </a:r>
          </a:p>
        </p:txBody>
      </p:sp>
      <p:sp>
        <p:nvSpPr>
          <p:cNvPr id="51" name="Rectangle 50"/>
          <p:cNvSpPr/>
          <p:nvPr/>
        </p:nvSpPr>
        <p:spPr>
          <a:xfrm>
            <a:off x="10432852" y="2443162"/>
            <a:ext cx="1149548" cy="466725"/>
          </a:xfrm>
          <a:prstGeom prst="rect">
            <a:avLst/>
          </a:prstGeom>
          <a:noFill/>
          <a:ln>
            <a:noFill/>
          </a:ln>
        </p:spPr>
        <p:txBody>
          <a:bodyPr rtlCol="0" anchor="ctr"/>
          <a:lstStyle/>
          <a:p>
            <a:endParaRPr/>
          </a:p>
        </p:txBody>
      </p:sp>
      <p:cxnSp>
        <p:nvCxnSpPr>
          <p:cNvPr id="52" name="Connector 51"/>
          <p:cNvCxnSpPr/>
          <p:nvPr/>
        </p:nvCxnSpPr>
        <p:spPr>
          <a:xfrm>
            <a:off x="10432852" y="2905125"/>
            <a:ext cx="1149548" cy="0"/>
          </a:xfrm>
          <a:prstGeom prst="line">
            <a:avLst/>
          </a:prstGeom>
          <a:ln w="9525">
            <a:solidFill>
              <a:srgbClr val="D9D2C3"/>
            </a:solidFill>
          </a:ln>
        </p:spPr>
      </p:cxnSp>
      <p:sp>
        <p:nvSpPr>
          <p:cNvPr id="53" name="Rounded Rectangle 52"/>
          <p:cNvSpPr/>
          <p:nvPr/>
        </p:nvSpPr>
        <p:spPr>
          <a:xfrm>
            <a:off x="10547152" y="2552700"/>
            <a:ext cx="907703" cy="247650"/>
          </a:xfrm>
          <a:prstGeom prst="roundRect">
            <a:avLst>
              <a:gd name="adj" fmla="val 26923"/>
            </a:avLst>
          </a:prstGeom>
          <a:solidFill>
            <a:srgbClr val="EDD9CC"/>
          </a:solidFill>
          <a:ln w="9525">
            <a:solidFill>
              <a:srgbClr val="B23A2B"/>
            </a:solidFill>
          </a:ln>
        </p:spPr>
        <p:txBody>
          <a:bodyPr rtlCol="0" anchor="ctr"/>
          <a:lstStyle/>
          <a:p>
            <a:endParaRPr/>
          </a:p>
        </p:txBody>
      </p:sp>
      <p:sp>
        <p:nvSpPr>
          <p:cNvPr id="54" name="TextBox 53"/>
          <p:cNvSpPr txBox="1"/>
          <p:nvPr/>
        </p:nvSpPr>
        <p:spPr>
          <a:xfrm>
            <a:off x="10632877" y="2590800"/>
            <a:ext cx="803803"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B23A2B"/>
                </a:solidFill>
                <a:latin typeface="Inter SemiBold"/>
                <a:ea typeface="Inter SemiBold"/>
                <a:cs typeface="Inter SemiBold"/>
              </a:rPr>
              <a:t>✕ Semanas</a:t>
            </a:r>
          </a:p>
        </p:txBody>
      </p:sp>
      <p:sp>
        <p:nvSpPr>
          <p:cNvPr id="55" name="Rectangle 54"/>
          <p:cNvSpPr/>
          <p:nvPr/>
        </p:nvSpPr>
        <p:spPr>
          <a:xfrm>
            <a:off x="609600" y="2909888"/>
            <a:ext cx="2381250" cy="604838"/>
          </a:xfrm>
          <a:prstGeom prst="rect">
            <a:avLst/>
          </a:prstGeom>
          <a:noFill/>
          <a:ln>
            <a:noFill/>
          </a:ln>
        </p:spPr>
        <p:txBody>
          <a:bodyPr rtlCol="0" anchor="ctr"/>
          <a:lstStyle/>
          <a:p>
            <a:endParaRPr/>
          </a:p>
        </p:txBody>
      </p:sp>
      <p:cxnSp>
        <p:nvCxnSpPr>
          <p:cNvPr id="56" name="Connector 55"/>
          <p:cNvCxnSpPr/>
          <p:nvPr/>
        </p:nvCxnSpPr>
        <p:spPr>
          <a:xfrm>
            <a:off x="609600" y="3509962"/>
            <a:ext cx="2381250" cy="0"/>
          </a:xfrm>
          <a:prstGeom prst="line">
            <a:avLst/>
          </a:prstGeom>
          <a:ln w="9525">
            <a:solidFill>
              <a:srgbClr val="D9D2C3"/>
            </a:solidFill>
          </a:ln>
        </p:spPr>
      </p:cxnSp>
      <p:sp>
        <p:nvSpPr>
          <p:cNvPr id="57" name="TextBox 56"/>
          <p:cNvSpPr txBox="1"/>
          <p:nvPr/>
        </p:nvSpPr>
        <p:spPr>
          <a:xfrm>
            <a:off x="723900" y="3019425"/>
            <a:ext cx="2175091" cy="381000"/>
          </a:xfrm>
          <a:prstGeom prst="rect">
            <a:avLst/>
          </a:prstGeom>
          <a:noFill/>
        </p:spPr>
        <p:txBody>
          <a:bodyPr wrap="square" lIns="0" tIns="0" rIns="0" bIns="0" anchor="t">
            <a:noAutofit/>
          </a:bodyPr>
          <a:lstStyle/>
          <a:p>
            <a:pPr algn="l">
              <a:lnSpc>
                <a:spcPts val="1500"/>
              </a:lnSpc>
              <a:spcBef>
                <a:spcPts val="0"/>
              </a:spcBef>
              <a:spcAft>
                <a:spcPts val="0"/>
              </a:spcAft>
            </a:pPr>
            <a:r>
              <a:rPr sz="1300" b="0" i="0">
                <a:solidFill>
                  <a:srgbClr val="1C2433"/>
                </a:solidFill>
                <a:latin typeface="Inter SemiBold"/>
                <a:ea typeface="Inter SemiBold"/>
                <a:cs typeface="Inter SemiBold"/>
              </a:rPr>
              <a:t>Pedírselo a un chatbot generalista</a:t>
            </a:r>
          </a:p>
        </p:txBody>
      </p:sp>
      <p:sp>
        <p:nvSpPr>
          <p:cNvPr id="58" name="Rectangle 57"/>
          <p:cNvSpPr/>
          <p:nvPr/>
        </p:nvSpPr>
        <p:spPr>
          <a:xfrm>
            <a:off x="2990850" y="2909888"/>
            <a:ext cx="2750195" cy="604838"/>
          </a:xfrm>
          <a:prstGeom prst="rect">
            <a:avLst/>
          </a:prstGeom>
          <a:noFill/>
          <a:ln>
            <a:noFill/>
          </a:ln>
        </p:spPr>
        <p:txBody>
          <a:bodyPr rtlCol="0" anchor="ctr"/>
          <a:lstStyle/>
          <a:p>
            <a:endParaRPr/>
          </a:p>
        </p:txBody>
      </p:sp>
      <p:cxnSp>
        <p:nvCxnSpPr>
          <p:cNvPr id="59" name="Connector 58"/>
          <p:cNvCxnSpPr/>
          <p:nvPr/>
        </p:nvCxnSpPr>
        <p:spPr>
          <a:xfrm>
            <a:off x="2990850" y="3509962"/>
            <a:ext cx="2750195" cy="0"/>
          </a:xfrm>
          <a:prstGeom prst="line">
            <a:avLst/>
          </a:prstGeom>
          <a:ln w="9525">
            <a:solidFill>
              <a:srgbClr val="D9D2C3"/>
            </a:solidFill>
          </a:ln>
        </p:spPr>
      </p:cxnSp>
      <p:sp>
        <p:nvSpPr>
          <p:cNvPr id="60" name="Rounded Rectangle 59"/>
          <p:cNvSpPr/>
          <p:nvPr/>
        </p:nvSpPr>
        <p:spPr>
          <a:xfrm>
            <a:off x="3105150" y="3086100"/>
            <a:ext cx="581025"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61" name="TextBox 60"/>
          <p:cNvSpPr txBox="1"/>
          <p:nvPr/>
        </p:nvSpPr>
        <p:spPr>
          <a:xfrm>
            <a:off x="3190875" y="3124200"/>
            <a:ext cx="464058"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Alta</a:t>
            </a:r>
          </a:p>
        </p:txBody>
      </p:sp>
      <p:sp>
        <p:nvSpPr>
          <p:cNvPr id="62" name="Rectangle 61"/>
          <p:cNvSpPr/>
          <p:nvPr/>
        </p:nvSpPr>
        <p:spPr>
          <a:xfrm>
            <a:off x="5741045" y="2909888"/>
            <a:ext cx="2824014" cy="604838"/>
          </a:xfrm>
          <a:prstGeom prst="rect">
            <a:avLst/>
          </a:prstGeom>
          <a:noFill/>
          <a:ln>
            <a:noFill/>
          </a:ln>
        </p:spPr>
        <p:txBody>
          <a:bodyPr rtlCol="0" anchor="ctr"/>
          <a:lstStyle/>
          <a:p>
            <a:endParaRPr/>
          </a:p>
        </p:txBody>
      </p:sp>
      <p:cxnSp>
        <p:nvCxnSpPr>
          <p:cNvPr id="63" name="Connector 62"/>
          <p:cNvCxnSpPr/>
          <p:nvPr/>
        </p:nvCxnSpPr>
        <p:spPr>
          <a:xfrm>
            <a:off x="5741045" y="3509962"/>
            <a:ext cx="2824014" cy="0"/>
          </a:xfrm>
          <a:prstGeom prst="line">
            <a:avLst/>
          </a:prstGeom>
          <a:ln w="9525">
            <a:solidFill>
              <a:srgbClr val="D9D2C3"/>
            </a:solidFill>
          </a:ln>
        </p:spPr>
      </p:cxnSp>
      <p:sp>
        <p:nvSpPr>
          <p:cNvPr id="64" name="Rounded Rectangle 63"/>
          <p:cNvSpPr/>
          <p:nvPr/>
        </p:nvSpPr>
        <p:spPr>
          <a:xfrm>
            <a:off x="5855345" y="3086100"/>
            <a:ext cx="2563416" cy="247650"/>
          </a:xfrm>
          <a:prstGeom prst="roundRect">
            <a:avLst>
              <a:gd name="adj" fmla="val 26923"/>
            </a:avLst>
          </a:prstGeom>
          <a:solidFill>
            <a:srgbClr val="EDD9CC"/>
          </a:solidFill>
          <a:ln w="9525">
            <a:solidFill>
              <a:srgbClr val="B23A2B"/>
            </a:solidFill>
          </a:ln>
        </p:spPr>
        <p:txBody>
          <a:bodyPr rtlCol="0" anchor="ctr"/>
          <a:lstStyle/>
          <a:p>
            <a:endParaRPr/>
          </a:p>
        </p:txBody>
      </p:sp>
      <p:sp>
        <p:nvSpPr>
          <p:cNvPr id="65" name="TextBox 64"/>
          <p:cNvSpPr txBox="1"/>
          <p:nvPr/>
        </p:nvSpPr>
        <p:spPr>
          <a:xfrm>
            <a:off x="5941070" y="3124200"/>
            <a:ext cx="2525744"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B23A2B"/>
                </a:solidFill>
                <a:latin typeface="Inter SemiBold"/>
                <a:ea typeface="Inter SemiBold"/>
                <a:cs typeface="Inter SemiBold"/>
              </a:rPr>
              <a:t>✕ Contradicciones y finales abruptos</a:t>
            </a:r>
          </a:p>
        </p:txBody>
      </p:sp>
      <p:sp>
        <p:nvSpPr>
          <p:cNvPr id="66" name="Rectangle 65"/>
          <p:cNvSpPr/>
          <p:nvPr/>
        </p:nvSpPr>
        <p:spPr>
          <a:xfrm>
            <a:off x="8565059" y="2909888"/>
            <a:ext cx="1867793" cy="604838"/>
          </a:xfrm>
          <a:prstGeom prst="rect">
            <a:avLst/>
          </a:prstGeom>
          <a:noFill/>
          <a:ln>
            <a:noFill/>
          </a:ln>
        </p:spPr>
        <p:txBody>
          <a:bodyPr rtlCol="0" anchor="ctr"/>
          <a:lstStyle/>
          <a:p>
            <a:endParaRPr/>
          </a:p>
        </p:txBody>
      </p:sp>
      <p:cxnSp>
        <p:nvCxnSpPr>
          <p:cNvPr id="67" name="Connector 66"/>
          <p:cNvCxnSpPr/>
          <p:nvPr/>
        </p:nvCxnSpPr>
        <p:spPr>
          <a:xfrm>
            <a:off x="8565059" y="3509962"/>
            <a:ext cx="1867793" cy="0"/>
          </a:xfrm>
          <a:prstGeom prst="line">
            <a:avLst/>
          </a:prstGeom>
          <a:ln w="9525">
            <a:solidFill>
              <a:srgbClr val="D9D2C3"/>
            </a:solidFill>
          </a:ln>
        </p:spPr>
      </p:cxnSp>
      <p:sp>
        <p:nvSpPr>
          <p:cNvPr id="68" name="Rounded Rectangle 67"/>
          <p:cNvSpPr/>
          <p:nvPr/>
        </p:nvSpPr>
        <p:spPr>
          <a:xfrm>
            <a:off x="8679359" y="3086100"/>
            <a:ext cx="1006376"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69" name="TextBox 68"/>
          <p:cNvSpPr txBox="1"/>
          <p:nvPr/>
        </p:nvSpPr>
        <p:spPr>
          <a:xfrm>
            <a:off x="8765084" y="3124200"/>
            <a:ext cx="906423"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Casi gratis</a:t>
            </a:r>
          </a:p>
        </p:txBody>
      </p:sp>
      <p:sp>
        <p:nvSpPr>
          <p:cNvPr id="70" name="Rectangle 69"/>
          <p:cNvSpPr/>
          <p:nvPr/>
        </p:nvSpPr>
        <p:spPr>
          <a:xfrm>
            <a:off x="10432852" y="2909888"/>
            <a:ext cx="1149548" cy="604838"/>
          </a:xfrm>
          <a:prstGeom prst="rect">
            <a:avLst/>
          </a:prstGeom>
          <a:noFill/>
          <a:ln>
            <a:noFill/>
          </a:ln>
        </p:spPr>
        <p:txBody>
          <a:bodyPr rtlCol="0" anchor="ctr"/>
          <a:lstStyle/>
          <a:p>
            <a:endParaRPr/>
          </a:p>
        </p:txBody>
      </p:sp>
      <p:cxnSp>
        <p:nvCxnSpPr>
          <p:cNvPr id="71" name="Connector 70"/>
          <p:cNvCxnSpPr/>
          <p:nvPr/>
        </p:nvCxnSpPr>
        <p:spPr>
          <a:xfrm>
            <a:off x="10432852" y="3509962"/>
            <a:ext cx="1149548" cy="0"/>
          </a:xfrm>
          <a:prstGeom prst="line">
            <a:avLst/>
          </a:prstGeom>
          <a:ln w="9525">
            <a:solidFill>
              <a:srgbClr val="D9D2C3"/>
            </a:solidFill>
          </a:ln>
        </p:spPr>
      </p:cxnSp>
      <p:sp>
        <p:nvSpPr>
          <p:cNvPr id="72" name="Rounded Rectangle 71"/>
          <p:cNvSpPr/>
          <p:nvPr/>
        </p:nvSpPr>
        <p:spPr>
          <a:xfrm>
            <a:off x="10547152" y="3086100"/>
            <a:ext cx="844153"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73" name="TextBox 72"/>
          <p:cNvSpPr txBox="1"/>
          <p:nvPr/>
        </p:nvSpPr>
        <p:spPr>
          <a:xfrm>
            <a:off x="10632877" y="3124200"/>
            <a:ext cx="737711"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Minutos</a:t>
            </a:r>
          </a:p>
        </p:txBody>
      </p:sp>
      <p:sp>
        <p:nvSpPr>
          <p:cNvPr id="74" name="Rectangle 73"/>
          <p:cNvSpPr/>
          <p:nvPr/>
        </p:nvSpPr>
        <p:spPr>
          <a:xfrm>
            <a:off x="609600" y="3514725"/>
            <a:ext cx="2381250" cy="476250"/>
          </a:xfrm>
          <a:prstGeom prst="rect">
            <a:avLst/>
          </a:prstGeom>
          <a:solidFill>
            <a:srgbClr val="EEE0C0"/>
          </a:solidFill>
          <a:ln>
            <a:noFill/>
          </a:ln>
        </p:spPr>
        <p:txBody>
          <a:bodyPr rtlCol="0" anchor="ctr"/>
          <a:lstStyle/>
          <a:p>
            <a:endParaRPr/>
          </a:p>
        </p:txBody>
      </p:sp>
      <p:cxnSp>
        <p:nvCxnSpPr>
          <p:cNvPr id="75" name="Connector 74"/>
          <p:cNvCxnSpPr/>
          <p:nvPr/>
        </p:nvCxnSpPr>
        <p:spPr>
          <a:xfrm>
            <a:off x="609600" y="3524250"/>
            <a:ext cx="2381250" cy="0"/>
          </a:xfrm>
          <a:prstGeom prst="line">
            <a:avLst/>
          </a:prstGeom>
          <a:ln w="19050">
            <a:solidFill>
              <a:srgbClr val="C9A34E"/>
            </a:solidFill>
          </a:ln>
        </p:spPr>
      </p:cxnSp>
      <p:cxnSp>
        <p:nvCxnSpPr>
          <p:cNvPr id="76" name="Connector 75"/>
          <p:cNvCxnSpPr/>
          <p:nvPr/>
        </p:nvCxnSpPr>
        <p:spPr>
          <a:xfrm>
            <a:off x="609600" y="3981450"/>
            <a:ext cx="2381250" cy="0"/>
          </a:xfrm>
          <a:prstGeom prst="line">
            <a:avLst/>
          </a:prstGeom>
          <a:ln w="19050">
            <a:solidFill>
              <a:srgbClr val="C9A34E"/>
            </a:solidFill>
          </a:ln>
        </p:spPr>
      </p:cxnSp>
      <p:sp>
        <p:nvSpPr>
          <p:cNvPr id="77" name="TextBox 76"/>
          <p:cNvSpPr txBox="1"/>
          <p:nvPr/>
        </p:nvSpPr>
        <p:spPr>
          <a:xfrm>
            <a:off x="723900" y="3657600"/>
            <a:ext cx="1350335" cy="190500"/>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1C2433"/>
                </a:solidFill>
                <a:latin typeface="Inter SemiBold"/>
                <a:ea typeface="Inter SemiBold"/>
                <a:cs typeface="Inter SemiBold"/>
              </a:rPr>
              <a:t>Novela Relicario</a:t>
            </a:r>
          </a:p>
        </p:txBody>
      </p:sp>
      <p:sp>
        <p:nvSpPr>
          <p:cNvPr id="78" name="Rectangle 77"/>
          <p:cNvSpPr/>
          <p:nvPr/>
        </p:nvSpPr>
        <p:spPr>
          <a:xfrm>
            <a:off x="2990850" y="3514725"/>
            <a:ext cx="2750195" cy="476250"/>
          </a:xfrm>
          <a:prstGeom prst="rect">
            <a:avLst/>
          </a:prstGeom>
          <a:solidFill>
            <a:srgbClr val="EEE0C0"/>
          </a:solidFill>
          <a:ln>
            <a:noFill/>
          </a:ln>
        </p:spPr>
        <p:txBody>
          <a:bodyPr rtlCol="0" anchor="ctr"/>
          <a:lstStyle/>
          <a:p>
            <a:endParaRPr/>
          </a:p>
        </p:txBody>
      </p:sp>
      <p:cxnSp>
        <p:nvCxnSpPr>
          <p:cNvPr id="79" name="Connector 78"/>
          <p:cNvCxnSpPr/>
          <p:nvPr/>
        </p:nvCxnSpPr>
        <p:spPr>
          <a:xfrm>
            <a:off x="2990850" y="3524250"/>
            <a:ext cx="2750195" cy="0"/>
          </a:xfrm>
          <a:prstGeom prst="line">
            <a:avLst/>
          </a:prstGeom>
          <a:ln w="19050">
            <a:solidFill>
              <a:srgbClr val="C9A34E"/>
            </a:solidFill>
          </a:ln>
        </p:spPr>
      </p:cxnSp>
      <p:cxnSp>
        <p:nvCxnSpPr>
          <p:cNvPr id="80" name="Connector 79"/>
          <p:cNvCxnSpPr/>
          <p:nvPr/>
        </p:nvCxnSpPr>
        <p:spPr>
          <a:xfrm>
            <a:off x="2990850" y="3981450"/>
            <a:ext cx="2750195" cy="0"/>
          </a:xfrm>
          <a:prstGeom prst="line">
            <a:avLst/>
          </a:prstGeom>
          <a:ln w="19050">
            <a:solidFill>
              <a:srgbClr val="C9A34E"/>
            </a:solidFill>
          </a:ln>
        </p:spPr>
      </p:cxnSp>
      <p:sp>
        <p:nvSpPr>
          <p:cNvPr id="81" name="Rounded Rectangle 80"/>
          <p:cNvSpPr/>
          <p:nvPr/>
        </p:nvSpPr>
        <p:spPr>
          <a:xfrm>
            <a:off x="3105150" y="3629025"/>
            <a:ext cx="2490490"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82" name="TextBox 81"/>
          <p:cNvSpPr txBox="1"/>
          <p:nvPr/>
        </p:nvSpPr>
        <p:spPr>
          <a:xfrm>
            <a:off x="3190875" y="3667125"/>
            <a:ext cx="2449901"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Recuerdos + época documentada</a:t>
            </a:r>
          </a:p>
        </p:txBody>
      </p:sp>
      <p:sp>
        <p:nvSpPr>
          <p:cNvPr id="83" name="Rectangle 82"/>
          <p:cNvSpPr/>
          <p:nvPr/>
        </p:nvSpPr>
        <p:spPr>
          <a:xfrm>
            <a:off x="5741045" y="3514725"/>
            <a:ext cx="2824014" cy="476250"/>
          </a:xfrm>
          <a:prstGeom prst="rect">
            <a:avLst/>
          </a:prstGeom>
          <a:solidFill>
            <a:srgbClr val="EEE0C0"/>
          </a:solidFill>
          <a:ln>
            <a:noFill/>
          </a:ln>
        </p:spPr>
        <p:txBody>
          <a:bodyPr rtlCol="0" anchor="ctr"/>
          <a:lstStyle/>
          <a:p>
            <a:endParaRPr/>
          </a:p>
        </p:txBody>
      </p:sp>
      <p:cxnSp>
        <p:nvCxnSpPr>
          <p:cNvPr id="84" name="Connector 83"/>
          <p:cNvCxnSpPr/>
          <p:nvPr/>
        </p:nvCxnSpPr>
        <p:spPr>
          <a:xfrm>
            <a:off x="5741045" y="3524250"/>
            <a:ext cx="2824014" cy="0"/>
          </a:xfrm>
          <a:prstGeom prst="line">
            <a:avLst/>
          </a:prstGeom>
          <a:ln w="19050">
            <a:solidFill>
              <a:srgbClr val="C9A34E"/>
            </a:solidFill>
          </a:ln>
        </p:spPr>
      </p:cxnSp>
      <p:cxnSp>
        <p:nvCxnSpPr>
          <p:cNvPr id="85" name="Connector 84"/>
          <p:cNvCxnSpPr/>
          <p:nvPr/>
        </p:nvCxnSpPr>
        <p:spPr>
          <a:xfrm>
            <a:off x="5741045" y="3981450"/>
            <a:ext cx="2824014" cy="0"/>
          </a:xfrm>
          <a:prstGeom prst="line">
            <a:avLst/>
          </a:prstGeom>
          <a:ln w="19050">
            <a:solidFill>
              <a:srgbClr val="C9A34E"/>
            </a:solidFill>
          </a:ln>
        </p:spPr>
      </p:cxnSp>
      <p:sp>
        <p:nvSpPr>
          <p:cNvPr id="86" name="Rounded Rectangle 85"/>
          <p:cNvSpPr/>
          <p:nvPr/>
        </p:nvSpPr>
        <p:spPr>
          <a:xfrm>
            <a:off x="5855345" y="3629025"/>
            <a:ext cx="2092523"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87" name="TextBox 86"/>
          <p:cNvSpPr txBox="1"/>
          <p:nvPr/>
        </p:nvSpPr>
        <p:spPr>
          <a:xfrm>
            <a:off x="5941070" y="3667125"/>
            <a:ext cx="2036016"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Validada capítulo a capítulo</a:t>
            </a:r>
          </a:p>
        </p:txBody>
      </p:sp>
      <p:sp>
        <p:nvSpPr>
          <p:cNvPr id="88" name="Rectangle 87"/>
          <p:cNvSpPr/>
          <p:nvPr/>
        </p:nvSpPr>
        <p:spPr>
          <a:xfrm>
            <a:off x="8565059" y="3514725"/>
            <a:ext cx="1867793" cy="476250"/>
          </a:xfrm>
          <a:prstGeom prst="rect">
            <a:avLst/>
          </a:prstGeom>
          <a:solidFill>
            <a:srgbClr val="EEE0C0"/>
          </a:solidFill>
          <a:ln>
            <a:noFill/>
          </a:ln>
        </p:spPr>
        <p:txBody>
          <a:bodyPr rtlCol="0" anchor="ctr"/>
          <a:lstStyle/>
          <a:p>
            <a:endParaRPr/>
          </a:p>
        </p:txBody>
      </p:sp>
      <p:cxnSp>
        <p:nvCxnSpPr>
          <p:cNvPr id="89" name="Connector 88"/>
          <p:cNvCxnSpPr/>
          <p:nvPr/>
        </p:nvCxnSpPr>
        <p:spPr>
          <a:xfrm>
            <a:off x="8565059" y="3524250"/>
            <a:ext cx="1867793" cy="0"/>
          </a:xfrm>
          <a:prstGeom prst="line">
            <a:avLst/>
          </a:prstGeom>
          <a:ln w="19050">
            <a:solidFill>
              <a:srgbClr val="C9A34E"/>
            </a:solidFill>
          </a:ln>
        </p:spPr>
      </p:cxnSp>
      <p:cxnSp>
        <p:nvCxnSpPr>
          <p:cNvPr id="90" name="Connector 89"/>
          <p:cNvCxnSpPr/>
          <p:nvPr/>
        </p:nvCxnSpPr>
        <p:spPr>
          <a:xfrm>
            <a:off x="8565059" y="3981450"/>
            <a:ext cx="1867793" cy="0"/>
          </a:xfrm>
          <a:prstGeom prst="line">
            <a:avLst/>
          </a:prstGeom>
          <a:ln w="19050">
            <a:solidFill>
              <a:srgbClr val="C9A34E"/>
            </a:solidFill>
          </a:ln>
        </p:spPr>
      </p:cxnSp>
      <p:sp>
        <p:nvSpPr>
          <p:cNvPr id="91" name="Rounded Rectangle 90"/>
          <p:cNvSpPr/>
          <p:nvPr/>
        </p:nvSpPr>
        <p:spPr>
          <a:xfrm>
            <a:off x="8679359" y="3629025"/>
            <a:ext cx="613916"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92" name="TextBox 91"/>
          <p:cNvSpPr txBox="1"/>
          <p:nvPr/>
        </p:nvSpPr>
        <p:spPr>
          <a:xfrm>
            <a:off x="8765084" y="3667125"/>
            <a:ext cx="498265"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59 €</a:t>
            </a:r>
          </a:p>
        </p:txBody>
      </p:sp>
      <p:sp>
        <p:nvSpPr>
          <p:cNvPr id="93" name="Rectangle 92"/>
          <p:cNvSpPr/>
          <p:nvPr/>
        </p:nvSpPr>
        <p:spPr>
          <a:xfrm>
            <a:off x="10432852" y="3514725"/>
            <a:ext cx="1149548" cy="476250"/>
          </a:xfrm>
          <a:prstGeom prst="rect">
            <a:avLst/>
          </a:prstGeom>
          <a:solidFill>
            <a:srgbClr val="EEE0C0"/>
          </a:solidFill>
          <a:ln>
            <a:noFill/>
          </a:ln>
        </p:spPr>
        <p:txBody>
          <a:bodyPr rtlCol="0" anchor="ctr"/>
          <a:lstStyle/>
          <a:p>
            <a:endParaRPr/>
          </a:p>
        </p:txBody>
      </p:sp>
      <p:cxnSp>
        <p:nvCxnSpPr>
          <p:cNvPr id="94" name="Connector 93"/>
          <p:cNvCxnSpPr/>
          <p:nvPr/>
        </p:nvCxnSpPr>
        <p:spPr>
          <a:xfrm>
            <a:off x="10432852" y="3524250"/>
            <a:ext cx="1149548" cy="0"/>
          </a:xfrm>
          <a:prstGeom prst="line">
            <a:avLst/>
          </a:prstGeom>
          <a:ln w="19050">
            <a:solidFill>
              <a:srgbClr val="C9A34E"/>
            </a:solidFill>
          </a:ln>
        </p:spPr>
      </p:cxnSp>
      <p:cxnSp>
        <p:nvCxnSpPr>
          <p:cNvPr id="95" name="Connector 94"/>
          <p:cNvCxnSpPr/>
          <p:nvPr/>
        </p:nvCxnSpPr>
        <p:spPr>
          <a:xfrm>
            <a:off x="10432852" y="3981450"/>
            <a:ext cx="1149548" cy="0"/>
          </a:xfrm>
          <a:prstGeom prst="line">
            <a:avLst/>
          </a:prstGeom>
          <a:ln w="19050">
            <a:solidFill>
              <a:srgbClr val="C9A34E"/>
            </a:solidFill>
          </a:ln>
        </p:spPr>
      </p:cxnSp>
      <p:sp>
        <p:nvSpPr>
          <p:cNvPr id="96" name="Rounded Rectangle 95"/>
          <p:cNvSpPr/>
          <p:nvPr/>
        </p:nvSpPr>
        <p:spPr>
          <a:xfrm>
            <a:off x="10547152" y="3629025"/>
            <a:ext cx="704999"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97" name="TextBox 96"/>
          <p:cNvSpPr txBox="1"/>
          <p:nvPr/>
        </p:nvSpPr>
        <p:spPr>
          <a:xfrm>
            <a:off x="10632877" y="3667125"/>
            <a:ext cx="592991"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Horas</a:t>
            </a:r>
          </a:p>
        </p:txBody>
      </p:sp>
      <p:sp>
        <p:nvSpPr>
          <p:cNvPr id="98" name="TextBox 97"/>
          <p:cNvSpPr txBox="1"/>
          <p:nvPr/>
        </p:nvSpPr>
        <p:spPr>
          <a:xfrm>
            <a:off x="609600" y="4686300"/>
            <a:ext cx="11048162" cy="419100"/>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7D7869"/>
                </a:solidFill>
                <a:latin typeface="Inter"/>
                <a:ea typeface="Inter"/>
                <a:cs typeface="Inter"/>
              </a:rPr>
              <a:t>Un modelo generalista escribe bien una escena; falla en la coherencia de diez capítulos: repite frases, se contradice y cierra de golpe. </a:t>
            </a:r>
            <a:r>
              <a:rPr sz="1300" b="0" i="0">
                <a:solidFill>
                  <a:srgbClr val="1C2433"/>
                </a:solidFill>
                <a:latin typeface="Inter SemiBold"/>
                <a:ea typeface="Inter SemiBold"/>
                <a:cs typeface="Inter SemiBold"/>
              </a:rPr>
              <a:t>Ese es el hueco que cubre el harness</a:t>
            </a:r>
            <a:r>
              <a:rPr sz="1300" b="0" i="0">
                <a:solidFill>
                  <a:srgbClr val="7D7869"/>
                </a:solidFill>
                <a:latin typeface="Inter"/>
                <a:ea typeface="Inter"/>
                <a:cs typeface="Inter"/>
              </a:rPr>
              <a:t>: no escribimos mejor que el modelo, lo controlamos capítulo a capítulo.</a:t>
            </a:r>
          </a:p>
        </p:txBody>
      </p:sp>
      <p:pic>
        <p:nvPicPr>
          <p:cNvPr id="99" name="Picture 98" descr="r003.png"/>
          <p:cNvPicPr>
            <a:picLocks noChangeAspect="1"/>
          </p:cNvPicPr>
          <p:nvPr/>
        </p:nvPicPr>
        <p:blipFill>
          <a:blip r:embed="rId3"/>
          <a:stretch>
            <a:fillRect/>
          </a:stretch>
        </p:blipFill>
        <p:spPr>
          <a:xfrm>
            <a:off x="381000" y="6343650"/>
            <a:ext cx="11430000" cy="76200"/>
          </a:xfrm>
          <a:prstGeom prst="rect">
            <a:avLst/>
          </a:prstGeom>
        </p:spPr>
      </p:pic>
      <p:pic>
        <p:nvPicPr>
          <p:cNvPr id="100" name="Picture 99" descr="r011.png"/>
          <p:cNvPicPr>
            <a:picLocks noChangeAspect="1"/>
          </p:cNvPicPr>
          <p:nvPr/>
        </p:nvPicPr>
        <p:blipFill>
          <a:blip r:embed="rId4"/>
          <a:stretch>
            <a:fillRect/>
          </a:stretch>
        </p:blipFill>
        <p:spPr>
          <a:xfrm>
            <a:off x="381000" y="6505575"/>
            <a:ext cx="171450" cy="190500"/>
          </a:xfrm>
          <a:prstGeom prst="rect">
            <a:avLst/>
          </a:prstGeom>
        </p:spPr>
      </p:pic>
      <p:sp>
        <p:nvSpPr>
          <p:cNvPr id="101" name="TextBox 100"/>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102" name="TextBox 101"/>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103" name="TextBox 102"/>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104" name="TextBox 103"/>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04 / 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36713" y="323850"/>
            <a:ext cx="1315510"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CONFIGURACIÓN</a:t>
            </a:r>
          </a:p>
        </p:txBody>
      </p:sp>
      <p:sp>
        <p:nvSpPr>
          <p:cNvPr id="3" name="TextBox 2"/>
          <p:cNvSpPr txBox="1"/>
          <p:nvPr/>
        </p:nvSpPr>
        <p:spPr>
          <a:xfrm>
            <a:off x="609600" y="323850"/>
            <a:ext cx="100718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III</a:t>
            </a:r>
          </a:p>
        </p:txBody>
      </p:sp>
      <p:sp>
        <p:nvSpPr>
          <p:cNvPr id="4" name="Rectangle 3"/>
          <p:cNvSpPr/>
          <p:nvPr/>
        </p:nvSpPr>
        <p:spPr>
          <a:xfrm>
            <a:off x="1655713" y="395288"/>
            <a:ext cx="266700" cy="9525"/>
          </a:xfrm>
          <a:prstGeom prst="rect">
            <a:avLst/>
          </a:prstGeom>
          <a:noFill/>
          <a:ln>
            <a:noFill/>
          </a:ln>
        </p:spPr>
        <p:txBody>
          <a:bodyPr rtlCol="0" anchor="ctr"/>
          <a:lstStyle/>
          <a:p>
            <a:endParaRPr/>
          </a:p>
        </p:txBody>
      </p:sp>
      <p:cxnSp>
        <p:nvCxnSpPr>
          <p:cNvPr id="5" name="Connector 4"/>
          <p:cNvCxnSpPr/>
          <p:nvPr/>
        </p:nvCxnSpPr>
        <p:spPr>
          <a:xfrm>
            <a:off x="1655713" y="400050"/>
            <a:ext cx="266700" cy="0"/>
          </a:xfrm>
          <a:prstGeom prst="line">
            <a:avLst/>
          </a:prstGeom>
          <a:ln w="9525">
            <a:solidFill>
              <a:srgbClr val="C9A34E"/>
            </a:solidFill>
          </a:ln>
        </p:spPr>
      </p:cxnSp>
      <p:sp>
        <p:nvSpPr>
          <p:cNvPr id="6" name="TextBox 5"/>
          <p:cNvSpPr txBox="1"/>
          <p:nvPr/>
        </p:nvSpPr>
        <p:spPr>
          <a:xfrm>
            <a:off x="609600" y="561975"/>
            <a:ext cx="9945493"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Una entrevista corta produce un brief validado con schema</a:t>
            </a:r>
          </a:p>
        </p:txBody>
      </p:sp>
      <p:sp>
        <p:nvSpPr>
          <p:cNvPr id="7" name="Rounded Rectangle 6"/>
          <p:cNvSpPr/>
          <p:nvPr/>
        </p:nvSpPr>
        <p:spPr>
          <a:xfrm>
            <a:off x="609600" y="1257300"/>
            <a:ext cx="2381250" cy="876300"/>
          </a:xfrm>
          <a:prstGeom prst="roundRect">
            <a:avLst>
              <a:gd name="adj" fmla="val 8695"/>
            </a:avLst>
          </a:prstGeom>
          <a:solidFill>
            <a:srgbClr val="FBF8F1"/>
          </a:solidFill>
          <a:ln w="19050">
            <a:solidFill>
              <a:srgbClr val="1C2433"/>
            </a:solidFill>
          </a:ln>
        </p:spPr>
        <p:txBody>
          <a:bodyPr rtlCol="0" anchor="ctr"/>
          <a:lstStyle/>
          <a:p>
            <a:endParaRPr/>
          </a:p>
        </p:txBody>
      </p:sp>
      <p:sp>
        <p:nvSpPr>
          <p:cNvPr id="8" name="TextBox 7"/>
          <p:cNvSpPr txBox="1"/>
          <p:nvPr/>
        </p:nvSpPr>
        <p:spPr>
          <a:xfrm>
            <a:off x="762000" y="1371600"/>
            <a:ext cx="1026688"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17">
                <a:solidFill>
                  <a:srgbClr val="7D7869"/>
                </a:solidFill>
                <a:latin typeface="Inter SemiBold"/>
                <a:ea typeface="Inter SemiBold"/>
                <a:cs typeface="Inter SemiBold"/>
              </a:rPr>
              <a:t>COMPRADOR</a:t>
            </a:r>
          </a:p>
        </p:txBody>
      </p:sp>
      <p:sp>
        <p:nvSpPr>
          <p:cNvPr id="9" name="TextBox 8"/>
          <p:cNvSpPr txBox="1"/>
          <p:nvPr/>
        </p:nvSpPr>
        <p:spPr>
          <a:xfrm>
            <a:off x="762000" y="1562100"/>
            <a:ext cx="2098434"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Premisa libre y, si quiere, un texto pegado</a:t>
            </a:r>
          </a:p>
        </p:txBody>
      </p:sp>
      <p:sp>
        <p:nvSpPr>
          <p:cNvPr id="10" name="Rounded Rectangle 9"/>
          <p:cNvSpPr/>
          <p:nvPr/>
        </p:nvSpPr>
        <p:spPr>
          <a:xfrm>
            <a:off x="3467100" y="1257300"/>
            <a:ext cx="2552700" cy="876300"/>
          </a:xfrm>
          <a:prstGeom prst="roundRect">
            <a:avLst>
              <a:gd name="adj" fmla="val 8695"/>
            </a:avLst>
          </a:prstGeom>
          <a:solidFill>
            <a:srgbClr val="FBF8F1"/>
          </a:solidFill>
          <a:ln w="19050">
            <a:solidFill>
              <a:srgbClr val="1C2433"/>
            </a:solidFill>
          </a:ln>
        </p:spPr>
        <p:txBody>
          <a:bodyPr rtlCol="0" anchor="ctr"/>
          <a:lstStyle/>
          <a:p>
            <a:endParaRPr/>
          </a:p>
        </p:txBody>
      </p:sp>
      <p:sp>
        <p:nvSpPr>
          <p:cNvPr id="11" name="TextBox 10"/>
          <p:cNvSpPr txBox="1"/>
          <p:nvPr/>
        </p:nvSpPr>
        <p:spPr>
          <a:xfrm>
            <a:off x="3619500" y="1371600"/>
            <a:ext cx="2086320"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17">
                <a:solidFill>
                  <a:srgbClr val="7D7869"/>
                </a:solidFill>
                <a:latin typeface="Inter SemiBold"/>
                <a:ea typeface="Inter SemiBold"/>
                <a:cs typeface="Inter SemiBold"/>
              </a:rPr>
              <a:t>ENTREVISTADOR · AGENTE</a:t>
            </a:r>
          </a:p>
        </p:txBody>
      </p:sp>
      <p:sp>
        <p:nvSpPr>
          <p:cNvPr id="12" name="TextBox 11"/>
          <p:cNvSpPr txBox="1"/>
          <p:nvPr/>
        </p:nvSpPr>
        <p:spPr>
          <a:xfrm>
            <a:off x="3619500" y="1562100"/>
            <a:ext cx="1949494"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Pregunta solo lo que falta</a:t>
            </a:r>
          </a:p>
        </p:txBody>
      </p:sp>
      <p:sp>
        <p:nvSpPr>
          <p:cNvPr id="13" name="Rounded Rectangle 12"/>
          <p:cNvSpPr/>
          <p:nvPr/>
        </p:nvSpPr>
        <p:spPr>
          <a:xfrm>
            <a:off x="6496050" y="1257300"/>
            <a:ext cx="2266950" cy="876300"/>
          </a:xfrm>
          <a:prstGeom prst="roundRect">
            <a:avLst>
              <a:gd name="adj" fmla="val 8695"/>
            </a:avLst>
          </a:prstGeom>
          <a:solidFill>
            <a:srgbClr val="FBF8F1"/>
          </a:solidFill>
          <a:ln w="19050">
            <a:solidFill>
              <a:srgbClr val="1C2433"/>
            </a:solidFill>
          </a:ln>
        </p:spPr>
        <p:txBody>
          <a:bodyPr rtlCol="0" anchor="ctr"/>
          <a:lstStyle/>
          <a:p>
            <a:endParaRPr/>
          </a:p>
        </p:txBody>
      </p:sp>
      <p:sp>
        <p:nvSpPr>
          <p:cNvPr id="14" name="TextBox 13"/>
          <p:cNvSpPr txBox="1"/>
          <p:nvPr/>
        </p:nvSpPr>
        <p:spPr>
          <a:xfrm>
            <a:off x="6648450" y="1371600"/>
            <a:ext cx="47365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17">
                <a:solidFill>
                  <a:srgbClr val="7D7869"/>
                </a:solidFill>
                <a:latin typeface="Inter SemiBold"/>
                <a:ea typeface="Inter SemiBold"/>
                <a:cs typeface="Inter SemiBold"/>
              </a:rPr>
              <a:t>BRIEF</a:t>
            </a:r>
          </a:p>
        </p:txBody>
      </p:sp>
      <p:sp>
        <p:nvSpPr>
          <p:cNvPr id="15" name="TextBox 14"/>
          <p:cNvSpPr txBox="1"/>
          <p:nvPr/>
        </p:nvSpPr>
        <p:spPr>
          <a:xfrm>
            <a:off x="6648450" y="1562100"/>
            <a:ext cx="1968222"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Modelo Pydantic validado</a:t>
            </a:r>
          </a:p>
        </p:txBody>
      </p:sp>
      <p:sp>
        <p:nvSpPr>
          <p:cNvPr id="16" name="Rounded Rectangle 15"/>
          <p:cNvSpPr/>
          <p:nvPr/>
        </p:nvSpPr>
        <p:spPr>
          <a:xfrm>
            <a:off x="9239250" y="1257300"/>
            <a:ext cx="2343150" cy="876300"/>
          </a:xfrm>
          <a:prstGeom prst="roundRect">
            <a:avLst>
              <a:gd name="adj" fmla="val 8695"/>
            </a:avLst>
          </a:prstGeom>
          <a:solidFill>
            <a:srgbClr val="EEE0C0"/>
          </a:solidFill>
          <a:ln w="19050">
            <a:solidFill>
              <a:srgbClr val="C9A34E"/>
            </a:solidFill>
          </a:ln>
        </p:spPr>
        <p:txBody>
          <a:bodyPr rtlCol="0" anchor="ctr"/>
          <a:lstStyle/>
          <a:p>
            <a:endParaRPr/>
          </a:p>
        </p:txBody>
      </p:sp>
      <p:sp>
        <p:nvSpPr>
          <p:cNvPr id="17" name="TextBox 16"/>
          <p:cNvSpPr txBox="1"/>
          <p:nvPr/>
        </p:nvSpPr>
        <p:spPr>
          <a:xfrm>
            <a:off x="9391650" y="1371600"/>
            <a:ext cx="1298019"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17">
                <a:solidFill>
                  <a:srgbClr val="7D7869"/>
                </a:solidFill>
                <a:latin typeface="Inter SemiBold"/>
                <a:ea typeface="Inter SemiBold"/>
                <a:cs typeface="Inter SemiBold"/>
              </a:rPr>
              <a:t>GATE DE INTAKE</a:t>
            </a:r>
          </a:p>
        </p:txBody>
      </p:sp>
      <p:sp>
        <p:nvSpPr>
          <p:cNvPr id="18" name="TextBox 17"/>
          <p:cNvSpPr txBox="1"/>
          <p:nvPr/>
        </p:nvSpPr>
        <p:spPr>
          <a:xfrm>
            <a:off x="9391650" y="1562100"/>
            <a:ext cx="2060105"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El autor lo aprueba antes de seguir</a:t>
            </a:r>
          </a:p>
        </p:txBody>
      </p:sp>
      <p:pic>
        <p:nvPicPr>
          <p:cNvPr id="19" name="Picture 18" descr="r012.png"/>
          <p:cNvPicPr>
            <a:picLocks noChangeAspect="1"/>
          </p:cNvPicPr>
          <p:nvPr/>
        </p:nvPicPr>
        <p:blipFill>
          <a:blip r:embed="rId3"/>
          <a:stretch>
            <a:fillRect/>
          </a:stretch>
        </p:blipFill>
        <p:spPr>
          <a:xfrm>
            <a:off x="609600" y="1257300"/>
            <a:ext cx="10972800" cy="876300"/>
          </a:xfrm>
          <a:prstGeom prst="rect">
            <a:avLst/>
          </a:prstGeom>
        </p:spPr>
      </p:pic>
      <p:sp>
        <p:nvSpPr>
          <p:cNvPr id="20" name="Rounded Rectangle 19"/>
          <p:cNvSpPr/>
          <p:nvPr/>
        </p:nvSpPr>
        <p:spPr>
          <a:xfrm>
            <a:off x="609600" y="2590800"/>
            <a:ext cx="3267075" cy="1047750"/>
          </a:xfrm>
          <a:prstGeom prst="roundRect">
            <a:avLst>
              <a:gd name="adj" fmla="val 7272"/>
            </a:avLst>
          </a:prstGeom>
          <a:solidFill>
            <a:srgbClr val="FBF8F1"/>
          </a:solidFill>
          <a:ln w="9525">
            <a:solidFill>
              <a:srgbClr val="D9D2C3"/>
            </a:solidFill>
          </a:ln>
        </p:spPr>
        <p:txBody>
          <a:bodyPr rtlCol="0" anchor="ctr"/>
          <a:lstStyle/>
          <a:p>
            <a:endParaRPr/>
          </a:p>
        </p:txBody>
      </p:sp>
      <p:sp>
        <p:nvSpPr>
          <p:cNvPr id="21" name="TextBox 20"/>
          <p:cNvSpPr txBox="1"/>
          <p:nvPr/>
        </p:nvSpPr>
        <p:spPr>
          <a:xfrm>
            <a:off x="752475" y="2714625"/>
            <a:ext cx="1289352"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Datos que faltan</a:t>
            </a:r>
          </a:p>
        </p:txBody>
      </p:sp>
      <p:sp>
        <p:nvSpPr>
          <p:cNvPr id="22" name="TextBox 21"/>
          <p:cNvSpPr txBox="1"/>
          <p:nvPr/>
        </p:nvSpPr>
        <p:spPr>
          <a:xfrm>
            <a:off x="752475" y="2943225"/>
            <a:ext cx="3008738"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El entrevistador pregunta por los campos vacíos del brief.</a:t>
            </a:r>
          </a:p>
        </p:txBody>
      </p:sp>
      <p:sp>
        <p:nvSpPr>
          <p:cNvPr id="23" name="Rounded Rectangle 22"/>
          <p:cNvSpPr/>
          <p:nvPr/>
        </p:nvSpPr>
        <p:spPr>
          <a:xfrm>
            <a:off x="4010025" y="2590800"/>
            <a:ext cx="3267075" cy="1047750"/>
          </a:xfrm>
          <a:prstGeom prst="roundRect">
            <a:avLst>
              <a:gd name="adj" fmla="val 7272"/>
            </a:avLst>
          </a:prstGeom>
          <a:solidFill>
            <a:srgbClr val="FBF8F1"/>
          </a:solidFill>
          <a:ln w="9525">
            <a:solidFill>
              <a:srgbClr val="D9D2C3"/>
            </a:solidFill>
          </a:ln>
        </p:spPr>
        <p:txBody>
          <a:bodyPr rtlCol="0" anchor="ctr"/>
          <a:lstStyle/>
          <a:p>
            <a:endParaRPr/>
          </a:p>
        </p:txBody>
      </p:sp>
      <p:sp>
        <p:nvSpPr>
          <p:cNvPr id="24" name="TextBox 23"/>
          <p:cNvSpPr txBox="1"/>
          <p:nvPr/>
        </p:nvSpPr>
        <p:spPr>
          <a:xfrm>
            <a:off x="4152900" y="2714625"/>
            <a:ext cx="1297555"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Contradicciones</a:t>
            </a:r>
          </a:p>
        </p:txBody>
      </p:sp>
      <p:sp>
        <p:nvSpPr>
          <p:cNvPr id="25" name="TextBox 24"/>
          <p:cNvSpPr txBox="1"/>
          <p:nvPr/>
        </p:nvSpPr>
        <p:spPr>
          <a:xfrm>
            <a:off x="4152900" y="2943225"/>
            <a:ext cx="3008738" cy="5619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4 detectores de código: edad y época, nacimiento y evento, tono y época, dato y palabra prohibida.</a:t>
            </a:r>
          </a:p>
        </p:txBody>
      </p:sp>
      <p:sp>
        <p:nvSpPr>
          <p:cNvPr id="26" name="Rounded Rectangle 25"/>
          <p:cNvSpPr/>
          <p:nvPr/>
        </p:nvSpPr>
        <p:spPr>
          <a:xfrm>
            <a:off x="609600" y="3771900"/>
            <a:ext cx="3267075" cy="857250"/>
          </a:xfrm>
          <a:prstGeom prst="roundRect">
            <a:avLst>
              <a:gd name="adj" fmla="val 8888"/>
            </a:avLst>
          </a:prstGeom>
          <a:solidFill>
            <a:srgbClr val="FBF8F1"/>
          </a:solidFill>
          <a:ln w="9525">
            <a:solidFill>
              <a:srgbClr val="D9D2C3"/>
            </a:solidFill>
          </a:ln>
        </p:spPr>
        <p:txBody>
          <a:bodyPr rtlCol="0" anchor="ctr"/>
          <a:lstStyle/>
          <a:p>
            <a:endParaRPr/>
          </a:p>
        </p:txBody>
      </p:sp>
      <p:sp>
        <p:nvSpPr>
          <p:cNvPr id="27" name="TextBox 26"/>
          <p:cNvSpPr txBox="1"/>
          <p:nvPr/>
        </p:nvSpPr>
        <p:spPr>
          <a:xfrm>
            <a:off x="752475" y="3895725"/>
            <a:ext cx="1974259"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Texto libre = no confiable</a:t>
            </a:r>
          </a:p>
        </p:txBody>
      </p:sp>
      <p:sp>
        <p:nvSpPr>
          <p:cNvPr id="28" name="TextBox 27"/>
          <p:cNvSpPr txBox="1"/>
          <p:nvPr/>
        </p:nvSpPr>
        <p:spPr>
          <a:xfrm>
            <a:off x="752475" y="4124325"/>
            <a:ext cx="3008738"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Va a cuarentena; solo salen filas tipadas: persona, lugar, fecha, objeto, anécdota.</a:t>
            </a:r>
          </a:p>
        </p:txBody>
      </p:sp>
      <p:sp>
        <p:nvSpPr>
          <p:cNvPr id="29" name="Rounded Rectangle 28"/>
          <p:cNvSpPr/>
          <p:nvPr/>
        </p:nvSpPr>
        <p:spPr>
          <a:xfrm>
            <a:off x="4010025" y="3771900"/>
            <a:ext cx="3267075" cy="857250"/>
          </a:xfrm>
          <a:prstGeom prst="roundRect">
            <a:avLst>
              <a:gd name="adj" fmla="val 8888"/>
            </a:avLst>
          </a:prstGeom>
          <a:solidFill>
            <a:srgbClr val="FBF8F1"/>
          </a:solidFill>
          <a:ln w="9525">
            <a:solidFill>
              <a:srgbClr val="D9D2C3"/>
            </a:solidFill>
          </a:ln>
        </p:spPr>
        <p:txBody>
          <a:bodyPr rtlCol="0" anchor="ctr"/>
          <a:lstStyle/>
          <a:p>
            <a:endParaRPr/>
          </a:p>
        </p:txBody>
      </p:sp>
      <p:sp>
        <p:nvSpPr>
          <p:cNvPr id="30" name="TextBox 29"/>
          <p:cNvSpPr txBox="1"/>
          <p:nvPr/>
        </p:nvSpPr>
        <p:spPr>
          <a:xfrm>
            <a:off x="4152900" y="3895725"/>
            <a:ext cx="1936956"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Lo que no debe aparecer</a:t>
            </a:r>
          </a:p>
        </p:txBody>
      </p:sp>
      <p:sp>
        <p:nvSpPr>
          <p:cNvPr id="31" name="TextBox 30"/>
          <p:cNvSpPr txBox="1"/>
          <p:nvPr/>
        </p:nvSpPr>
        <p:spPr>
          <a:xfrm>
            <a:off x="4152900" y="4124325"/>
            <a:ext cx="3008738"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Palabras prohibidas por novela y por destinatario.</a:t>
            </a:r>
          </a:p>
        </p:txBody>
      </p:sp>
      <p:sp>
        <p:nvSpPr>
          <p:cNvPr id="32" name="TextBox 31"/>
          <p:cNvSpPr txBox="1"/>
          <p:nvPr/>
        </p:nvSpPr>
        <p:spPr>
          <a:xfrm>
            <a:off x="7543800" y="2590800"/>
            <a:ext cx="3328749"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BRIEF 01 · CÁDIZ, 1803–1806 (EXTRACTO)</a:t>
            </a:r>
          </a:p>
        </p:txBody>
      </p:sp>
      <p:sp>
        <p:nvSpPr>
          <p:cNvPr id="33" name="Rounded Rectangle 32"/>
          <p:cNvSpPr/>
          <p:nvPr/>
        </p:nvSpPr>
        <p:spPr>
          <a:xfrm>
            <a:off x="7543800" y="2819400"/>
            <a:ext cx="4038600" cy="2171700"/>
          </a:xfrm>
          <a:prstGeom prst="roundRect">
            <a:avLst>
              <a:gd name="adj" fmla="val 3508"/>
            </a:avLst>
          </a:prstGeom>
          <a:solidFill>
            <a:srgbClr val="1C2433"/>
          </a:solidFill>
          <a:ln>
            <a:noFill/>
          </a:ln>
        </p:spPr>
        <p:txBody>
          <a:bodyPr rtlCol="0" anchor="ctr"/>
          <a:lstStyle/>
          <a:p>
            <a:endParaRPr/>
          </a:p>
        </p:txBody>
      </p:sp>
      <p:sp>
        <p:nvSpPr>
          <p:cNvPr id="34" name="TextBox 33"/>
          <p:cNvSpPr txBox="1"/>
          <p:nvPr/>
        </p:nvSpPr>
        <p:spPr>
          <a:xfrm>
            <a:off x="7715250" y="2962275"/>
            <a:ext cx="3366516" cy="1885950"/>
          </a:xfrm>
          <a:prstGeom prst="rect">
            <a:avLst/>
          </a:prstGeom>
          <a:noFill/>
        </p:spPr>
        <p:txBody>
          <a:bodyPr wrap="none" lIns="0" tIns="0" rIns="0" bIns="0" anchor="t">
            <a:noAutofit/>
          </a:bodyPr>
          <a:lstStyle/>
          <a:p>
            <a:pPr algn="l">
              <a:lnSpc>
                <a:spcPts val="1500"/>
              </a:lnSpc>
              <a:spcBef>
                <a:spcPts val="0"/>
              </a:spcBef>
              <a:spcAft>
                <a:spcPts val="0"/>
              </a:spcAft>
            </a:pPr>
            <a:r>
              <a:rPr sz="1050" b="0" i="0">
                <a:solidFill>
                  <a:srgbClr val="C9A34E"/>
                </a:solidFill>
                <a:latin typeface="JetBrains Mono Medium"/>
                <a:ea typeface="JetBrains Mono Medium"/>
                <a:cs typeface="JetBrains Mono Medium"/>
              </a:rPr>
              <a:t>homenajeado:</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rol_epoca: armador de navío mercante</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ocasion: jubilación tras cuarenta años</a:t>
            </a:r>
          </a:p>
          <a:p>
            <a:pPr algn="l">
              <a:lnSpc>
                <a:spcPts val="1500"/>
              </a:lnSpc>
              <a:spcBef>
                <a:spcPts val="0"/>
              </a:spcBef>
              <a:spcAft>
                <a:spcPts val="0"/>
              </a:spcAft>
            </a:pPr>
            <a:r>
              <a:rPr sz="1050" b="0" i="0">
                <a:solidFill>
                  <a:srgbClr val="C9A34E"/>
                </a:solidFill>
                <a:latin typeface="JetBrains Mono Medium"/>
                <a:ea typeface="JetBrains Mono Medium"/>
                <a:cs typeface="JetBrains Mono Medium"/>
              </a:rPr>
              <a:t>mundo:</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periodo: { inicio: 1803, fin: 1806 }</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evento_ancla: la batalla de Trafalgar</a:t>
            </a:r>
          </a:p>
          <a:p>
            <a:pPr algn="l">
              <a:lnSpc>
                <a:spcPts val="1500"/>
              </a:lnSpc>
              <a:spcBef>
                <a:spcPts val="0"/>
              </a:spcBef>
              <a:spcAft>
                <a:spcPts val="0"/>
              </a:spcAft>
            </a:pPr>
            <a:r>
              <a:rPr sz="1050" b="0" i="0">
                <a:solidFill>
                  <a:srgbClr val="C9A34E"/>
                </a:solidFill>
                <a:latin typeface="JetBrains Mono Medium"/>
                <a:ea typeface="JetBrains Mono Medium"/>
                <a:cs typeface="JetBrains Mono Medium"/>
              </a:rPr>
              <a:t>obra:</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palabras_prohibidas:</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novela: [pirata, tesoro]</a:t>
            </a:r>
          </a:p>
          <a:p>
            <a:pPr algn="l">
              <a:lnSpc>
                <a:spcPts val="1500"/>
              </a:lnSpc>
              <a:spcBef>
                <a:spcPts val="0"/>
              </a:spcBef>
              <a:spcAft>
                <a:spcPts val="0"/>
              </a:spcAft>
            </a:pPr>
            <a:r>
              <a:rPr sz="1050" b="0" i="0">
                <a:solidFill>
                  <a:srgbClr val="F5EFE3"/>
                </a:solidFill>
                <a:latin typeface="JetBrains Mono Medium"/>
                <a:ea typeface="JetBrains Mono Medium"/>
                <a:cs typeface="JetBrains Mono Medium"/>
              </a:rPr>
              <a:t>    destinatario: [naufragio]</a:t>
            </a:r>
          </a:p>
        </p:txBody>
      </p:sp>
      <p:pic>
        <p:nvPicPr>
          <p:cNvPr id="35" name="Picture 34" descr="r003.png"/>
          <p:cNvPicPr>
            <a:picLocks noChangeAspect="1"/>
          </p:cNvPicPr>
          <p:nvPr/>
        </p:nvPicPr>
        <p:blipFill>
          <a:blip r:embed="rId4"/>
          <a:stretch>
            <a:fillRect/>
          </a:stretch>
        </p:blipFill>
        <p:spPr>
          <a:xfrm>
            <a:off x="381000" y="6343650"/>
            <a:ext cx="11430000" cy="76200"/>
          </a:xfrm>
          <a:prstGeom prst="rect">
            <a:avLst/>
          </a:prstGeom>
        </p:spPr>
      </p:pic>
      <p:pic>
        <p:nvPicPr>
          <p:cNvPr id="36" name="Picture 35" descr="r004.png"/>
          <p:cNvPicPr>
            <a:picLocks noChangeAspect="1"/>
          </p:cNvPicPr>
          <p:nvPr/>
        </p:nvPicPr>
        <p:blipFill>
          <a:blip r:embed="rId5"/>
          <a:stretch>
            <a:fillRect/>
          </a:stretch>
        </p:blipFill>
        <p:spPr>
          <a:xfrm>
            <a:off x="381000" y="6505575"/>
            <a:ext cx="171450" cy="190500"/>
          </a:xfrm>
          <a:prstGeom prst="rect">
            <a:avLst/>
          </a:prstGeom>
        </p:spPr>
      </p:pic>
      <p:sp>
        <p:nvSpPr>
          <p:cNvPr id="37" name="TextBox 36"/>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38" name="TextBox 37"/>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9" name="TextBox 38"/>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40" name="TextBox 39"/>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05 / 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36713" y="323850"/>
            <a:ext cx="73941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LECTURA</a:t>
            </a:r>
          </a:p>
        </p:txBody>
      </p:sp>
      <p:sp>
        <p:nvSpPr>
          <p:cNvPr id="3" name="TextBox 2"/>
          <p:cNvSpPr txBox="1"/>
          <p:nvPr/>
        </p:nvSpPr>
        <p:spPr>
          <a:xfrm>
            <a:off x="609600" y="323850"/>
            <a:ext cx="100718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III</a:t>
            </a:r>
          </a:p>
        </p:txBody>
      </p:sp>
      <p:sp>
        <p:nvSpPr>
          <p:cNvPr id="4" name="Rectangle 3"/>
          <p:cNvSpPr/>
          <p:nvPr/>
        </p:nvSpPr>
        <p:spPr>
          <a:xfrm>
            <a:off x="1655713" y="395288"/>
            <a:ext cx="266700" cy="9525"/>
          </a:xfrm>
          <a:prstGeom prst="rect">
            <a:avLst/>
          </a:prstGeom>
          <a:noFill/>
          <a:ln>
            <a:noFill/>
          </a:ln>
        </p:spPr>
        <p:txBody>
          <a:bodyPr rtlCol="0" anchor="ctr"/>
          <a:lstStyle/>
          <a:p>
            <a:endParaRPr/>
          </a:p>
        </p:txBody>
      </p:sp>
      <p:cxnSp>
        <p:nvCxnSpPr>
          <p:cNvPr id="5" name="Connector 4"/>
          <p:cNvCxnSpPr/>
          <p:nvPr/>
        </p:nvCxnSpPr>
        <p:spPr>
          <a:xfrm>
            <a:off x="1655713" y="400050"/>
            <a:ext cx="266700" cy="0"/>
          </a:xfrm>
          <a:prstGeom prst="line">
            <a:avLst/>
          </a:prstGeom>
          <a:ln w="9525">
            <a:solidFill>
              <a:srgbClr val="C9A34E"/>
            </a:solidFill>
          </a:ln>
        </p:spPr>
      </p:cxnSp>
      <p:sp>
        <p:nvSpPr>
          <p:cNvPr id="6" name="TextBox 5"/>
          <p:cNvSpPr txBox="1"/>
          <p:nvPr/>
        </p:nvSpPr>
        <p:spPr>
          <a:xfrm>
            <a:off x="609600" y="561975"/>
            <a:ext cx="11052489"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Se lee en web o en PDF, y un cambio se pide seleccionando el texto</a:t>
            </a:r>
          </a:p>
        </p:txBody>
      </p:sp>
      <p:sp>
        <p:nvSpPr>
          <p:cNvPr id="7" name="Rounded Rectangle 6"/>
          <p:cNvSpPr/>
          <p:nvPr/>
        </p:nvSpPr>
        <p:spPr>
          <a:xfrm>
            <a:off x="609600" y="1257300"/>
            <a:ext cx="2590800" cy="2495550"/>
          </a:xfrm>
          <a:prstGeom prst="roundRect">
            <a:avLst>
              <a:gd name="adj" fmla="val 3053"/>
            </a:avLst>
          </a:prstGeom>
          <a:solidFill>
            <a:srgbClr val="FBF8F1"/>
          </a:solidFill>
          <a:ln w="9525">
            <a:solidFill>
              <a:srgbClr val="1C2433"/>
            </a:solidFill>
          </a:ln>
        </p:spPr>
        <p:txBody>
          <a:bodyPr rtlCol="0" anchor="ctr"/>
          <a:lstStyle/>
          <a:p>
            <a:endParaRPr/>
          </a:p>
        </p:txBody>
      </p:sp>
      <p:sp>
        <p:nvSpPr>
          <p:cNvPr id="8" name="Rectangle 7"/>
          <p:cNvSpPr/>
          <p:nvPr/>
        </p:nvSpPr>
        <p:spPr>
          <a:xfrm>
            <a:off x="619125" y="1266825"/>
            <a:ext cx="2571750" cy="171450"/>
          </a:xfrm>
          <a:prstGeom prst="rect">
            <a:avLst/>
          </a:prstGeom>
          <a:solidFill>
            <a:srgbClr val="E8E3D8"/>
          </a:solidFill>
          <a:ln>
            <a:noFill/>
          </a:ln>
        </p:spPr>
        <p:txBody>
          <a:bodyPr rtlCol="0" anchor="ctr"/>
          <a:lstStyle/>
          <a:p>
            <a:endParaRPr/>
          </a:p>
        </p:txBody>
      </p:sp>
      <p:cxnSp>
        <p:nvCxnSpPr>
          <p:cNvPr id="9" name="Connector 8"/>
          <p:cNvCxnSpPr/>
          <p:nvPr/>
        </p:nvCxnSpPr>
        <p:spPr>
          <a:xfrm>
            <a:off x="619125" y="1433512"/>
            <a:ext cx="2571750" cy="0"/>
          </a:xfrm>
          <a:prstGeom prst="line">
            <a:avLst/>
          </a:prstGeom>
          <a:ln w="9525">
            <a:solidFill>
              <a:srgbClr val="D9D2C3"/>
            </a:solidFill>
          </a:ln>
        </p:spPr>
      </p:cxnSp>
      <p:sp>
        <p:nvSpPr>
          <p:cNvPr id="10" name="Rounded Rectangle 9"/>
          <p:cNvSpPr/>
          <p:nvPr/>
        </p:nvSpPr>
        <p:spPr>
          <a:xfrm>
            <a:off x="695325" y="1323975"/>
            <a:ext cx="66675" cy="66675"/>
          </a:xfrm>
          <a:prstGeom prst="roundRect">
            <a:avLst>
              <a:gd name="adj" fmla="val 50000"/>
            </a:avLst>
          </a:prstGeom>
          <a:solidFill>
            <a:srgbClr val="7D7869"/>
          </a:solidFill>
          <a:ln>
            <a:noFill/>
          </a:ln>
        </p:spPr>
        <p:txBody>
          <a:bodyPr rtlCol="0" anchor="ctr"/>
          <a:lstStyle/>
          <a:p>
            <a:endParaRPr/>
          </a:p>
        </p:txBody>
      </p:sp>
      <p:sp>
        <p:nvSpPr>
          <p:cNvPr id="11" name="Rounded Rectangle 10"/>
          <p:cNvSpPr/>
          <p:nvPr/>
        </p:nvSpPr>
        <p:spPr>
          <a:xfrm>
            <a:off x="800100" y="1323975"/>
            <a:ext cx="66675" cy="66675"/>
          </a:xfrm>
          <a:prstGeom prst="roundRect">
            <a:avLst>
              <a:gd name="adj" fmla="val 50000"/>
            </a:avLst>
          </a:prstGeom>
          <a:solidFill>
            <a:srgbClr val="7D7869"/>
          </a:solidFill>
          <a:ln>
            <a:noFill/>
          </a:ln>
        </p:spPr>
        <p:txBody>
          <a:bodyPr rtlCol="0" anchor="ctr"/>
          <a:lstStyle/>
          <a:p>
            <a:endParaRPr/>
          </a:p>
        </p:txBody>
      </p:sp>
      <p:sp>
        <p:nvSpPr>
          <p:cNvPr id="12" name="Rounded Rectangle 11"/>
          <p:cNvSpPr/>
          <p:nvPr/>
        </p:nvSpPr>
        <p:spPr>
          <a:xfrm>
            <a:off x="904875" y="1323975"/>
            <a:ext cx="66675" cy="66675"/>
          </a:xfrm>
          <a:prstGeom prst="roundRect">
            <a:avLst>
              <a:gd name="adj" fmla="val 50000"/>
            </a:avLst>
          </a:prstGeom>
          <a:solidFill>
            <a:srgbClr val="7D7869"/>
          </a:solidFill>
          <a:ln>
            <a:noFill/>
          </a:ln>
        </p:spPr>
        <p:txBody>
          <a:bodyPr rtlCol="0" anchor="ctr"/>
          <a:lstStyle/>
          <a:p>
            <a:endParaRPr/>
          </a:p>
        </p:txBody>
      </p:sp>
      <p:pic>
        <p:nvPicPr>
          <p:cNvPr id="13" name="Picture 12" descr="cadiz1812-indice.png"/>
          <p:cNvPicPr>
            <a:picLocks noChangeAspect="1"/>
          </p:cNvPicPr>
          <p:nvPr/>
        </p:nvPicPr>
        <p:blipFill>
          <a:blip r:embed="rId3"/>
          <a:srcRect r="30034"/>
          <a:stretch>
            <a:fillRect/>
          </a:stretch>
        </p:blipFill>
        <p:spPr>
          <a:xfrm>
            <a:off x="619125" y="1438275"/>
            <a:ext cx="2590800" cy="2324100"/>
          </a:xfrm>
          <a:prstGeom prst="rect">
            <a:avLst/>
          </a:prstGeom>
        </p:spPr>
      </p:pic>
      <p:sp>
        <p:nvSpPr>
          <p:cNvPr id="14" name="Rounded Rectangle 13"/>
          <p:cNvSpPr/>
          <p:nvPr/>
        </p:nvSpPr>
        <p:spPr>
          <a:xfrm>
            <a:off x="609600" y="3867150"/>
            <a:ext cx="247650" cy="247650"/>
          </a:xfrm>
          <a:prstGeom prst="roundRect">
            <a:avLst>
              <a:gd name="adj" fmla="val 50000"/>
            </a:avLst>
          </a:prstGeom>
          <a:solidFill>
            <a:srgbClr val="C9A34E"/>
          </a:solidFill>
          <a:ln>
            <a:noFill/>
          </a:ln>
        </p:spPr>
        <p:txBody>
          <a:bodyPr rtlCol="0" anchor="ctr"/>
          <a:lstStyle/>
          <a:p>
            <a:endParaRPr/>
          </a:p>
        </p:txBody>
      </p:sp>
      <p:sp>
        <p:nvSpPr>
          <p:cNvPr id="15" name="TextBox 14"/>
          <p:cNvSpPr txBox="1"/>
          <p:nvPr/>
        </p:nvSpPr>
        <p:spPr>
          <a:xfrm>
            <a:off x="672739" y="390525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1</a:t>
            </a:r>
          </a:p>
        </p:txBody>
      </p:sp>
      <p:sp>
        <p:nvSpPr>
          <p:cNvPr id="16" name="TextBox 15"/>
          <p:cNvSpPr txBox="1"/>
          <p:nvPr/>
        </p:nvSpPr>
        <p:spPr>
          <a:xfrm>
            <a:off x="609600" y="4210050"/>
            <a:ext cx="2615870"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Índice navegable, con marca en los capítulos que cambiaron</a:t>
            </a:r>
          </a:p>
        </p:txBody>
      </p:sp>
      <p:sp>
        <p:nvSpPr>
          <p:cNvPr id="17" name="Rounded Rectangle 16"/>
          <p:cNvSpPr/>
          <p:nvPr/>
        </p:nvSpPr>
        <p:spPr>
          <a:xfrm>
            <a:off x="3400425" y="1257300"/>
            <a:ext cx="2590800" cy="2495550"/>
          </a:xfrm>
          <a:prstGeom prst="roundRect">
            <a:avLst>
              <a:gd name="adj" fmla="val 3053"/>
            </a:avLst>
          </a:prstGeom>
          <a:solidFill>
            <a:srgbClr val="FBF8F1"/>
          </a:solidFill>
          <a:ln w="9525">
            <a:solidFill>
              <a:srgbClr val="1C2433"/>
            </a:solidFill>
          </a:ln>
        </p:spPr>
        <p:txBody>
          <a:bodyPr rtlCol="0" anchor="ctr"/>
          <a:lstStyle/>
          <a:p>
            <a:endParaRPr/>
          </a:p>
        </p:txBody>
      </p:sp>
      <p:sp>
        <p:nvSpPr>
          <p:cNvPr id="18" name="Rectangle 17"/>
          <p:cNvSpPr/>
          <p:nvPr/>
        </p:nvSpPr>
        <p:spPr>
          <a:xfrm>
            <a:off x="3409950" y="1266825"/>
            <a:ext cx="2571750" cy="171450"/>
          </a:xfrm>
          <a:prstGeom prst="rect">
            <a:avLst/>
          </a:prstGeom>
          <a:solidFill>
            <a:srgbClr val="E8E3D8"/>
          </a:solidFill>
          <a:ln>
            <a:noFill/>
          </a:ln>
        </p:spPr>
        <p:txBody>
          <a:bodyPr rtlCol="0" anchor="ctr"/>
          <a:lstStyle/>
          <a:p>
            <a:endParaRPr/>
          </a:p>
        </p:txBody>
      </p:sp>
      <p:cxnSp>
        <p:nvCxnSpPr>
          <p:cNvPr id="19" name="Connector 18"/>
          <p:cNvCxnSpPr/>
          <p:nvPr/>
        </p:nvCxnSpPr>
        <p:spPr>
          <a:xfrm>
            <a:off x="3409950" y="1433512"/>
            <a:ext cx="2571750" cy="0"/>
          </a:xfrm>
          <a:prstGeom prst="line">
            <a:avLst/>
          </a:prstGeom>
          <a:ln w="9525">
            <a:solidFill>
              <a:srgbClr val="D9D2C3"/>
            </a:solidFill>
          </a:ln>
        </p:spPr>
      </p:cxnSp>
      <p:sp>
        <p:nvSpPr>
          <p:cNvPr id="20" name="Rounded Rectangle 19"/>
          <p:cNvSpPr/>
          <p:nvPr/>
        </p:nvSpPr>
        <p:spPr>
          <a:xfrm>
            <a:off x="3486150" y="1323975"/>
            <a:ext cx="66675" cy="66675"/>
          </a:xfrm>
          <a:prstGeom prst="roundRect">
            <a:avLst>
              <a:gd name="adj" fmla="val 50000"/>
            </a:avLst>
          </a:prstGeom>
          <a:solidFill>
            <a:srgbClr val="7D7869"/>
          </a:solidFill>
          <a:ln>
            <a:noFill/>
          </a:ln>
        </p:spPr>
        <p:txBody>
          <a:bodyPr rtlCol="0" anchor="ctr"/>
          <a:lstStyle/>
          <a:p>
            <a:endParaRPr/>
          </a:p>
        </p:txBody>
      </p:sp>
      <p:sp>
        <p:nvSpPr>
          <p:cNvPr id="21" name="Rounded Rectangle 20"/>
          <p:cNvSpPr/>
          <p:nvPr/>
        </p:nvSpPr>
        <p:spPr>
          <a:xfrm>
            <a:off x="3590925" y="1323975"/>
            <a:ext cx="66675" cy="66675"/>
          </a:xfrm>
          <a:prstGeom prst="roundRect">
            <a:avLst>
              <a:gd name="adj" fmla="val 50000"/>
            </a:avLst>
          </a:prstGeom>
          <a:solidFill>
            <a:srgbClr val="7D7869"/>
          </a:solidFill>
          <a:ln>
            <a:noFill/>
          </a:ln>
        </p:spPr>
        <p:txBody>
          <a:bodyPr rtlCol="0" anchor="ctr"/>
          <a:lstStyle/>
          <a:p>
            <a:endParaRPr/>
          </a:p>
        </p:txBody>
      </p:sp>
      <p:sp>
        <p:nvSpPr>
          <p:cNvPr id="22" name="Rounded Rectangle 21"/>
          <p:cNvSpPr/>
          <p:nvPr/>
        </p:nvSpPr>
        <p:spPr>
          <a:xfrm>
            <a:off x="3695700" y="1323975"/>
            <a:ext cx="66675" cy="66675"/>
          </a:xfrm>
          <a:prstGeom prst="roundRect">
            <a:avLst>
              <a:gd name="adj" fmla="val 50000"/>
            </a:avLst>
          </a:prstGeom>
          <a:solidFill>
            <a:srgbClr val="7D7869"/>
          </a:solidFill>
          <a:ln>
            <a:noFill/>
          </a:ln>
        </p:spPr>
        <p:txBody>
          <a:bodyPr rtlCol="0" anchor="ctr"/>
          <a:lstStyle/>
          <a:p>
            <a:endParaRPr/>
          </a:p>
        </p:txBody>
      </p:sp>
      <p:pic>
        <p:nvPicPr>
          <p:cNvPr id="23" name="Picture 22" descr="cadiz1812-personajes.png"/>
          <p:cNvPicPr>
            <a:picLocks noChangeAspect="1"/>
          </p:cNvPicPr>
          <p:nvPr/>
        </p:nvPicPr>
        <p:blipFill>
          <a:blip r:embed="rId4"/>
          <a:srcRect b="19745"/>
          <a:stretch>
            <a:fillRect/>
          </a:stretch>
        </p:blipFill>
        <p:spPr>
          <a:xfrm>
            <a:off x="3409950" y="1438275"/>
            <a:ext cx="2590800" cy="2324100"/>
          </a:xfrm>
          <a:prstGeom prst="rect">
            <a:avLst/>
          </a:prstGeom>
        </p:spPr>
      </p:pic>
      <p:sp>
        <p:nvSpPr>
          <p:cNvPr id="24" name="Rounded Rectangle 23"/>
          <p:cNvSpPr/>
          <p:nvPr/>
        </p:nvSpPr>
        <p:spPr>
          <a:xfrm>
            <a:off x="3400425" y="3867150"/>
            <a:ext cx="247650" cy="247650"/>
          </a:xfrm>
          <a:prstGeom prst="roundRect">
            <a:avLst>
              <a:gd name="adj" fmla="val 50000"/>
            </a:avLst>
          </a:prstGeom>
          <a:solidFill>
            <a:srgbClr val="C9A34E"/>
          </a:solidFill>
          <a:ln>
            <a:noFill/>
          </a:ln>
        </p:spPr>
        <p:txBody>
          <a:bodyPr rtlCol="0" anchor="ctr"/>
          <a:lstStyle/>
          <a:p>
            <a:endParaRPr/>
          </a:p>
        </p:txBody>
      </p:sp>
      <p:sp>
        <p:nvSpPr>
          <p:cNvPr id="25" name="TextBox 24"/>
          <p:cNvSpPr txBox="1"/>
          <p:nvPr/>
        </p:nvSpPr>
        <p:spPr>
          <a:xfrm>
            <a:off x="3463564" y="390525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2</a:t>
            </a:r>
          </a:p>
        </p:txBody>
      </p:sp>
      <p:sp>
        <p:nvSpPr>
          <p:cNvPr id="26" name="TextBox 25"/>
          <p:cNvSpPr txBox="1"/>
          <p:nvPr/>
        </p:nvSpPr>
        <p:spPr>
          <a:xfrm>
            <a:off x="3400425" y="4210050"/>
            <a:ext cx="2615870"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Personajes y lugares desde la story bible, enlazados a cada capítulo</a:t>
            </a:r>
          </a:p>
        </p:txBody>
      </p:sp>
      <p:sp>
        <p:nvSpPr>
          <p:cNvPr id="27" name="Rounded Rectangle 26"/>
          <p:cNvSpPr/>
          <p:nvPr/>
        </p:nvSpPr>
        <p:spPr>
          <a:xfrm>
            <a:off x="6191250" y="1257300"/>
            <a:ext cx="2590800" cy="2495550"/>
          </a:xfrm>
          <a:prstGeom prst="roundRect">
            <a:avLst>
              <a:gd name="adj" fmla="val 3053"/>
            </a:avLst>
          </a:prstGeom>
          <a:solidFill>
            <a:srgbClr val="FBF8F1"/>
          </a:solidFill>
          <a:ln w="9525">
            <a:solidFill>
              <a:srgbClr val="1C2433"/>
            </a:solidFill>
          </a:ln>
        </p:spPr>
        <p:txBody>
          <a:bodyPr rtlCol="0" anchor="ctr"/>
          <a:lstStyle/>
          <a:p>
            <a:endParaRPr/>
          </a:p>
        </p:txBody>
      </p:sp>
      <p:pic>
        <p:nvPicPr>
          <p:cNvPr id="28" name="Picture 27" descr="cadiz1812-impresion.png"/>
          <p:cNvPicPr>
            <a:picLocks noChangeAspect="1"/>
          </p:cNvPicPr>
          <p:nvPr/>
        </p:nvPicPr>
        <p:blipFill>
          <a:blip r:embed="rId5"/>
          <a:srcRect t="11939" b="27858"/>
          <a:stretch>
            <a:fillRect/>
          </a:stretch>
        </p:blipFill>
        <p:spPr>
          <a:xfrm>
            <a:off x="6200775" y="1266825"/>
            <a:ext cx="2590800" cy="2495550"/>
          </a:xfrm>
          <a:prstGeom prst="rect">
            <a:avLst/>
          </a:prstGeom>
        </p:spPr>
      </p:pic>
      <p:sp>
        <p:nvSpPr>
          <p:cNvPr id="29" name="Rounded Rectangle 28"/>
          <p:cNvSpPr/>
          <p:nvPr/>
        </p:nvSpPr>
        <p:spPr>
          <a:xfrm>
            <a:off x="8264128" y="1343025"/>
            <a:ext cx="432197" cy="247650"/>
          </a:xfrm>
          <a:prstGeom prst="roundRect">
            <a:avLst>
              <a:gd name="adj" fmla="val 26923"/>
            </a:avLst>
          </a:prstGeom>
          <a:solidFill>
            <a:srgbClr val="E8E3D8"/>
          </a:solidFill>
          <a:ln w="9525">
            <a:solidFill>
              <a:srgbClr val="D9D2C3"/>
            </a:solidFill>
          </a:ln>
        </p:spPr>
        <p:txBody>
          <a:bodyPr rtlCol="0" anchor="ctr"/>
          <a:lstStyle/>
          <a:p>
            <a:endParaRPr/>
          </a:p>
        </p:txBody>
      </p:sp>
      <p:sp>
        <p:nvSpPr>
          <p:cNvPr id="30" name="TextBox 29"/>
          <p:cNvSpPr txBox="1"/>
          <p:nvPr/>
        </p:nvSpPr>
        <p:spPr>
          <a:xfrm>
            <a:off x="8349853" y="1381125"/>
            <a:ext cx="309277"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1C2433"/>
                </a:solidFill>
                <a:latin typeface="Inter SemiBold"/>
                <a:ea typeface="Inter SemiBold"/>
                <a:cs typeface="Inter SemiBold"/>
              </a:rPr>
              <a:t>PDF</a:t>
            </a:r>
          </a:p>
        </p:txBody>
      </p:sp>
      <p:sp>
        <p:nvSpPr>
          <p:cNvPr id="31" name="Rounded Rectangle 30"/>
          <p:cNvSpPr/>
          <p:nvPr/>
        </p:nvSpPr>
        <p:spPr>
          <a:xfrm>
            <a:off x="6191250" y="3867150"/>
            <a:ext cx="247650" cy="247650"/>
          </a:xfrm>
          <a:prstGeom prst="roundRect">
            <a:avLst>
              <a:gd name="adj" fmla="val 50000"/>
            </a:avLst>
          </a:prstGeom>
          <a:solidFill>
            <a:srgbClr val="C9A34E"/>
          </a:solidFill>
          <a:ln>
            <a:noFill/>
          </a:ln>
        </p:spPr>
        <p:txBody>
          <a:bodyPr rtlCol="0" anchor="ctr"/>
          <a:lstStyle/>
          <a:p>
            <a:endParaRPr/>
          </a:p>
        </p:txBody>
      </p:sp>
      <p:sp>
        <p:nvSpPr>
          <p:cNvPr id="32" name="TextBox 31"/>
          <p:cNvSpPr txBox="1"/>
          <p:nvPr/>
        </p:nvSpPr>
        <p:spPr>
          <a:xfrm>
            <a:off x="6254389" y="390525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3</a:t>
            </a:r>
          </a:p>
        </p:txBody>
      </p:sp>
      <p:sp>
        <p:nvSpPr>
          <p:cNvPr id="33" name="TextBox 32"/>
          <p:cNvSpPr txBox="1"/>
          <p:nvPr/>
        </p:nvSpPr>
        <p:spPr>
          <a:xfrm>
            <a:off x="6191250" y="4210050"/>
            <a:ext cx="2615870"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Portada con dedicatoria personalizada</a:t>
            </a:r>
          </a:p>
        </p:txBody>
      </p:sp>
      <p:sp>
        <p:nvSpPr>
          <p:cNvPr id="34" name="Rounded Rectangle 33"/>
          <p:cNvSpPr/>
          <p:nvPr/>
        </p:nvSpPr>
        <p:spPr>
          <a:xfrm>
            <a:off x="8982075" y="1257300"/>
            <a:ext cx="2590800" cy="2495550"/>
          </a:xfrm>
          <a:prstGeom prst="roundRect">
            <a:avLst>
              <a:gd name="adj" fmla="val 3053"/>
            </a:avLst>
          </a:prstGeom>
          <a:solidFill>
            <a:srgbClr val="FBF8F1"/>
          </a:solidFill>
          <a:ln w="9525">
            <a:solidFill>
              <a:srgbClr val="C9A34E"/>
            </a:solidFill>
          </a:ln>
        </p:spPr>
        <p:txBody>
          <a:bodyPr rtlCol="0" anchor="ctr"/>
          <a:lstStyle/>
          <a:p>
            <a:endParaRPr/>
          </a:p>
        </p:txBody>
      </p:sp>
      <p:sp>
        <p:nvSpPr>
          <p:cNvPr id="35" name="Rectangle 34"/>
          <p:cNvSpPr/>
          <p:nvPr/>
        </p:nvSpPr>
        <p:spPr>
          <a:xfrm>
            <a:off x="8991600" y="1266825"/>
            <a:ext cx="2571750" cy="171450"/>
          </a:xfrm>
          <a:prstGeom prst="rect">
            <a:avLst/>
          </a:prstGeom>
          <a:solidFill>
            <a:srgbClr val="E8E3D8"/>
          </a:solidFill>
          <a:ln>
            <a:noFill/>
          </a:ln>
        </p:spPr>
        <p:txBody>
          <a:bodyPr rtlCol="0" anchor="ctr"/>
          <a:lstStyle/>
          <a:p>
            <a:endParaRPr/>
          </a:p>
        </p:txBody>
      </p:sp>
      <p:cxnSp>
        <p:nvCxnSpPr>
          <p:cNvPr id="36" name="Connector 35"/>
          <p:cNvCxnSpPr/>
          <p:nvPr/>
        </p:nvCxnSpPr>
        <p:spPr>
          <a:xfrm>
            <a:off x="8991600" y="1433512"/>
            <a:ext cx="2571750" cy="0"/>
          </a:xfrm>
          <a:prstGeom prst="line">
            <a:avLst/>
          </a:prstGeom>
          <a:ln w="9525">
            <a:solidFill>
              <a:srgbClr val="D9D2C3"/>
            </a:solidFill>
          </a:ln>
        </p:spPr>
      </p:cxnSp>
      <p:sp>
        <p:nvSpPr>
          <p:cNvPr id="37" name="Rounded Rectangle 36"/>
          <p:cNvSpPr/>
          <p:nvPr/>
        </p:nvSpPr>
        <p:spPr>
          <a:xfrm>
            <a:off x="9067800" y="1323975"/>
            <a:ext cx="66675" cy="66675"/>
          </a:xfrm>
          <a:prstGeom prst="roundRect">
            <a:avLst>
              <a:gd name="adj" fmla="val 50000"/>
            </a:avLst>
          </a:prstGeom>
          <a:solidFill>
            <a:srgbClr val="7D7869"/>
          </a:solidFill>
          <a:ln>
            <a:noFill/>
          </a:ln>
        </p:spPr>
        <p:txBody>
          <a:bodyPr rtlCol="0" anchor="ctr"/>
          <a:lstStyle/>
          <a:p>
            <a:endParaRPr/>
          </a:p>
        </p:txBody>
      </p:sp>
      <p:sp>
        <p:nvSpPr>
          <p:cNvPr id="38" name="Rounded Rectangle 37"/>
          <p:cNvSpPr/>
          <p:nvPr/>
        </p:nvSpPr>
        <p:spPr>
          <a:xfrm>
            <a:off x="9172575" y="1323975"/>
            <a:ext cx="66675" cy="66675"/>
          </a:xfrm>
          <a:prstGeom prst="roundRect">
            <a:avLst>
              <a:gd name="adj" fmla="val 50000"/>
            </a:avLst>
          </a:prstGeom>
          <a:solidFill>
            <a:srgbClr val="7D7869"/>
          </a:solidFill>
          <a:ln>
            <a:noFill/>
          </a:ln>
        </p:spPr>
        <p:txBody>
          <a:bodyPr rtlCol="0" anchor="ctr"/>
          <a:lstStyle/>
          <a:p>
            <a:endParaRPr/>
          </a:p>
        </p:txBody>
      </p:sp>
      <p:sp>
        <p:nvSpPr>
          <p:cNvPr id="39" name="Rounded Rectangle 38"/>
          <p:cNvSpPr/>
          <p:nvPr/>
        </p:nvSpPr>
        <p:spPr>
          <a:xfrm>
            <a:off x="9277350" y="1323975"/>
            <a:ext cx="66675" cy="66675"/>
          </a:xfrm>
          <a:prstGeom prst="roundRect">
            <a:avLst>
              <a:gd name="adj" fmla="val 50000"/>
            </a:avLst>
          </a:prstGeom>
          <a:solidFill>
            <a:srgbClr val="7D7869"/>
          </a:solidFill>
          <a:ln>
            <a:noFill/>
          </a:ln>
        </p:spPr>
        <p:txBody>
          <a:bodyPr rtlCol="0" anchor="ctr"/>
          <a:lstStyle/>
          <a:p>
            <a:endParaRPr/>
          </a:p>
        </p:txBody>
      </p:sp>
      <p:pic>
        <p:nvPicPr>
          <p:cNvPr id="40" name="Picture 39" descr="cadiz1812-pedir-cambio.png"/>
          <p:cNvPicPr>
            <a:picLocks noChangeAspect="1"/>
          </p:cNvPicPr>
          <p:nvPr/>
        </p:nvPicPr>
        <p:blipFill>
          <a:blip r:embed="rId6"/>
          <a:srcRect/>
          <a:stretch>
            <a:fillRect/>
          </a:stretch>
        </p:blipFill>
        <p:spPr>
          <a:xfrm>
            <a:off x="8991600" y="1933575"/>
            <a:ext cx="2590800" cy="895350"/>
          </a:xfrm>
          <a:prstGeom prst="rect">
            <a:avLst/>
          </a:prstGeom>
        </p:spPr>
      </p:pic>
      <p:sp>
        <p:nvSpPr>
          <p:cNvPr id="41" name="Rounded Rectangle 40"/>
          <p:cNvSpPr/>
          <p:nvPr/>
        </p:nvSpPr>
        <p:spPr>
          <a:xfrm>
            <a:off x="8982075" y="3867150"/>
            <a:ext cx="247650" cy="247650"/>
          </a:xfrm>
          <a:prstGeom prst="roundRect">
            <a:avLst>
              <a:gd name="adj" fmla="val 50000"/>
            </a:avLst>
          </a:prstGeom>
          <a:solidFill>
            <a:srgbClr val="C9A34E"/>
          </a:solidFill>
          <a:ln>
            <a:noFill/>
          </a:ln>
        </p:spPr>
        <p:txBody>
          <a:bodyPr rtlCol="0" anchor="ctr"/>
          <a:lstStyle/>
          <a:p>
            <a:endParaRPr/>
          </a:p>
        </p:txBody>
      </p:sp>
      <p:sp>
        <p:nvSpPr>
          <p:cNvPr id="42" name="TextBox 41"/>
          <p:cNvSpPr txBox="1"/>
          <p:nvPr/>
        </p:nvSpPr>
        <p:spPr>
          <a:xfrm>
            <a:off x="9045214" y="390525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4</a:t>
            </a:r>
          </a:p>
        </p:txBody>
      </p:sp>
      <p:sp>
        <p:nvSpPr>
          <p:cNvPr id="43" name="TextBox 42"/>
          <p:cNvSpPr txBox="1"/>
          <p:nvPr/>
        </p:nvSpPr>
        <p:spPr>
          <a:xfrm>
            <a:off x="8982075" y="4210050"/>
            <a:ext cx="2615870" cy="590550"/>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Se selecciona un fragmento, «pedir cambio» y pasa al gate de Regeneración</a:t>
            </a:r>
          </a:p>
        </p:txBody>
      </p:sp>
      <p:sp>
        <p:nvSpPr>
          <p:cNvPr id="44" name="Rounded Rectangle 43"/>
          <p:cNvSpPr/>
          <p:nvPr/>
        </p:nvSpPr>
        <p:spPr>
          <a:xfrm>
            <a:off x="609600" y="4991100"/>
            <a:ext cx="10972800" cy="447080"/>
          </a:xfrm>
          <a:prstGeom prst="roundRect">
            <a:avLst>
              <a:gd name="adj" fmla="val 17043"/>
            </a:avLst>
          </a:prstGeom>
          <a:solidFill>
            <a:srgbClr val="1C2433"/>
          </a:solidFill>
          <a:ln>
            <a:noFill/>
          </a:ln>
        </p:spPr>
        <p:txBody>
          <a:bodyPr rtlCol="0" anchor="ctr"/>
          <a:lstStyle/>
          <a:p>
            <a:endParaRPr/>
          </a:p>
        </p:txBody>
      </p:sp>
      <p:sp>
        <p:nvSpPr>
          <p:cNvPr id="45" name="TextBox 44"/>
          <p:cNvSpPr txBox="1"/>
          <p:nvPr/>
        </p:nvSpPr>
        <p:spPr>
          <a:xfrm>
            <a:off x="781050" y="5114925"/>
            <a:ext cx="10626221" cy="190500"/>
          </a:xfrm>
          <a:prstGeom prst="rect">
            <a:avLst/>
          </a:prstGeom>
          <a:noFill/>
        </p:spPr>
        <p:txBody>
          <a:bodyPr wrap="none" lIns="0" tIns="0" rIns="0" bIns="0" anchor="t">
            <a:noAutofit/>
          </a:bodyPr>
          <a:lstStyle/>
          <a:p>
            <a:pPr algn="l">
              <a:lnSpc>
                <a:spcPts val="1721"/>
              </a:lnSpc>
              <a:spcBef>
                <a:spcPts val="0"/>
              </a:spcBef>
              <a:spcAft>
                <a:spcPts val="0"/>
              </a:spcAft>
            </a:pPr>
            <a:r>
              <a:rPr sz="1300" b="0" i="0">
                <a:solidFill>
                  <a:srgbClr val="F5EFE3"/>
                </a:solidFill>
                <a:latin typeface="Inter"/>
                <a:ea typeface="Inter"/>
                <a:cs typeface="Inter"/>
              </a:rPr>
              <a:t>Web y PDF salen de la misma ruta de lectura: </a:t>
            </a:r>
            <a:r>
              <a:rPr sz="1300" b="0" i="0">
                <a:solidFill>
                  <a:srgbClr val="C9A34E"/>
                </a:solidFill>
                <a:latin typeface="Inter SemiBold"/>
                <a:ea typeface="Inter SemiBold"/>
                <a:cs typeface="Inter SemiBold"/>
              </a:rPr>
              <a:t>Playwright imprime la web</a:t>
            </a:r>
            <a:r>
              <a:rPr sz="1300" b="0" i="0">
                <a:solidFill>
                  <a:srgbClr val="F5EFE3"/>
                </a:solidFill>
                <a:latin typeface="Inter"/>
                <a:ea typeface="Inter"/>
                <a:cs typeface="Inter"/>
              </a:rPr>
              <a:t>, así que nunca divergen. Toda versión anterior se conserva.</a:t>
            </a:r>
          </a:p>
        </p:txBody>
      </p:sp>
      <p:pic>
        <p:nvPicPr>
          <p:cNvPr id="46" name="Picture 45" descr="r003.png"/>
          <p:cNvPicPr>
            <a:picLocks noChangeAspect="1"/>
          </p:cNvPicPr>
          <p:nvPr/>
        </p:nvPicPr>
        <p:blipFill>
          <a:blip r:embed="rId7"/>
          <a:stretch>
            <a:fillRect/>
          </a:stretch>
        </p:blipFill>
        <p:spPr>
          <a:xfrm>
            <a:off x="381000" y="6343650"/>
            <a:ext cx="11430000" cy="76200"/>
          </a:xfrm>
          <a:prstGeom prst="rect">
            <a:avLst/>
          </a:prstGeom>
        </p:spPr>
      </p:pic>
      <p:pic>
        <p:nvPicPr>
          <p:cNvPr id="47" name="Picture 46" descr="r004.png"/>
          <p:cNvPicPr>
            <a:picLocks noChangeAspect="1"/>
          </p:cNvPicPr>
          <p:nvPr/>
        </p:nvPicPr>
        <p:blipFill>
          <a:blip r:embed="rId8"/>
          <a:stretch>
            <a:fillRect/>
          </a:stretch>
        </p:blipFill>
        <p:spPr>
          <a:xfrm>
            <a:off x="381000" y="6505575"/>
            <a:ext cx="171450" cy="190500"/>
          </a:xfrm>
          <a:prstGeom prst="rect">
            <a:avLst/>
          </a:prstGeom>
        </p:spPr>
      </p:pic>
      <p:sp>
        <p:nvSpPr>
          <p:cNvPr id="48" name="TextBox 47"/>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49" name="TextBox 48"/>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50" name="TextBox 49"/>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51" name="TextBox 50"/>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06 / 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40731" y="323850"/>
            <a:ext cx="1229916"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ARQUITECTURA</a:t>
            </a:r>
          </a:p>
        </p:txBody>
      </p:sp>
      <p:sp>
        <p:nvSpPr>
          <p:cNvPr id="3" name="TextBox 2"/>
          <p:cNvSpPr txBox="1"/>
          <p:nvPr/>
        </p:nvSpPr>
        <p:spPr>
          <a:xfrm>
            <a:off x="609600" y="323850"/>
            <a:ext cx="101136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IV</a:t>
            </a:r>
          </a:p>
        </p:txBody>
      </p:sp>
      <p:sp>
        <p:nvSpPr>
          <p:cNvPr id="4" name="Rectangle 3"/>
          <p:cNvSpPr/>
          <p:nvPr/>
        </p:nvSpPr>
        <p:spPr>
          <a:xfrm>
            <a:off x="1659731" y="395288"/>
            <a:ext cx="266700" cy="9525"/>
          </a:xfrm>
          <a:prstGeom prst="rect">
            <a:avLst/>
          </a:prstGeom>
          <a:noFill/>
          <a:ln>
            <a:noFill/>
          </a:ln>
        </p:spPr>
        <p:txBody>
          <a:bodyPr rtlCol="0" anchor="ctr"/>
          <a:lstStyle/>
          <a:p>
            <a:endParaRPr/>
          </a:p>
        </p:txBody>
      </p:sp>
      <p:cxnSp>
        <p:nvCxnSpPr>
          <p:cNvPr id="5" name="Connector 4"/>
          <p:cNvCxnSpPr/>
          <p:nvPr/>
        </p:nvCxnSpPr>
        <p:spPr>
          <a:xfrm>
            <a:off x="1659731"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Seis fases, nueve roles especializados y un humano en cinco puntos de control</a:t>
            </a:r>
          </a:p>
        </p:txBody>
      </p:sp>
      <p:sp>
        <p:nvSpPr>
          <p:cNvPr id="7" name="TextBox 6"/>
          <p:cNvSpPr txBox="1"/>
          <p:nvPr/>
        </p:nvSpPr>
        <p:spPr>
          <a:xfrm>
            <a:off x="1155957" y="1571625"/>
            <a:ext cx="850237" cy="152400"/>
          </a:xfrm>
          <a:prstGeom prst="rect">
            <a:avLst/>
          </a:prstGeom>
          <a:noFill/>
        </p:spPr>
        <p:txBody>
          <a:bodyPr wrap="none" lIns="0" tIns="0" rIns="0" bIns="0" anchor="t">
            <a:noAutofit/>
          </a:bodyPr>
          <a:lstStyle/>
          <a:p>
            <a:pPr algn="ctr">
              <a:lnSpc>
                <a:spcPts val="1200"/>
              </a:lnSpc>
              <a:spcBef>
                <a:spcPts val="0"/>
              </a:spcBef>
              <a:spcAft>
                <a:spcPts val="0"/>
              </a:spcAft>
            </a:pPr>
            <a:r>
              <a:rPr sz="1000" b="0" i="0">
                <a:solidFill>
                  <a:srgbClr val="8A6D28"/>
                </a:solidFill>
                <a:latin typeface="Inter SemiBold"/>
                <a:ea typeface="Inter SemiBold"/>
                <a:cs typeface="Inter SemiBold"/>
              </a:rPr>
              <a:t>gate humano</a:t>
            </a:r>
          </a:p>
        </p:txBody>
      </p:sp>
      <p:pic>
        <p:nvPicPr>
          <p:cNvPr id="8" name="Picture 7" descr="r017.png"/>
          <p:cNvPicPr>
            <a:picLocks noChangeAspect="1"/>
          </p:cNvPicPr>
          <p:nvPr/>
        </p:nvPicPr>
        <p:blipFill>
          <a:blip r:embed="rId3"/>
          <a:stretch>
            <a:fillRect/>
          </a:stretch>
        </p:blipFill>
        <p:spPr>
          <a:xfrm>
            <a:off x="885825" y="1524000"/>
            <a:ext cx="247650" cy="247650"/>
          </a:xfrm>
          <a:prstGeom prst="rect">
            <a:avLst/>
          </a:prstGeom>
        </p:spPr>
      </p:pic>
      <p:sp>
        <p:nvSpPr>
          <p:cNvPr id="9" name="TextBox 8"/>
          <p:cNvSpPr txBox="1"/>
          <p:nvPr/>
        </p:nvSpPr>
        <p:spPr>
          <a:xfrm>
            <a:off x="3022857" y="1571625"/>
            <a:ext cx="850237" cy="152400"/>
          </a:xfrm>
          <a:prstGeom prst="rect">
            <a:avLst/>
          </a:prstGeom>
          <a:noFill/>
        </p:spPr>
        <p:txBody>
          <a:bodyPr wrap="none" lIns="0" tIns="0" rIns="0" bIns="0" anchor="t">
            <a:noAutofit/>
          </a:bodyPr>
          <a:lstStyle/>
          <a:p>
            <a:pPr algn="ctr">
              <a:lnSpc>
                <a:spcPts val="1200"/>
              </a:lnSpc>
              <a:spcBef>
                <a:spcPts val="0"/>
              </a:spcBef>
              <a:spcAft>
                <a:spcPts val="0"/>
              </a:spcAft>
            </a:pPr>
            <a:r>
              <a:rPr sz="1000" b="0" i="0">
                <a:solidFill>
                  <a:srgbClr val="8A6D28"/>
                </a:solidFill>
                <a:latin typeface="Inter SemiBold"/>
                <a:ea typeface="Inter SemiBold"/>
                <a:cs typeface="Inter SemiBold"/>
              </a:rPr>
              <a:t>gate humano</a:t>
            </a:r>
          </a:p>
        </p:txBody>
      </p:sp>
      <p:pic>
        <p:nvPicPr>
          <p:cNvPr id="10" name="Picture 9" descr="r017.png"/>
          <p:cNvPicPr>
            <a:picLocks noChangeAspect="1"/>
          </p:cNvPicPr>
          <p:nvPr/>
        </p:nvPicPr>
        <p:blipFill>
          <a:blip r:embed="rId3"/>
          <a:stretch>
            <a:fillRect/>
          </a:stretch>
        </p:blipFill>
        <p:spPr>
          <a:xfrm>
            <a:off x="2752725" y="1524000"/>
            <a:ext cx="247650" cy="247650"/>
          </a:xfrm>
          <a:prstGeom prst="rect">
            <a:avLst/>
          </a:prstGeom>
        </p:spPr>
      </p:pic>
      <p:sp>
        <p:nvSpPr>
          <p:cNvPr id="11" name="TextBox 10"/>
          <p:cNvSpPr txBox="1"/>
          <p:nvPr/>
        </p:nvSpPr>
        <p:spPr>
          <a:xfrm>
            <a:off x="4889757" y="1571625"/>
            <a:ext cx="850237" cy="152400"/>
          </a:xfrm>
          <a:prstGeom prst="rect">
            <a:avLst/>
          </a:prstGeom>
          <a:noFill/>
        </p:spPr>
        <p:txBody>
          <a:bodyPr wrap="none" lIns="0" tIns="0" rIns="0" bIns="0" anchor="t">
            <a:noAutofit/>
          </a:bodyPr>
          <a:lstStyle/>
          <a:p>
            <a:pPr algn="ctr">
              <a:lnSpc>
                <a:spcPts val="1200"/>
              </a:lnSpc>
              <a:spcBef>
                <a:spcPts val="0"/>
              </a:spcBef>
              <a:spcAft>
                <a:spcPts val="0"/>
              </a:spcAft>
            </a:pPr>
            <a:r>
              <a:rPr sz="1000" b="0" i="0">
                <a:solidFill>
                  <a:srgbClr val="8A6D28"/>
                </a:solidFill>
                <a:latin typeface="Inter SemiBold"/>
                <a:ea typeface="Inter SemiBold"/>
                <a:cs typeface="Inter SemiBold"/>
              </a:rPr>
              <a:t>gate humano</a:t>
            </a:r>
          </a:p>
        </p:txBody>
      </p:sp>
      <p:pic>
        <p:nvPicPr>
          <p:cNvPr id="12" name="Picture 11" descr="r019.png"/>
          <p:cNvPicPr>
            <a:picLocks noChangeAspect="1"/>
          </p:cNvPicPr>
          <p:nvPr/>
        </p:nvPicPr>
        <p:blipFill>
          <a:blip r:embed="rId4"/>
          <a:stretch>
            <a:fillRect/>
          </a:stretch>
        </p:blipFill>
        <p:spPr>
          <a:xfrm>
            <a:off x="4619625" y="1524000"/>
            <a:ext cx="247650" cy="247650"/>
          </a:xfrm>
          <a:prstGeom prst="rect">
            <a:avLst/>
          </a:prstGeom>
        </p:spPr>
      </p:pic>
      <p:sp>
        <p:nvSpPr>
          <p:cNvPr id="13" name="TextBox 12"/>
          <p:cNvSpPr txBox="1"/>
          <p:nvPr/>
        </p:nvSpPr>
        <p:spPr>
          <a:xfrm>
            <a:off x="6756657" y="1571625"/>
            <a:ext cx="850237" cy="152400"/>
          </a:xfrm>
          <a:prstGeom prst="rect">
            <a:avLst/>
          </a:prstGeom>
          <a:noFill/>
        </p:spPr>
        <p:txBody>
          <a:bodyPr wrap="none" lIns="0" tIns="0" rIns="0" bIns="0" anchor="t">
            <a:noAutofit/>
          </a:bodyPr>
          <a:lstStyle/>
          <a:p>
            <a:pPr algn="ctr">
              <a:lnSpc>
                <a:spcPts val="1200"/>
              </a:lnSpc>
              <a:spcBef>
                <a:spcPts val="0"/>
              </a:spcBef>
              <a:spcAft>
                <a:spcPts val="0"/>
              </a:spcAft>
            </a:pPr>
            <a:r>
              <a:rPr sz="1000" b="0" i="0">
                <a:solidFill>
                  <a:srgbClr val="8A6D28"/>
                </a:solidFill>
                <a:latin typeface="Inter SemiBold"/>
                <a:ea typeface="Inter SemiBold"/>
                <a:cs typeface="Inter SemiBold"/>
              </a:rPr>
              <a:t>gate humano</a:t>
            </a:r>
          </a:p>
        </p:txBody>
      </p:sp>
      <p:pic>
        <p:nvPicPr>
          <p:cNvPr id="14" name="Picture 13" descr="r017.png"/>
          <p:cNvPicPr>
            <a:picLocks noChangeAspect="1"/>
          </p:cNvPicPr>
          <p:nvPr/>
        </p:nvPicPr>
        <p:blipFill>
          <a:blip r:embed="rId3"/>
          <a:stretch>
            <a:fillRect/>
          </a:stretch>
        </p:blipFill>
        <p:spPr>
          <a:xfrm>
            <a:off x="6486525" y="1524000"/>
            <a:ext cx="247650" cy="247650"/>
          </a:xfrm>
          <a:prstGeom prst="rect">
            <a:avLst/>
          </a:prstGeom>
        </p:spPr>
      </p:pic>
      <p:sp>
        <p:nvSpPr>
          <p:cNvPr id="15" name="TextBox 14"/>
          <p:cNvSpPr txBox="1"/>
          <p:nvPr/>
        </p:nvSpPr>
        <p:spPr>
          <a:xfrm>
            <a:off x="8173510" y="1524000"/>
            <a:ext cx="1445681" cy="152400"/>
          </a:xfrm>
          <a:prstGeom prst="rect">
            <a:avLst/>
          </a:prstGeom>
          <a:noFill/>
        </p:spPr>
        <p:txBody>
          <a:bodyPr wrap="none" lIns="0" tIns="0" rIns="0" bIns="0" anchor="t">
            <a:noAutofit/>
          </a:bodyPr>
          <a:lstStyle/>
          <a:p>
            <a:pPr algn="ctr">
              <a:lnSpc>
                <a:spcPts val="1200"/>
              </a:lnSpc>
              <a:spcBef>
                <a:spcPts val="0"/>
              </a:spcBef>
              <a:spcAft>
                <a:spcPts val="0"/>
              </a:spcAft>
            </a:pPr>
            <a:r>
              <a:rPr sz="1000" b="0" i="0">
                <a:solidFill>
                  <a:srgbClr val="7D7869"/>
                </a:solidFill>
                <a:latin typeface="Inter Medium"/>
                <a:ea typeface="Inter Medium"/>
                <a:cs typeface="Inter Medium"/>
              </a:rPr>
              <a:t>sin gate: decide el juez</a:t>
            </a:r>
          </a:p>
        </p:txBody>
      </p:sp>
      <p:sp>
        <p:nvSpPr>
          <p:cNvPr id="16" name="TextBox 15"/>
          <p:cNvSpPr txBox="1"/>
          <p:nvPr/>
        </p:nvSpPr>
        <p:spPr>
          <a:xfrm>
            <a:off x="10490457" y="1571625"/>
            <a:ext cx="850237" cy="152400"/>
          </a:xfrm>
          <a:prstGeom prst="rect">
            <a:avLst/>
          </a:prstGeom>
          <a:noFill/>
        </p:spPr>
        <p:txBody>
          <a:bodyPr wrap="none" lIns="0" tIns="0" rIns="0" bIns="0" anchor="t">
            <a:noAutofit/>
          </a:bodyPr>
          <a:lstStyle/>
          <a:p>
            <a:pPr algn="ctr">
              <a:lnSpc>
                <a:spcPts val="1200"/>
              </a:lnSpc>
              <a:spcBef>
                <a:spcPts val="0"/>
              </a:spcBef>
              <a:spcAft>
                <a:spcPts val="0"/>
              </a:spcAft>
            </a:pPr>
            <a:r>
              <a:rPr sz="1000" b="0" i="0">
                <a:solidFill>
                  <a:srgbClr val="8A6D28"/>
                </a:solidFill>
                <a:latin typeface="Inter SemiBold"/>
                <a:ea typeface="Inter SemiBold"/>
                <a:cs typeface="Inter SemiBold"/>
              </a:rPr>
              <a:t>gate humano</a:t>
            </a:r>
          </a:p>
        </p:txBody>
      </p:sp>
      <p:pic>
        <p:nvPicPr>
          <p:cNvPr id="17" name="Picture 16" descr="r017.png"/>
          <p:cNvPicPr>
            <a:picLocks noChangeAspect="1"/>
          </p:cNvPicPr>
          <p:nvPr/>
        </p:nvPicPr>
        <p:blipFill>
          <a:blip r:embed="rId3"/>
          <a:stretch>
            <a:fillRect/>
          </a:stretch>
        </p:blipFill>
        <p:spPr>
          <a:xfrm>
            <a:off x="10220325" y="1524000"/>
            <a:ext cx="247650" cy="247650"/>
          </a:xfrm>
          <a:prstGeom prst="rect">
            <a:avLst/>
          </a:prstGeom>
        </p:spPr>
      </p:pic>
      <p:sp>
        <p:nvSpPr>
          <p:cNvPr id="18" name="Rounded Rectangle 17"/>
          <p:cNvSpPr/>
          <p:nvPr/>
        </p:nvSpPr>
        <p:spPr>
          <a:xfrm>
            <a:off x="609600" y="2076450"/>
            <a:ext cx="1638300" cy="1866900"/>
          </a:xfrm>
          <a:prstGeom prst="roundRect">
            <a:avLst>
              <a:gd name="adj" fmla="val 4651"/>
            </a:avLst>
          </a:prstGeom>
          <a:solidFill>
            <a:srgbClr val="FBF8F1"/>
          </a:solidFill>
          <a:ln w="19050">
            <a:solidFill>
              <a:srgbClr val="1C2433"/>
            </a:solidFill>
          </a:ln>
        </p:spPr>
        <p:txBody>
          <a:bodyPr rtlCol="0" anchor="ctr"/>
          <a:lstStyle/>
          <a:p>
            <a:endParaRPr/>
          </a:p>
        </p:txBody>
      </p:sp>
      <p:sp>
        <p:nvSpPr>
          <p:cNvPr id="19" name="TextBox 18"/>
          <p:cNvSpPr txBox="1"/>
          <p:nvPr/>
        </p:nvSpPr>
        <p:spPr>
          <a:xfrm>
            <a:off x="762000" y="2200275"/>
            <a:ext cx="115491"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9A7A2E"/>
                </a:solidFill>
                <a:latin typeface="JetBrains Mono"/>
                <a:ea typeface="JetBrains Mono"/>
                <a:cs typeface="JetBrains Mono"/>
              </a:rPr>
              <a:t>1</a:t>
            </a:r>
          </a:p>
        </p:txBody>
      </p:sp>
      <p:sp>
        <p:nvSpPr>
          <p:cNvPr id="20" name="TextBox 19"/>
          <p:cNvSpPr txBox="1"/>
          <p:nvPr/>
        </p:nvSpPr>
        <p:spPr>
          <a:xfrm>
            <a:off x="762000" y="2390775"/>
            <a:ext cx="661714" cy="238125"/>
          </a:xfrm>
          <a:prstGeom prst="rect">
            <a:avLst/>
          </a:prstGeom>
          <a:noFill/>
        </p:spPr>
        <p:txBody>
          <a:bodyPr wrap="none" lIns="0" tIns="0" rIns="0" bIns="0" anchor="t">
            <a:noAutofit/>
          </a:bodyPr>
          <a:lstStyle/>
          <a:p>
            <a:pPr algn="l">
              <a:lnSpc>
                <a:spcPts val="1800"/>
              </a:lnSpc>
              <a:spcBef>
                <a:spcPts val="0"/>
              </a:spcBef>
              <a:spcAft>
                <a:spcPts val="0"/>
              </a:spcAft>
            </a:pPr>
            <a:r>
              <a:rPr sz="1500" b="0" i="0">
                <a:solidFill>
                  <a:srgbClr val="1C2433"/>
                </a:solidFill>
                <a:latin typeface="Fraunces SemiBold"/>
                <a:ea typeface="Fraunces SemiBold"/>
                <a:cs typeface="Fraunces SemiBold"/>
              </a:rPr>
              <a:t>Intake</a:t>
            </a:r>
          </a:p>
        </p:txBody>
      </p:sp>
      <p:sp>
        <p:nvSpPr>
          <p:cNvPr id="21" name="TextBox 20"/>
          <p:cNvSpPr txBox="1"/>
          <p:nvPr/>
        </p:nvSpPr>
        <p:spPr>
          <a:xfrm>
            <a:off x="762000" y="2705100"/>
            <a:ext cx="965085"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entrevistador</a:t>
            </a:r>
          </a:p>
        </p:txBody>
      </p:sp>
      <p:sp>
        <p:nvSpPr>
          <p:cNvPr id="22" name="TextBox 21"/>
          <p:cNvSpPr txBox="1"/>
          <p:nvPr/>
        </p:nvSpPr>
        <p:spPr>
          <a:xfrm>
            <a:off x="762000" y="2933700"/>
            <a:ext cx="1353122"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extractor de intake</a:t>
            </a:r>
          </a:p>
        </p:txBody>
      </p:sp>
      <p:sp>
        <p:nvSpPr>
          <p:cNvPr id="23" name="Rounded Rectangle 22"/>
          <p:cNvSpPr/>
          <p:nvPr/>
        </p:nvSpPr>
        <p:spPr>
          <a:xfrm>
            <a:off x="2476500" y="2076450"/>
            <a:ext cx="1638300" cy="1866900"/>
          </a:xfrm>
          <a:prstGeom prst="roundRect">
            <a:avLst>
              <a:gd name="adj" fmla="val 4651"/>
            </a:avLst>
          </a:prstGeom>
          <a:solidFill>
            <a:srgbClr val="FBF8F1"/>
          </a:solidFill>
          <a:ln w="19050">
            <a:solidFill>
              <a:srgbClr val="1C2433"/>
            </a:solidFill>
          </a:ln>
        </p:spPr>
        <p:txBody>
          <a:bodyPr rtlCol="0" anchor="ctr"/>
          <a:lstStyle/>
          <a:p>
            <a:endParaRPr/>
          </a:p>
        </p:txBody>
      </p:sp>
      <p:sp>
        <p:nvSpPr>
          <p:cNvPr id="24" name="TextBox 23"/>
          <p:cNvSpPr txBox="1"/>
          <p:nvPr/>
        </p:nvSpPr>
        <p:spPr>
          <a:xfrm>
            <a:off x="2628900" y="2200275"/>
            <a:ext cx="115491"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9A7A2E"/>
                </a:solidFill>
                <a:latin typeface="JetBrains Mono"/>
                <a:ea typeface="JetBrains Mono"/>
                <a:cs typeface="JetBrains Mono"/>
              </a:rPr>
              <a:t>2</a:t>
            </a:r>
          </a:p>
        </p:txBody>
      </p:sp>
      <p:sp>
        <p:nvSpPr>
          <p:cNvPr id="25" name="TextBox 24"/>
          <p:cNvSpPr txBox="1"/>
          <p:nvPr/>
        </p:nvSpPr>
        <p:spPr>
          <a:xfrm>
            <a:off x="2628900" y="2390775"/>
            <a:ext cx="1307461" cy="238125"/>
          </a:xfrm>
          <a:prstGeom prst="rect">
            <a:avLst/>
          </a:prstGeom>
          <a:noFill/>
        </p:spPr>
        <p:txBody>
          <a:bodyPr wrap="none" lIns="0" tIns="0" rIns="0" bIns="0" anchor="t">
            <a:noAutofit/>
          </a:bodyPr>
          <a:lstStyle/>
          <a:p>
            <a:pPr algn="l">
              <a:lnSpc>
                <a:spcPts val="1800"/>
              </a:lnSpc>
              <a:spcBef>
                <a:spcPts val="0"/>
              </a:spcBef>
              <a:spcAft>
                <a:spcPts val="0"/>
              </a:spcAft>
            </a:pPr>
            <a:r>
              <a:rPr sz="1500" b="0" i="0">
                <a:solidFill>
                  <a:srgbClr val="1C2433"/>
                </a:solidFill>
                <a:latin typeface="Fraunces SemiBold"/>
                <a:ea typeface="Fraunces SemiBold"/>
                <a:cs typeface="Fraunces SemiBold"/>
              </a:rPr>
              <a:t>Investigation</a:t>
            </a:r>
          </a:p>
        </p:txBody>
      </p:sp>
      <p:sp>
        <p:nvSpPr>
          <p:cNvPr id="26" name="TextBox 25"/>
          <p:cNvSpPr txBox="1"/>
          <p:nvPr/>
        </p:nvSpPr>
        <p:spPr>
          <a:xfrm>
            <a:off x="2628900" y="2705100"/>
            <a:ext cx="135102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investigador · única salida a internet</a:t>
            </a:r>
          </a:p>
        </p:txBody>
      </p:sp>
      <p:sp>
        <p:nvSpPr>
          <p:cNvPr id="27" name="TextBox 26"/>
          <p:cNvSpPr txBox="1"/>
          <p:nvPr/>
        </p:nvSpPr>
        <p:spPr>
          <a:xfrm>
            <a:off x="2628900" y="3124200"/>
            <a:ext cx="795599"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verificador</a:t>
            </a:r>
          </a:p>
        </p:txBody>
      </p:sp>
      <p:sp>
        <p:nvSpPr>
          <p:cNvPr id="28" name="Rounded Rectangle 27"/>
          <p:cNvSpPr/>
          <p:nvPr/>
        </p:nvSpPr>
        <p:spPr>
          <a:xfrm>
            <a:off x="4343400" y="2076450"/>
            <a:ext cx="1638300" cy="1866900"/>
          </a:xfrm>
          <a:prstGeom prst="roundRect">
            <a:avLst>
              <a:gd name="adj" fmla="val 4651"/>
            </a:avLst>
          </a:prstGeom>
          <a:solidFill>
            <a:srgbClr val="FBF8F1"/>
          </a:solidFill>
          <a:ln w="19050">
            <a:solidFill>
              <a:srgbClr val="1C2433"/>
            </a:solidFill>
          </a:ln>
        </p:spPr>
        <p:txBody>
          <a:bodyPr rtlCol="0" anchor="ctr"/>
          <a:lstStyle/>
          <a:p>
            <a:endParaRPr/>
          </a:p>
        </p:txBody>
      </p:sp>
      <p:sp>
        <p:nvSpPr>
          <p:cNvPr id="29" name="TextBox 28"/>
          <p:cNvSpPr txBox="1"/>
          <p:nvPr/>
        </p:nvSpPr>
        <p:spPr>
          <a:xfrm>
            <a:off x="4495800" y="2200275"/>
            <a:ext cx="115491"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9A7A2E"/>
                </a:solidFill>
                <a:latin typeface="JetBrains Mono"/>
                <a:ea typeface="JetBrains Mono"/>
                <a:cs typeface="JetBrains Mono"/>
              </a:rPr>
              <a:t>3</a:t>
            </a:r>
          </a:p>
        </p:txBody>
      </p:sp>
      <p:sp>
        <p:nvSpPr>
          <p:cNvPr id="30" name="TextBox 29"/>
          <p:cNvSpPr txBox="1"/>
          <p:nvPr/>
        </p:nvSpPr>
        <p:spPr>
          <a:xfrm>
            <a:off x="4495800" y="2390775"/>
            <a:ext cx="1351026" cy="466725"/>
          </a:xfrm>
          <a:prstGeom prst="rect">
            <a:avLst/>
          </a:prstGeom>
          <a:noFill/>
        </p:spPr>
        <p:txBody>
          <a:bodyPr wrap="square" lIns="0" tIns="0" rIns="0" bIns="0" anchor="t">
            <a:noAutofit/>
          </a:bodyPr>
          <a:lstStyle/>
          <a:p>
            <a:pPr algn="l">
              <a:lnSpc>
                <a:spcPts val="1800"/>
              </a:lnSpc>
              <a:spcBef>
                <a:spcPts val="0"/>
              </a:spcBef>
              <a:spcAft>
                <a:spcPts val="0"/>
              </a:spcAft>
            </a:pPr>
            <a:r>
              <a:rPr sz="1500" b="0" i="0">
                <a:solidFill>
                  <a:srgbClr val="1C2433"/>
                </a:solidFill>
                <a:latin typeface="Fraunces SemiBold"/>
                <a:ea typeface="Fraunces SemiBold"/>
                <a:cs typeface="Fraunces SemiBold"/>
              </a:rPr>
              <a:t>Plotting · planner</a:t>
            </a:r>
          </a:p>
        </p:txBody>
      </p:sp>
      <p:sp>
        <p:nvSpPr>
          <p:cNvPr id="31" name="TextBox 30"/>
          <p:cNvSpPr txBox="1"/>
          <p:nvPr/>
        </p:nvSpPr>
        <p:spPr>
          <a:xfrm>
            <a:off x="4495800" y="2933700"/>
            <a:ext cx="135102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arquitecto → canon + escaleta</a:t>
            </a:r>
          </a:p>
        </p:txBody>
      </p:sp>
      <p:sp>
        <p:nvSpPr>
          <p:cNvPr id="32" name="TextBox 31"/>
          <p:cNvSpPr txBox="1"/>
          <p:nvPr/>
        </p:nvSpPr>
        <p:spPr>
          <a:xfrm>
            <a:off x="4495800" y="3352800"/>
            <a:ext cx="1150977"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sello del corpus</a:t>
            </a:r>
          </a:p>
        </p:txBody>
      </p:sp>
      <p:sp>
        <p:nvSpPr>
          <p:cNvPr id="33" name="Rounded Rectangle 32"/>
          <p:cNvSpPr/>
          <p:nvPr/>
        </p:nvSpPr>
        <p:spPr>
          <a:xfrm>
            <a:off x="6210300" y="2076450"/>
            <a:ext cx="1638300" cy="1866900"/>
          </a:xfrm>
          <a:prstGeom prst="roundRect">
            <a:avLst>
              <a:gd name="adj" fmla="val 4651"/>
            </a:avLst>
          </a:prstGeom>
          <a:solidFill>
            <a:srgbClr val="FBF8F1"/>
          </a:solidFill>
          <a:ln w="19050">
            <a:solidFill>
              <a:srgbClr val="1C2433"/>
            </a:solidFill>
          </a:ln>
        </p:spPr>
        <p:txBody>
          <a:bodyPr rtlCol="0" anchor="ctr"/>
          <a:lstStyle/>
          <a:p>
            <a:endParaRPr/>
          </a:p>
        </p:txBody>
      </p:sp>
      <p:sp>
        <p:nvSpPr>
          <p:cNvPr id="34" name="TextBox 33"/>
          <p:cNvSpPr txBox="1"/>
          <p:nvPr/>
        </p:nvSpPr>
        <p:spPr>
          <a:xfrm>
            <a:off x="6362700" y="2200275"/>
            <a:ext cx="115491"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9A7A2E"/>
                </a:solidFill>
                <a:latin typeface="JetBrains Mono"/>
                <a:ea typeface="JetBrains Mono"/>
                <a:cs typeface="JetBrains Mono"/>
              </a:rPr>
              <a:t>4</a:t>
            </a:r>
          </a:p>
        </p:txBody>
      </p:sp>
      <p:sp>
        <p:nvSpPr>
          <p:cNvPr id="35" name="TextBox 34"/>
          <p:cNvSpPr txBox="1"/>
          <p:nvPr/>
        </p:nvSpPr>
        <p:spPr>
          <a:xfrm>
            <a:off x="6362700" y="2390775"/>
            <a:ext cx="778264" cy="238125"/>
          </a:xfrm>
          <a:prstGeom prst="rect">
            <a:avLst/>
          </a:prstGeom>
          <a:noFill/>
        </p:spPr>
        <p:txBody>
          <a:bodyPr wrap="none" lIns="0" tIns="0" rIns="0" bIns="0" anchor="t">
            <a:noAutofit/>
          </a:bodyPr>
          <a:lstStyle/>
          <a:p>
            <a:pPr algn="l">
              <a:lnSpc>
                <a:spcPts val="1800"/>
              </a:lnSpc>
              <a:spcBef>
                <a:spcPts val="0"/>
              </a:spcBef>
              <a:spcAft>
                <a:spcPts val="0"/>
              </a:spcAft>
            </a:pPr>
            <a:r>
              <a:rPr sz="1500" b="0" i="0">
                <a:solidFill>
                  <a:srgbClr val="1C2433"/>
                </a:solidFill>
                <a:latin typeface="Fraunces SemiBold"/>
                <a:ea typeface="Fraunces SemiBold"/>
                <a:cs typeface="Fraunces SemiBold"/>
              </a:rPr>
              <a:t>Writing</a:t>
            </a:r>
          </a:p>
        </p:txBody>
      </p:sp>
      <p:sp>
        <p:nvSpPr>
          <p:cNvPr id="36" name="TextBox 35"/>
          <p:cNvSpPr txBox="1"/>
          <p:nvPr/>
        </p:nvSpPr>
        <p:spPr>
          <a:xfrm>
            <a:off x="6362700" y="2705100"/>
            <a:ext cx="1128534"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escritor (writer)</a:t>
            </a:r>
          </a:p>
        </p:txBody>
      </p:sp>
      <p:sp>
        <p:nvSpPr>
          <p:cNvPr id="37" name="TextBox 36"/>
          <p:cNvSpPr txBox="1"/>
          <p:nvPr/>
        </p:nvSpPr>
        <p:spPr>
          <a:xfrm>
            <a:off x="6362700" y="2933700"/>
            <a:ext cx="938617"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editor (critic)</a:t>
            </a:r>
          </a:p>
        </p:txBody>
      </p:sp>
      <p:sp>
        <p:nvSpPr>
          <p:cNvPr id="38" name="TextBox 37"/>
          <p:cNvSpPr txBox="1"/>
          <p:nvPr/>
        </p:nvSpPr>
        <p:spPr>
          <a:xfrm>
            <a:off x="6362700" y="3162300"/>
            <a:ext cx="135102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extractor de capítulo</a:t>
            </a:r>
          </a:p>
        </p:txBody>
      </p:sp>
      <p:sp>
        <p:nvSpPr>
          <p:cNvPr id="39" name="Rounded Rectangle 38"/>
          <p:cNvSpPr/>
          <p:nvPr/>
        </p:nvSpPr>
        <p:spPr>
          <a:xfrm>
            <a:off x="8077200" y="2076450"/>
            <a:ext cx="1638300" cy="1866900"/>
          </a:xfrm>
          <a:prstGeom prst="roundRect">
            <a:avLst>
              <a:gd name="adj" fmla="val 4651"/>
            </a:avLst>
          </a:prstGeom>
          <a:solidFill>
            <a:srgbClr val="FBF8F1"/>
          </a:solidFill>
          <a:ln w="19050">
            <a:solidFill>
              <a:srgbClr val="1C2433"/>
            </a:solidFill>
            <a:prstDash val="dash"/>
          </a:ln>
        </p:spPr>
        <p:txBody>
          <a:bodyPr rtlCol="0" anchor="ctr"/>
          <a:lstStyle/>
          <a:p>
            <a:endParaRPr/>
          </a:p>
        </p:txBody>
      </p:sp>
      <p:sp>
        <p:nvSpPr>
          <p:cNvPr id="40" name="TextBox 39"/>
          <p:cNvSpPr txBox="1"/>
          <p:nvPr/>
        </p:nvSpPr>
        <p:spPr>
          <a:xfrm>
            <a:off x="8229600" y="2200275"/>
            <a:ext cx="115491"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9A7A2E"/>
                </a:solidFill>
                <a:latin typeface="JetBrains Mono"/>
                <a:ea typeface="JetBrains Mono"/>
                <a:cs typeface="JetBrains Mono"/>
              </a:rPr>
              <a:t>5</a:t>
            </a:r>
          </a:p>
        </p:txBody>
      </p:sp>
      <p:sp>
        <p:nvSpPr>
          <p:cNvPr id="41" name="TextBox 40"/>
          <p:cNvSpPr txBox="1"/>
          <p:nvPr/>
        </p:nvSpPr>
        <p:spPr>
          <a:xfrm>
            <a:off x="8229600" y="2390775"/>
            <a:ext cx="1147572" cy="238125"/>
          </a:xfrm>
          <a:prstGeom prst="rect">
            <a:avLst/>
          </a:prstGeom>
          <a:noFill/>
        </p:spPr>
        <p:txBody>
          <a:bodyPr wrap="none" lIns="0" tIns="0" rIns="0" bIns="0" anchor="t">
            <a:noAutofit/>
          </a:bodyPr>
          <a:lstStyle/>
          <a:p>
            <a:pPr algn="l">
              <a:lnSpc>
                <a:spcPts val="1800"/>
              </a:lnSpc>
              <a:spcBef>
                <a:spcPts val="0"/>
              </a:spcBef>
              <a:spcAft>
                <a:spcPts val="0"/>
              </a:spcAft>
            </a:pPr>
            <a:r>
              <a:rPr sz="1500" b="0" i="0">
                <a:solidFill>
                  <a:srgbClr val="1C2433"/>
                </a:solidFill>
                <a:latin typeface="Fraunces SemiBold"/>
                <a:ea typeface="Fraunces SemiBold"/>
                <a:cs typeface="Fraunces SemiBold"/>
              </a:rPr>
              <a:t>Publication</a:t>
            </a:r>
          </a:p>
        </p:txBody>
      </p:sp>
      <p:sp>
        <p:nvSpPr>
          <p:cNvPr id="42" name="TextBox 41"/>
          <p:cNvSpPr txBox="1"/>
          <p:nvPr/>
        </p:nvSpPr>
        <p:spPr>
          <a:xfrm>
            <a:off x="8229600" y="2705100"/>
            <a:ext cx="135102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juez (LLM-as-judge)</a:t>
            </a:r>
          </a:p>
        </p:txBody>
      </p:sp>
      <p:sp>
        <p:nvSpPr>
          <p:cNvPr id="43" name="TextBox 42"/>
          <p:cNvSpPr txBox="1"/>
          <p:nvPr/>
        </p:nvSpPr>
        <p:spPr>
          <a:xfrm>
            <a:off x="8229600" y="3124200"/>
            <a:ext cx="135102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Lean · render_visual</a:t>
            </a:r>
          </a:p>
        </p:txBody>
      </p:sp>
      <p:sp>
        <p:nvSpPr>
          <p:cNvPr id="44" name="Rounded Rectangle 43"/>
          <p:cNvSpPr/>
          <p:nvPr/>
        </p:nvSpPr>
        <p:spPr>
          <a:xfrm>
            <a:off x="9944100" y="2076450"/>
            <a:ext cx="1638300" cy="1866900"/>
          </a:xfrm>
          <a:prstGeom prst="roundRect">
            <a:avLst>
              <a:gd name="adj" fmla="val 4651"/>
            </a:avLst>
          </a:prstGeom>
          <a:solidFill>
            <a:srgbClr val="FBF8F1"/>
          </a:solidFill>
          <a:ln w="19050">
            <a:solidFill>
              <a:srgbClr val="1C2433"/>
            </a:solidFill>
          </a:ln>
        </p:spPr>
        <p:txBody>
          <a:bodyPr rtlCol="0" anchor="ctr"/>
          <a:lstStyle/>
          <a:p>
            <a:endParaRPr/>
          </a:p>
        </p:txBody>
      </p:sp>
      <p:sp>
        <p:nvSpPr>
          <p:cNvPr id="45" name="TextBox 44"/>
          <p:cNvSpPr txBox="1"/>
          <p:nvPr/>
        </p:nvSpPr>
        <p:spPr>
          <a:xfrm>
            <a:off x="10096500" y="2200275"/>
            <a:ext cx="115491"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9A7A2E"/>
                </a:solidFill>
                <a:latin typeface="JetBrains Mono"/>
                <a:ea typeface="JetBrains Mono"/>
                <a:cs typeface="JetBrains Mono"/>
              </a:rPr>
              <a:t>6</a:t>
            </a:r>
          </a:p>
        </p:txBody>
      </p:sp>
      <p:sp>
        <p:nvSpPr>
          <p:cNvPr id="46" name="TextBox 45"/>
          <p:cNvSpPr txBox="1"/>
          <p:nvPr/>
        </p:nvSpPr>
        <p:spPr>
          <a:xfrm>
            <a:off x="10096500" y="2390775"/>
            <a:ext cx="1335631" cy="238125"/>
          </a:xfrm>
          <a:prstGeom prst="rect">
            <a:avLst/>
          </a:prstGeom>
          <a:noFill/>
        </p:spPr>
        <p:txBody>
          <a:bodyPr wrap="none" lIns="0" tIns="0" rIns="0" bIns="0" anchor="t">
            <a:noAutofit/>
          </a:bodyPr>
          <a:lstStyle/>
          <a:p>
            <a:pPr algn="l">
              <a:lnSpc>
                <a:spcPts val="1800"/>
              </a:lnSpc>
              <a:spcBef>
                <a:spcPts val="0"/>
              </a:spcBef>
              <a:spcAft>
                <a:spcPts val="0"/>
              </a:spcAft>
            </a:pPr>
            <a:r>
              <a:rPr sz="1500" b="0" i="0">
                <a:solidFill>
                  <a:srgbClr val="1C2433"/>
                </a:solidFill>
                <a:latin typeface="Fraunces SemiBold"/>
                <a:ea typeface="Fraunces SemiBold"/>
                <a:cs typeface="Fraunces SemiBold"/>
              </a:rPr>
              <a:t>Regeneration</a:t>
            </a:r>
          </a:p>
        </p:txBody>
      </p:sp>
      <p:sp>
        <p:nvSpPr>
          <p:cNvPr id="47" name="TextBox 46"/>
          <p:cNvSpPr txBox="1"/>
          <p:nvPr/>
        </p:nvSpPr>
        <p:spPr>
          <a:xfrm>
            <a:off x="10096500" y="2705100"/>
            <a:ext cx="135102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cambios del lector: escritor + editor</a:t>
            </a:r>
          </a:p>
        </p:txBody>
      </p:sp>
      <p:pic>
        <p:nvPicPr>
          <p:cNvPr id="48" name="Picture 47" descr="r022.png"/>
          <p:cNvPicPr>
            <a:picLocks noChangeAspect="1"/>
          </p:cNvPicPr>
          <p:nvPr/>
        </p:nvPicPr>
        <p:blipFill>
          <a:blip r:embed="rId5"/>
          <a:stretch>
            <a:fillRect/>
          </a:stretch>
        </p:blipFill>
        <p:spPr>
          <a:xfrm>
            <a:off x="609600" y="1524000"/>
            <a:ext cx="10972800" cy="2476500"/>
          </a:xfrm>
          <a:prstGeom prst="rect">
            <a:avLst/>
          </a:prstGeom>
        </p:spPr>
      </p:pic>
      <p:sp>
        <p:nvSpPr>
          <p:cNvPr id="49" name="Rounded Rectangle 48"/>
          <p:cNvSpPr/>
          <p:nvPr/>
        </p:nvSpPr>
        <p:spPr>
          <a:xfrm>
            <a:off x="609600" y="4286250"/>
            <a:ext cx="3693616" cy="361950"/>
          </a:xfrm>
          <a:prstGeom prst="roundRect">
            <a:avLst>
              <a:gd name="adj" fmla="val 18421"/>
            </a:avLst>
          </a:prstGeom>
          <a:solidFill>
            <a:srgbClr val="E8E3D8"/>
          </a:solidFill>
          <a:ln w="9525">
            <a:solidFill>
              <a:srgbClr val="D9D2C3"/>
            </a:solidFill>
          </a:ln>
        </p:spPr>
        <p:txBody>
          <a:bodyPr rtlCol="0" anchor="ctr"/>
          <a:lstStyle/>
          <a:p>
            <a:endParaRPr/>
          </a:p>
        </p:txBody>
      </p:sp>
      <p:sp>
        <p:nvSpPr>
          <p:cNvPr id="50" name="TextBox 49"/>
          <p:cNvSpPr txBox="1"/>
          <p:nvPr/>
        </p:nvSpPr>
        <p:spPr>
          <a:xfrm>
            <a:off x="752475" y="4371975"/>
            <a:ext cx="358228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Orquestación: LangGraph con estado explícito</a:t>
            </a:r>
          </a:p>
        </p:txBody>
      </p:sp>
      <p:sp>
        <p:nvSpPr>
          <p:cNvPr id="51" name="Rounded Rectangle 50"/>
          <p:cNvSpPr/>
          <p:nvPr/>
        </p:nvSpPr>
        <p:spPr>
          <a:xfrm>
            <a:off x="4455616" y="4286250"/>
            <a:ext cx="3795712" cy="361950"/>
          </a:xfrm>
          <a:prstGeom prst="roundRect">
            <a:avLst>
              <a:gd name="adj" fmla="val 18421"/>
            </a:avLst>
          </a:prstGeom>
          <a:solidFill>
            <a:srgbClr val="E8E3D8"/>
          </a:solidFill>
          <a:ln w="9525">
            <a:solidFill>
              <a:srgbClr val="D9D2C3"/>
            </a:solidFill>
          </a:ln>
        </p:spPr>
        <p:txBody>
          <a:bodyPr rtlCol="0" anchor="ctr"/>
          <a:lstStyle/>
          <a:p>
            <a:endParaRPr/>
          </a:p>
        </p:txBody>
      </p:sp>
      <p:sp>
        <p:nvSpPr>
          <p:cNvPr id="52" name="TextBox 51"/>
          <p:cNvSpPr txBox="1"/>
          <p:nvPr/>
        </p:nvSpPr>
        <p:spPr>
          <a:xfrm>
            <a:off x="4598491" y="4371975"/>
            <a:ext cx="368846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Agentes: Claude Agent SDK, todos en Haiku 4.5</a:t>
            </a:r>
          </a:p>
        </p:txBody>
      </p:sp>
      <p:sp>
        <p:nvSpPr>
          <p:cNvPr id="53" name="Rounded Rectangle 52"/>
          <p:cNvSpPr/>
          <p:nvPr/>
        </p:nvSpPr>
        <p:spPr>
          <a:xfrm>
            <a:off x="8403729" y="4286250"/>
            <a:ext cx="2962275" cy="361950"/>
          </a:xfrm>
          <a:prstGeom prst="roundRect">
            <a:avLst>
              <a:gd name="adj" fmla="val 18421"/>
            </a:avLst>
          </a:prstGeom>
          <a:solidFill>
            <a:srgbClr val="E8E3D8"/>
          </a:solidFill>
          <a:ln w="9525">
            <a:solidFill>
              <a:srgbClr val="D9D2C3"/>
            </a:solidFill>
          </a:ln>
        </p:spPr>
        <p:txBody>
          <a:bodyPr rtlCol="0" anchor="ctr"/>
          <a:lstStyle/>
          <a:p>
            <a:endParaRPr/>
          </a:p>
        </p:txBody>
      </p:sp>
      <p:sp>
        <p:nvSpPr>
          <p:cNvPr id="54" name="TextBox 53"/>
          <p:cNvSpPr txBox="1"/>
          <p:nvPr/>
        </p:nvSpPr>
        <p:spPr>
          <a:xfrm>
            <a:off x="8546604" y="4371975"/>
            <a:ext cx="2821686"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Estado: un fichero SQLite por novela</a:t>
            </a:r>
          </a:p>
        </p:txBody>
      </p:sp>
      <p:sp>
        <p:nvSpPr>
          <p:cNvPr id="55" name="Rounded Rectangle 54"/>
          <p:cNvSpPr/>
          <p:nvPr/>
        </p:nvSpPr>
        <p:spPr>
          <a:xfrm>
            <a:off x="609600" y="4953000"/>
            <a:ext cx="10972800" cy="665559"/>
          </a:xfrm>
          <a:prstGeom prst="roundRect">
            <a:avLst>
              <a:gd name="adj" fmla="val 11449"/>
            </a:avLst>
          </a:prstGeom>
          <a:solidFill>
            <a:srgbClr val="1C2433"/>
          </a:solidFill>
          <a:ln>
            <a:noFill/>
          </a:ln>
        </p:spPr>
        <p:txBody>
          <a:bodyPr rtlCol="0" anchor="ctr"/>
          <a:lstStyle/>
          <a:p>
            <a:endParaRPr/>
          </a:p>
        </p:txBody>
      </p:sp>
      <p:sp>
        <p:nvSpPr>
          <p:cNvPr id="56" name="TextBox 55"/>
          <p:cNvSpPr txBox="1"/>
          <p:nvPr/>
        </p:nvSpPr>
        <p:spPr>
          <a:xfrm>
            <a:off x="781050" y="5076825"/>
            <a:ext cx="10703204" cy="408980"/>
          </a:xfrm>
          <a:prstGeom prst="rect">
            <a:avLst/>
          </a:prstGeom>
          <a:noFill/>
        </p:spPr>
        <p:txBody>
          <a:bodyPr wrap="square" lIns="0" tIns="0" rIns="0" bIns="0" anchor="t">
            <a:noAutofit/>
          </a:bodyPr>
          <a:lstStyle/>
          <a:p>
            <a:pPr algn="l">
              <a:lnSpc>
                <a:spcPts val="1721"/>
              </a:lnSpc>
              <a:spcBef>
                <a:spcPts val="0"/>
              </a:spcBef>
              <a:spcAft>
                <a:spcPts val="0"/>
              </a:spcAft>
            </a:pPr>
            <a:r>
              <a:rPr sz="1300" b="0" i="0">
                <a:solidFill>
                  <a:srgbClr val="F5EFE3"/>
                </a:solidFill>
                <a:latin typeface="Inter"/>
                <a:ea typeface="Inter"/>
                <a:cs typeface="Inter"/>
              </a:rPr>
              <a:t>Planner = arquitecto · Writer = escritor · Editor/critic = editor + juez, separados: </a:t>
            </a:r>
            <a:r>
              <a:rPr sz="1300" b="0" i="0">
                <a:solidFill>
                  <a:srgbClr val="C9A34E"/>
                </a:solidFill>
                <a:latin typeface="Inter SemiBold"/>
                <a:ea typeface="Inter SemiBold"/>
                <a:cs typeface="Inter SemiBold"/>
              </a:rPr>
              <a:t>quien escribe no aprueba</a:t>
            </a:r>
            <a:r>
              <a:rPr sz="1300" b="0" i="0">
                <a:solidFill>
                  <a:srgbClr val="F5EFE3"/>
                </a:solidFill>
                <a:latin typeface="Inter"/>
                <a:ea typeface="Inter"/>
                <a:cs typeface="Inter"/>
              </a:rPr>
              <a:t>. El editor repara dentro del bucle; el juez mide fuera y no toca el texto.</a:t>
            </a:r>
          </a:p>
        </p:txBody>
      </p:sp>
      <p:pic>
        <p:nvPicPr>
          <p:cNvPr id="57" name="Picture 56" descr="r003.png"/>
          <p:cNvPicPr>
            <a:picLocks noChangeAspect="1"/>
          </p:cNvPicPr>
          <p:nvPr/>
        </p:nvPicPr>
        <p:blipFill>
          <a:blip r:embed="rId6"/>
          <a:stretch>
            <a:fillRect/>
          </a:stretch>
        </p:blipFill>
        <p:spPr>
          <a:xfrm>
            <a:off x="381000" y="6343650"/>
            <a:ext cx="11430000" cy="76200"/>
          </a:xfrm>
          <a:prstGeom prst="rect">
            <a:avLst/>
          </a:prstGeom>
        </p:spPr>
      </p:pic>
      <p:pic>
        <p:nvPicPr>
          <p:cNvPr id="58" name="Picture 57" descr="r004.png"/>
          <p:cNvPicPr>
            <a:picLocks noChangeAspect="1"/>
          </p:cNvPicPr>
          <p:nvPr/>
        </p:nvPicPr>
        <p:blipFill>
          <a:blip r:embed="rId7"/>
          <a:stretch>
            <a:fillRect/>
          </a:stretch>
        </p:blipFill>
        <p:spPr>
          <a:xfrm>
            <a:off x="381000" y="6505575"/>
            <a:ext cx="171450" cy="190500"/>
          </a:xfrm>
          <a:prstGeom prst="rect">
            <a:avLst/>
          </a:prstGeom>
        </p:spPr>
      </p:pic>
      <p:sp>
        <p:nvSpPr>
          <p:cNvPr id="59" name="TextBox 58"/>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60" name="TextBox 59"/>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61" name="TextBox 60"/>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62" name="TextBox 61"/>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07 / 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40731" y="323850"/>
            <a:ext cx="1229916"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ARQUITECTURA</a:t>
            </a:r>
          </a:p>
        </p:txBody>
      </p:sp>
      <p:sp>
        <p:nvSpPr>
          <p:cNvPr id="3" name="TextBox 2"/>
          <p:cNvSpPr txBox="1"/>
          <p:nvPr/>
        </p:nvSpPr>
        <p:spPr>
          <a:xfrm>
            <a:off x="609600" y="323850"/>
            <a:ext cx="101136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IV</a:t>
            </a:r>
          </a:p>
        </p:txBody>
      </p:sp>
      <p:sp>
        <p:nvSpPr>
          <p:cNvPr id="4" name="Rectangle 3"/>
          <p:cNvSpPr/>
          <p:nvPr/>
        </p:nvSpPr>
        <p:spPr>
          <a:xfrm>
            <a:off x="1659731" y="395288"/>
            <a:ext cx="266700" cy="9525"/>
          </a:xfrm>
          <a:prstGeom prst="rect">
            <a:avLst/>
          </a:prstGeom>
          <a:noFill/>
          <a:ln>
            <a:noFill/>
          </a:ln>
        </p:spPr>
        <p:txBody>
          <a:bodyPr rtlCol="0" anchor="ctr"/>
          <a:lstStyle/>
          <a:p>
            <a:endParaRPr/>
          </a:p>
        </p:txBody>
      </p:sp>
      <p:cxnSp>
        <p:nvCxnSpPr>
          <p:cNvPr id="5" name="Connector 4"/>
          <p:cNvCxnSpPr/>
          <p:nvPr/>
        </p:nvCxnSpPr>
        <p:spPr>
          <a:xfrm>
            <a:off x="1659731"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Los validadores son nodos del grafo: ningún agente puede saltárselos</a:t>
            </a:r>
          </a:p>
        </p:txBody>
      </p:sp>
      <p:pic>
        <p:nvPicPr>
          <p:cNvPr id="7" name="Picture 6" descr="r025.png"/>
          <p:cNvPicPr>
            <a:picLocks noChangeAspect="1"/>
          </p:cNvPicPr>
          <p:nvPr/>
        </p:nvPicPr>
        <p:blipFill>
          <a:blip r:embed="rId3"/>
          <a:stretch>
            <a:fillRect/>
          </a:stretch>
        </p:blipFill>
        <p:spPr>
          <a:xfrm>
            <a:off x="609600" y="1524000"/>
            <a:ext cx="7048500" cy="4476750"/>
          </a:xfrm>
          <a:prstGeom prst="rect">
            <a:avLst/>
          </a:prstGeom>
        </p:spPr>
      </p:pic>
      <p:sp>
        <p:nvSpPr>
          <p:cNvPr id="8" name="Rounded Rectangle 7"/>
          <p:cNvSpPr/>
          <p:nvPr/>
        </p:nvSpPr>
        <p:spPr>
          <a:xfrm>
            <a:off x="609600" y="2438400"/>
            <a:ext cx="1600200" cy="523875"/>
          </a:xfrm>
          <a:prstGeom prst="roundRect">
            <a:avLst>
              <a:gd name="adj" fmla="val 40000"/>
            </a:avLst>
          </a:prstGeom>
          <a:solidFill>
            <a:srgbClr val="FBF8F1"/>
          </a:solidFill>
          <a:ln w="19050">
            <a:solidFill>
              <a:srgbClr val="1C2433"/>
            </a:solidFill>
          </a:ln>
        </p:spPr>
        <p:txBody>
          <a:bodyPr rtlCol="0" anchor="ctr"/>
          <a:lstStyle/>
          <a:p>
            <a:endParaRPr/>
          </a:p>
        </p:txBody>
      </p:sp>
      <p:sp>
        <p:nvSpPr>
          <p:cNvPr id="9" name="TextBox 8"/>
          <p:cNvSpPr txBox="1"/>
          <p:nvPr/>
        </p:nvSpPr>
        <p:spPr>
          <a:xfrm>
            <a:off x="855726" y="2524125"/>
            <a:ext cx="1107948"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1C2433"/>
                </a:solidFill>
                <a:latin typeface="JetBrains Mono Medium"/>
                <a:ea typeface="JetBrains Mono Medium"/>
                <a:cs typeface="JetBrains Mono Medium"/>
              </a:rPr>
              <a:t>WriteChapter</a:t>
            </a:r>
          </a:p>
        </p:txBody>
      </p:sp>
      <p:sp>
        <p:nvSpPr>
          <p:cNvPr id="10" name="TextBox 9"/>
          <p:cNvSpPr txBox="1"/>
          <p:nvPr/>
        </p:nvSpPr>
        <p:spPr>
          <a:xfrm>
            <a:off x="1167455" y="2714625"/>
            <a:ext cx="484489" cy="142875"/>
          </a:xfrm>
          <a:prstGeom prst="rect">
            <a:avLst/>
          </a:prstGeom>
          <a:noFill/>
        </p:spPr>
        <p:txBody>
          <a:bodyPr wrap="none" lIns="0" tIns="0" rIns="0" bIns="0" anchor="t">
            <a:noAutofit/>
          </a:bodyPr>
          <a:lstStyle/>
          <a:p>
            <a:pPr algn="ctr">
              <a:lnSpc>
                <a:spcPts val="1200"/>
              </a:lnSpc>
              <a:spcBef>
                <a:spcPts val="0"/>
              </a:spcBef>
              <a:spcAft>
                <a:spcPts val="0"/>
              </a:spcAft>
            </a:pPr>
            <a:r>
              <a:rPr sz="950" b="0" i="0">
                <a:solidFill>
                  <a:srgbClr val="7D7869"/>
                </a:solidFill>
                <a:latin typeface="Inter"/>
                <a:ea typeface="Inter"/>
                <a:cs typeface="Inter"/>
              </a:rPr>
              <a:t>escritor</a:t>
            </a:r>
          </a:p>
        </p:txBody>
      </p:sp>
      <p:sp>
        <p:nvSpPr>
          <p:cNvPr id="11" name="Rounded Rectangle 10"/>
          <p:cNvSpPr/>
          <p:nvPr/>
        </p:nvSpPr>
        <p:spPr>
          <a:xfrm>
            <a:off x="2628900" y="2400300"/>
            <a:ext cx="1390650" cy="523875"/>
          </a:xfrm>
          <a:prstGeom prst="roundRect">
            <a:avLst>
              <a:gd name="adj" fmla="val 40000"/>
            </a:avLst>
          </a:prstGeom>
          <a:solidFill>
            <a:srgbClr val="FBF8F1"/>
          </a:solidFill>
          <a:ln w="19050">
            <a:solidFill>
              <a:srgbClr val="1C2433"/>
            </a:solidFill>
          </a:ln>
        </p:spPr>
        <p:txBody>
          <a:bodyPr rtlCol="0" anchor="ctr"/>
          <a:lstStyle/>
          <a:p>
            <a:endParaRPr/>
          </a:p>
        </p:txBody>
      </p:sp>
      <p:sp>
        <p:nvSpPr>
          <p:cNvPr id="12" name="TextBox 11"/>
          <p:cNvSpPr txBox="1"/>
          <p:nvPr/>
        </p:nvSpPr>
        <p:spPr>
          <a:xfrm>
            <a:off x="2948559" y="2486025"/>
            <a:ext cx="751332"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1C2433"/>
                </a:solidFill>
                <a:latin typeface="JetBrains Mono Medium"/>
                <a:ea typeface="JetBrains Mono Medium"/>
                <a:cs typeface="JetBrains Mono Medium"/>
              </a:rPr>
              <a:t>Validate</a:t>
            </a:r>
          </a:p>
        </p:txBody>
      </p:sp>
      <p:sp>
        <p:nvSpPr>
          <p:cNvPr id="13" name="TextBox 12"/>
          <p:cNvSpPr txBox="1"/>
          <p:nvPr/>
        </p:nvSpPr>
        <p:spPr>
          <a:xfrm>
            <a:off x="2740414" y="2676525"/>
            <a:ext cx="1173575" cy="142875"/>
          </a:xfrm>
          <a:prstGeom prst="rect">
            <a:avLst/>
          </a:prstGeom>
          <a:noFill/>
        </p:spPr>
        <p:txBody>
          <a:bodyPr wrap="none" lIns="0" tIns="0" rIns="0" bIns="0" anchor="t">
            <a:noAutofit/>
          </a:bodyPr>
          <a:lstStyle/>
          <a:p>
            <a:pPr algn="ctr">
              <a:lnSpc>
                <a:spcPts val="1200"/>
              </a:lnSpc>
              <a:spcBef>
                <a:spcPts val="0"/>
              </a:spcBef>
              <a:spcAft>
                <a:spcPts val="0"/>
              </a:spcAft>
            </a:pPr>
            <a:r>
              <a:rPr sz="950" b="0" i="0">
                <a:solidFill>
                  <a:srgbClr val="7D7869"/>
                </a:solidFill>
                <a:latin typeface="Inter"/>
                <a:ea typeface="Inter"/>
                <a:cs typeface="Inter"/>
              </a:rPr>
              <a:t>Python · coste cero</a:t>
            </a:r>
          </a:p>
        </p:txBody>
      </p:sp>
      <p:sp>
        <p:nvSpPr>
          <p:cNvPr id="14" name="Rounded Rectangle 13"/>
          <p:cNvSpPr/>
          <p:nvPr/>
        </p:nvSpPr>
        <p:spPr>
          <a:xfrm>
            <a:off x="4438650" y="2400300"/>
            <a:ext cx="1314450" cy="523875"/>
          </a:xfrm>
          <a:prstGeom prst="roundRect">
            <a:avLst>
              <a:gd name="adj" fmla="val 40000"/>
            </a:avLst>
          </a:prstGeom>
          <a:solidFill>
            <a:srgbClr val="FBF8F1"/>
          </a:solidFill>
          <a:ln w="19050">
            <a:solidFill>
              <a:srgbClr val="1C2433"/>
            </a:solidFill>
          </a:ln>
        </p:spPr>
        <p:txBody>
          <a:bodyPr rtlCol="0" anchor="ctr"/>
          <a:lstStyle/>
          <a:p>
            <a:endParaRPr/>
          </a:p>
        </p:txBody>
      </p:sp>
      <p:sp>
        <p:nvSpPr>
          <p:cNvPr id="15" name="TextBox 14"/>
          <p:cNvSpPr txBox="1"/>
          <p:nvPr/>
        </p:nvSpPr>
        <p:spPr>
          <a:xfrm>
            <a:off x="4764786" y="2486025"/>
            <a:ext cx="662178"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1C2433"/>
                </a:solidFill>
                <a:latin typeface="JetBrains Mono Medium"/>
                <a:ea typeface="JetBrains Mono Medium"/>
                <a:cs typeface="JetBrains Mono Medium"/>
              </a:rPr>
              <a:t>Extract</a:t>
            </a:r>
          </a:p>
        </p:txBody>
      </p:sp>
      <p:sp>
        <p:nvSpPr>
          <p:cNvPr id="16" name="TextBox 15"/>
          <p:cNvSpPr txBox="1"/>
          <p:nvPr/>
        </p:nvSpPr>
        <p:spPr>
          <a:xfrm>
            <a:off x="4594375" y="2676525"/>
            <a:ext cx="1002852" cy="142875"/>
          </a:xfrm>
          <a:prstGeom prst="rect">
            <a:avLst/>
          </a:prstGeom>
          <a:noFill/>
        </p:spPr>
        <p:txBody>
          <a:bodyPr wrap="none" lIns="0" tIns="0" rIns="0" bIns="0" anchor="t">
            <a:noAutofit/>
          </a:bodyPr>
          <a:lstStyle/>
          <a:p>
            <a:pPr algn="ctr">
              <a:lnSpc>
                <a:spcPts val="1200"/>
              </a:lnSpc>
              <a:spcBef>
                <a:spcPts val="0"/>
              </a:spcBef>
              <a:spcAft>
                <a:spcPts val="0"/>
              </a:spcAft>
            </a:pPr>
            <a:r>
              <a:rPr sz="950" b="0" i="0">
                <a:solidFill>
                  <a:srgbClr val="7D7869"/>
                </a:solidFill>
                <a:latin typeface="Inter"/>
                <a:ea typeface="Inter"/>
                <a:cs typeface="Inter"/>
              </a:rPr>
              <a:t>extractor + Lean</a:t>
            </a:r>
          </a:p>
        </p:txBody>
      </p:sp>
      <p:sp>
        <p:nvSpPr>
          <p:cNvPr id="17" name="Rounded Rectangle 16"/>
          <p:cNvSpPr/>
          <p:nvPr/>
        </p:nvSpPr>
        <p:spPr>
          <a:xfrm>
            <a:off x="6172200" y="2438400"/>
            <a:ext cx="1485900" cy="371475"/>
          </a:xfrm>
          <a:prstGeom prst="roundRect">
            <a:avLst>
              <a:gd name="adj" fmla="val 50000"/>
            </a:avLst>
          </a:prstGeom>
          <a:solidFill>
            <a:srgbClr val="FBF8F1"/>
          </a:solidFill>
          <a:ln w="19050">
            <a:solidFill>
              <a:srgbClr val="1C2433"/>
            </a:solidFill>
          </a:ln>
        </p:spPr>
        <p:txBody>
          <a:bodyPr rtlCol="0" anchor="ctr"/>
          <a:lstStyle/>
          <a:p>
            <a:endParaRPr/>
          </a:p>
        </p:txBody>
      </p:sp>
      <p:sp>
        <p:nvSpPr>
          <p:cNvPr id="18" name="TextBox 17"/>
          <p:cNvSpPr txBox="1"/>
          <p:nvPr/>
        </p:nvSpPr>
        <p:spPr>
          <a:xfrm>
            <a:off x="6281547" y="2524125"/>
            <a:ext cx="1286256"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1C2433"/>
                </a:solidFill>
                <a:latin typeface="JetBrains Mono Medium"/>
                <a:ea typeface="JetBrains Mono Medium"/>
                <a:cs typeface="JetBrains Mono Medium"/>
              </a:rPr>
              <a:t>ApproveChapter</a:t>
            </a:r>
          </a:p>
        </p:txBody>
      </p:sp>
      <p:sp>
        <p:nvSpPr>
          <p:cNvPr id="19" name="Rounded Rectangle 18"/>
          <p:cNvSpPr/>
          <p:nvPr/>
        </p:nvSpPr>
        <p:spPr>
          <a:xfrm>
            <a:off x="4152900" y="1866900"/>
            <a:ext cx="723900" cy="371475"/>
          </a:xfrm>
          <a:prstGeom prst="roundRect">
            <a:avLst>
              <a:gd name="adj" fmla="val 50000"/>
            </a:avLst>
          </a:prstGeom>
          <a:noFill/>
          <a:ln w="19050">
            <a:solidFill>
              <a:srgbClr val="B23A2B"/>
            </a:solidFill>
            <a:prstDash val="dash"/>
          </a:ln>
        </p:spPr>
        <p:txBody>
          <a:bodyPr rtlCol="0" anchor="ctr"/>
          <a:lstStyle/>
          <a:p>
            <a:endParaRPr/>
          </a:p>
        </p:txBody>
      </p:sp>
      <p:sp>
        <p:nvSpPr>
          <p:cNvPr id="20" name="TextBox 19"/>
          <p:cNvSpPr txBox="1"/>
          <p:nvPr/>
        </p:nvSpPr>
        <p:spPr>
          <a:xfrm>
            <a:off x="4317492" y="1952625"/>
            <a:ext cx="394716"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B23A2B"/>
                </a:solidFill>
                <a:latin typeface="JetBrains Mono Medium"/>
                <a:ea typeface="JetBrains Mono Medium"/>
                <a:cs typeface="JetBrains Mono Medium"/>
              </a:rPr>
              <a:t>Fail</a:t>
            </a:r>
          </a:p>
        </p:txBody>
      </p:sp>
      <p:sp>
        <p:nvSpPr>
          <p:cNvPr id="21" name="TextBox 20"/>
          <p:cNvSpPr txBox="1"/>
          <p:nvPr/>
        </p:nvSpPr>
        <p:spPr>
          <a:xfrm>
            <a:off x="4991100" y="1809750"/>
            <a:ext cx="2328862"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B23A2B"/>
                </a:solidFill>
                <a:latin typeface="Inter"/>
                <a:ea typeface="Inter"/>
                <a:cs typeface="Inter"/>
              </a:rPr>
              <a:t>reintentos agotados → para e informa</a:t>
            </a:r>
          </a:p>
        </p:txBody>
      </p:sp>
      <p:sp>
        <p:nvSpPr>
          <p:cNvPr id="22" name="Rounded Rectangle 21"/>
          <p:cNvSpPr/>
          <p:nvPr/>
        </p:nvSpPr>
        <p:spPr>
          <a:xfrm>
            <a:off x="2476500" y="3905250"/>
            <a:ext cx="1866900" cy="523875"/>
          </a:xfrm>
          <a:prstGeom prst="roundRect">
            <a:avLst>
              <a:gd name="adj" fmla="val 40000"/>
            </a:avLst>
          </a:prstGeom>
          <a:solidFill>
            <a:srgbClr val="EDD9CC"/>
          </a:solidFill>
          <a:ln w="19050">
            <a:solidFill>
              <a:srgbClr val="B23A2B"/>
            </a:solidFill>
          </a:ln>
        </p:spPr>
        <p:txBody>
          <a:bodyPr rtlCol="0" anchor="ctr"/>
          <a:lstStyle/>
          <a:p>
            <a:endParaRPr/>
          </a:p>
        </p:txBody>
      </p:sp>
      <p:sp>
        <p:nvSpPr>
          <p:cNvPr id="23" name="TextBox 22"/>
          <p:cNvSpPr txBox="1"/>
          <p:nvPr/>
        </p:nvSpPr>
        <p:spPr>
          <a:xfrm>
            <a:off x="3123438" y="3990975"/>
            <a:ext cx="573024"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1C2433"/>
                </a:solidFill>
                <a:latin typeface="JetBrains Mono Medium"/>
                <a:ea typeface="JetBrains Mono Medium"/>
                <a:cs typeface="JetBrains Mono Medium"/>
              </a:rPr>
              <a:t>Repair</a:t>
            </a:r>
          </a:p>
        </p:txBody>
      </p:sp>
      <p:sp>
        <p:nvSpPr>
          <p:cNvPr id="24" name="TextBox 23"/>
          <p:cNvSpPr txBox="1"/>
          <p:nvPr/>
        </p:nvSpPr>
        <p:spPr>
          <a:xfrm>
            <a:off x="2663119" y="4181475"/>
            <a:ext cx="1493663" cy="142875"/>
          </a:xfrm>
          <a:prstGeom prst="rect">
            <a:avLst/>
          </a:prstGeom>
          <a:noFill/>
        </p:spPr>
        <p:txBody>
          <a:bodyPr wrap="none" lIns="0" tIns="0" rIns="0" bIns="0" anchor="t">
            <a:noAutofit/>
          </a:bodyPr>
          <a:lstStyle/>
          <a:p>
            <a:pPr algn="ctr">
              <a:lnSpc>
                <a:spcPts val="1200"/>
              </a:lnSpc>
              <a:spcBef>
                <a:spcPts val="0"/>
              </a:spcBef>
              <a:spcAft>
                <a:spcPts val="0"/>
              </a:spcAft>
            </a:pPr>
            <a:r>
              <a:rPr sz="950" b="0" i="0">
                <a:solidFill>
                  <a:srgbClr val="B23A2B"/>
                </a:solidFill>
                <a:latin typeface="Inter"/>
                <a:ea typeface="Inter"/>
                <a:cs typeface="Inter"/>
              </a:rPr>
              <a:t>el editor emite un parche</a:t>
            </a:r>
          </a:p>
        </p:txBody>
      </p:sp>
      <p:sp>
        <p:nvSpPr>
          <p:cNvPr id="25" name="TextBox 24"/>
          <p:cNvSpPr txBox="1"/>
          <p:nvPr/>
        </p:nvSpPr>
        <p:spPr>
          <a:xfrm>
            <a:off x="2274494" y="4476750"/>
            <a:ext cx="2270912" cy="314325"/>
          </a:xfrm>
          <a:prstGeom prst="rect">
            <a:avLst/>
          </a:prstGeom>
          <a:noFill/>
        </p:spPr>
        <p:txBody>
          <a:bodyPr wrap="square" lIns="0" tIns="0" rIns="0" bIns="0" anchor="t">
            <a:noAutofit/>
          </a:bodyPr>
          <a:lstStyle/>
          <a:p>
            <a:pPr algn="ctr">
              <a:lnSpc>
                <a:spcPts val="1275"/>
              </a:lnSpc>
              <a:spcBef>
                <a:spcPts val="0"/>
              </a:spcBef>
              <a:spcAft>
                <a:spcPts val="0"/>
              </a:spcAft>
            </a:pPr>
            <a:r>
              <a:rPr sz="1000" b="0" i="0">
                <a:solidFill>
                  <a:srgbClr val="B23A2B"/>
                </a:solidFill>
                <a:latin typeface="Inter"/>
                <a:ea typeface="Inter"/>
                <a:cs typeface="Inter"/>
              </a:rPr>
              <a:t>máx. 2 reintentos, contador compartido</a:t>
            </a:r>
          </a:p>
        </p:txBody>
      </p:sp>
      <p:sp>
        <p:nvSpPr>
          <p:cNvPr id="26" name="Rounded Rectangle 25"/>
          <p:cNvSpPr/>
          <p:nvPr/>
        </p:nvSpPr>
        <p:spPr>
          <a:xfrm>
            <a:off x="6210300" y="3905250"/>
            <a:ext cx="1371600" cy="371475"/>
          </a:xfrm>
          <a:prstGeom prst="roundRect">
            <a:avLst>
              <a:gd name="adj" fmla="val 50000"/>
            </a:avLst>
          </a:prstGeom>
          <a:solidFill>
            <a:srgbClr val="FBF8F1"/>
          </a:solidFill>
          <a:ln w="19050">
            <a:solidFill>
              <a:srgbClr val="1C2433"/>
            </a:solidFill>
          </a:ln>
        </p:spPr>
        <p:txBody>
          <a:bodyPr rtlCol="0" anchor="ctr"/>
          <a:lstStyle/>
          <a:p>
            <a:endParaRPr/>
          </a:p>
        </p:txBody>
      </p:sp>
      <p:sp>
        <p:nvSpPr>
          <p:cNvPr id="27" name="TextBox 26"/>
          <p:cNvSpPr txBox="1"/>
          <p:nvPr/>
        </p:nvSpPr>
        <p:spPr>
          <a:xfrm>
            <a:off x="6431280" y="3990975"/>
            <a:ext cx="929640" cy="190500"/>
          </a:xfrm>
          <a:prstGeom prst="rect">
            <a:avLst/>
          </a:prstGeom>
          <a:noFill/>
        </p:spPr>
        <p:txBody>
          <a:bodyPr wrap="none" lIns="0" tIns="0" rIns="0" bIns="0" anchor="t">
            <a:noAutofit/>
          </a:bodyPr>
          <a:lstStyle/>
          <a:p>
            <a:pPr algn="ctr">
              <a:lnSpc>
                <a:spcPts val="1425"/>
              </a:lnSpc>
              <a:spcBef>
                <a:spcPts val="0"/>
              </a:spcBef>
              <a:spcAft>
                <a:spcPts val="0"/>
              </a:spcAft>
            </a:pPr>
            <a:r>
              <a:rPr sz="1100" b="0" i="0">
                <a:solidFill>
                  <a:srgbClr val="1C2433"/>
                </a:solidFill>
                <a:latin typeface="JetBrains Mono Medium"/>
                <a:ea typeface="JetBrains Mono Medium"/>
                <a:cs typeface="JetBrains Mono Medium"/>
              </a:rPr>
              <a:t>Checkpoint</a:t>
            </a:r>
          </a:p>
        </p:txBody>
      </p:sp>
      <p:sp>
        <p:nvSpPr>
          <p:cNvPr id="28" name="TextBox 27"/>
          <p:cNvSpPr txBox="1"/>
          <p:nvPr/>
        </p:nvSpPr>
        <p:spPr>
          <a:xfrm>
            <a:off x="4534052" y="3943350"/>
            <a:ext cx="1580998" cy="314325"/>
          </a:xfrm>
          <a:prstGeom prst="rect">
            <a:avLst/>
          </a:prstGeom>
          <a:noFill/>
        </p:spPr>
        <p:txBody>
          <a:bodyPr wrap="square" lIns="0" tIns="0" rIns="0" bIns="0" anchor="t">
            <a:noAutofit/>
          </a:bodyPr>
          <a:lstStyle/>
          <a:p>
            <a:pPr algn="r">
              <a:lnSpc>
                <a:spcPts val="1275"/>
              </a:lnSpc>
              <a:spcBef>
                <a:spcPts val="0"/>
              </a:spcBef>
              <a:spcAft>
                <a:spcPts val="0"/>
              </a:spcAft>
            </a:pPr>
            <a:r>
              <a:rPr sz="1000" b="0" i="0">
                <a:solidFill>
                  <a:srgbClr val="1C2433"/>
                </a:solidFill>
                <a:latin typeface="Inter"/>
                <a:ea typeface="Inter"/>
                <a:cs typeface="Inter"/>
              </a:rPr>
              <a:t>misma transacción que</a:t>
            </a:r>
          </a:p>
          <a:p>
            <a:pPr algn="r">
              <a:lnSpc>
                <a:spcPts val="1275"/>
              </a:lnSpc>
              <a:spcBef>
                <a:spcPts val="0"/>
              </a:spcBef>
              <a:spcAft>
                <a:spcPts val="0"/>
              </a:spcAft>
            </a:pPr>
            <a:r>
              <a:rPr sz="1000" b="0" i="0">
                <a:solidFill>
                  <a:srgbClr val="1C2433"/>
                </a:solidFill>
                <a:latin typeface="Inter"/>
                <a:ea typeface="Inter"/>
                <a:cs typeface="Inter"/>
              </a:rPr>
              <a:t>el capítulo aprobado</a:t>
            </a:r>
          </a:p>
        </p:txBody>
      </p:sp>
      <p:sp>
        <p:nvSpPr>
          <p:cNvPr id="29" name="TextBox 28"/>
          <p:cNvSpPr txBox="1"/>
          <p:nvPr/>
        </p:nvSpPr>
        <p:spPr>
          <a:xfrm>
            <a:off x="3673581" y="5219700"/>
            <a:ext cx="1110889" cy="152400"/>
          </a:xfrm>
          <a:prstGeom prst="rect">
            <a:avLst/>
          </a:prstGeom>
          <a:noFill/>
        </p:spPr>
        <p:txBody>
          <a:bodyPr wrap="none" lIns="0" tIns="0" rIns="0" bIns="0" anchor="t">
            <a:noAutofit/>
          </a:bodyPr>
          <a:lstStyle/>
          <a:p>
            <a:pPr algn="ctr">
              <a:lnSpc>
                <a:spcPts val="1275"/>
              </a:lnSpc>
              <a:spcBef>
                <a:spcPts val="0"/>
              </a:spcBef>
              <a:spcAft>
                <a:spcPts val="0"/>
              </a:spcAft>
            </a:pPr>
            <a:r>
              <a:rPr sz="1000" b="0" i="0">
                <a:solidFill>
                  <a:srgbClr val="1C2433"/>
                </a:solidFill>
                <a:latin typeface="Inter"/>
                <a:ea typeface="Inter"/>
                <a:cs typeface="Inter"/>
              </a:rPr>
              <a:t>siguiente capítulo</a:t>
            </a:r>
          </a:p>
        </p:txBody>
      </p:sp>
      <p:pic>
        <p:nvPicPr>
          <p:cNvPr id="30" name="Picture 29" descr="r026.png"/>
          <p:cNvPicPr>
            <a:picLocks noChangeAspect="1"/>
          </p:cNvPicPr>
          <p:nvPr/>
        </p:nvPicPr>
        <p:blipFill>
          <a:blip r:embed="rId4"/>
          <a:stretch>
            <a:fillRect/>
          </a:stretch>
        </p:blipFill>
        <p:spPr>
          <a:xfrm>
            <a:off x="8134350" y="1809750"/>
            <a:ext cx="323850" cy="323850"/>
          </a:xfrm>
          <a:prstGeom prst="rect">
            <a:avLst/>
          </a:prstGeom>
        </p:spPr>
      </p:pic>
      <p:sp>
        <p:nvSpPr>
          <p:cNvPr id="31" name="TextBox 30"/>
          <p:cNvSpPr txBox="1"/>
          <p:nvPr/>
        </p:nvSpPr>
        <p:spPr>
          <a:xfrm>
            <a:off x="8591550" y="1828800"/>
            <a:ext cx="3018320" cy="676275"/>
          </a:xfrm>
          <a:prstGeom prst="rect">
            <a:avLst/>
          </a:prstGeom>
          <a:noFill/>
        </p:spPr>
        <p:txBody>
          <a:bodyPr wrap="square" lIns="0" tIns="0" rIns="0" bIns="0" anchor="t">
            <a:noAutofit/>
          </a:bodyPr>
          <a:lstStyle/>
          <a:p>
            <a:pPr algn="l">
              <a:lnSpc>
                <a:spcPts val="1875"/>
              </a:lnSpc>
              <a:spcBef>
                <a:spcPts val="0"/>
              </a:spcBef>
              <a:spcAft>
                <a:spcPts val="0"/>
              </a:spcAft>
            </a:pPr>
            <a:r>
              <a:rPr sz="1350" b="0" i="0">
                <a:solidFill>
                  <a:srgbClr val="1C2433"/>
                </a:solidFill>
                <a:latin typeface="Inter"/>
                <a:ea typeface="Inter"/>
                <a:cs typeface="Inter"/>
              </a:rPr>
              <a:t>Las aristas leen </a:t>
            </a:r>
            <a:r>
              <a:rPr sz="1350" b="0" i="0">
                <a:solidFill>
                  <a:srgbClr val="1C2433"/>
                </a:solidFill>
                <a:latin typeface="Inter SemiBold"/>
                <a:ea typeface="Inter SemiBold"/>
                <a:cs typeface="Inter SemiBold"/>
              </a:rPr>
              <a:t>booleanos calculados en Python</a:t>
            </a:r>
            <a:r>
              <a:rPr sz="1350" b="0" i="0">
                <a:solidFill>
                  <a:srgbClr val="1C2433"/>
                </a:solidFill>
                <a:latin typeface="Inter"/>
                <a:ea typeface="Inter"/>
                <a:cs typeface="Inter"/>
              </a:rPr>
              <a:t>, no la opinión de un modelo</a:t>
            </a:r>
          </a:p>
        </p:txBody>
      </p:sp>
      <p:pic>
        <p:nvPicPr>
          <p:cNvPr id="32" name="Picture 31" descr="r027.png"/>
          <p:cNvPicPr>
            <a:picLocks noChangeAspect="1"/>
          </p:cNvPicPr>
          <p:nvPr/>
        </p:nvPicPr>
        <p:blipFill>
          <a:blip r:embed="rId5"/>
          <a:stretch>
            <a:fillRect/>
          </a:stretch>
        </p:blipFill>
        <p:spPr>
          <a:xfrm>
            <a:off x="8134350" y="2771775"/>
            <a:ext cx="323850" cy="323850"/>
          </a:xfrm>
          <a:prstGeom prst="rect">
            <a:avLst/>
          </a:prstGeom>
        </p:spPr>
      </p:pic>
      <p:sp>
        <p:nvSpPr>
          <p:cNvPr id="33" name="TextBox 32"/>
          <p:cNvSpPr txBox="1"/>
          <p:nvPr/>
        </p:nvSpPr>
        <p:spPr>
          <a:xfrm>
            <a:off x="8591550" y="2790825"/>
            <a:ext cx="3018320" cy="438150"/>
          </a:xfrm>
          <a:prstGeom prst="rect">
            <a:avLst/>
          </a:prstGeom>
          <a:noFill/>
        </p:spPr>
        <p:txBody>
          <a:bodyPr wrap="square" lIns="0" tIns="0" rIns="0" bIns="0" anchor="t">
            <a:noAutofit/>
          </a:bodyPr>
          <a:lstStyle/>
          <a:p>
            <a:pPr algn="l">
              <a:lnSpc>
                <a:spcPts val="1875"/>
              </a:lnSpc>
              <a:spcBef>
                <a:spcPts val="0"/>
              </a:spcBef>
              <a:spcAft>
                <a:spcPts val="0"/>
              </a:spcAft>
            </a:pPr>
            <a:r>
              <a:rPr sz="1350" b="0" i="0">
                <a:solidFill>
                  <a:srgbClr val="1C2433"/>
                </a:solidFill>
                <a:latin typeface="Inter"/>
                <a:ea typeface="Inter"/>
                <a:cs typeface="Inter"/>
              </a:rPr>
              <a:t>Primero lo gratis: longitud, nombres, prohibidas. </a:t>
            </a:r>
            <a:r>
              <a:rPr sz="1350" b="0" i="0">
                <a:solidFill>
                  <a:srgbClr val="1C2433"/>
                </a:solidFill>
                <a:latin typeface="Inter SemiBold"/>
                <a:ea typeface="Inter SemiBold"/>
                <a:cs typeface="Inter SemiBold"/>
              </a:rPr>
              <a:t>Luego la llamada</a:t>
            </a:r>
          </a:p>
        </p:txBody>
      </p:sp>
      <p:pic>
        <p:nvPicPr>
          <p:cNvPr id="34" name="Picture 33" descr="r028.png"/>
          <p:cNvPicPr>
            <a:picLocks noChangeAspect="1"/>
          </p:cNvPicPr>
          <p:nvPr/>
        </p:nvPicPr>
        <p:blipFill>
          <a:blip r:embed="rId6"/>
          <a:stretch>
            <a:fillRect/>
          </a:stretch>
        </p:blipFill>
        <p:spPr>
          <a:xfrm>
            <a:off x="8134350" y="3495675"/>
            <a:ext cx="323850" cy="323850"/>
          </a:xfrm>
          <a:prstGeom prst="rect">
            <a:avLst/>
          </a:prstGeom>
        </p:spPr>
      </p:pic>
      <p:sp>
        <p:nvSpPr>
          <p:cNvPr id="35" name="TextBox 34"/>
          <p:cNvSpPr txBox="1"/>
          <p:nvPr/>
        </p:nvSpPr>
        <p:spPr>
          <a:xfrm>
            <a:off x="8591550" y="3514725"/>
            <a:ext cx="3018320" cy="438150"/>
          </a:xfrm>
          <a:prstGeom prst="rect">
            <a:avLst/>
          </a:prstGeom>
          <a:noFill/>
        </p:spPr>
        <p:txBody>
          <a:bodyPr wrap="square" lIns="0" tIns="0" rIns="0" bIns="0" anchor="t">
            <a:noAutofit/>
          </a:bodyPr>
          <a:lstStyle/>
          <a:p>
            <a:pPr algn="l">
              <a:lnSpc>
                <a:spcPts val="1875"/>
              </a:lnSpc>
              <a:spcBef>
                <a:spcPts val="0"/>
              </a:spcBef>
              <a:spcAft>
                <a:spcPts val="0"/>
              </a:spcAft>
            </a:pPr>
            <a:r>
              <a:rPr sz="1350" b="0" i="0">
                <a:solidFill>
                  <a:srgbClr val="1C2433"/>
                </a:solidFill>
                <a:latin typeface="Inter"/>
                <a:ea typeface="Inter"/>
                <a:cs typeface="Inter"/>
              </a:rPr>
              <a:t>Si el proceso muere, </a:t>
            </a:r>
            <a:r>
              <a:rPr sz="1350" b="0" i="0">
                <a:solidFill>
                  <a:srgbClr val="1C2433"/>
                </a:solidFill>
                <a:latin typeface="Inter SemiBold"/>
                <a:ea typeface="Inter SemiBold"/>
                <a:cs typeface="Inter SemiBold"/>
              </a:rPr>
              <a:t>se reanuda desde el último capítulo aprobado</a:t>
            </a:r>
          </a:p>
        </p:txBody>
      </p:sp>
      <p:pic>
        <p:nvPicPr>
          <p:cNvPr id="36" name="Picture 35" descr="r003.png"/>
          <p:cNvPicPr>
            <a:picLocks noChangeAspect="1"/>
          </p:cNvPicPr>
          <p:nvPr/>
        </p:nvPicPr>
        <p:blipFill>
          <a:blip r:embed="rId7"/>
          <a:stretch>
            <a:fillRect/>
          </a:stretch>
        </p:blipFill>
        <p:spPr>
          <a:xfrm>
            <a:off x="381000" y="6343650"/>
            <a:ext cx="11430000" cy="76200"/>
          </a:xfrm>
          <a:prstGeom prst="rect">
            <a:avLst/>
          </a:prstGeom>
        </p:spPr>
      </p:pic>
      <p:pic>
        <p:nvPicPr>
          <p:cNvPr id="37" name="Picture 36" descr="r004.png"/>
          <p:cNvPicPr>
            <a:picLocks noChangeAspect="1"/>
          </p:cNvPicPr>
          <p:nvPr/>
        </p:nvPicPr>
        <p:blipFill>
          <a:blip r:embed="rId8"/>
          <a:stretch>
            <a:fillRect/>
          </a:stretch>
        </p:blipFill>
        <p:spPr>
          <a:xfrm>
            <a:off x="381000" y="6505575"/>
            <a:ext cx="171450" cy="190500"/>
          </a:xfrm>
          <a:prstGeom prst="rect">
            <a:avLst/>
          </a:prstGeom>
        </p:spPr>
      </p:pic>
      <p:sp>
        <p:nvSpPr>
          <p:cNvPr id="38" name="TextBox 37"/>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39" name="TextBox 38"/>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40" name="TextBox 39"/>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41" name="TextBox 40"/>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08 / 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40731" y="323850"/>
            <a:ext cx="2056912"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CONTEXTO Y STORY BIBLE</a:t>
            </a:r>
          </a:p>
        </p:txBody>
      </p:sp>
      <p:sp>
        <p:nvSpPr>
          <p:cNvPr id="3" name="TextBox 2"/>
          <p:cNvSpPr txBox="1"/>
          <p:nvPr/>
        </p:nvSpPr>
        <p:spPr>
          <a:xfrm>
            <a:off x="609600" y="323850"/>
            <a:ext cx="101136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IV</a:t>
            </a:r>
          </a:p>
        </p:txBody>
      </p:sp>
      <p:sp>
        <p:nvSpPr>
          <p:cNvPr id="4" name="Rectangle 3"/>
          <p:cNvSpPr/>
          <p:nvPr/>
        </p:nvSpPr>
        <p:spPr>
          <a:xfrm>
            <a:off x="1659731" y="395288"/>
            <a:ext cx="266700" cy="9525"/>
          </a:xfrm>
          <a:prstGeom prst="rect">
            <a:avLst/>
          </a:prstGeom>
          <a:noFill/>
          <a:ln>
            <a:noFill/>
          </a:ln>
        </p:spPr>
        <p:txBody>
          <a:bodyPr rtlCol="0" anchor="ctr"/>
          <a:lstStyle/>
          <a:p>
            <a:endParaRPr/>
          </a:p>
        </p:txBody>
      </p:sp>
      <p:cxnSp>
        <p:nvCxnSpPr>
          <p:cNvPr id="5" name="Connector 4"/>
          <p:cNvCxnSpPr/>
          <p:nvPr/>
        </p:nvCxnSpPr>
        <p:spPr>
          <a:xfrm>
            <a:off x="1659731" y="400050"/>
            <a:ext cx="266700" cy="0"/>
          </a:xfrm>
          <a:prstGeom prst="line">
            <a:avLst/>
          </a:prstGeom>
          <a:ln w="9525">
            <a:solidFill>
              <a:srgbClr val="C9A34E"/>
            </a:solidFill>
          </a:ln>
        </p:spPr>
      </p:cxnSp>
      <p:sp>
        <p:nvSpPr>
          <p:cNvPr id="6" name="TextBox 5"/>
          <p:cNvSpPr txBox="1"/>
          <p:nvPr/>
        </p:nvSpPr>
        <p:spPr>
          <a:xfrm>
            <a:off x="609600" y="561975"/>
            <a:ext cx="10965811"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El writer no busca su contexto: lo recibe, acotado a 12.000 tokens</a:t>
            </a:r>
          </a:p>
        </p:txBody>
      </p:sp>
      <p:sp>
        <p:nvSpPr>
          <p:cNvPr id="7" name="Rounded Rectangle 6"/>
          <p:cNvSpPr/>
          <p:nvPr/>
        </p:nvSpPr>
        <p:spPr>
          <a:xfrm>
            <a:off x="609600" y="1257300"/>
            <a:ext cx="819150" cy="4000500"/>
          </a:xfrm>
          <a:prstGeom prst="roundRect">
            <a:avLst>
              <a:gd name="adj" fmla="val 6976"/>
            </a:avLst>
          </a:prstGeom>
          <a:noFill/>
          <a:ln w="19050">
            <a:solidFill>
              <a:srgbClr val="1C2433"/>
            </a:solidFill>
          </a:ln>
        </p:spPr>
        <p:txBody>
          <a:bodyPr rtlCol="0" anchor="ctr"/>
          <a:lstStyle/>
          <a:p>
            <a:endParaRPr/>
          </a:p>
        </p:txBody>
      </p:sp>
      <p:sp>
        <p:nvSpPr>
          <p:cNvPr id="8" name="Rectangle 7"/>
          <p:cNvSpPr/>
          <p:nvPr/>
        </p:nvSpPr>
        <p:spPr>
          <a:xfrm>
            <a:off x="628650" y="1276350"/>
            <a:ext cx="781050" cy="266700"/>
          </a:xfrm>
          <a:prstGeom prst="rect">
            <a:avLst/>
          </a:prstGeom>
          <a:solidFill>
            <a:srgbClr val="C9A34E"/>
          </a:solidFill>
          <a:ln>
            <a:noFill/>
          </a:ln>
        </p:spPr>
        <p:txBody>
          <a:bodyPr rtlCol="0" anchor="ctr"/>
          <a:lstStyle/>
          <a:p>
            <a:endParaRPr/>
          </a:p>
        </p:txBody>
      </p:sp>
      <p:cxnSp>
        <p:nvCxnSpPr>
          <p:cNvPr id="9" name="Connector 8"/>
          <p:cNvCxnSpPr/>
          <p:nvPr/>
        </p:nvCxnSpPr>
        <p:spPr>
          <a:xfrm>
            <a:off x="628650" y="1538288"/>
            <a:ext cx="781050" cy="0"/>
          </a:xfrm>
          <a:prstGeom prst="line">
            <a:avLst/>
          </a:prstGeom>
          <a:ln w="9525">
            <a:solidFill>
              <a:srgbClr val="F5EFE3"/>
            </a:solidFill>
          </a:ln>
        </p:spPr>
      </p:cxnSp>
      <p:sp>
        <p:nvSpPr>
          <p:cNvPr id="10" name="Rectangle 9"/>
          <p:cNvSpPr/>
          <p:nvPr/>
        </p:nvSpPr>
        <p:spPr>
          <a:xfrm>
            <a:off x="628650" y="1543050"/>
            <a:ext cx="781050" cy="828675"/>
          </a:xfrm>
          <a:prstGeom prst="rect">
            <a:avLst/>
          </a:prstGeom>
          <a:solidFill>
            <a:srgbClr val="1C2433"/>
          </a:solidFill>
          <a:ln>
            <a:noFill/>
          </a:ln>
        </p:spPr>
        <p:txBody>
          <a:bodyPr rtlCol="0" anchor="ctr"/>
          <a:lstStyle/>
          <a:p>
            <a:endParaRPr/>
          </a:p>
        </p:txBody>
      </p:sp>
      <p:cxnSp>
        <p:nvCxnSpPr>
          <p:cNvPr id="11" name="Connector 10"/>
          <p:cNvCxnSpPr/>
          <p:nvPr/>
        </p:nvCxnSpPr>
        <p:spPr>
          <a:xfrm>
            <a:off x="628650" y="2366962"/>
            <a:ext cx="781050" cy="0"/>
          </a:xfrm>
          <a:prstGeom prst="line">
            <a:avLst/>
          </a:prstGeom>
          <a:ln w="9525">
            <a:solidFill>
              <a:srgbClr val="F5EFE3"/>
            </a:solidFill>
          </a:ln>
        </p:spPr>
      </p:cxnSp>
      <p:sp>
        <p:nvSpPr>
          <p:cNvPr id="12" name="Rectangle 11"/>
          <p:cNvSpPr/>
          <p:nvPr/>
        </p:nvSpPr>
        <p:spPr>
          <a:xfrm>
            <a:off x="628650" y="2371725"/>
            <a:ext cx="781050" cy="828675"/>
          </a:xfrm>
          <a:prstGeom prst="rect">
            <a:avLst/>
          </a:prstGeom>
          <a:solidFill>
            <a:srgbClr val="5E6A7E"/>
          </a:solidFill>
          <a:ln>
            <a:noFill/>
          </a:ln>
        </p:spPr>
        <p:txBody>
          <a:bodyPr rtlCol="0" anchor="ctr"/>
          <a:lstStyle/>
          <a:p>
            <a:endParaRPr/>
          </a:p>
        </p:txBody>
      </p:sp>
      <p:cxnSp>
        <p:nvCxnSpPr>
          <p:cNvPr id="13" name="Connector 12"/>
          <p:cNvCxnSpPr/>
          <p:nvPr/>
        </p:nvCxnSpPr>
        <p:spPr>
          <a:xfrm>
            <a:off x="628650" y="3195638"/>
            <a:ext cx="781050" cy="0"/>
          </a:xfrm>
          <a:prstGeom prst="line">
            <a:avLst/>
          </a:prstGeom>
          <a:ln w="9525">
            <a:solidFill>
              <a:srgbClr val="F5EFE3"/>
            </a:solidFill>
          </a:ln>
        </p:spPr>
      </p:cxnSp>
      <p:sp>
        <p:nvSpPr>
          <p:cNvPr id="14" name="Rectangle 13"/>
          <p:cNvSpPr/>
          <p:nvPr/>
        </p:nvSpPr>
        <p:spPr>
          <a:xfrm>
            <a:off x="628650" y="3200400"/>
            <a:ext cx="781050" cy="1000125"/>
          </a:xfrm>
          <a:prstGeom prst="rect">
            <a:avLst/>
          </a:prstGeom>
          <a:solidFill>
            <a:srgbClr val="7D7869"/>
          </a:solidFill>
          <a:ln>
            <a:noFill/>
          </a:ln>
        </p:spPr>
        <p:txBody>
          <a:bodyPr rtlCol="0" anchor="ctr"/>
          <a:lstStyle/>
          <a:p>
            <a:endParaRPr/>
          </a:p>
        </p:txBody>
      </p:sp>
      <p:cxnSp>
        <p:nvCxnSpPr>
          <p:cNvPr id="15" name="Connector 14"/>
          <p:cNvCxnSpPr/>
          <p:nvPr/>
        </p:nvCxnSpPr>
        <p:spPr>
          <a:xfrm>
            <a:off x="628650" y="4195762"/>
            <a:ext cx="781050" cy="0"/>
          </a:xfrm>
          <a:prstGeom prst="line">
            <a:avLst/>
          </a:prstGeom>
          <a:ln w="9525">
            <a:solidFill>
              <a:srgbClr val="F5EFE3"/>
            </a:solidFill>
          </a:ln>
        </p:spPr>
      </p:cxnSp>
      <p:sp>
        <p:nvSpPr>
          <p:cNvPr id="16" name="Rectangle 15"/>
          <p:cNvSpPr/>
          <p:nvPr/>
        </p:nvSpPr>
        <p:spPr>
          <a:xfrm>
            <a:off x="628650" y="4200525"/>
            <a:ext cx="781050" cy="495300"/>
          </a:xfrm>
          <a:prstGeom prst="rect">
            <a:avLst/>
          </a:prstGeom>
          <a:solidFill>
            <a:srgbClr val="B9A36A"/>
          </a:solidFill>
          <a:ln>
            <a:noFill/>
          </a:ln>
        </p:spPr>
        <p:txBody>
          <a:bodyPr rtlCol="0" anchor="ctr"/>
          <a:lstStyle/>
          <a:p>
            <a:endParaRPr/>
          </a:p>
        </p:txBody>
      </p:sp>
      <p:cxnSp>
        <p:nvCxnSpPr>
          <p:cNvPr id="17" name="Connector 16"/>
          <p:cNvCxnSpPr/>
          <p:nvPr/>
        </p:nvCxnSpPr>
        <p:spPr>
          <a:xfrm>
            <a:off x="628650" y="4691062"/>
            <a:ext cx="781050" cy="0"/>
          </a:xfrm>
          <a:prstGeom prst="line">
            <a:avLst/>
          </a:prstGeom>
          <a:ln w="9525">
            <a:solidFill>
              <a:srgbClr val="F5EFE3"/>
            </a:solidFill>
          </a:ln>
        </p:spPr>
      </p:cxnSp>
      <p:sp>
        <p:nvSpPr>
          <p:cNvPr id="18" name="Rectangle 17"/>
          <p:cNvSpPr/>
          <p:nvPr/>
        </p:nvSpPr>
        <p:spPr>
          <a:xfrm>
            <a:off x="628650" y="4695825"/>
            <a:ext cx="781050" cy="400050"/>
          </a:xfrm>
          <a:prstGeom prst="rect">
            <a:avLst/>
          </a:prstGeom>
          <a:solidFill>
            <a:srgbClr val="A9A393"/>
          </a:solidFill>
          <a:ln>
            <a:noFill/>
          </a:ln>
        </p:spPr>
        <p:txBody>
          <a:bodyPr rtlCol="0" anchor="ctr"/>
          <a:lstStyle/>
          <a:p>
            <a:endParaRPr/>
          </a:p>
        </p:txBody>
      </p:sp>
      <p:cxnSp>
        <p:nvCxnSpPr>
          <p:cNvPr id="19" name="Connector 18"/>
          <p:cNvCxnSpPr/>
          <p:nvPr/>
        </p:nvCxnSpPr>
        <p:spPr>
          <a:xfrm>
            <a:off x="628650" y="5091112"/>
            <a:ext cx="781050" cy="0"/>
          </a:xfrm>
          <a:prstGeom prst="line">
            <a:avLst/>
          </a:prstGeom>
          <a:ln w="9525">
            <a:solidFill>
              <a:srgbClr val="F5EFE3"/>
            </a:solidFill>
          </a:ln>
        </p:spPr>
      </p:cxnSp>
      <p:sp>
        <p:nvSpPr>
          <p:cNvPr id="20" name="Rectangle 19"/>
          <p:cNvSpPr/>
          <p:nvPr/>
        </p:nvSpPr>
        <p:spPr>
          <a:xfrm>
            <a:off x="628650" y="5095875"/>
            <a:ext cx="781050" cy="180975"/>
          </a:xfrm>
          <a:prstGeom prst="rect">
            <a:avLst/>
          </a:prstGeom>
          <a:solidFill>
            <a:srgbClr val="C9A34E"/>
          </a:solidFill>
          <a:ln>
            <a:noFill/>
          </a:ln>
        </p:spPr>
        <p:txBody>
          <a:bodyPr rtlCol="0" anchor="ctr"/>
          <a:lstStyle/>
          <a:p>
            <a:endParaRPr/>
          </a:p>
        </p:txBody>
      </p:sp>
      <p:cxnSp>
        <p:nvCxnSpPr>
          <p:cNvPr id="21" name="Connector 20"/>
          <p:cNvCxnSpPr/>
          <p:nvPr/>
        </p:nvCxnSpPr>
        <p:spPr>
          <a:xfrm>
            <a:off x="628650" y="5272088"/>
            <a:ext cx="781050" cy="0"/>
          </a:xfrm>
          <a:prstGeom prst="line">
            <a:avLst/>
          </a:prstGeom>
          <a:ln w="9525">
            <a:solidFill>
              <a:srgbClr val="F5EFE3"/>
            </a:solidFill>
          </a:ln>
        </p:spPr>
      </p:cxnSp>
      <p:sp>
        <p:nvSpPr>
          <p:cNvPr id="22" name="TextBox 21"/>
          <p:cNvSpPr txBox="1"/>
          <p:nvPr/>
        </p:nvSpPr>
        <p:spPr>
          <a:xfrm>
            <a:off x="1600200" y="1295400"/>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1</a:t>
            </a:r>
          </a:p>
        </p:txBody>
      </p:sp>
      <p:sp>
        <p:nvSpPr>
          <p:cNvPr id="23" name="TextBox 22"/>
          <p:cNvSpPr txBox="1"/>
          <p:nvPr/>
        </p:nvSpPr>
        <p:spPr>
          <a:xfrm>
            <a:off x="1828800" y="1295400"/>
            <a:ext cx="1474160"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Encargo del capítulo</a:t>
            </a:r>
          </a:p>
        </p:txBody>
      </p:sp>
      <p:sp>
        <p:nvSpPr>
          <p:cNvPr id="24" name="TextBox 23"/>
          <p:cNvSpPr txBox="1"/>
          <p:nvPr/>
        </p:nvSpPr>
        <p:spPr>
          <a:xfrm>
            <a:off x="5819775" y="1295400"/>
            <a:ext cx="305562"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800</a:t>
            </a:r>
          </a:p>
        </p:txBody>
      </p:sp>
      <p:sp>
        <p:nvSpPr>
          <p:cNvPr id="25" name="TextBox 24"/>
          <p:cNvSpPr txBox="1"/>
          <p:nvPr/>
        </p:nvSpPr>
        <p:spPr>
          <a:xfrm>
            <a:off x="1600200" y="1838325"/>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2</a:t>
            </a:r>
          </a:p>
        </p:txBody>
      </p:sp>
      <p:sp>
        <p:nvSpPr>
          <p:cNvPr id="26" name="TextBox 25"/>
          <p:cNvSpPr txBox="1"/>
          <p:nvPr/>
        </p:nvSpPr>
        <p:spPr>
          <a:xfrm>
            <a:off x="1828800" y="1838325"/>
            <a:ext cx="1184255"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Canon relevante</a:t>
            </a:r>
          </a:p>
        </p:txBody>
      </p:sp>
      <p:sp>
        <p:nvSpPr>
          <p:cNvPr id="27" name="TextBox 26"/>
          <p:cNvSpPr txBox="1"/>
          <p:nvPr/>
        </p:nvSpPr>
        <p:spPr>
          <a:xfrm>
            <a:off x="5648325" y="1838325"/>
            <a:ext cx="483870"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2.500</a:t>
            </a:r>
          </a:p>
        </p:txBody>
      </p:sp>
      <p:sp>
        <p:nvSpPr>
          <p:cNvPr id="28" name="TextBox 27"/>
          <p:cNvSpPr txBox="1"/>
          <p:nvPr/>
        </p:nvSpPr>
        <p:spPr>
          <a:xfrm>
            <a:off x="1600200" y="2667000"/>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3</a:t>
            </a:r>
          </a:p>
        </p:txBody>
      </p:sp>
      <p:sp>
        <p:nvSpPr>
          <p:cNvPr id="29" name="TextBox 28"/>
          <p:cNvSpPr txBox="1"/>
          <p:nvPr/>
        </p:nvSpPr>
        <p:spPr>
          <a:xfrm>
            <a:off x="1828800" y="2667000"/>
            <a:ext cx="2092666"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Continuidad + lo que ya pasó</a:t>
            </a:r>
          </a:p>
        </p:txBody>
      </p:sp>
      <p:sp>
        <p:nvSpPr>
          <p:cNvPr id="30" name="TextBox 29"/>
          <p:cNvSpPr txBox="1"/>
          <p:nvPr/>
        </p:nvSpPr>
        <p:spPr>
          <a:xfrm>
            <a:off x="5648325" y="2667000"/>
            <a:ext cx="483870"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2.500</a:t>
            </a:r>
          </a:p>
        </p:txBody>
      </p:sp>
      <p:sp>
        <p:nvSpPr>
          <p:cNvPr id="31" name="TextBox 30"/>
          <p:cNvSpPr txBox="1"/>
          <p:nvPr/>
        </p:nvSpPr>
        <p:spPr>
          <a:xfrm>
            <a:off x="1600200" y="3590925"/>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4</a:t>
            </a:r>
          </a:p>
        </p:txBody>
      </p:sp>
      <p:sp>
        <p:nvSpPr>
          <p:cNvPr id="32" name="TextBox 31"/>
          <p:cNvSpPr txBox="1"/>
          <p:nvPr/>
        </p:nvSpPr>
        <p:spPr>
          <a:xfrm>
            <a:off x="1828800" y="3590925"/>
            <a:ext cx="3101530"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Memoria: capítulo N−1 íntegro + resúmenes</a:t>
            </a:r>
          </a:p>
        </p:txBody>
      </p:sp>
      <p:sp>
        <p:nvSpPr>
          <p:cNvPr id="33" name="TextBox 32"/>
          <p:cNvSpPr txBox="1"/>
          <p:nvPr/>
        </p:nvSpPr>
        <p:spPr>
          <a:xfrm>
            <a:off x="5648325" y="3590925"/>
            <a:ext cx="483870"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3.000</a:t>
            </a:r>
          </a:p>
        </p:txBody>
      </p:sp>
      <p:sp>
        <p:nvSpPr>
          <p:cNvPr id="34" name="TextBox 33"/>
          <p:cNvSpPr txBox="1"/>
          <p:nvPr/>
        </p:nvSpPr>
        <p:spPr>
          <a:xfrm>
            <a:off x="1600200" y="4333875"/>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5</a:t>
            </a:r>
          </a:p>
        </p:txBody>
      </p:sp>
      <p:sp>
        <p:nvSpPr>
          <p:cNvPr id="35" name="TextBox 34"/>
          <p:cNvSpPr txBox="1"/>
          <p:nvPr/>
        </p:nvSpPr>
        <p:spPr>
          <a:xfrm>
            <a:off x="1828800" y="4333875"/>
            <a:ext cx="2442782"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Anclajes históricos con su firmeza</a:t>
            </a:r>
          </a:p>
        </p:txBody>
      </p:sp>
      <p:sp>
        <p:nvSpPr>
          <p:cNvPr id="36" name="TextBox 35"/>
          <p:cNvSpPr txBox="1"/>
          <p:nvPr/>
        </p:nvSpPr>
        <p:spPr>
          <a:xfrm>
            <a:off x="5648325" y="4333875"/>
            <a:ext cx="483870"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1.500</a:t>
            </a:r>
          </a:p>
        </p:txBody>
      </p:sp>
      <p:sp>
        <p:nvSpPr>
          <p:cNvPr id="37" name="TextBox 36"/>
          <p:cNvSpPr txBox="1"/>
          <p:nvPr/>
        </p:nvSpPr>
        <p:spPr>
          <a:xfrm>
            <a:off x="1600200" y="4781550"/>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6</a:t>
            </a:r>
          </a:p>
        </p:txBody>
      </p:sp>
      <p:sp>
        <p:nvSpPr>
          <p:cNvPr id="38" name="TextBox 37"/>
          <p:cNvSpPr txBox="1"/>
          <p:nvPr/>
        </p:nvSpPr>
        <p:spPr>
          <a:xfrm>
            <a:off x="1828800" y="4781550"/>
            <a:ext cx="3418523"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Reglas, estilo, prohibidas, repeticiones gastadas</a:t>
            </a:r>
          </a:p>
        </p:txBody>
      </p:sp>
      <p:sp>
        <p:nvSpPr>
          <p:cNvPr id="39" name="TextBox 38"/>
          <p:cNvSpPr txBox="1"/>
          <p:nvPr/>
        </p:nvSpPr>
        <p:spPr>
          <a:xfrm>
            <a:off x="5648325" y="4781550"/>
            <a:ext cx="483870"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1.200</a:t>
            </a:r>
          </a:p>
        </p:txBody>
      </p:sp>
      <p:sp>
        <p:nvSpPr>
          <p:cNvPr id="40" name="TextBox 39"/>
          <p:cNvSpPr txBox="1"/>
          <p:nvPr/>
        </p:nvSpPr>
        <p:spPr>
          <a:xfrm>
            <a:off x="1600200" y="5067300"/>
            <a:ext cx="12725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9A7A2E"/>
                </a:solidFill>
                <a:latin typeface="JetBrains Mono"/>
                <a:ea typeface="JetBrains Mono"/>
                <a:cs typeface="JetBrains Mono"/>
              </a:rPr>
              <a:t>7</a:t>
            </a:r>
          </a:p>
        </p:txBody>
      </p:sp>
      <p:sp>
        <p:nvSpPr>
          <p:cNvPr id="41" name="TextBox 40"/>
          <p:cNvSpPr txBox="1"/>
          <p:nvPr/>
        </p:nvSpPr>
        <p:spPr>
          <a:xfrm>
            <a:off x="1828800" y="5067300"/>
            <a:ext cx="2744605"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a:ea typeface="Inter"/>
                <a:cs typeface="Inter"/>
              </a:rPr>
              <a:t>Personalización que toca este capítulo</a:t>
            </a:r>
          </a:p>
        </p:txBody>
      </p:sp>
      <p:sp>
        <p:nvSpPr>
          <p:cNvPr id="42" name="TextBox 41"/>
          <p:cNvSpPr txBox="1"/>
          <p:nvPr/>
        </p:nvSpPr>
        <p:spPr>
          <a:xfrm>
            <a:off x="5819775" y="5067300"/>
            <a:ext cx="305562" cy="190500"/>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JetBrains Mono Medium"/>
                <a:ea typeface="JetBrains Mono Medium"/>
                <a:cs typeface="JetBrains Mono Medium"/>
              </a:rPr>
              <a:t>500</a:t>
            </a:r>
          </a:p>
        </p:txBody>
      </p:sp>
      <p:sp>
        <p:nvSpPr>
          <p:cNvPr id="43" name="TextBox 42"/>
          <p:cNvSpPr txBox="1"/>
          <p:nvPr/>
        </p:nvSpPr>
        <p:spPr>
          <a:xfrm>
            <a:off x="1828800" y="5400675"/>
            <a:ext cx="1276814"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SemiBold"/>
                <a:ea typeface="Inter SemiBold"/>
                <a:cs typeface="Inter SemiBold"/>
              </a:rPr>
              <a:t>Total del paquete</a:t>
            </a:r>
          </a:p>
        </p:txBody>
      </p:sp>
      <p:sp>
        <p:nvSpPr>
          <p:cNvPr id="44" name="TextBox 43"/>
          <p:cNvSpPr txBox="1"/>
          <p:nvPr/>
        </p:nvSpPr>
        <p:spPr>
          <a:xfrm>
            <a:off x="5562600" y="5400675"/>
            <a:ext cx="573024" cy="190500"/>
          </a:xfrm>
          <a:prstGeom prst="rect">
            <a:avLst/>
          </a:prstGeom>
          <a:noFill/>
        </p:spPr>
        <p:txBody>
          <a:bodyPr wrap="none" lIns="0" tIns="0" rIns="0" bIns="0" anchor="t">
            <a:noAutofit/>
          </a:bodyPr>
          <a:lstStyle/>
          <a:p>
            <a:pPr algn="l">
              <a:lnSpc>
                <a:spcPts val="1350"/>
              </a:lnSpc>
              <a:spcBef>
                <a:spcPts val="0"/>
              </a:spcBef>
              <a:spcAft>
                <a:spcPts val="0"/>
              </a:spcAft>
            </a:pPr>
            <a:r>
              <a:rPr sz="1100" b="1" i="0">
                <a:solidFill>
                  <a:srgbClr val="1C2433"/>
                </a:solidFill>
                <a:latin typeface="JetBrains Mono"/>
                <a:ea typeface="JetBrains Mono"/>
                <a:cs typeface="JetBrains Mono"/>
              </a:rPr>
              <a:t>12.000</a:t>
            </a:r>
          </a:p>
        </p:txBody>
      </p:sp>
      <p:sp>
        <p:nvSpPr>
          <p:cNvPr id="45" name="TextBox 44"/>
          <p:cNvSpPr txBox="1"/>
          <p:nvPr/>
        </p:nvSpPr>
        <p:spPr>
          <a:xfrm>
            <a:off x="6515100" y="1257300"/>
            <a:ext cx="3324261"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LA STORY BIBLE: UN SQLITE POR NOVELA</a:t>
            </a:r>
          </a:p>
        </p:txBody>
      </p:sp>
      <p:pic>
        <p:nvPicPr>
          <p:cNvPr id="46" name="Picture 45" descr="r031.png"/>
          <p:cNvPicPr>
            <a:picLocks noChangeAspect="1"/>
          </p:cNvPicPr>
          <p:nvPr/>
        </p:nvPicPr>
        <p:blipFill>
          <a:blip r:embed="rId3"/>
          <a:stretch>
            <a:fillRect/>
          </a:stretch>
        </p:blipFill>
        <p:spPr>
          <a:xfrm>
            <a:off x="609600" y="1257300"/>
            <a:ext cx="10972800" cy="3810000"/>
          </a:xfrm>
          <a:prstGeom prst="rect">
            <a:avLst/>
          </a:prstGeom>
        </p:spPr>
      </p:pic>
      <p:sp>
        <p:nvSpPr>
          <p:cNvPr id="47" name="Rounded Rectangle 46"/>
          <p:cNvSpPr/>
          <p:nvPr/>
        </p:nvSpPr>
        <p:spPr>
          <a:xfrm>
            <a:off x="6515100" y="1543050"/>
            <a:ext cx="2552700" cy="552450"/>
          </a:xfrm>
          <a:prstGeom prst="roundRect">
            <a:avLst>
              <a:gd name="adj" fmla="val 13793"/>
            </a:avLst>
          </a:prstGeom>
          <a:solidFill>
            <a:srgbClr val="FBF8F1"/>
          </a:solidFill>
          <a:ln w="9525">
            <a:solidFill>
              <a:srgbClr val="1C2433"/>
            </a:solidFill>
          </a:ln>
        </p:spPr>
        <p:txBody>
          <a:bodyPr rtlCol="0" anchor="ctr"/>
          <a:lstStyle/>
          <a:p>
            <a:endParaRPr/>
          </a:p>
        </p:txBody>
      </p:sp>
      <p:sp>
        <p:nvSpPr>
          <p:cNvPr id="48" name="TextBox 47"/>
          <p:cNvSpPr txBox="1"/>
          <p:nvPr/>
        </p:nvSpPr>
        <p:spPr>
          <a:xfrm>
            <a:off x="6638925" y="1638300"/>
            <a:ext cx="953476" cy="171450"/>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1C2433"/>
                </a:solidFill>
                <a:latin typeface="JetBrains Mono Medium"/>
                <a:ea typeface="JetBrains Mono Medium"/>
                <a:cs typeface="JetBrains Mono Medium"/>
              </a:rPr>
              <a:t>intake_dato</a:t>
            </a:r>
          </a:p>
        </p:txBody>
      </p:sp>
      <p:sp>
        <p:nvSpPr>
          <p:cNvPr id="49" name="TextBox 48"/>
          <p:cNvSpPr txBox="1"/>
          <p:nvPr/>
        </p:nvSpPr>
        <p:spPr>
          <a:xfrm>
            <a:off x="6638925" y="1838325"/>
            <a:ext cx="2002738" cy="152400"/>
          </a:xfrm>
          <a:prstGeom prst="rect">
            <a:avLst/>
          </a:prstGeom>
          <a:noFill/>
        </p:spPr>
        <p:txBody>
          <a:bodyPr wrap="none" lIns="0" tIns="0" rIns="0" bIns="0" anchor="t">
            <a:noAutofit/>
          </a:bodyPr>
          <a:lstStyle/>
          <a:p>
            <a:pPr algn="l">
              <a:lnSpc>
                <a:spcPts val="1350"/>
              </a:lnSpc>
              <a:spcBef>
                <a:spcPts val="0"/>
              </a:spcBef>
              <a:spcAft>
                <a:spcPts val="0"/>
              </a:spcAft>
            </a:pPr>
            <a:r>
              <a:rPr sz="1000" b="0" i="0">
                <a:solidFill>
                  <a:srgbClr val="7D7869"/>
                </a:solidFill>
                <a:latin typeface="Inter"/>
                <a:ea typeface="Inter"/>
                <a:cs typeface="Inter"/>
              </a:rPr>
              <a:t>lo que dio el comprador, tipado</a:t>
            </a:r>
          </a:p>
        </p:txBody>
      </p:sp>
      <p:sp>
        <p:nvSpPr>
          <p:cNvPr id="50" name="Rounded Rectangle 49"/>
          <p:cNvSpPr/>
          <p:nvPr/>
        </p:nvSpPr>
        <p:spPr>
          <a:xfrm>
            <a:off x="9067800" y="1543050"/>
            <a:ext cx="2552700" cy="552450"/>
          </a:xfrm>
          <a:prstGeom prst="roundRect">
            <a:avLst>
              <a:gd name="adj" fmla="val 13793"/>
            </a:avLst>
          </a:prstGeom>
          <a:solidFill>
            <a:srgbClr val="EEE0C0"/>
          </a:solidFill>
          <a:ln w="9525">
            <a:solidFill>
              <a:srgbClr val="C9A34E"/>
            </a:solidFill>
          </a:ln>
        </p:spPr>
        <p:txBody>
          <a:bodyPr rtlCol="0" anchor="ctr"/>
          <a:lstStyle/>
          <a:p>
            <a:endParaRPr/>
          </a:p>
        </p:txBody>
      </p:sp>
      <p:sp>
        <p:nvSpPr>
          <p:cNvPr id="51" name="TextBox 50"/>
          <p:cNvSpPr txBox="1"/>
          <p:nvPr/>
        </p:nvSpPr>
        <p:spPr>
          <a:xfrm>
            <a:off x="9191625" y="1638300"/>
            <a:ext cx="2284905" cy="171450"/>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1C2433"/>
                </a:solidFill>
                <a:latin typeface="JetBrains Mono Medium"/>
                <a:ea typeface="JetBrains Mono Medium"/>
                <a:cs typeface="JetBrains Mono Medium"/>
              </a:rPr>
              <a:t>uso_hecho · intake_uso_dato</a:t>
            </a:r>
          </a:p>
        </p:txBody>
      </p:sp>
      <p:sp>
        <p:nvSpPr>
          <p:cNvPr id="52" name="TextBox 51"/>
          <p:cNvSpPr txBox="1"/>
          <p:nvPr/>
        </p:nvSpPr>
        <p:spPr>
          <a:xfrm>
            <a:off x="9191625" y="1838325"/>
            <a:ext cx="1673364" cy="152400"/>
          </a:xfrm>
          <a:prstGeom prst="rect">
            <a:avLst/>
          </a:prstGeom>
          <a:noFill/>
        </p:spPr>
        <p:txBody>
          <a:bodyPr wrap="none" lIns="0" tIns="0" rIns="0" bIns="0" anchor="t">
            <a:noAutofit/>
          </a:bodyPr>
          <a:lstStyle/>
          <a:p>
            <a:pPr algn="l">
              <a:lnSpc>
                <a:spcPts val="1350"/>
              </a:lnSpc>
              <a:spcBef>
                <a:spcPts val="0"/>
              </a:spcBef>
              <a:spcAft>
                <a:spcPts val="0"/>
              </a:spcAft>
            </a:pPr>
            <a:r>
              <a:rPr sz="1000" b="0" i="0">
                <a:solidFill>
                  <a:srgbClr val="7D7869"/>
                </a:solidFill>
                <a:latin typeface="Inter"/>
                <a:ea typeface="Inter"/>
                <a:cs typeface="Inter"/>
              </a:rPr>
              <a:t>qué capítulo usa qué dato</a:t>
            </a:r>
          </a:p>
        </p:txBody>
      </p:sp>
      <p:sp>
        <p:nvSpPr>
          <p:cNvPr id="53" name="Rounded Rectangle 52"/>
          <p:cNvSpPr/>
          <p:nvPr/>
        </p:nvSpPr>
        <p:spPr>
          <a:xfrm>
            <a:off x="6515100" y="2781300"/>
            <a:ext cx="2552700" cy="552450"/>
          </a:xfrm>
          <a:prstGeom prst="roundRect">
            <a:avLst>
              <a:gd name="adj" fmla="val 13793"/>
            </a:avLst>
          </a:prstGeom>
          <a:solidFill>
            <a:srgbClr val="FBF8F1"/>
          </a:solidFill>
          <a:ln w="9525">
            <a:solidFill>
              <a:srgbClr val="1C2433"/>
            </a:solidFill>
          </a:ln>
        </p:spPr>
        <p:txBody>
          <a:bodyPr rtlCol="0" anchor="ctr"/>
          <a:lstStyle/>
          <a:p>
            <a:endParaRPr/>
          </a:p>
        </p:txBody>
      </p:sp>
      <p:sp>
        <p:nvSpPr>
          <p:cNvPr id="54" name="TextBox 53"/>
          <p:cNvSpPr txBox="1"/>
          <p:nvPr/>
        </p:nvSpPr>
        <p:spPr>
          <a:xfrm>
            <a:off x="6638925" y="2876550"/>
            <a:ext cx="953476" cy="171450"/>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1C2433"/>
                </a:solidFill>
                <a:latin typeface="JetBrains Mono Medium"/>
                <a:ea typeface="JetBrains Mono Medium"/>
                <a:cs typeface="JetBrains Mono Medium"/>
              </a:rPr>
              <a:t>mundo_hecho</a:t>
            </a:r>
          </a:p>
        </p:txBody>
      </p:sp>
      <p:sp>
        <p:nvSpPr>
          <p:cNvPr id="55" name="TextBox 54"/>
          <p:cNvSpPr txBox="1"/>
          <p:nvPr/>
        </p:nvSpPr>
        <p:spPr>
          <a:xfrm>
            <a:off x="6638925" y="3076575"/>
            <a:ext cx="1549694" cy="152400"/>
          </a:xfrm>
          <a:prstGeom prst="rect">
            <a:avLst/>
          </a:prstGeom>
          <a:noFill/>
        </p:spPr>
        <p:txBody>
          <a:bodyPr wrap="none" lIns="0" tIns="0" rIns="0" bIns="0" anchor="t">
            <a:noAutofit/>
          </a:bodyPr>
          <a:lstStyle/>
          <a:p>
            <a:pPr algn="l">
              <a:lnSpc>
                <a:spcPts val="1350"/>
              </a:lnSpc>
              <a:spcBef>
                <a:spcPts val="0"/>
              </a:spcBef>
              <a:spcAft>
                <a:spcPts val="0"/>
              </a:spcAft>
            </a:pPr>
            <a:r>
              <a:rPr sz="1000" b="0" i="0">
                <a:solidFill>
                  <a:srgbClr val="7D7869"/>
                </a:solidFill>
                <a:latin typeface="Inter"/>
                <a:ea typeface="Inter"/>
                <a:cs typeface="Inter"/>
              </a:rPr>
              <a:t>corpus histórico sellado</a:t>
            </a:r>
          </a:p>
        </p:txBody>
      </p:sp>
      <p:sp>
        <p:nvSpPr>
          <p:cNvPr id="56" name="Rounded Rectangle 55"/>
          <p:cNvSpPr/>
          <p:nvPr/>
        </p:nvSpPr>
        <p:spPr>
          <a:xfrm>
            <a:off x="9067800" y="2781300"/>
            <a:ext cx="2552700" cy="552450"/>
          </a:xfrm>
          <a:prstGeom prst="roundRect">
            <a:avLst>
              <a:gd name="adj" fmla="val 13793"/>
            </a:avLst>
          </a:prstGeom>
          <a:solidFill>
            <a:srgbClr val="FBF8F1"/>
          </a:solidFill>
          <a:ln w="9525">
            <a:solidFill>
              <a:srgbClr val="1C2433"/>
            </a:solidFill>
          </a:ln>
        </p:spPr>
        <p:txBody>
          <a:bodyPr rtlCol="0" anchor="ctr"/>
          <a:lstStyle/>
          <a:p>
            <a:endParaRPr/>
          </a:p>
        </p:txBody>
      </p:sp>
      <p:sp>
        <p:nvSpPr>
          <p:cNvPr id="57" name="TextBox 56"/>
          <p:cNvSpPr txBox="1"/>
          <p:nvPr/>
        </p:nvSpPr>
        <p:spPr>
          <a:xfrm>
            <a:off x="9191625" y="2876550"/>
            <a:ext cx="1286256" cy="171450"/>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1C2433"/>
                </a:solidFill>
                <a:latin typeface="JetBrains Mono Medium"/>
                <a:ea typeface="JetBrains Mono Medium"/>
                <a:cs typeface="JetBrains Mono Medium"/>
              </a:rPr>
              <a:t>canon_personaje</a:t>
            </a:r>
          </a:p>
        </p:txBody>
      </p:sp>
      <p:sp>
        <p:nvSpPr>
          <p:cNvPr id="58" name="TextBox 57"/>
          <p:cNvSpPr txBox="1"/>
          <p:nvPr/>
        </p:nvSpPr>
        <p:spPr>
          <a:xfrm>
            <a:off x="9191625" y="3076575"/>
            <a:ext cx="1860804" cy="152400"/>
          </a:xfrm>
          <a:prstGeom prst="rect">
            <a:avLst/>
          </a:prstGeom>
          <a:noFill/>
        </p:spPr>
        <p:txBody>
          <a:bodyPr wrap="none" lIns="0" tIns="0" rIns="0" bIns="0" anchor="t">
            <a:noAutofit/>
          </a:bodyPr>
          <a:lstStyle/>
          <a:p>
            <a:pPr algn="l">
              <a:lnSpc>
                <a:spcPts val="1350"/>
              </a:lnSpc>
              <a:spcBef>
                <a:spcPts val="0"/>
              </a:spcBef>
              <a:spcAft>
                <a:spcPts val="0"/>
              </a:spcAft>
            </a:pPr>
            <a:r>
              <a:rPr sz="1000" b="0" i="0">
                <a:solidFill>
                  <a:srgbClr val="7D7869"/>
                </a:solidFill>
                <a:latin typeface="Inter"/>
                <a:ea typeface="Inter"/>
                <a:cs typeface="Inter"/>
              </a:rPr>
              <a:t>nombres, edades, relaciones</a:t>
            </a:r>
          </a:p>
        </p:txBody>
      </p:sp>
      <p:sp>
        <p:nvSpPr>
          <p:cNvPr id="59" name="Rounded Rectangle 58"/>
          <p:cNvSpPr/>
          <p:nvPr/>
        </p:nvSpPr>
        <p:spPr>
          <a:xfrm>
            <a:off x="6515100" y="4019550"/>
            <a:ext cx="2552700" cy="552450"/>
          </a:xfrm>
          <a:prstGeom prst="roundRect">
            <a:avLst>
              <a:gd name="adj" fmla="val 13793"/>
            </a:avLst>
          </a:prstGeom>
          <a:solidFill>
            <a:srgbClr val="FBF8F1"/>
          </a:solidFill>
          <a:ln w="9525">
            <a:solidFill>
              <a:srgbClr val="1C2433"/>
            </a:solidFill>
          </a:ln>
        </p:spPr>
        <p:txBody>
          <a:bodyPr rtlCol="0" anchor="ctr"/>
          <a:lstStyle/>
          <a:p>
            <a:endParaRPr/>
          </a:p>
        </p:txBody>
      </p:sp>
      <p:sp>
        <p:nvSpPr>
          <p:cNvPr id="60" name="TextBox 59"/>
          <p:cNvSpPr txBox="1"/>
          <p:nvPr/>
        </p:nvSpPr>
        <p:spPr>
          <a:xfrm>
            <a:off x="6638925" y="4114800"/>
            <a:ext cx="1452801" cy="171450"/>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1C2433"/>
                </a:solidFill>
                <a:latin typeface="JetBrains Mono Medium"/>
                <a:ea typeface="JetBrains Mono Medium"/>
                <a:cs typeface="JetBrains Mono Medium"/>
              </a:rPr>
              <a:t>cronologia_evento</a:t>
            </a:r>
          </a:p>
        </p:txBody>
      </p:sp>
      <p:sp>
        <p:nvSpPr>
          <p:cNvPr id="61" name="TextBox 60"/>
          <p:cNvSpPr txBox="1"/>
          <p:nvPr/>
        </p:nvSpPr>
        <p:spPr>
          <a:xfrm>
            <a:off x="6638925" y="4314825"/>
            <a:ext cx="1031022" cy="152400"/>
          </a:xfrm>
          <a:prstGeom prst="rect">
            <a:avLst/>
          </a:prstGeom>
          <a:noFill/>
        </p:spPr>
        <p:txBody>
          <a:bodyPr wrap="none" lIns="0" tIns="0" rIns="0" bIns="0" anchor="t">
            <a:noAutofit/>
          </a:bodyPr>
          <a:lstStyle/>
          <a:p>
            <a:pPr algn="l">
              <a:lnSpc>
                <a:spcPts val="1350"/>
              </a:lnSpc>
              <a:spcBef>
                <a:spcPts val="0"/>
              </a:spcBef>
              <a:spcAft>
                <a:spcPts val="0"/>
              </a:spcAft>
            </a:pPr>
            <a:r>
              <a:rPr sz="1000" b="0" i="0">
                <a:solidFill>
                  <a:srgbClr val="7D7869"/>
                </a:solidFill>
                <a:latin typeface="Inter"/>
                <a:ea typeface="Inter"/>
                <a:cs typeface="Inter"/>
              </a:rPr>
              <a:t>alimenta a Lean</a:t>
            </a:r>
          </a:p>
        </p:txBody>
      </p:sp>
      <p:sp>
        <p:nvSpPr>
          <p:cNvPr id="62" name="Rounded Rectangle 61"/>
          <p:cNvSpPr/>
          <p:nvPr/>
        </p:nvSpPr>
        <p:spPr>
          <a:xfrm>
            <a:off x="9067800" y="4019550"/>
            <a:ext cx="2552700" cy="895350"/>
          </a:xfrm>
          <a:prstGeom prst="roundRect">
            <a:avLst>
              <a:gd name="adj" fmla="val 8510"/>
            </a:avLst>
          </a:prstGeom>
          <a:solidFill>
            <a:srgbClr val="FBF8F1"/>
          </a:solidFill>
          <a:ln w="9525">
            <a:solidFill>
              <a:srgbClr val="1C2433"/>
            </a:solidFill>
          </a:ln>
        </p:spPr>
        <p:txBody>
          <a:bodyPr rtlCol="0" anchor="ctr"/>
          <a:lstStyle/>
          <a:p>
            <a:endParaRPr/>
          </a:p>
        </p:txBody>
      </p:sp>
      <p:sp>
        <p:nvSpPr>
          <p:cNvPr id="63" name="TextBox 62"/>
          <p:cNvSpPr txBox="1"/>
          <p:nvPr/>
        </p:nvSpPr>
        <p:spPr>
          <a:xfrm>
            <a:off x="9191625" y="4114800"/>
            <a:ext cx="2328405" cy="342900"/>
          </a:xfrm>
          <a:prstGeom prst="rect">
            <a:avLst/>
          </a:prstGeom>
          <a:noFill/>
        </p:spPr>
        <p:txBody>
          <a:bodyPr wrap="square" lIns="0" tIns="0" rIns="0" bIns="0" anchor="t">
            <a:noAutofit/>
          </a:bodyPr>
          <a:lstStyle/>
          <a:p>
            <a:pPr algn="l">
              <a:lnSpc>
                <a:spcPts val="1350"/>
              </a:lnSpc>
              <a:spcBef>
                <a:spcPts val="0"/>
              </a:spcBef>
              <a:spcAft>
                <a:spcPts val="0"/>
              </a:spcAft>
            </a:pPr>
            <a:r>
              <a:rPr sz="1050" b="0" i="0">
                <a:solidFill>
                  <a:srgbClr val="1C2433"/>
                </a:solidFill>
                <a:latin typeface="JetBrains Mono Medium"/>
                <a:ea typeface="JetBrains Mono Medium"/>
                <a:cs typeface="JetBrains Mono Medium"/>
              </a:rPr>
              <a:t>capitulo_version + version_novela</a:t>
            </a:r>
          </a:p>
        </p:txBody>
      </p:sp>
      <p:sp>
        <p:nvSpPr>
          <p:cNvPr id="64" name="TextBox 63"/>
          <p:cNvSpPr txBox="1"/>
          <p:nvPr/>
        </p:nvSpPr>
        <p:spPr>
          <a:xfrm>
            <a:off x="9191625" y="4486275"/>
            <a:ext cx="2328405" cy="32385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7D7869"/>
                </a:solidFill>
                <a:latin typeface="Inter"/>
                <a:ea typeface="Inter"/>
                <a:cs typeface="Inter"/>
              </a:rPr>
              <a:t>inmutables: una versión es un manifiesto</a:t>
            </a:r>
          </a:p>
        </p:txBody>
      </p:sp>
      <p:sp>
        <p:nvSpPr>
          <p:cNvPr id="65" name="Rounded Rectangle 64"/>
          <p:cNvSpPr/>
          <p:nvPr/>
        </p:nvSpPr>
        <p:spPr>
          <a:xfrm>
            <a:off x="6515100" y="4933950"/>
            <a:ext cx="5067300" cy="647700"/>
          </a:xfrm>
          <a:prstGeom prst="roundRect">
            <a:avLst>
              <a:gd name="adj" fmla="val 11764"/>
            </a:avLst>
          </a:prstGeom>
          <a:solidFill>
            <a:srgbClr val="1C2433"/>
          </a:solidFill>
          <a:ln>
            <a:noFill/>
          </a:ln>
        </p:spPr>
        <p:txBody>
          <a:bodyPr rtlCol="0" anchor="ctr"/>
          <a:lstStyle/>
          <a:p>
            <a:endParaRPr/>
          </a:p>
        </p:txBody>
      </p:sp>
      <p:sp>
        <p:nvSpPr>
          <p:cNvPr id="66" name="TextBox 65"/>
          <p:cNvSpPr txBox="1"/>
          <p:nvPr/>
        </p:nvSpPr>
        <p:spPr>
          <a:xfrm>
            <a:off x="6686550" y="5057775"/>
            <a:ext cx="4762271" cy="400050"/>
          </a:xfrm>
          <a:prstGeom prst="rect">
            <a:avLst/>
          </a:prstGeom>
          <a:noFill/>
        </p:spPr>
        <p:txBody>
          <a:bodyPr wrap="square" lIns="0" tIns="0" rIns="0" bIns="0" anchor="t">
            <a:noAutofit/>
          </a:bodyPr>
          <a:lstStyle/>
          <a:p>
            <a:pPr algn="l">
              <a:lnSpc>
                <a:spcPts val="1650"/>
              </a:lnSpc>
              <a:spcBef>
                <a:spcPts val="0"/>
              </a:spcBef>
              <a:spcAft>
                <a:spcPts val="0"/>
              </a:spcAft>
            </a:pPr>
            <a:r>
              <a:rPr sz="1200" b="0" i="0">
                <a:solidFill>
                  <a:srgbClr val="F5EFE3"/>
                </a:solidFill>
                <a:latin typeface="Inter"/>
                <a:ea typeface="Inter"/>
                <a:cs typeface="Inter"/>
              </a:rPr>
              <a:t>Límite de 100.000 tokens concurrentes </a:t>
            </a:r>
            <a:r>
              <a:rPr sz="1200" b="0" i="0">
                <a:solidFill>
                  <a:srgbClr val="C9A34E"/>
                </a:solidFill>
                <a:latin typeface="Inter SemiBold"/>
                <a:ea typeface="Inter SemiBold"/>
                <a:cs typeface="Inter SemiBold"/>
              </a:rPr>
              <a:t>garantizado por construcción</a:t>
            </a:r>
            <a:r>
              <a:rPr sz="1200" b="0" i="0">
                <a:solidFill>
                  <a:srgbClr val="F5EFE3"/>
                </a:solidFill>
                <a:latin typeface="Inter"/>
                <a:ea typeface="Inter"/>
                <a:cs typeface="Inter"/>
              </a:rPr>
              <a:t>: grafo secuencial, peor caso 45.000 (investigador).</a:t>
            </a:r>
          </a:p>
        </p:txBody>
      </p:sp>
      <p:pic>
        <p:nvPicPr>
          <p:cNvPr id="67" name="Picture 66" descr="r003.png"/>
          <p:cNvPicPr>
            <a:picLocks noChangeAspect="1"/>
          </p:cNvPicPr>
          <p:nvPr/>
        </p:nvPicPr>
        <p:blipFill>
          <a:blip r:embed="rId4"/>
          <a:stretch>
            <a:fillRect/>
          </a:stretch>
        </p:blipFill>
        <p:spPr>
          <a:xfrm>
            <a:off x="381000" y="6343650"/>
            <a:ext cx="11430000" cy="76200"/>
          </a:xfrm>
          <a:prstGeom prst="rect">
            <a:avLst/>
          </a:prstGeom>
        </p:spPr>
      </p:pic>
      <p:pic>
        <p:nvPicPr>
          <p:cNvPr id="68" name="Picture 67" descr="r004.png"/>
          <p:cNvPicPr>
            <a:picLocks noChangeAspect="1"/>
          </p:cNvPicPr>
          <p:nvPr/>
        </p:nvPicPr>
        <p:blipFill>
          <a:blip r:embed="rId5"/>
          <a:stretch>
            <a:fillRect/>
          </a:stretch>
        </p:blipFill>
        <p:spPr>
          <a:xfrm>
            <a:off x="381000" y="6505575"/>
            <a:ext cx="171450" cy="190500"/>
          </a:xfrm>
          <a:prstGeom prst="rect">
            <a:avLst/>
          </a:prstGeom>
        </p:spPr>
      </p:pic>
      <p:sp>
        <p:nvSpPr>
          <p:cNvPr id="69" name="TextBox 68"/>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70" name="TextBox 69"/>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71" name="TextBox 70"/>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72" name="TextBox 71"/>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09 /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40731" y="323850"/>
            <a:ext cx="175849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POR QUÉ ESTE DISEÑO</a:t>
            </a:r>
          </a:p>
        </p:txBody>
      </p:sp>
      <p:sp>
        <p:nvSpPr>
          <p:cNvPr id="3" name="TextBox 2"/>
          <p:cNvSpPr txBox="1"/>
          <p:nvPr/>
        </p:nvSpPr>
        <p:spPr>
          <a:xfrm>
            <a:off x="609600" y="323850"/>
            <a:ext cx="101136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IV</a:t>
            </a:r>
          </a:p>
        </p:txBody>
      </p:sp>
      <p:sp>
        <p:nvSpPr>
          <p:cNvPr id="4" name="Rectangle 3"/>
          <p:cNvSpPr/>
          <p:nvPr/>
        </p:nvSpPr>
        <p:spPr>
          <a:xfrm>
            <a:off x="1659731" y="395288"/>
            <a:ext cx="266700" cy="9525"/>
          </a:xfrm>
          <a:prstGeom prst="rect">
            <a:avLst/>
          </a:prstGeom>
          <a:noFill/>
          <a:ln>
            <a:noFill/>
          </a:ln>
        </p:spPr>
        <p:txBody>
          <a:bodyPr rtlCol="0" anchor="ctr"/>
          <a:lstStyle/>
          <a:p>
            <a:endParaRPr/>
          </a:p>
        </p:txBody>
      </p:sp>
      <p:cxnSp>
        <p:nvCxnSpPr>
          <p:cNvPr id="5" name="Connector 4"/>
          <p:cNvCxnSpPr/>
          <p:nvPr/>
        </p:nvCxnSpPr>
        <p:spPr>
          <a:xfrm>
            <a:off x="1659731" y="400050"/>
            <a:ext cx="266700" cy="0"/>
          </a:xfrm>
          <a:prstGeom prst="line">
            <a:avLst/>
          </a:prstGeom>
          <a:ln w="9525">
            <a:solidFill>
              <a:srgbClr val="C9A34E"/>
            </a:solidFill>
          </a:ln>
        </p:spPr>
      </p:cxnSp>
      <p:sp>
        <p:nvSpPr>
          <p:cNvPr id="6" name="TextBox 5"/>
          <p:cNvSpPr txBox="1"/>
          <p:nvPr/>
        </p:nvSpPr>
        <p:spPr>
          <a:xfrm>
            <a:off x="609600" y="561975"/>
            <a:ext cx="7420856"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Tres decisiones explican el resto del sistema</a:t>
            </a:r>
          </a:p>
        </p:txBody>
      </p:sp>
      <p:sp>
        <p:nvSpPr>
          <p:cNvPr id="7" name="TextBox 6"/>
          <p:cNvSpPr txBox="1"/>
          <p:nvPr/>
        </p:nvSpPr>
        <p:spPr>
          <a:xfrm>
            <a:off x="609600" y="1190625"/>
            <a:ext cx="335125" cy="752475"/>
          </a:xfrm>
          <a:prstGeom prst="rect">
            <a:avLst/>
          </a:prstGeom>
          <a:noFill/>
        </p:spPr>
        <p:txBody>
          <a:bodyPr wrap="none" lIns="0" tIns="0" rIns="0" bIns="0" anchor="t">
            <a:noAutofit/>
          </a:bodyPr>
          <a:lstStyle/>
          <a:p>
            <a:pPr algn="l">
              <a:lnSpc>
                <a:spcPts val="4950"/>
              </a:lnSpc>
              <a:spcBef>
                <a:spcPts val="0"/>
              </a:spcBef>
              <a:spcAft>
                <a:spcPts val="0"/>
              </a:spcAft>
            </a:pPr>
            <a:r>
              <a:rPr sz="4800" b="0" i="0">
                <a:solidFill>
                  <a:srgbClr val="C9A34E"/>
                </a:solidFill>
                <a:latin typeface="Fraunces SemiBold"/>
                <a:ea typeface="Fraunces SemiBold"/>
                <a:cs typeface="Fraunces SemiBold"/>
              </a:rPr>
              <a:t>1</a:t>
            </a:r>
          </a:p>
        </p:txBody>
      </p:sp>
      <p:sp>
        <p:nvSpPr>
          <p:cNvPr id="8" name="TextBox 7"/>
          <p:cNvSpPr txBox="1"/>
          <p:nvPr/>
        </p:nvSpPr>
        <p:spPr>
          <a:xfrm>
            <a:off x="609600" y="1943100"/>
            <a:ext cx="2665047" cy="285750"/>
          </a:xfrm>
          <a:prstGeom prst="rect">
            <a:avLst/>
          </a:prstGeom>
          <a:noFill/>
        </p:spPr>
        <p:txBody>
          <a:bodyPr wrap="none" lIns="0" tIns="0" rIns="0" bIns="0" anchor="t">
            <a:noAutofit/>
          </a:bodyPr>
          <a:lstStyle/>
          <a:p>
            <a:pPr algn="l">
              <a:lnSpc>
                <a:spcPts val="2250"/>
              </a:lnSpc>
              <a:spcBef>
                <a:spcPts val="0"/>
              </a:spcBef>
              <a:spcAft>
                <a:spcPts val="0"/>
              </a:spcAft>
            </a:pPr>
            <a:r>
              <a:rPr sz="1900" b="0" i="0">
                <a:solidFill>
                  <a:srgbClr val="1C2433"/>
                </a:solidFill>
                <a:latin typeface="Fraunces SemiBold"/>
                <a:ea typeface="Fraunces SemiBold"/>
                <a:cs typeface="Fraunces SemiBold"/>
              </a:rPr>
              <a:t>Validar no es opcional</a:t>
            </a:r>
          </a:p>
        </p:txBody>
      </p:sp>
      <p:sp>
        <p:nvSpPr>
          <p:cNvPr id="9" name="TextBox 8"/>
          <p:cNvSpPr txBox="1"/>
          <p:nvPr/>
        </p:nvSpPr>
        <p:spPr>
          <a:xfrm>
            <a:off x="609600" y="2343150"/>
            <a:ext cx="3459099" cy="657225"/>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1C2433"/>
                </a:solidFill>
                <a:latin typeface="Inter"/>
                <a:ea typeface="Inter"/>
                <a:cs typeface="Inter"/>
              </a:rPr>
              <a:t>Validadores como nodos; tools con schema Pydantic; toda salida de rol pasa </a:t>
            </a:r>
            <a:r>
              <a:rPr sz="1150" b="0" i="0">
                <a:solidFill>
                  <a:srgbClr val="1C2433"/>
                </a:solidFill>
                <a:latin typeface="JetBrains Mono Medium"/>
                <a:ea typeface="JetBrains Mono Medium"/>
                <a:cs typeface="JetBrains Mono Medium"/>
              </a:rPr>
              <a:t>schema_guard</a:t>
            </a:r>
            <a:r>
              <a:rPr sz="1300" b="0" i="0">
                <a:solidFill>
                  <a:srgbClr val="1C2433"/>
                </a:solidFill>
                <a:latin typeface="Inter"/>
                <a:ea typeface="Inter"/>
                <a:cs typeface="Inter"/>
              </a:rPr>
              <a:t>.</a:t>
            </a:r>
          </a:p>
        </p:txBody>
      </p:sp>
      <p:sp>
        <p:nvSpPr>
          <p:cNvPr id="10" name="TextBox 9"/>
          <p:cNvSpPr txBox="1"/>
          <p:nvPr/>
        </p:nvSpPr>
        <p:spPr>
          <a:xfrm>
            <a:off x="4381500" y="1190625"/>
            <a:ext cx="430006" cy="752475"/>
          </a:xfrm>
          <a:prstGeom prst="rect">
            <a:avLst/>
          </a:prstGeom>
          <a:noFill/>
        </p:spPr>
        <p:txBody>
          <a:bodyPr wrap="none" lIns="0" tIns="0" rIns="0" bIns="0" anchor="t">
            <a:noAutofit/>
          </a:bodyPr>
          <a:lstStyle/>
          <a:p>
            <a:pPr algn="l">
              <a:lnSpc>
                <a:spcPts val="4950"/>
              </a:lnSpc>
              <a:spcBef>
                <a:spcPts val="0"/>
              </a:spcBef>
              <a:spcAft>
                <a:spcPts val="0"/>
              </a:spcAft>
            </a:pPr>
            <a:r>
              <a:rPr sz="4800" b="0" i="0">
                <a:solidFill>
                  <a:srgbClr val="C9A34E"/>
                </a:solidFill>
                <a:latin typeface="Fraunces SemiBold"/>
                <a:ea typeface="Fraunces SemiBold"/>
                <a:cs typeface="Fraunces SemiBold"/>
              </a:rPr>
              <a:t>2</a:t>
            </a:r>
          </a:p>
        </p:txBody>
      </p:sp>
      <p:sp>
        <p:nvSpPr>
          <p:cNvPr id="11" name="TextBox 10"/>
          <p:cNvSpPr txBox="1"/>
          <p:nvPr/>
        </p:nvSpPr>
        <p:spPr>
          <a:xfrm>
            <a:off x="4381500" y="1943100"/>
            <a:ext cx="3500711" cy="285750"/>
          </a:xfrm>
          <a:prstGeom prst="rect">
            <a:avLst/>
          </a:prstGeom>
          <a:noFill/>
        </p:spPr>
        <p:txBody>
          <a:bodyPr wrap="none" lIns="0" tIns="0" rIns="0" bIns="0" anchor="t">
            <a:noAutofit/>
          </a:bodyPr>
          <a:lstStyle/>
          <a:p>
            <a:pPr algn="l">
              <a:lnSpc>
                <a:spcPts val="2250"/>
              </a:lnSpc>
              <a:spcBef>
                <a:spcPts val="0"/>
              </a:spcBef>
              <a:spcAft>
                <a:spcPts val="0"/>
              </a:spcAft>
            </a:pPr>
            <a:r>
              <a:rPr sz="1900" b="0" i="0">
                <a:solidFill>
                  <a:srgbClr val="1C2433"/>
                </a:solidFill>
                <a:latin typeface="Fraunces SemiBold"/>
                <a:ea typeface="Fraunces SemiBold"/>
                <a:cs typeface="Fraunces SemiBold"/>
              </a:rPr>
              <a:t>El estado vive en un solo sitio</a:t>
            </a:r>
          </a:p>
        </p:txBody>
      </p:sp>
      <p:sp>
        <p:nvSpPr>
          <p:cNvPr id="12" name="TextBox 11"/>
          <p:cNvSpPr txBox="1"/>
          <p:nvPr/>
        </p:nvSpPr>
        <p:spPr>
          <a:xfrm>
            <a:off x="4381500" y="2343150"/>
            <a:ext cx="3459099" cy="647700"/>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1C2433"/>
                </a:solidFill>
                <a:latin typeface="Inter"/>
                <a:ea typeface="Inter"/>
                <a:cs typeface="Inter"/>
              </a:rPr>
              <a:t>Un SQLite por novela: checkpoint y capítulo en la misma transacción. Ramificar es copiar el fichero.</a:t>
            </a:r>
          </a:p>
        </p:txBody>
      </p:sp>
      <p:sp>
        <p:nvSpPr>
          <p:cNvPr id="13" name="TextBox 12"/>
          <p:cNvSpPr txBox="1"/>
          <p:nvPr/>
        </p:nvSpPr>
        <p:spPr>
          <a:xfrm>
            <a:off x="8153400" y="1190625"/>
            <a:ext cx="396419" cy="752475"/>
          </a:xfrm>
          <a:prstGeom prst="rect">
            <a:avLst/>
          </a:prstGeom>
          <a:noFill/>
        </p:spPr>
        <p:txBody>
          <a:bodyPr wrap="none" lIns="0" tIns="0" rIns="0" bIns="0" anchor="t">
            <a:noAutofit/>
          </a:bodyPr>
          <a:lstStyle/>
          <a:p>
            <a:pPr algn="l">
              <a:lnSpc>
                <a:spcPts val="4950"/>
              </a:lnSpc>
              <a:spcBef>
                <a:spcPts val="0"/>
              </a:spcBef>
              <a:spcAft>
                <a:spcPts val="0"/>
              </a:spcAft>
            </a:pPr>
            <a:r>
              <a:rPr sz="4800" b="0" i="0">
                <a:solidFill>
                  <a:srgbClr val="C9A34E"/>
                </a:solidFill>
                <a:latin typeface="Fraunces SemiBold"/>
                <a:ea typeface="Fraunces SemiBold"/>
                <a:cs typeface="Fraunces SemiBold"/>
              </a:rPr>
              <a:t>3</a:t>
            </a:r>
          </a:p>
        </p:txBody>
      </p:sp>
      <p:sp>
        <p:nvSpPr>
          <p:cNvPr id="14" name="TextBox 13"/>
          <p:cNvSpPr txBox="1"/>
          <p:nvPr/>
        </p:nvSpPr>
        <p:spPr>
          <a:xfrm>
            <a:off x="8153400" y="1943100"/>
            <a:ext cx="2422660" cy="285750"/>
          </a:xfrm>
          <a:prstGeom prst="rect">
            <a:avLst/>
          </a:prstGeom>
          <a:noFill/>
        </p:spPr>
        <p:txBody>
          <a:bodyPr wrap="none" lIns="0" tIns="0" rIns="0" bIns="0" anchor="t">
            <a:noAutofit/>
          </a:bodyPr>
          <a:lstStyle/>
          <a:p>
            <a:pPr algn="l">
              <a:lnSpc>
                <a:spcPts val="2250"/>
              </a:lnSpc>
              <a:spcBef>
                <a:spcPts val="0"/>
              </a:spcBef>
              <a:spcAft>
                <a:spcPts val="0"/>
              </a:spcAft>
            </a:pPr>
            <a:r>
              <a:rPr sz="1900" b="0" i="0">
                <a:solidFill>
                  <a:srgbClr val="1C2433"/>
                </a:solidFill>
                <a:latin typeface="Fraunces SemiBold"/>
                <a:ea typeface="Fraunces SemiBold"/>
                <a:cs typeface="Fraunces SemiBold"/>
              </a:rPr>
              <a:t>Nada se sobrescribe</a:t>
            </a:r>
          </a:p>
        </p:txBody>
      </p:sp>
      <p:sp>
        <p:nvSpPr>
          <p:cNvPr id="15" name="TextBox 14"/>
          <p:cNvSpPr txBox="1"/>
          <p:nvPr/>
        </p:nvSpPr>
        <p:spPr>
          <a:xfrm>
            <a:off x="8153400" y="2343150"/>
            <a:ext cx="3459099" cy="647700"/>
          </a:xfrm>
          <a:prstGeom prst="rect">
            <a:avLst/>
          </a:prstGeom>
          <a:noFill/>
        </p:spPr>
        <p:txBody>
          <a:bodyPr wrap="square" lIns="0" tIns="0" rIns="0" bIns="0" anchor="t">
            <a:noAutofit/>
          </a:bodyPr>
          <a:lstStyle/>
          <a:p>
            <a:pPr algn="l">
              <a:lnSpc>
                <a:spcPts val="1800"/>
              </a:lnSpc>
              <a:spcBef>
                <a:spcPts val="0"/>
              </a:spcBef>
              <a:spcAft>
                <a:spcPts val="0"/>
              </a:spcAft>
            </a:pPr>
            <a:r>
              <a:rPr sz="1300" b="0" i="0">
                <a:solidFill>
                  <a:srgbClr val="1C2433"/>
                </a:solidFill>
                <a:latin typeface="Inter"/>
                <a:ea typeface="Inter"/>
                <a:cs typeface="Inter"/>
              </a:rPr>
              <a:t>Capítulos inmutables y un manifiesto por versión: la anterior se conserva por estructura.</a:t>
            </a:r>
          </a:p>
        </p:txBody>
      </p:sp>
      <p:sp>
        <p:nvSpPr>
          <p:cNvPr id="16" name="TextBox 15"/>
          <p:cNvSpPr txBox="1"/>
          <p:nvPr/>
        </p:nvSpPr>
        <p:spPr>
          <a:xfrm>
            <a:off x="609600" y="3810000"/>
            <a:ext cx="3344382"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PARA EL DESARROLLO CON CLAUDE CODE</a:t>
            </a:r>
          </a:p>
        </p:txBody>
      </p:sp>
      <p:sp>
        <p:nvSpPr>
          <p:cNvPr id="17" name="Rounded Rectangle 16"/>
          <p:cNvSpPr/>
          <p:nvPr/>
        </p:nvSpPr>
        <p:spPr>
          <a:xfrm>
            <a:off x="609600" y="4114800"/>
            <a:ext cx="3459361" cy="342900"/>
          </a:xfrm>
          <a:prstGeom prst="roundRect">
            <a:avLst>
              <a:gd name="adj" fmla="val 19444"/>
            </a:avLst>
          </a:prstGeom>
          <a:solidFill>
            <a:srgbClr val="E8E3D8"/>
          </a:solidFill>
          <a:ln w="9525">
            <a:solidFill>
              <a:srgbClr val="D9D2C3"/>
            </a:solidFill>
          </a:ln>
        </p:spPr>
        <p:txBody>
          <a:bodyPr rtlCol="0" anchor="ctr"/>
          <a:lstStyle/>
          <a:p>
            <a:endParaRPr/>
          </a:p>
        </p:txBody>
      </p:sp>
      <p:sp>
        <p:nvSpPr>
          <p:cNvPr id="18" name="TextBox 17"/>
          <p:cNvSpPr txBox="1"/>
          <p:nvPr/>
        </p:nvSpPr>
        <p:spPr>
          <a:xfrm>
            <a:off x="733425" y="4191000"/>
            <a:ext cx="3378279" cy="180975"/>
          </a:xfrm>
          <a:prstGeom prst="rect">
            <a:avLst/>
          </a:prstGeom>
          <a:noFill/>
        </p:spPr>
        <p:txBody>
          <a:bodyPr wrap="none" lIns="0" tIns="0" rIns="0" bIns="0" anchor="t">
            <a:noAutofit/>
          </a:bodyPr>
          <a:lstStyle/>
          <a:p>
            <a:pPr algn="l">
              <a:lnSpc>
                <a:spcPts val="1425"/>
              </a:lnSpc>
              <a:spcBef>
                <a:spcPts val="0"/>
              </a:spcBef>
              <a:spcAft>
                <a:spcPts val="0"/>
              </a:spcAft>
            </a:pPr>
            <a:r>
              <a:rPr sz="1050" b="0" i="0">
                <a:solidFill>
                  <a:srgbClr val="1C2433"/>
                </a:solidFill>
                <a:latin typeface="JetBrains Mono Medium"/>
                <a:ea typeface="JetBrains Mono Medium"/>
                <a:cs typeface="JetBrains Mono Medium"/>
              </a:rPr>
              <a:t>CLAUDE.md</a:t>
            </a:r>
            <a:r>
              <a:rPr sz="1100" b="0" i="0">
                <a:solidFill>
                  <a:srgbClr val="1C2433"/>
                </a:solidFill>
                <a:latin typeface="Inter Medium"/>
                <a:ea typeface="Inter Medium"/>
                <a:cs typeface="Inter Medium"/>
              </a:rPr>
              <a:t> + </a:t>
            </a:r>
            <a:r>
              <a:rPr sz="1050" b="0" i="0">
                <a:solidFill>
                  <a:srgbClr val="1C2433"/>
                </a:solidFill>
                <a:latin typeface="JetBrains Mono Medium"/>
                <a:ea typeface="JetBrains Mono Medium"/>
                <a:cs typeface="JetBrains Mono Medium"/>
              </a:rPr>
              <a:t>AGENTS.md</a:t>
            </a:r>
            <a:r>
              <a:rPr sz="1100" b="0" i="0">
                <a:solidFill>
                  <a:srgbClr val="1C2433"/>
                </a:solidFill>
                <a:latin typeface="Inter Medium"/>
                <a:ea typeface="Inter Medium"/>
                <a:cs typeface="Inter Medium"/>
              </a:rPr>
              <a:t>: instrucciones del repo</a:t>
            </a:r>
          </a:p>
        </p:txBody>
      </p:sp>
      <p:sp>
        <p:nvSpPr>
          <p:cNvPr id="19" name="Rounded Rectangle 18"/>
          <p:cNvSpPr/>
          <p:nvPr/>
        </p:nvSpPr>
        <p:spPr>
          <a:xfrm>
            <a:off x="4183261" y="4114800"/>
            <a:ext cx="1846213" cy="342900"/>
          </a:xfrm>
          <a:prstGeom prst="roundRect">
            <a:avLst>
              <a:gd name="adj" fmla="val 19444"/>
            </a:avLst>
          </a:prstGeom>
          <a:solidFill>
            <a:srgbClr val="E8E3D8"/>
          </a:solidFill>
          <a:ln w="9525">
            <a:solidFill>
              <a:srgbClr val="D9D2C3"/>
            </a:solidFill>
          </a:ln>
        </p:spPr>
        <p:txBody>
          <a:bodyPr rtlCol="0" anchor="ctr"/>
          <a:lstStyle/>
          <a:p>
            <a:endParaRPr/>
          </a:p>
        </p:txBody>
      </p:sp>
      <p:sp>
        <p:nvSpPr>
          <p:cNvPr id="20" name="TextBox 19"/>
          <p:cNvSpPr txBox="1"/>
          <p:nvPr/>
        </p:nvSpPr>
        <p:spPr>
          <a:xfrm>
            <a:off x="4307086" y="4191000"/>
            <a:ext cx="1700605"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Medium"/>
                <a:ea typeface="Inter Medium"/>
                <a:cs typeface="Inter Medium"/>
              </a:rPr>
              <a:t>Skill </a:t>
            </a:r>
            <a:r>
              <a:rPr sz="1050" b="0" i="0">
                <a:solidFill>
                  <a:srgbClr val="1C2433"/>
                </a:solidFill>
                <a:latin typeface="JetBrains Mono Medium"/>
                <a:ea typeface="JetBrains Mono Medium"/>
                <a:cs typeface="JetBrains Mono Medium"/>
              </a:rPr>
              <a:t>continuity-check</a:t>
            </a:r>
          </a:p>
        </p:txBody>
      </p:sp>
      <p:sp>
        <p:nvSpPr>
          <p:cNvPr id="21" name="Rounded Rectangle 20"/>
          <p:cNvSpPr/>
          <p:nvPr/>
        </p:nvSpPr>
        <p:spPr>
          <a:xfrm>
            <a:off x="6143774" y="4114800"/>
            <a:ext cx="3303836" cy="342900"/>
          </a:xfrm>
          <a:prstGeom prst="roundRect">
            <a:avLst>
              <a:gd name="adj" fmla="val 19444"/>
            </a:avLst>
          </a:prstGeom>
          <a:solidFill>
            <a:srgbClr val="E8E3D8"/>
          </a:solidFill>
          <a:ln w="9525">
            <a:solidFill>
              <a:srgbClr val="D9D2C3"/>
            </a:solidFill>
          </a:ln>
        </p:spPr>
        <p:txBody>
          <a:bodyPr rtlCol="0" anchor="ctr"/>
          <a:lstStyle/>
          <a:p>
            <a:endParaRPr/>
          </a:p>
        </p:txBody>
      </p:sp>
      <p:sp>
        <p:nvSpPr>
          <p:cNvPr id="22" name="TextBox 21"/>
          <p:cNvSpPr txBox="1"/>
          <p:nvPr/>
        </p:nvSpPr>
        <p:spPr>
          <a:xfrm>
            <a:off x="6267599" y="4191000"/>
            <a:ext cx="3216533"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Medium"/>
                <a:ea typeface="Inter Medium"/>
                <a:cs typeface="Inter Medium"/>
              </a:rPr>
              <a:t>Hook </a:t>
            </a:r>
            <a:r>
              <a:rPr sz="1050" b="0" i="0">
                <a:solidFill>
                  <a:srgbClr val="1C2433"/>
                </a:solidFill>
                <a:latin typeface="JetBrains Mono Medium"/>
                <a:ea typeface="JetBrains Mono Medium"/>
                <a:cs typeface="JetBrains Mono Medium"/>
              </a:rPr>
              <a:t>PostToolUse</a:t>
            </a:r>
            <a:r>
              <a:rPr sz="1100" b="0" i="0">
                <a:solidFill>
                  <a:srgbClr val="1C2433"/>
                </a:solidFill>
                <a:latin typeface="Inter Medium"/>
                <a:ea typeface="Inter Medium"/>
                <a:cs typeface="Inter Medium"/>
              </a:rPr>
              <a:t>: valida el capítulo editado</a:t>
            </a:r>
          </a:p>
        </p:txBody>
      </p:sp>
      <p:sp>
        <p:nvSpPr>
          <p:cNvPr id="23" name="Rounded Rectangle 22"/>
          <p:cNvSpPr/>
          <p:nvPr/>
        </p:nvSpPr>
        <p:spPr>
          <a:xfrm>
            <a:off x="609600" y="4572000"/>
            <a:ext cx="3530203" cy="342900"/>
          </a:xfrm>
          <a:prstGeom prst="roundRect">
            <a:avLst>
              <a:gd name="adj" fmla="val 19444"/>
            </a:avLst>
          </a:prstGeom>
          <a:solidFill>
            <a:srgbClr val="E8E3D8"/>
          </a:solidFill>
          <a:ln w="9525">
            <a:solidFill>
              <a:srgbClr val="D9D2C3"/>
            </a:solidFill>
          </a:ln>
        </p:spPr>
        <p:txBody>
          <a:bodyPr rtlCol="0" anchor="ctr"/>
          <a:lstStyle/>
          <a:p>
            <a:endParaRPr/>
          </a:p>
        </p:txBody>
      </p:sp>
      <p:sp>
        <p:nvSpPr>
          <p:cNvPr id="24" name="TextBox 23"/>
          <p:cNvSpPr txBox="1"/>
          <p:nvPr/>
        </p:nvSpPr>
        <p:spPr>
          <a:xfrm>
            <a:off x="733425" y="4648200"/>
            <a:ext cx="3451955"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Medium"/>
                <a:ea typeface="Inter Medium"/>
                <a:cs typeface="Inter Medium"/>
              </a:rPr>
              <a:t>Hook </a:t>
            </a:r>
            <a:r>
              <a:rPr sz="1050" b="0" i="0">
                <a:solidFill>
                  <a:srgbClr val="1C2433"/>
                </a:solidFill>
                <a:latin typeface="JetBrains Mono Medium"/>
                <a:ea typeface="JetBrains Mono Medium"/>
                <a:cs typeface="JetBrains Mono Medium"/>
              </a:rPr>
              <a:t>PreToolUse</a:t>
            </a:r>
            <a:r>
              <a:rPr sz="1100" b="0" i="0">
                <a:solidFill>
                  <a:srgbClr val="1C2433"/>
                </a:solidFill>
                <a:latin typeface="Inter Medium"/>
                <a:ea typeface="Inter Medium"/>
                <a:cs typeface="Inter Medium"/>
              </a:rPr>
              <a:t>: policy de palabras prohibidas</a:t>
            </a:r>
          </a:p>
        </p:txBody>
      </p:sp>
      <p:sp>
        <p:nvSpPr>
          <p:cNvPr id="25" name="Rounded Rectangle 24"/>
          <p:cNvSpPr/>
          <p:nvPr/>
        </p:nvSpPr>
        <p:spPr>
          <a:xfrm>
            <a:off x="4254103" y="4572000"/>
            <a:ext cx="5455444" cy="342900"/>
          </a:xfrm>
          <a:prstGeom prst="roundRect">
            <a:avLst>
              <a:gd name="adj" fmla="val 19444"/>
            </a:avLst>
          </a:prstGeom>
          <a:solidFill>
            <a:srgbClr val="EEE0C0"/>
          </a:solidFill>
          <a:ln w="9525">
            <a:solidFill>
              <a:srgbClr val="C9A34E"/>
            </a:solidFill>
          </a:ln>
        </p:spPr>
        <p:txBody>
          <a:bodyPr rtlCol="0" anchor="ctr"/>
          <a:lstStyle/>
          <a:p>
            <a:endParaRPr/>
          </a:p>
        </p:txBody>
      </p:sp>
      <p:sp>
        <p:nvSpPr>
          <p:cNvPr id="26" name="TextBox 25"/>
          <p:cNvSpPr txBox="1"/>
          <p:nvPr/>
        </p:nvSpPr>
        <p:spPr>
          <a:xfrm>
            <a:off x="4377928" y="4648200"/>
            <a:ext cx="5454206"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Medium"/>
                <a:ea typeface="Inter Medium"/>
                <a:cs typeface="Inter Medium"/>
              </a:rPr>
              <a:t>Retries con límite: 2 por capítulo · 5 huecos por Plotting · 2 rechazos del juez</a:t>
            </a:r>
          </a:p>
        </p:txBody>
      </p:sp>
      <p:sp>
        <p:nvSpPr>
          <p:cNvPr id="27" name="TextBox 26"/>
          <p:cNvSpPr txBox="1"/>
          <p:nvPr/>
        </p:nvSpPr>
        <p:spPr>
          <a:xfrm>
            <a:off x="609600" y="5057775"/>
            <a:ext cx="7246263" cy="190500"/>
          </a:xfrm>
          <a:prstGeom prst="rect">
            <a:avLst/>
          </a:prstGeom>
          <a:noFill/>
        </p:spPr>
        <p:txBody>
          <a:bodyPr wrap="none" lIns="0" tIns="0" rIns="0" bIns="0" anchor="t">
            <a:noAutofit/>
          </a:bodyPr>
          <a:lstStyle/>
          <a:p>
            <a:pPr algn="l">
              <a:lnSpc>
                <a:spcPts val="1425"/>
              </a:lnSpc>
              <a:spcBef>
                <a:spcPts val="0"/>
              </a:spcBef>
              <a:spcAft>
                <a:spcPts val="0"/>
              </a:spcAft>
            </a:pPr>
            <a:r>
              <a:rPr sz="1200" b="0" i="0">
                <a:solidFill>
                  <a:srgbClr val="7D7869"/>
                </a:solidFill>
                <a:latin typeface="Inter"/>
                <a:ea typeface="Inter"/>
                <a:cs typeface="Inter"/>
              </a:rPr>
              <a:t>Los hooks y la skill usan exactamente el mismo Core Domain en Python que los nodos del grafo.</a:t>
            </a:r>
          </a:p>
        </p:txBody>
      </p:sp>
      <p:pic>
        <p:nvPicPr>
          <p:cNvPr id="28" name="Picture 27" descr="r003.png"/>
          <p:cNvPicPr>
            <a:picLocks noChangeAspect="1"/>
          </p:cNvPicPr>
          <p:nvPr/>
        </p:nvPicPr>
        <p:blipFill>
          <a:blip r:embed="rId3"/>
          <a:stretch>
            <a:fillRect/>
          </a:stretch>
        </p:blipFill>
        <p:spPr>
          <a:xfrm>
            <a:off x="381000" y="6343650"/>
            <a:ext cx="11430000" cy="76200"/>
          </a:xfrm>
          <a:prstGeom prst="rect">
            <a:avLst/>
          </a:prstGeom>
        </p:spPr>
      </p:pic>
      <p:pic>
        <p:nvPicPr>
          <p:cNvPr id="29" name="Picture 28" descr="r004.png"/>
          <p:cNvPicPr>
            <a:picLocks noChangeAspect="1"/>
          </p:cNvPicPr>
          <p:nvPr/>
        </p:nvPicPr>
        <p:blipFill>
          <a:blip r:embed="rId4"/>
          <a:stretch>
            <a:fillRect/>
          </a:stretch>
        </p:blipFill>
        <p:spPr>
          <a:xfrm>
            <a:off x="381000" y="6505575"/>
            <a:ext cx="171450" cy="190500"/>
          </a:xfrm>
          <a:prstGeom prst="rect">
            <a:avLst/>
          </a:prstGeom>
        </p:spPr>
      </p:pic>
      <p:sp>
        <p:nvSpPr>
          <p:cNvPr id="30" name="TextBox 29"/>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31" name="TextBox 30"/>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2" name="TextBox 31"/>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33" name="TextBox 32"/>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10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91023" y="323850"/>
            <a:ext cx="971121"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VALIDACIÓN</a:t>
            </a:r>
          </a:p>
        </p:txBody>
      </p:sp>
      <p:sp>
        <p:nvSpPr>
          <p:cNvPr id="3" name="TextBox 2"/>
          <p:cNvSpPr txBox="1"/>
          <p:nvPr/>
        </p:nvSpPr>
        <p:spPr>
          <a:xfrm>
            <a:off x="609600" y="323850"/>
            <a:ext cx="95966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a:t>
            </a:r>
          </a:p>
        </p:txBody>
      </p:sp>
      <p:sp>
        <p:nvSpPr>
          <p:cNvPr id="4" name="Rectangle 3"/>
          <p:cNvSpPr/>
          <p:nvPr/>
        </p:nvSpPr>
        <p:spPr>
          <a:xfrm>
            <a:off x="1610023" y="395288"/>
            <a:ext cx="266700" cy="9525"/>
          </a:xfrm>
          <a:prstGeom prst="rect">
            <a:avLst/>
          </a:prstGeom>
          <a:noFill/>
          <a:ln>
            <a:noFill/>
          </a:ln>
        </p:spPr>
        <p:txBody>
          <a:bodyPr rtlCol="0" anchor="ctr"/>
          <a:lstStyle/>
          <a:p>
            <a:endParaRPr/>
          </a:p>
        </p:txBody>
      </p:sp>
      <p:cxnSp>
        <p:nvCxnSpPr>
          <p:cNvPr id="5" name="Connector 4"/>
          <p:cNvCxnSpPr/>
          <p:nvPr/>
        </p:nvCxnSpPr>
        <p:spPr>
          <a:xfrm>
            <a:off x="1610023" y="400050"/>
            <a:ext cx="266700" cy="0"/>
          </a:xfrm>
          <a:prstGeom prst="line">
            <a:avLst/>
          </a:prstGeom>
          <a:ln w="9525">
            <a:solidFill>
              <a:srgbClr val="C9A34E"/>
            </a:solidFill>
          </a:ln>
        </p:spPr>
      </p:cxnSp>
      <p:sp>
        <p:nvSpPr>
          <p:cNvPr id="6" name="TextBox 5"/>
          <p:cNvSpPr txBox="1"/>
          <p:nvPr/>
        </p:nvSpPr>
        <p:spPr>
          <a:xfrm>
            <a:off x="609600" y="561975"/>
            <a:ext cx="10901422"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Cuatro familias de validadores, cada una en su punto del harness</a:t>
            </a:r>
          </a:p>
        </p:txBody>
      </p:sp>
      <p:sp>
        <p:nvSpPr>
          <p:cNvPr id="7" name="Rectangle 6"/>
          <p:cNvSpPr/>
          <p:nvPr/>
        </p:nvSpPr>
        <p:spPr>
          <a:xfrm>
            <a:off x="609600" y="1257300"/>
            <a:ext cx="1123950" cy="457200"/>
          </a:xfrm>
          <a:prstGeom prst="rect">
            <a:avLst/>
          </a:prstGeom>
          <a:solidFill>
            <a:srgbClr val="1C2433"/>
          </a:solidFill>
          <a:ln>
            <a:noFill/>
          </a:ln>
        </p:spPr>
        <p:txBody>
          <a:bodyPr rtlCol="0" anchor="ctr"/>
          <a:lstStyle/>
          <a:p>
            <a:endParaRPr/>
          </a:p>
        </p:txBody>
      </p:sp>
      <p:sp>
        <p:nvSpPr>
          <p:cNvPr id="8" name="TextBox 7"/>
          <p:cNvSpPr txBox="1"/>
          <p:nvPr/>
        </p:nvSpPr>
        <p:spPr>
          <a:xfrm>
            <a:off x="704850" y="1485900"/>
            <a:ext cx="510028"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Familia</a:t>
            </a:r>
          </a:p>
        </p:txBody>
      </p:sp>
      <p:sp>
        <p:nvSpPr>
          <p:cNvPr id="9" name="Rectangle 8"/>
          <p:cNvSpPr/>
          <p:nvPr/>
        </p:nvSpPr>
        <p:spPr>
          <a:xfrm>
            <a:off x="1733550" y="1257300"/>
            <a:ext cx="1390650" cy="457200"/>
          </a:xfrm>
          <a:prstGeom prst="rect">
            <a:avLst/>
          </a:prstGeom>
          <a:solidFill>
            <a:srgbClr val="1C2433"/>
          </a:solidFill>
          <a:ln>
            <a:noFill/>
          </a:ln>
        </p:spPr>
        <p:txBody>
          <a:bodyPr rtlCol="0" anchor="ctr"/>
          <a:lstStyle/>
          <a:p>
            <a:endParaRPr/>
          </a:p>
        </p:txBody>
      </p:sp>
      <p:sp>
        <p:nvSpPr>
          <p:cNvPr id="10" name="TextBox 9"/>
          <p:cNvSpPr txBox="1"/>
          <p:nvPr/>
        </p:nvSpPr>
        <p:spPr>
          <a:xfrm>
            <a:off x="1962150" y="1323975"/>
            <a:ext cx="1101890" cy="323850"/>
          </a:xfrm>
          <a:prstGeom prst="rect">
            <a:avLst/>
          </a:prstGeom>
          <a:noFill/>
        </p:spPr>
        <p:txBody>
          <a:bodyPr wrap="squar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Intake · Investigation</a:t>
            </a:r>
          </a:p>
        </p:txBody>
      </p:sp>
      <p:sp>
        <p:nvSpPr>
          <p:cNvPr id="11" name="Rectangle 10"/>
          <p:cNvSpPr/>
          <p:nvPr/>
        </p:nvSpPr>
        <p:spPr>
          <a:xfrm>
            <a:off x="3124200" y="1257300"/>
            <a:ext cx="1543050" cy="457200"/>
          </a:xfrm>
          <a:prstGeom prst="rect">
            <a:avLst/>
          </a:prstGeom>
          <a:solidFill>
            <a:srgbClr val="1C2433"/>
          </a:solidFill>
          <a:ln>
            <a:noFill/>
          </a:ln>
        </p:spPr>
        <p:txBody>
          <a:bodyPr rtlCol="0" anchor="ctr"/>
          <a:lstStyle/>
          <a:p>
            <a:endParaRPr/>
          </a:p>
        </p:txBody>
      </p:sp>
      <p:sp>
        <p:nvSpPr>
          <p:cNvPr id="12" name="TextBox 11"/>
          <p:cNvSpPr txBox="1"/>
          <p:nvPr/>
        </p:nvSpPr>
        <p:spPr>
          <a:xfrm>
            <a:off x="3352800" y="1485900"/>
            <a:ext cx="1104852"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Gate de Plotting</a:t>
            </a:r>
          </a:p>
        </p:txBody>
      </p:sp>
      <p:sp>
        <p:nvSpPr>
          <p:cNvPr id="13" name="Rectangle 12"/>
          <p:cNvSpPr/>
          <p:nvPr/>
        </p:nvSpPr>
        <p:spPr>
          <a:xfrm>
            <a:off x="4667250" y="1257300"/>
            <a:ext cx="1752600" cy="457200"/>
          </a:xfrm>
          <a:prstGeom prst="rect">
            <a:avLst/>
          </a:prstGeom>
          <a:solidFill>
            <a:srgbClr val="1C2433"/>
          </a:solidFill>
          <a:ln>
            <a:noFill/>
          </a:ln>
        </p:spPr>
        <p:txBody>
          <a:bodyPr rtlCol="0" anchor="ctr"/>
          <a:lstStyle/>
          <a:p>
            <a:endParaRPr/>
          </a:p>
        </p:txBody>
      </p:sp>
      <p:sp>
        <p:nvSpPr>
          <p:cNvPr id="14" name="TextBox 13"/>
          <p:cNvSpPr txBox="1"/>
          <p:nvPr/>
        </p:nvSpPr>
        <p:spPr>
          <a:xfrm>
            <a:off x="4895850" y="1485900"/>
            <a:ext cx="1267682"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Post WriteChapter</a:t>
            </a:r>
          </a:p>
        </p:txBody>
      </p:sp>
      <p:sp>
        <p:nvSpPr>
          <p:cNvPr id="15" name="Rectangle 14"/>
          <p:cNvSpPr/>
          <p:nvPr/>
        </p:nvSpPr>
        <p:spPr>
          <a:xfrm>
            <a:off x="6419850" y="1257300"/>
            <a:ext cx="1600200" cy="457200"/>
          </a:xfrm>
          <a:prstGeom prst="rect">
            <a:avLst/>
          </a:prstGeom>
          <a:solidFill>
            <a:srgbClr val="1C2433"/>
          </a:solidFill>
          <a:ln>
            <a:noFill/>
          </a:ln>
        </p:spPr>
        <p:txBody>
          <a:bodyPr rtlCol="0" anchor="ctr"/>
          <a:lstStyle/>
          <a:p>
            <a:endParaRPr/>
          </a:p>
        </p:txBody>
      </p:sp>
      <p:sp>
        <p:nvSpPr>
          <p:cNvPr id="16" name="TextBox 15"/>
          <p:cNvSpPr txBox="1"/>
          <p:nvPr/>
        </p:nvSpPr>
        <p:spPr>
          <a:xfrm>
            <a:off x="6648450" y="1485900"/>
            <a:ext cx="848380"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Post Extract</a:t>
            </a:r>
          </a:p>
        </p:txBody>
      </p:sp>
      <p:sp>
        <p:nvSpPr>
          <p:cNvPr id="17" name="Rectangle 16"/>
          <p:cNvSpPr/>
          <p:nvPr/>
        </p:nvSpPr>
        <p:spPr>
          <a:xfrm>
            <a:off x="8020050" y="1257300"/>
            <a:ext cx="2114550" cy="457200"/>
          </a:xfrm>
          <a:prstGeom prst="rect">
            <a:avLst/>
          </a:prstGeom>
          <a:solidFill>
            <a:srgbClr val="1C2433"/>
          </a:solidFill>
          <a:ln>
            <a:noFill/>
          </a:ln>
        </p:spPr>
        <p:txBody>
          <a:bodyPr rtlCol="0" anchor="ctr"/>
          <a:lstStyle/>
          <a:p>
            <a:endParaRPr/>
          </a:p>
        </p:txBody>
      </p:sp>
      <p:sp>
        <p:nvSpPr>
          <p:cNvPr id="18" name="TextBox 17"/>
          <p:cNvSpPr txBox="1"/>
          <p:nvPr/>
        </p:nvSpPr>
        <p:spPr>
          <a:xfrm>
            <a:off x="8248650" y="1485900"/>
            <a:ext cx="1215521"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Antes de publicar</a:t>
            </a:r>
          </a:p>
        </p:txBody>
      </p:sp>
      <p:sp>
        <p:nvSpPr>
          <p:cNvPr id="19" name="Rectangle 18"/>
          <p:cNvSpPr/>
          <p:nvPr/>
        </p:nvSpPr>
        <p:spPr>
          <a:xfrm>
            <a:off x="10134600" y="1257300"/>
            <a:ext cx="1447800" cy="457200"/>
          </a:xfrm>
          <a:prstGeom prst="rect">
            <a:avLst/>
          </a:prstGeom>
          <a:solidFill>
            <a:srgbClr val="1C2433"/>
          </a:solidFill>
          <a:ln>
            <a:noFill/>
          </a:ln>
        </p:spPr>
        <p:txBody>
          <a:bodyPr rtlCol="0" anchor="ctr"/>
          <a:lstStyle/>
          <a:p>
            <a:endParaRPr/>
          </a:p>
        </p:txBody>
      </p:sp>
      <p:sp>
        <p:nvSpPr>
          <p:cNvPr id="20" name="TextBox 19"/>
          <p:cNvSpPr txBox="1"/>
          <p:nvPr/>
        </p:nvSpPr>
        <p:spPr>
          <a:xfrm>
            <a:off x="10363200" y="1323975"/>
            <a:ext cx="1159383" cy="323850"/>
          </a:xfrm>
          <a:prstGeom prst="rect">
            <a:avLst/>
          </a:prstGeom>
          <a:noFill/>
        </p:spPr>
        <p:txBody>
          <a:bodyPr wrap="square" lIns="0" tIns="0" rIns="0" bIns="0" anchor="t">
            <a:noAutofit/>
          </a:bodyPr>
          <a:lstStyle/>
          <a:p>
            <a:pPr algn="l">
              <a:lnSpc>
                <a:spcPts val="1275"/>
              </a:lnSpc>
              <a:spcBef>
                <a:spcPts val="0"/>
              </a:spcBef>
              <a:spcAft>
                <a:spcPts val="0"/>
              </a:spcAft>
            </a:pPr>
            <a:r>
              <a:rPr sz="1050" b="0" i="0">
                <a:solidFill>
                  <a:srgbClr val="F5EFE3"/>
                </a:solidFill>
                <a:latin typeface="Inter SemiBold"/>
                <a:ea typeface="Inter SemiBold"/>
                <a:cs typeface="Inter SemiBold"/>
              </a:rPr>
              <a:t>Desarrollo · fuera de línea</a:t>
            </a:r>
          </a:p>
        </p:txBody>
      </p:sp>
      <p:sp>
        <p:nvSpPr>
          <p:cNvPr id="21" name="Rectangle 20"/>
          <p:cNvSpPr/>
          <p:nvPr/>
        </p:nvSpPr>
        <p:spPr>
          <a:xfrm>
            <a:off x="609600" y="1714500"/>
            <a:ext cx="1123950" cy="947738"/>
          </a:xfrm>
          <a:prstGeom prst="rect">
            <a:avLst/>
          </a:prstGeom>
          <a:solidFill>
            <a:srgbClr val="E8E3D8"/>
          </a:solidFill>
          <a:ln>
            <a:noFill/>
          </a:ln>
        </p:spPr>
        <p:txBody>
          <a:bodyPr rtlCol="0" anchor="ctr"/>
          <a:lstStyle/>
          <a:p>
            <a:endParaRPr/>
          </a:p>
        </p:txBody>
      </p:sp>
      <p:cxnSp>
        <p:nvCxnSpPr>
          <p:cNvPr id="22" name="Connector 21"/>
          <p:cNvCxnSpPr/>
          <p:nvPr/>
        </p:nvCxnSpPr>
        <p:spPr>
          <a:xfrm>
            <a:off x="609600" y="2657475"/>
            <a:ext cx="1123950" cy="0"/>
          </a:xfrm>
          <a:prstGeom prst="line">
            <a:avLst/>
          </a:prstGeom>
          <a:ln w="9525">
            <a:solidFill>
              <a:srgbClr val="D9D2C3"/>
            </a:solidFill>
          </a:ln>
        </p:spPr>
      </p:cxnSp>
      <p:sp>
        <p:nvSpPr>
          <p:cNvPr id="23" name="TextBox 22"/>
          <p:cNvSpPr txBox="1"/>
          <p:nvPr/>
        </p:nvSpPr>
        <p:spPr>
          <a:xfrm>
            <a:off x="704850" y="1781175"/>
            <a:ext cx="1085195"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Programáticos</a:t>
            </a:r>
          </a:p>
        </p:txBody>
      </p:sp>
      <p:sp>
        <p:nvSpPr>
          <p:cNvPr id="24" name="TextBox 23"/>
          <p:cNvSpPr txBox="1"/>
          <p:nvPr/>
        </p:nvSpPr>
        <p:spPr>
          <a:xfrm>
            <a:off x="704850" y="1971675"/>
            <a:ext cx="967740" cy="333375"/>
          </a:xfrm>
          <a:prstGeom prst="rect">
            <a:avLst/>
          </a:prstGeom>
          <a:noFill/>
        </p:spPr>
        <p:txBody>
          <a:bodyPr wrap="square" lIns="0" tIns="0" rIns="0" bIns="0" anchor="t">
            <a:noAutofit/>
          </a:bodyPr>
          <a:lstStyle/>
          <a:p>
            <a:pPr algn="l">
              <a:lnSpc>
                <a:spcPts val="1425"/>
              </a:lnSpc>
              <a:spcBef>
                <a:spcPts val="0"/>
              </a:spcBef>
              <a:spcAft>
                <a:spcPts val="0"/>
              </a:spcAft>
            </a:pPr>
            <a:r>
              <a:rPr sz="1000" b="0" i="0">
                <a:solidFill>
                  <a:srgbClr val="7D7869"/>
                </a:solidFill>
                <a:latin typeface="Inter"/>
                <a:ea typeface="Inter"/>
                <a:cs typeface="Inter"/>
              </a:rPr>
              <a:t>11, deterministas</a:t>
            </a:r>
          </a:p>
        </p:txBody>
      </p:sp>
      <p:sp>
        <p:nvSpPr>
          <p:cNvPr id="25" name="Rectangle 24"/>
          <p:cNvSpPr/>
          <p:nvPr/>
        </p:nvSpPr>
        <p:spPr>
          <a:xfrm>
            <a:off x="1733550" y="1714500"/>
            <a:ext cx="1390650" cy="947738"/>
          </a:xfrm>
          <a:prstGeom prst="rect">
            <a:avLst/>
          </a:prstGeom>
          <a:noFill/>
          <a:ln>
            <a:noFill/>
          </a:ln>
        </p:spPr>
        <p:txBody>
          <a:bodyPr rtlCol="0" anchor="ctr"/>
          <a:lstStyle/>
          <a:p>
            <a:endParaRPr/>
          </a:p>
        </p:txBody>
      </p:sp>
      <p:cxnSp>
        <p:nvCxnSpPr>
          <p:cNvPr id="26" name="Connector 25"/>
          <p:cNvCxnSpPr/>
          <p:nvPr/>
        </p:nvCxnSpPr>
        <p:spPr>
          <a:xfrm>
            <a:off x="1733550" y="2657475"/>
            <a:ext cx="1390650" cy="0"/>
          </a:xfrm>
          <a:prstGeom prst="line">
            <a:avLst/>
          </a:prstGeom>
          <a:ln w="9525">
            <a:solidFill>
              <a:srgbClr val="D9D2C3"/>
            </a:solidFill>
          </a:ln>
        </p:spPr>
      </p:cxnSp>
      <p:sp>
        <p:nvSpPr>
          <p:cNvPr id="27" name="TextBox 26"/>
          <p:cNvSpPr txBox="1"/>
          <p:nvPr/>
        </p:nvSpPr>
        <p:spPr>
          <a:xfrm>
            <a:off x="1962150" y="1943100"/>
            <a:ext cx="961061"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todos los roles</a:t>
            </a:r>
          </a:p>
        </p:txBody>
      </p:sp>
      <p:sp>
        <p:nvSpPr>
          <p:cNvPr id="28" name="Rounded Rectangle 27"/>
          <p:cNvSpPr/>
          <p:nvPr/>
        </p:nvSpPr>
        <p:spPr>
          <a:xfrm>
            <a:off x="1800225" y="1809750"/>
            <a:ext cx="104775" cy="104775"/>
          </a:xfrm>
          <a:prstGeom prst="roundRect">
            <a:avLst>
              <a:gd name="adj" fmla="val 50000"/>
            </a:avLst>
          </a:prstGeom>
          <a:solidFill>
            <a:srgbClr val="C9A34E"/>
          </a:solidFill>
          <a:ln>
            <a:noFill/>
          </a:ln>
        </p:spPr>
        <p:txBody>
          <a:bodyPr rtlCol="0" anchor="ctr"/>
          <a:lstStyle/>
          <a:p>
            <a:endParaRPr/>
          </a:p>
        </p:txBody>
      </p:sp>
      <p:sp>
        <p:nvSpPr>
          <p:cNvPr id="29" name="TextBox 28"/>
          <p:cNvSpPr txBox="1"/>
          <p:nvPr/>
        </p:nvSpPr>
        <p:spPr>
          <a:xfrm>
            <a:off x="1962150" y="1781175"/>
            <a:ext cx="92964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schema_guard</a:t>
            </a:r>
          </a:p>
        </p:txBody>
      </p:sp>
      <p:sp>
        <p:nvSpPr>
          <p:cNvPr id="30" name="Rectangle 29"/>
          <p:cNvSpPr/>
          <p:nvPr/>
        </p:nvSpPr>
        <p:spPr>
          <a:xfrm>
            <a:off x="3124200" y="1714500"/>
            <a:ext cx="1543050" cy="947738"/>
          </a:xfrm>
          <a:prstGeom prst="rect">
            <a:avLst/>
          </a:prstGeom>
          <a:noFill/>
          <a:ln>
            <a:noFill/>
          </a:ln>
        </p:spPr>
        <p:txBody>
          <a:bodyPr rtlCol="0" anchor="ctr"/>
          <a:lstStyle/>
          <a:p>
            <a:endParaRPr/>
          </a:p>
        </p:txBody>
      </p:sp>
      <p:cxnSp>
        <p:nvCxnSpPr>
          <p:cNvPr id="31" name="Connector 30"/>
          <p:cNvCxnSpPr/>
          <p:nvPr/>
        </p:nvCxnSpPr>
        <p:spPr>
          <a:xfrm>
            <a:off x="3124200" y="2657475"/>
            <a:ext cx="1543050" cy="0"/>
          </a:xfrm>
          <a:prstGeom prst="line">
            <a:avLst/>
          </a:prstGeom>
          <a:ln w="9525">
            <a:solidFill>
              <a:srgbClr val="D9D2C3"/>
            </a:solidFill>
          </a:ln>
        </p:spPr>
      </p:cxnSp>
      <p:sp>
        <p:nvSpPr>
          <p:cNvPr id="32" name="Rounded Rectangle 31"/>
          <p:cNvSpPr/>
          <p:nvPr/>
        </p:nvSpPr>
        <p:spPr>
          <a:xfrm>
            <a:off x="3190875" y="1809750"/>
            <a:ext cx="104775" cy="104775"/>
          </a:xfrm>
          <a:prstGeom prst="roundRect">
            <a:avLst>
              <a:gd name="adj" fmla="val 50000"/>
            </a:avLst>
          </a:prstGeom>
          <a:solidFill>
            <a:srgbClr val="C9A34E"/>
          </a:solidFill>
          <a:ln>
            <a:noFill/>
          </a:ln>
        </p:spPr>
        <p:txBody>
          <a:bodyPr rtlCol="0" anchor="ctr"/>
          <a:lstStyle/>
          <a:p>
            <a:endParaRPr/>
          </a:p>
        </p:txBody>
      </p:sp>
      <p:sp>
        <p:nvSpPr>
          <p:cNvPr id="33" name="TextBox 32"/>
          <p:cNvSpPr txBox="1"/>
          <p:nvPr/>
        </p:nvSpPr>
        <p:spPr>
          <a:xfrm>
            <a:off x="3352800" y="1781175"/>
            <a:ext cx="130111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cobertura_anclada</a:t>
            </a:r>
          </a:p>
        </p:txBody>
      </p:sp>
      <p:sp>
        <p:nvSpPr>
          <p:cNvPr id="34" name="TextBox 33"/>
          <p:cNvSpPr txBox="1"/>
          <p:nvPr/>
        </p:nvSpPr>
        <p:spPr>
          <a:xfrm>
            <a:off x="3352800" y="1943100"/>
            <a:ext cx="92964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arco_anclado</a:t>
            </a:r>
          </a:p>
        </p:txBody>
      </p:sp>
      <p:sp>
        <p:nvSpPr>
          <p:cNvPr id="35" name="Rectangle 34"/>
          <p:cNvSpPr/>
          <p:nvPr/>
        </p:nvSpPr>
        <p:spPr>
          <a:xfrm>
            <a:off x="4667250" y="1714500"/>
            <a:ext cx="1752600" cy="947738"/>
          </a:xfrm>
          <a:prstGeom prst="rect">
            <a:avLst/>
          </a:prstGeom>
          <a:noFill/>
          <a:ln>
            <a:noFill/>
          </a:ln>
        </p:spPr>
        <p:txBody>
          <a:bodyPr rtlCol="0" anchor="ctr"/>
          <a:lstStyle/>
          <a:p>
            <a:endParaRPr/>
          </a:p>
        </p:txBody>
      </p:sp>
      <p:cxnSp>
        <p:nvCxnSpPr>
          <p:cNvPr id="36" name="Connector 35"/>
          <p:cNvCxnSpPr/>
          <p:nvPr/>
        </p:nvCxnSpPr>
        <p:spPr>
          <a:xfrm>
            <a:off x="4667250" y="2657475"/>
            <a:ext cx="1752600" cy="0"/>
          </a:xfrm>
          <a:prstGeom prst="line">
            <a:avLst/>
          </a:prstGeom>
          <a:ln w="9525">
            <a:solidFill>
              <a:srgbClr val="D9D2C3"/>
            </a:solidFill>
          </a:ln>
        </p:spPr>
      </p:cxnSp>
      <p:sp>
        <p:nvSpPr>
          <p:cNvPr id="37" name="Rounded Rectangle 36"/>
          <p:cNvSpPr/>
          <p:nvPr/>
        </p:nvSpPr>
        <p:spPr>
          <a:xfrm>
            <a:off x="4733925" y="1809750"/>
            <a:ext cx="104775" cy="104775"/>
          </a:xfrm>
          <a:prstGeom prst="roundRect">
            <a:avLst>
              <a:gd name="adj" fmla="val 50000"/>
            </a:avLst>
          </a:prstGeom>
          <a:solidFill>
            <a:srgbClr val="C9A34E"/>
          </a:solidFill>
          <a:ln>
            <a:noFill/>
          </a:ln>
        </p:spPr>
        <p:txBody>
          <a:bodyPr rtlCol="0" anchor="ctr"/>
          <a:lstStyle/>
          <a:p>
            <a:endParaRPr/>
          </a:p>
        </p:txBody>
      </p:sp>
      <p:sp>
        <p:nvSpPr>
          <p:cNvPr id="38" name="TextBox 37"/>
          <p:cNvSpPr txBox="1"/>
          <p:nvPr/>
        </p:nvSpPr>
        <p:spPr>
          <a:xfrm>
            <a:off x="4895850" y="1781175"/>
            <a:ext cx="115252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nombres_exactos</a:t>
            </a:r>
          </a:p>
        </p:txBody>
      </p:sp>
      <p:sp>
        <p:nvSpPr>
          <p:cNvPr id="39" name="TextBox 38"/>
          <p:cNvSpPr txBox="1"/>
          <p:nvPr/>
        </p:nvSpPr>
        <p:spPr>
          <a:xfrm>
            <a:off x="4895850" y="1943100"/>
            <a:ext cx="130111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longitud_capitulo</a:t>
            </a:r>
          </a:p>
        </p:txBody>
      </p:sp>
      <p:sp>
        <p:nvSpPr>
          <p:cNvPr id="40" name="TextBox 39"/>
          <p:cNvSpPr txBox="1"/>
          <p:nvPr/>
        </p:nvSpPr>
        <p:spPr>
          <a:xfrm>
            <a:off x="4895850" y="2105025"/>
            <a:ext cx="152400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guardrail_prohibidas</a:t>
            </a:r>
          </a:p>
        </p:txBody>
      </p:sp>
      <p:sp>
        <p:nvSpPr>
          <p:cNvPr id="41" name="TextBox 40"/>
          <p:cNvSpPr txBox="1"/>
          <p:nvPr/>
        </p:nvSpPr>
        <p:spPr>
          <a:xfrm>
            <a:off x="4895850" y="2266950"/>
            <a:ext cx="144970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anacronismo_fechado</a:t>
            </a:r>
          </a:p>
        </p:txBody>
      </p:sp>
      <p:sp>
        <p:nvSpPr>
          <p:cNvPr id="42" name="TextBox 41"/>
          <p:cNvSpPr txBox="1"/>
          <p:nvPr/>
        </p:nvSpPr>
        <p:spPr>
          <a:xfrm>
            <a:off x="4895850" y="2428875"/>
            <a:ext cx="107823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anclaje_valido</a:t>
            </a:r>
          </a:p>
        </p:txBody>
      </p:sp>
      <p:sp>
        <p:nvSpPr>
          <p:cNvPr id="43" name="Rectangle 42"/>
          <p:cNvSpPr/>
          <p:nvPr/>
        </p:nvSpPr>
        <p:spPr>
          <a:xfrm>
            <a:off x="6419850" y="1714500"/>
            <a:ext cx="1600200" cy="947738"/>
          </a:xfrm>
          <a:prstGeom prst="rect">
            <a:avLst/>
          </a:prstGeom>
          <a:noFill/>
          <a:ln>
            <a:noFill/>
          </a:ln>
        </p:spPr>
        <p:txBody>
          <a:bodyPr rtlCol="0" anchor="ctr"/>
          <a:lstStyle/>
          <a:p>
            <a:endParaRPr/>
          </a:p>
        </p:txBody>
      </p:sp>
      <p:cxnSp>
        <p:nvCxnSpPr>
          <p:cNvPr id="44" name="Connector 43"/>
          <p:cNvCxnSpPr/>
          <p:nvPr/>
        </p:nvCxnSpPr>
        <p:spPr>
          <a:xfrm>
            <a:off x="6419850" y="2657475"/>
            <a:ext cx="1600200" cy="0"/>
          </a:xfrm>
          <a:prstGeom prst="line">
            <a:avLst/>
          </a:prstGeom>
          <a:ln w="9525">
            <a:solidFill>
              <a:srgbClr val="D9D2C3"/>
            </a:solidFill>
          </a:ln>
        </p:spPr>
      </p:cxnSp>
      <p:sp>
        <p:nvSpPr>
          <p:cNvPr id="45" name="TextBox 44"/>
          <p:cNvSpPr txBox="1"/>
          <p:nvPr/>
        </p:nvSpPr>
        <p:spPr>
          <a:xfrm>
            <a:off x="6648450" y="1943100"/>
            <a:ext cx="364534"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avisa</a:t>
            </a:r>
          </a:p>
        </p:txBody>
      </p:sp>
      <p:sp>
        <p:nvSpPr>
          <p:cNvPr id="46" name="Rounded Rectangle 45"/>
          <p:cNvSpPr/>
          <p:nvPr/>
        </p:nvSpPr>
        <p:spPr>
          <a:xfrm>
            <a:off x="6486525" y="1809750"/>
            <a:ext cx="104775" cy="104775"/>
          </a:xfrm>
          <a:prstGeom prst="roundRect">
            <a:avLst>
              <a:gd name="adj" fmla="val 50000"/>
            </a:avLst>
          </a:prstGeom>
          <a:solidFill>
            <a:srgbClr val="C9A34E"/>
          </a:solidFill>
          <a:ln>
            <a:noFill/>
          </a:ln>
        </p:spPr>
        <p:txBody>
          <a:bodyPr rtlCol="0" anchor="ctr"/>
          <a:lstStyle/>
          <a:p>
            <a:endParaRPr/>
          </a:p>
        </p:txBody>
      </p:sp>
      <p:sp>
        <p:nvSpPr>
          <p:cNvPr id="47" name="TextBox 46"/>
          <p:cNvSpPr txBox="1"/>
          <p:nvPr/>
        </p:nvSpPr>
        <p:spPr>
          <a:xfrm>
            <a:off x="6648450" y="1781175"/>
            <a:ext cx="137541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8A6D28"/>
                </a:solidFill>
                <a:latin typeface="JetBrains Mono Medium"/>
                <a:ea typeface="JetBrains Mono Medium"/>
                <a:cs typeface="JetBrains Mono Medium"/>
              </a:rPr>
              <a:t>cobertura_capitulo</a:t>
            </a:r>
          </a:p>
        </p:txBody>
      </p:sp>
      <p:sp>
        <p:nvSpPr>
          <p:cNvPr id="48" name="Rectangle 47"/>
          <p:cNvSpPr/>
          <p:nvPr/>
        </p:nvSpPr>
        <p:spPr>
          <a:xfrm>
            <a:off x="8020050" y="1714500"/>
            <a:ext cx="2114550" cy="947738"/>
          </a:xfrm>
          <a:prstGeom prst="rect">
            <a:avLst/>
          </a:prstGeom>
          <a:noFill/>
          <a:ln>
            <a:noFill/>
          </a:ln>
        </p:spPr>
        <p:txBody>
          <a:bodyPr rtlCol="0" anchor="ctr"/>
          <a:lstStyle/>
          <a:p>
            <a:endParaRPr/>
          </a:p>
        </p:txBody>
      </p:sp>
      <p:cxnSp>
        <p:nvCxnSpPr>
          <p:cNvPr id="49" name="Connector 48"/>
          <p:cNvCxnSpPr/>
          <p:nvPr/>
        </p:nvCxnSpPr>
        <p:spPr>
          <a:xfrm>
            <a:off x="8020050" y="2657475"/>
            <a:ext cx="2114550" cy="0"/>
          </a:xfrm>
          <a:prstGeom prst="line">
            <a:avLst/>
          </a:prstGeom>
          <a:ln w="9525">
            <a:solidFill>
              <a:srgbClr val="D9D2C3"/>
            </a:solidFill>
          </a:ln>
        </p:spPr>
      </p:cxnSp>
      <p:sp>
        <p:nvSpPr>
          <p:cNvPr id="50" name="TextBox 49"/>
          <p:cNvSpPr txBox="1"/>
          <p:nvPr/>
        </p:nvSpPr>
        <p:spPr>
          <a:xfrm>
            <a:off x="8248650" y="2105025"/>
            <a:ext cx="70257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Playwright</a:t>
            </a:r>
          </a:p>
        </p:txBody>
      </p:sp>
      <p:sp>
        <p:nvSpPr>
          <p:cNvPr id="51" name="Rounded Rectangle 50"/>
          <p:cNvSpPr/>
          <p:nvPr/>
        </p:nvSpPr>
        <p:spPr>
          <a:xfrm>
            <a:off x="8086725" y="1809750"/>
            <a:ext cx="104775" cy="104775"/>
          </a:xfrm>
          <a:prstGeom prst="roundRect">
            <a:avLst>
              <a:gd name="adj" fmla="val 50000"/>
            </a:avLst>
          </a:prstGeom>
          <a:solidFill>
            <a:srgbClr val="C9A34E"/>
          </a:solidFill>
          <a:ln>
            <a:noFill/>
          </a:ln>
        </p:spPr>
        <p:txBody>
          <a:bodyPr rtlCol="0" anchor="ctr"/>
          <a:lstStyle/>
          <a:p>
            <a:endParaRPr/>
          </a:p>
        </p:txBody>
      </p:sp>
      <p:sp>
        <p:nvSpPr>
          <p:cNvPr id="52" name="TextBox 51"/>
          <p:cNvSpPr txBox="1"/>
          <p:nvPr/>
        </p:nvSpPr>
        <p:spPr>
          <a:xfrm>
            <a:off x="8248650" y="1781175"/>
            <a:ext cx="189547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cobertura_personalizacion</a:t>
            </a:r>
          </a:p>
        </p:txBody>
      </p:sp>
      <p:sp>
        <p:nvSpPr>
          <p:cNvPr id="53" name="TextBox 52"/>
          <p:cNvSpPr txBox="1"/>
          <p:nvPr/>
        </p:nvSpPr>
        <p:spPr>
          <a:xfrm>
            <a:off x="8248650" y="1943100"/>
            <a:ext cx="100393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render_visual</a:t>
            </a:r>
          </a:p>
        </p:txBody>
      </p:sp>
      <p:sp>
        <p:nvSpPr>
          <p:cNvPr id="54" name="Rectangle 53"/>
          <p:cNvSpPr/>
          <p:nvPr/>
        </p:nvSpPr>
        <p:spPr>
          <a:xfrm>
            <a:off x="10134600" y="1714500"/>
            <a:ext cx="1447800" cy="947738"/>
          </a:xfrm>
          <a:prstGeom prst="rect">
            <a:avLst/>
          </a:prstGeom>
          <a:noFill/>
          <a:ln>
            <a:noFill/>
          </a:ln>
        </p:spPr>
        <p:txBody>
          <a:bodyPr rtlCol="0" anchor="ctr"/>
          <a:lstStyle/>
          <a:p>
            <a:endParaRPr/>
          </a:p>
        </p:txBody>
      </p:sp>
      <p:cxnSp>
        <p:nvCxnSpPr>
          <p:cNvPr id="55" name="Connector 54"/>
          <p:cNvCxnSpPr/>
          <p:nvPr/>
        </p:nvCxnSpPr>
        <p:spPr>
          <a:xfrm>
            <a:off x="10134600" y="2657475"/>
            <a:ext cx="1447800" cy="0"/>
          </a:xfrm>
          <a:prstGeom prst="line">
            <a:avLst/>
          </a:prstGeom>
          <a:ln w="9525">
            <a:solidFill>
              <a:srgbClr val="D9D2C3"/>
            </a:solidFill>
          </a:ln>
        </p:spPr>
      </p:cxnSp>
      <p:sp>
        <p:nvSpPr>
          <p:cNvPr id="56" name="Rectangle 55"/>
          <p:cNvSpPr/>
          <p:nvPr/>
        </p:nvSpPr>
        <p:spPr>
          <a:xfrm>
            <a:off x="609600" y="2662238"/>
            <a:ext cx="1123950" cy="981075"/>
          </a:xfrm>
          <a:prstGeom prst="rect">
            <a:avLst/>
          </a:prstGeom>
          <a:solidFill>
            <a:srgbClr val="E8E3D8"/>
          </a:solidFill>
          <a:ln>
            <a:noFill/>
          </a:ln>
        </p:spPr>
        <p:txBody>
          <a:bodyPr rtlCol="0" anchor="ctr"/>
          <a:lstStyle/>
          <a:p>
            <a:endParaRPr/>
          </a:p>
        </p:txBody>
      </p:sp>
      <p:cxnSp>
        <p:nvCxnSpPr>
          <p:cNvPr id="57" name="Connector 56"/>
          <p:cNvCxnSpPr/>
          <p:nvPr/>
        </p:nvCxnSpPr>
        <p:spPr>
          <a:xfrm>
            <a:off x="609600" y="3638550"/>
            <a:ext cx="1123950" cy="0"/>
          </a:xfrm>
          <a:prstGeom prst="line">
            <a:avLst/>
          </a:prstGeom>
          <a:ln w="9525">
            <a:solidFill>
              <a:srgbClr val="D9D2C3"/>
            </a:solidFill>
          </a:ln>
        </p:spPr>
      </p:cxnSp>
      <p:sp>
        <p:nvSpPr>
          <p:cNvPr id="58" name="TextBox 57"/>
          <p:cNvSpPr txBox="1"/>
          <p:nvPr/>
        </p:nvSpPr>
        <p:spPr>
          <a:xfrm>
            <a:off x="704850" y="2733675"/>
            <a:ext cx="882741"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Semánticos</a:t>
            </a:r>
          </a:p>
        </p:txBody>
      </p:sp>
      <p:sp>
        <p:nvSpPr>
          <p:cNvPr id="59" name="TextBox 58"/>
          <p:cNvSpPr txBox="1"/>
          <p:nvPr/>
        </p:nvSpPr>
        <p:spPr>
          <a:xfrm>
            <a:off x="704850" y="2924175"/>
            <a:ext cx="967740" cy="514350"/>
          </a:xfrm>
          <a:prstGeom prst="rect">
            <a:avLst/>
          </a:prstGeom>
          <a:noFill/>
        </p:spPr>
        <p:txBody>
          <a:bodyPr wrap="square" lIns="0" tIns="0" rIns="0" bIns="0" anchor="t">
            <a:noAutofit/>
          </a:bodyPr>
          <a:lstStyle/>
          <a:p>
            <a:pPr algn="l">
              <a:lnSpc>
                <a:spcPts val="1425"/>
              </a:lnSpc>
              <a:spcBef>
                <a:spcPts val="0"/>
              </a:spcBef>
              <a:spcAft>
                <a:spcPts val="0"/>
              </a:spcAft>
            </a:pPr>
            <a:r>
              <a:rPr sz="1000" b="0" i="0">
                <a:solidFill>
                  <a:srgbClr val="7D7869"/>
                </a:solidFill>
                <a:latin typeface="Inter"/>
                <a:ea typeface="Inter"/>
                <a:cs typeface="Inter"/>
              </a:rPr>
              <a:t>juicio de un modelo o de una persona</a:t>
            </a:r>
          </a:p>
        </p:txBody>
      </p:sp>
      <p:sp>
        <p:nvSpPr>
          <p:cNvPr id="60" name="Rectangle 59"/>
          <p:cNvSpPr/>
          <p:nvPr/>
        </p:nvSpPr>
        <p:spPr>
          <a:xfrm>
            <a:off x="1733550" y="2662238"/>
            <a:ext cx="1390650" cy="981075"/>
          </a:xfrm>
          <a:prstGeom prst="rect">
            <a:avLst/>
          </a:prstGeom>
          <a:noFill/>
          <a:ln>
            <a:noFill/>
          </a:ln>
        </p:spPr>
        <p:txBody>
          <a:bodyPr rtlCol="0" anchor="ctr"/>
          <a:lstStyle/>
          <a:p>
            <a:endParaRPr/>
          </a:p>
        </p:txBody>
      </p:sp>
      <p:cxnSp>
        <p:nvCxnSpPr>
          <p:cNvPr id="61" name="Connector 60"/>
          <p:cNvCxnSpPr/>
          <p:nvPr/>
        </p:nvCxnSpPr>
        <p:spPr>
          <a:xfrm>
            <a:off x="1733550" y="3638550"/>
            <a:ext cx="1390650" cy="0"/>
          </a:xfrm>
          <a:prstGeom prst="line">
            <a:avLst/>
          </a:prstGeom>
          <a:ln w="9525">
            <a:solidFill>
              <a:srgbClr val="D9D2C3"/>
            </a:solidFill>
          </a:ln>
        </p:spPr>
      </p:cxnSp>
      <p:sp>
        <p:nvSpPr>
          <p:cNvPr id="62" name="TextBox 61"/>
          <p:cNvSpPr txBox="1"/>
          <p:nvPr/>
        </p:nvSpPr>
        <p:spPr>
          <a:xfrm>
            <a:off x="1962150" y="2895600"/>
            <a:ext cx="364534"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avisa</a:t>
            </a:r>
          </a:p>
        </p:txBody>
      </p:sp>
      <p:sp>
        <p:nvSpPr>
          <p:cNvPr id="63" name="Rounded Rectangle 62"/>
          <p:cNvSpPr/>
          <p:nvPr/>
        </p:nvSpPr>
        <p:spPr>
          <a:xfrm>
            <a:off x="1800225" y="2762250"/>
            <a:ext cx="104775" cy="104775"/>
          </a:xfrm>
          <a:prstGeom prst="roundRect">
            <a:avLst>
              <a:gd name="adj" fmla="val 50000"/>
            </a:avLst>
          </a:prstGeom>
          <a:solidFill>
            <a:srgbClr val="C9A34E"/>
          </a:solidFill>
          <a:ln>
            <a:noFill/>
          </a:ln>
        </p:spPr>
        <p:txBody>
          <a:bodyPr rtlCol="0" anchor="ctr"/>
          <a:lstStyle/>
          <a:p>
            <a:endParaRPr/>
          </a:p>
        </p:txBody>
      </p:sp>
      <p:sp>
        <p:nvSpPr>
          <p:cNvPr id="64" name="TextBox 63"/>
          <p:cNvSpPr txBox="1"/>
          <p:nvPr/>
        </p:nvSpPr>
        <p:spPr>
          <a:xfrm>
            <a:off x="1962150" y="2733675"/>
            <a:ext cx="115252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8A6D28"/>
                </a:solidFill>
                <a:latin typeface="JetBrains Mono Medium"/>
                <a:ea typeface="JetBrains Mono Medium"/>
                <a:cs typeface="JetBrains Mono Medium"/>
              </a:rPr>
              <a:t>respaldo_fuente</a:t>
            </a:r>
          </a:p>
        </p:txBody>
      </p:sp>
      <p:sp>
        <p:nvSpPr>
          <p:cNvPr id="65" name="Rectangle 64"/>
          <p:cNvSpPr/>
          <p:nvPr/>
        </p:nvSpPr>
        <p:spPr>
          <a:xfrm>
            <a:off x="3124200" y="2662238"/>
            <a:ext cx="1543050" cy="981075"/>
          </a:xfrm>
          <a:prstGeom prst="rect">
            <a:avLst/>
          </a:prstGeom>
          <a:noFill/>
          <a:ln>
            <a:noFill/>
          </a:ln>
        </p:spPr>
        <p:txBody>
          <a:bodyPr rtlCol="0" anchor="ctr"/>
          <a:lstStyle/>
          <a:p>
            <a:endParaRPr/>
          </a:p>
        </p:txBody>
      </p:sp>
      <p:cxnSp>
        <p:nvCxnSpPr>
          <p:cNvPr id="66" name="Connector 65"/>
          <p:cNvCxnSpPr/>
          <p:nvPr/>
        </p:nvCxnSpPr>
        <p:spPr>
          <a:xfrm>
            <a:off x="3124200" y="3638550"/>
            <a:ext cx="1543050" cy="0"/>
          </a:xfrm>
          <a:prstGeom prst="line">
            <a:avLst/>
          </a:prstGeom>
          <a:ln w="9525">
            <a:solidFill>
              <a:srgbClr val="D9D2C3"/>
            </a:solidFill>
          </a:ln>
        </p:spPr>
      </p:cxnSp>
      <p:sp>
        <p:nvSpPr>
          <p:cNvPr id="67" name="Rectangle 66"/>
          <p:cNvSpPr/>
          <p:nvPr/>
        </p:nvSpPr>
        <p:spPr>
          <a:xfrm>
            <a:off x="4667250" y="2662238"/>
            <a:ext cx="1752600" cy="981075"/>
          </a:xfrm>
          <a:prstGeom prst="rect">
            <a:avLst/>
          </a:prstGeom>
          <a:noFill/>
          <a:ln>
            <a:noFill/>
          </a:ln>
        </p:spPr>
        <p:txBody>
          <a:bodyPr rtlCol="0" anchor="ctr"/>
          <a:lstStyle/>
          <a:p>
            <a:endParaRPr/>
          </a:p>
        </p:txBody>
      </p:sp>
      <p:cxnSp>
        <p:nvCxnSpPr>
          <p:cNvPr id="68" name="Connector 67"/>
          <p:cNvCxnSpPr/>
          <p:nvPr/>
        </p:nvCxnSpPr>
        <p:spPr>
          <a:xfrm>
            <a:off x="4667250" y="3638550"/>
            <a:ext cx="1752600" cy="0"/>
          </a:xfrm>
          <a:prstGeom prst="line">
            <a:avLst/>
          </a:prstGeom>
          <a:ln w="9525">
            <a:solidFill>
              <a:srgbClr val="D9D2C3"/>
            </a:solidFill>
          </a:ln>
        </p:spPr>
      </p:cxnSp>
      <p:sp>
        <p:nvSpPr>
          <p:cNvPr id="69" name="Rectangle 68"/>
          <p:cNvSpPr/>
          <p:nvPr/>
        </p:nvSpPr>
        <p:spPr>
          <a:xfrm>
            <a:off x="6419850" y="2662238"/>
            <a:ext cx="1600200" cy="981075"/>
          </a:xfrm>
          <a:prstGeom prst="rect">
            <a:avLst/>
          </a:prstGeom>
          <a:noFill/>
          <a:ln>
            <a:noFill/>
          </a:ln>
        </p:spPr>
        <p:txBody>
          <a:bodyPr rtlCol="0" anchor="ctr"/>
          <a:lstStyle/>
          <a:p>
            <a:endParaRPr/>
          </a:p>
        </p:txBody>
      </p:sp>
      <p:cxnSp>
        <p:nvCxnSpPr>
          <p:cNvPr id="70" name="Connector 69"/>
          <p:cNvCxnSpPr/>
          <p:nvPr/>
        </p:nvCxnSpPr>
        <p:spPr>
          <a:xfrm>
            <a:off x="6419850" y="3638550"/>
            <a:ext cx="1600200" cy="0"/>
          </a:xfrm>
          <a:prstGeom prst="line">
            <a:avLst/>
          </a:prstGeom>
          <a:ln w="9525">
            <a:solidFill>
              <a:srgbClr val="D9D2C3"/>
            </a:solidFill>
          </a:ln>
        </p:spPr>
      </p:cxnSp>
      <p:sp>
        <p:nvSpPr>
          <p:cNvPr id="71" name="TextBox 70"/>
          <p:cNvSpPr txBox="1"/>
          <p:nvPr/>
        </p:nvSpPr>
        <p:spPr>
          <a:xfrm>
            <a:off x="6648450" y="3057525"/>
            <a:ext cx="443472"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avisan</a:t>
            </a:r>
          </a:p>
        </p:txBody>
      </p:sp>
      <p:sp>
        <p:nvSpPr>
          <p:cNvPr id="72" name="Rounded Rectangle 71"/>
          <p:cNvSpPr/>
          <p:nvPr/>
        </p:nvSpPr>
        <p:spPr>
          <a:xfrm>
            <a:off x="6486525" y="2762250"/>
            <a:ext cx="104775" cy="104775"/>
          </a:xfrm>
          <a:prstGeom prst="roundRect">
            <a:avLst>
              <a:gd name="adj" fmla="val 50000"/>
            </a:avLst>
          </a:prstGeom>
          <a:solidFill>
            <a:srgbClr val="C9A34E"/>
          </a:solidFill>
          <a:ln>
            <a:noFill/>
          </a:ln>
        </p:spPr>
        <p:txBody>
          <a:bodyPr rtlCol="0" anchor="ctr"/>
          <a:lstStyle/>
          <a:p>
            <a:endParaRPr/>
          </a:p>
        </p:txBody>
      </p:sp>
      <p:sp>
        <p:nvSpPr>
          <p:cNvPr id="73" name="TextBox 72"/>
          <p:cNvSpPr txBox="1"/>
          <p:nvPr/>
        </p:nvSpPr>
        <p:spPr>
          <a:xfrm>
            <a:off x="6648450" y="2733675"/>
            <a:ext cx="137541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8A6D28"/>
                </a:solidFill>
                <a:latin typeface="JetBrains Mono Medium"/>
                <a:ea typeface="JetBrains Mono Medium"/>
                <a:cs typeface="JetBrains Mono Medium"/>
              </a:rPr>
              <a:t>ejecucion_escaleta</a:t>
            </a:r>
          </a:p>
        </p:txBody>
      </p:sp>
      <p:sp>
        <p:nvSpPr>
          <p:cNvPr id="74" name="TextBox 73"/>
          <p:cNvSpPr txBox="1"/>
          <p:nvPr/>
        </p:nvSpPr>
        <p:spPr>
          <a:xfrm>
            <a:off x="6648450" y="2895600"/>
            <a:ext cx="107823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8A6D28"/>
                </a:solidFill>
                <a:latin typeface="JetBrains Mono Medium"/>
                <a:ea typeface="JetBrains Mono Medium"/>
                <a:cs typeface="JetBrains Mono Medium"/>
              </a:rPr>
              <a:t>arco_ejecutado</a:t>
            </a:r>
          </a:p>
        </p:txBody>
      </p:sp>
      <p:sp>
        <p:nvSpPr>
          <p:cNvPr id="75" name="Rectangle 74"/>
          <p:cNvSpPr/>
          <p:nvPr/>
        </p:nvSpPr>
        <p:spPr>
          <a:xfrm>
            <a:off x="8020050" y="2662238"/>
            <a:ext cx="2114550" cy="981075"/>
          </a:xfrm>
          <a:prstGeom prst="rect">
            <a:avLst/>
          </a:prstGeom>
          <a:noFill/>
          <a:ln>
            <a:noFill/>
          </a:ln>
        </p:spPr>
        <p:txBody>
          <a:bodyPr rtlCol="0" anchor="ctr"/>
          <a:lstStyle/>
          <a:p>
            <a:endParaRPr/>
          </a:p>
        </p:txBody>
      </p:sp>
      <p:cxnSp>
        <p:nvCxnSpPr>
          <p:cNvPr id="76" name="Connector 75"/>
          <p:cNvCxnSpPr/>
          <p:nvPr/>
        </p:nvCxnSpPr>
        <p:spPr>
          <a:xfrm>
            <a:off x="8020050" y="3638550"/>
            <a:ext cx="2114550" cy="0"/>
          </a:xfrm>
          <a:prstGeom prst="line">
            <a:avLst/>
          </a:prstGeom>
          <a:ln w="9525">
            <a:solidFill>
              <a:srgbClr val="D9D2C3"/>
            </a:solidFill>
          </a:ln>
        </p:spPr>
      </p:cxnSp>
      <p:sp>
        <p:nvSpPr>
          <p:cNvPr id="77" name="TextBox 76"/>
          <p:cNvSpPr txBox="1"/>
          <p:nvPr/>
        </p:nvSpPr>
        <p:spPr>
          <a:xfrm>
            <a:off x="8248650" y="2895600"/>
            <a:ext cx="1830134" cy="314325"/>
          </a:xfrm>
          <a:prstGeom prst="rect">
            <a:avLst/>
          </a:prstGeom>
          <a:noFill/>
        </p:spPr>
        <p:txBody>
          <a:bodyPr wrap="squar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8 criterios, 1–10, con justificación</a:t>
            </a:r>
          </a:p>
        </p:txBody>
      </p:sp>
      <p:sp>
        <p:nvSpPr>
          <p:cNvPr id="78" name="Rounded Rectangle 77"/>
          <p:cNvSpPr/>
          <p:nvPr/>
        </p:nvSpPr>
        <p:spPr>
          <a:xfrm>
            <a:off x="8086725" y="2762250"/>
            <a:ext cx="104775" cy="104775"/>
          </a:xfrm>
          <a:prstGeom prst="roundRect">
            <a:avLst>
              <a:gd name="adj" fmla="val 50000"/>
            </a:avLst>
          </a:prstGeom>
          <a:solidFill>
            <a:srgbClr val="C9A34E"/>
          </a:solidFill>
          <a:ln>
            <a:noFill/>
          </a:ln>
        </p:spPr>
        <p:txBody>
          <a:bodyPr rtlCol="0" anchor="ctr"/>
          <a:lstStyle/>
          <a:p>
            <a:endParaRPr/>
          </a:p>
        </p:txBody>
      </p:sp>
      <p:sp>
        <p:nvSpPr>
          <p:cNvPr id="79" name="TextBox 78"/>
          <p:cNvSpPr txBox="1"/>
          <p:nvPr/>
        </p:nvSpPr>
        <p:spPr>
          <a:xfrm>
            <a:off x="8248650" y="2733675"/>
            <a:ext cx="929640"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juez_rubrica</a:t>
            </a:r>
          </a:p>
        </p:txBody>
      </p:sp>
      <p:sp>
        <p:nvSpPr>
          <p:cNvPr id="80" name="Rectangle 79"/>
          <p:cNvSpPr/>
          <p:nvPr/>
        </p:nvSpPr>
        <p:spPr>
          <a:xfrm>
            <a:off x="10134600" y="2662238"/>
            <a:ext cx="1447800" cy="981075"/>
          </a:xfrm>
          <a:prstGeom prst="rect">
            <a:avLst/>
          </a:prstGeom>
          <a:noFill/>
          <a:ln>
            <a:noFill/>
          </a:ln>
        </p:spPr>
        <p:txBody>
          <a:bodyPr rtlCol="0" anchor="ctr"/>
          <a:lstStyle/>
          <a:p>
            <a:endParaRPr/>
          </a:p>
        </p:txBody>
      </p:sp>
      <p:cxnSp>
        <p:nvCxnSpPr>
          <p:cNvPr id="81" name="Connector 80"/>
          <p:cNvCxnSpPr/>
          <p:nvPr/>
        </p:nvCxnSpPr>
        <p:spPr>
          <a:xfrm>
            <a:off x="10134600" y="3638550"/>
            <a:ext cx="1447800" cy="0"/>
          </a:xfrm>
          <a:prstGeom prst="line">
            <a:avLst/>
          </a:prstGeom>
          <a:ln w="9525">
            <a:solidFill>
              <a:srgbClr val="D9D2C3"/>
            </a:solidFill>
          </a:ln>
        </p:spPr>
      </p:cxnSp>
      <p:sp>
        <p:nvSpPr>
          <p:cNvPr id="82" name="TextBox 81"/>
          <p:cNvSpPr txBox="1"/>
          <p:nvPr/>
        </p:nvSpPr>
        <p:spPr>
          <a:xfrm>
            <a:off x="10363200" y="2895600"/>
            <a:ext cx="108132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la misma rúbrica</a:t>
            </a:r>
          </a:p>
        </p:txBody>
      </p:sp>
      <p:sp>
        <p:nvSpPr>
          <p:cNvPr id="83" name="Rounded Rectangle 82"/>
          <p:cNvSpPr/>
          <p:nvPr/>
        </p:nvSpPr>
        <p:spPr>
          <a:xfrm>
            <a:off x="10201275" y="2762250"/>
            <a:ext cx="104775" cy="104775"/>
          </a:xfrm>
          <a:prstGeom prst="roundRect">
            <a:avLst>
              <a:gd name="adj" fmla="val 50000"/>
            </a:avLst>
          </a:prstGeom>
          <a:solidFill>
            <a:srgbClr val="C9A34E"/>
          </a:solidFill>
          <a:ln>
            <a:noFill/>
          </a:ln>
        </p:spPr>
        <p:txBody>
          <a:bodyPr rtlCol="0" anchor="ctr"/>
          <a:lstStyle/>
          <a:p>
            <a:endParaRPr/>
          </a:p>
        </p:txBody>
      </p:sp>
      <p:sp>
        <p:nvSpPr>
          <p:cNvPr id="84" name="TextBox 83"/>
          <p:cNvSpPr txBox="1"/>
          <p:nvPr/>
        </p:nvSpPr>
        <p:spPr>
          <a:xfrm>
            <a:off x="10363200" y="2733675"/>
            <a:ext cx="115252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revision_humana</a:t>
            </a:r>
          </a:p>
        </p:txBody>
      </p:sp>
      <p:sp>
        <p:nvSpPr>
          <p:cNvPr id="85" name="TextBox 84"/>
          <p:cNvSpPr txBox="1"/>
          <p:nvPr/>
        </p:nvSpPr>
        <p:spPr>
          <a:xfrm>
            <a:off x="10363200" y="3086100"/>
            <a:ext cx="1159383" cy="476250"/>
          </a:xfrm>
          <a:prstGeom prst="rect">
            <a:avLst/>
          </a:prstGeom>
          <a:noFill/>
        </p:spPr>
        <p:txBody>
          <a:bodyPr wrap="square" lIns="0" tIns="0" rIns="0" bIns="0" anchor="t">
            <a:noAutofit/>
          </a:bodyPr>
          <a:lstStyle/>
          <a:p>
            <a:pPr algn="l">
              <a:lnSpc>
                <a:spcPts val="1275"/>
              </a:lnSpc>
              <a:spcBef>
                <a:spcPts val="0"/>
              </a:spcBef>
              <a:spcAft>
                <a:spcPts val="0"/>
              </a:spcAft>
            </a:pPr>
            <a:r>
              <a:rPr sz="1000" b="0" i="0">
                <a:solidFill>
                  <a:srgbClr val="1C2433"/>
                </a:solidFill>
                <a:latin typeface="Inter"/>
                <a:ea typeface="Inter"/>
                <a:cs typeface="Inter"/>
              </a:rPr>
              <a:t>persona 8,75 · juez 7,88, novela de Barcelona 1929</a:t>
            </a:r>
          </a:p>
        </p:txBody>
      </p:sp>
      <p:sp>
        <p:nvSpPr>
          <p:cNvPr id="86" name="Rectangle 85"/>
          <p:cNvSpPr/>
          <p:nvPr/>
        </p:nvSpPr>
        <p:spPr>
          <a:xfrm>
            <a:off x="609600" y="3643312"/>
            <a:ext cx="1123950" cy="685800"/>
          </a:xfrm>
          <a:prstGeom prst="rect">
            <a:avLst/>
          </a:prstGeom>
          <a:solidFill>
            <a:srgbClr val="E8E3D8"/>
          </a:solidFill>
          <a:ln>
            <a:noFill/>
          </a:ln>
        </p:spPr>
        <p:txBody>
          <a:bodyPr rtlCol="0" anchor="ctr"/>
          <a:lstStyle/>
          <a:p>
            <a:endParaRPr/>
          </a:p>
        </p:txBody>
      </p:sp>
      <p:cxnSp>
        <p:nvCxnSpPr>
          <p:cNvPr id="87" name="Connector 86"/>
          <p:cNvCxnSpPr/>
          <p:nvPr/>
        </p:nvCxnSpPr>
        <p:spPr>
          <a:xfrm>
            <a:off x="609600" y="4324350"/>
            <a:ext cx="1123950" cy="0"/>
          </a:xfrm>
          <a:prstGeom prst="line">
            <a:avLst/>
          </a:prstGeom>
          <a:ln w="9525">
            <a:solidFill>
              <a:srgbClr val="D9D2C3"/>
            </a:solidFill>
          </a:ln>
        </p:spPr>
      </p:cxnSp>
      <p:sp>
        <p:nvSpPr>
          <p:cNvPr id="88" name="TextBox 87"/>
          <p:cNvSpPr txBox="1"/>
          <p:nvPr/>
        </p:nvSpPr>
        <p:spPr>
          <a:xfrm>
            <a:off x="704850" y="3714750"/>
            <a:ext cx="967740" cy="361950"/>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Formal de la historia</a:t>
            </a:r>
          </a:p>
        </p:txBody>
      </p:sp>
      <p:sp>
        <p:nvSpPr>
          <p:cNvPr id="89" name="TextBox 88"/>
          <p:cNvSpPr txBox="1"/>
          <p:nvPr/>
        </p:nvSpPr>
        <p:spPr>
          <a:xfrm>
            <a:off x="704850" y="4086225"/>
            <a:ext cx="455081" cy="152400"/>
          </a:xfrm>
          <a:prstGeom prst="rect">
            <a:avLst/>
          </a:prstGeom>
          <a:noFill/>
        </p:spPr>
        <p:txBody>
          <a:bodyPr wrap="none" lIns="0" tIns="0" rIns="0" bIns="0" anchor="t">
            <a:noAutofit/>
          </a:bodyPr>
          <a:lstStyle/>
          <a:p>
            <a:pPr algn="l">
              <a:lnSpc>
                <a:spcPts val="1425"/>
              </a:lnSpc>
              <a:spcBef>
                <a:spcPts val="0"/>
              </a:spcBef>
              <a:spcAft>
                <a:spcPts val="0"/>
              </a:spcAft>
            </a:pPr>
            <a:r>
              <a:rPr sz="1000" b="0" i="0">
                <a:solidFill>
                  <a:srgbClr val="7D7869"/>
                </a:solidFill>
                <a:latin typeface="Inter"/>
                <a:ea typeface="Inter"/>
                <a:cs typeface="Inter"/>
              </a:rPr>
              <a:t>Lean 4</a:t>
            </a:r>
          </a:p>
        </p:txBody>
      </p:sp>
      <p:sp>
        <p:nvSpPr>
          <p:cNvPr id="90" name="Rectangle 89"/>
          <p:cNvSpPr/>
          <p:nvPr/>
        </p:nvSpPr>
        <p:spPr>
          <a:xfrm>
            <a:off x="1733550" y="3643312"/>
            <a:ext cx="1390650" cy="685800"/>
          </a:xfrm>
          <a:prstGeom prst="rect">
            <a:avLst/>
          </a:prstGeom>
          <a:noFill/>
          <a:ln>
            <a:noFill/>
          </a:ln>
        </p:spPr>
        <p:txBody>
          <a:bodyPr rtlCol="0" anchor="ctr"/>
          <a:lstStyle/>
          <a:p>
            <a:endParaRPr/>
          </a:p>
        </p:txBody>
      </p:sp>
      <p:cxnSp>
        <p:nvCxnSpPr>
          <p:cNvPr id="91" name="Connector 90"/>
          <p:cNvCxnSpPr/>
          <p:nvPr/>
        </p:nvCxnSpPr>
        <p:spPr>
          <a:xfrm>
            <a:off x="1733550" y="4324350"/>
            <a:ext cx="1390650" cy="0"/>
          </a:xfrm>
          <a:prstGeom prst="line">
            <a:avLst/>
          </a:prstGeom>
          <a:ln w="9525">
            <a:solidFill>
              <a:srgbClr val="D9D2C3"/>
            </a:solidFill>
          </a:ln>
        </p:spPr>
      </p:cxnSp>
      <p:sp>
        <p:nvSpPr>
          <p:cNvPr id="92" name="Rectangle 91"/>
          <p:cNvSpPr/>
          <p:nvPr/>
        </p:nvSpPr>
        <p:spPr>
          <a:xfrm>
            <a:off x="3124200" y="3643312"/>
            <a:ext cx="1543050" cy="685800"/>
          </a:xfrm>
          <a:prstGeom prst="rect">
            <a:avLst/>
          </a:prstGeom>
          <a:noFill/>
          <a:ln>
            <a:noFill/>
          </a:ln>
        </p:spPr>
        <p:txBody>
          <a:bodyPr rtlCol="0" anchor="ctr"/>
          <a:lstStyle/>
          <a:p>
            <a:endParaRPr/>
          </a:p>
        </p:txBody>
      </p:sp>
      <p:cxnSp>
        <p:nvCxnSpPr>
          <p:cNvPr id="93" name="Connector 92"/>
          <p:cNvCxnSpPr/>
          <p:nvPr/>
        </p:nvCxnSpPr>
        <p:spPr>
          <a:xfrm>
            <a:off x="3124200" y="4324350"/>
            <a:ext cx="1543050" cy="0"/>
          </a:xfrm>
          <a:prstGeom prst="line">
            <a:avLst/>
          </a:prstGeom>
          <a:ln w="9525">
            <a:solidFill>
              <a:srgbClr val="D9D2C3"/>
            </a:solidFill>
          </a:ln>
        </p:spPr>
      </p:cxnSp>
      <p:sp>
        <p:nvSpPr>
          <p:cNvPr id="94" name="TextBox 93"/>
          <p:cNvSpPr txBox="1"/>
          <p:nvPr/>
        </p:nvSpPr>
        <p:spPr>
          <a:xfrm>
            <a:off x="3352800" y="3876675"/>
            <a:ext cx="364534"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avisa</a:t>
            </a:r>
          </a:p>
        </p:txBody>
      </p:sp>
      <p:sp>
        <p:nvSpPr>
          <p:cNvPr id="95" name="Rounded Rectangle 94"/>
          <p:cNvSpPr/>
          <p:nvPr/>
        </p:nvSpPr>
        <p:spPr>
          <a:xfrm>
            <a:off x="3190875" y="3743325"/>
            <a:ext cx="104775" cy="104775"/>
          </a:xfrm>
          <a:prstGeom prst="roundRect">
            <a:avLst>
              <a:gd name="adj" fmla="val 50000"/>
            </a:avLst>
          </a:prstGeom>
          <a:solidFill>
            <a:srgbClr val="C9A34E"/>
          </a:solidFill>
          <a:ln>
            <a:noFill/>
          </a:ln>
        </p:spPr>
        <p:txBody>
          <a:bodyPr rtlCol="0" anchor="ctr"/>
          <a:lstStyle/>
          <a:p>
            <a:endParaRPr/>
          </a:p>
        </p:txBody>
      </p:sp>
      <p:sp>
        <p:nvSpPr>
          <p:cNvPr id="96" name="TextBox 95"/>
          <p:cNvSpPr txBox="1"/>
          <p:nvPr/>
        </p:nvSpPr>
        <p:spPr>
          <a:xfrm>
            <a:off x="3352800" y="3714750"/>
            <a:ext cx="40957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8A6D28"/>
                </a:solidFill>
                <a:latin typeface="JetBrains Mono Medium"/>
                <a:ea typeface="JetBrains Mono Medium"/>
                <a:cs typeface="JetBrains Mono Medium"/>
              </a:rPr>
              <a:t>I1–I4</a:t>
            </a:r>
          </a:p>
        </p:txBody>
      </p:sp>
      <p:sp>
        <p:nvSpPr>
          <p:cNvPr id="97" name="Rectangle 96"/>
          <p:cNvSpPr/>
          <p:nvPr/>
        </p:nvSpPr>
        <p:spPr>
          <a:xfrm>
            <a:off x="4667250" y="3643312"/>
            <a:ext cx="1752600" cy="685800"/>
          </a:xfrm>
          <a:prstGeom prst="rect">
            <a:avLst/>
          </a:prstGeom>
          <a:noFill/>
          <a:ln>
            <a:noFill/>
          </a:ln>
        </p:spPr>
        <p:txBody>
          <a:bodyPr rtlCol="0" anchor="ctr"/>
          <a:lstStyle/>
          <a:p>
            <a:endParaRPr/>
          </a:p>
        </p:txBody>
      </p:sp>
      <p:cxnSp>
        <p:nvCxnSpPr>
          <p:cNvPr id="98" name="Connector 97"/>
          <p:cNvCxnSpPr/>
          <p:nvPr/>
        </p:nvCxnSpPr>
        <p:spPr>
          <a:xfrm>
            <a:off x="4667250" y="4324350"/>
            <a:ext cx="1752600" cy="0"/>
          </a:xfrm>
          <a:prstGeom prst="line">
            <a:avLst/>
          </a:prstGeom>
          <a:ln w="9525">
            <a:solidFill>
              <a:srgbClr val="D9D2C3"/>
            </a:solidFill>
          </a:ln>
        </p:spPr>
      </p:cxnSp>
      <p:sp>
        <p:nvSpPr>
          <p:cNvPr id="99" name="Rectangle 98"/>
          <p:cNvSpPr/>
          <p:nvPr/>
        </p:nvSpPr>
        <p:spPr>
          <a:xfrm>
            <a:off x="6419850" y="3643312"/>
            <a:ext cx="1600200" cy="685800"/>
          </a:xfrm>
          <a:prstGeom prst="rect">
            <a:avLst/>
          </a:prstGeom>
          <a:noFill/>
          <a:ln>
            <a:noFill/>
          </a:ln>
        </p:spPr>
        <p:txBody>
          <a:bodyPr rtlCol="0" anchor="ctr"/>
          <a:lstStyle/>
          <a:p>
            <a:endParaRPr/>
          </a:p>
        </p:txBody>
      </p:sp>
      <p:cxnSp>
        <p:nvCxnSpPr>
          <p:cNvPr id="100" name="Connector 99"/>
          <p:cNvCxnSpPr/>
          <p:nvPr/>
        </p:nvCxnSpPr>
        <p:spPr>
          <a:xfrm>
            <a:off x="6419850" y="4324350"/>
            <a:ext cx="1600200" cy="0"/>
          </a:xfrm>
          <a:prstGeom prst="line">
            <a:avLst/>
          </a:prstGeom>
          <a:ln w="9525">
            <a:solidFill>
              <a:srgbClr val="D9D2C3"/>
            </a:solidFill>
          </a:ln>
        </p:spPr>
      </p:cxnSp>
      <p:sp>
        <p:nvSpPr>
          <p:cNvPr id="101" name="TextBox 100"/>
          <p:cNvSpPr txBox="1"/>
          <p:nvPr/>
        </p:nvSpPr>
        <p:spPr>
          <a:xfrm>
            <a:off x="6648450" y="3876675"/>
            <a:ext cx="547949"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bloquea</a:t>
            </a:r>
          </a:p>
        </p:txBody>
      </p:sp>
      <p:sp>
        <p:nvSpPr>
          <p:cNvPr id="102" name="Rounded Rectangle 101"/>
          <p:cNvSpPr/>
          <p:nvPr/>
        </p:nvSpPr>
        <p:spPr>
          <a:xfrm>
            <a:off x="6486525" y="3743325"/>
            <a:ext cx="104775" cy="104775"/>
          </a:xfrm>
          <a:prstGeom prst="roundRect">
            <a:avLst>
              <a:gd name="adj" fmla="val 50000"/>
            </a:avLst>
          </a:prstGeom>
          <a:solidFill>
            <a:srgbClr val="C9A34E"/>
          </a:solidFill>
          <a:ln>
            <a:noFill/>
          </a:ln>
        </p:spPr>
        <p:txBody>
          <a:bodyPr rtlCol="0" anchor="ctr"/>
          <a:lstStyle/>
          <a:p>
            <a:endParaRPr/>
          </a:p>
        </p:txBody>
      </p:sp>
      <p:sp>
        <p:nvSpPr>
          <p:cNvPr id="103" name="TextBox 102"/>
          <p:cNvSpPr txBox="1"/>
          <p:nvPr/>
        </p:nvSpPr>
        <p:spPr>
          <a:xfrm>
            <a:off x="6648450" y="3714750"/>
            <a:ext cx="40957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I1–I4</a:t>
            </a:r>
          </a:p>
        </p:txBody>
      </p:sp>
      <p:sp>
        <p:nvSpPr>
          <p:cNvPr id="104" name="Rectangle 103"/>
          <p:cNvSpPr/>
          <p:nvPr/>
        </p:nvSpPr>
        <p:spPr>
          <a:xfrm>
            <a:off x="8020050" y="3643312"/>
            <a:ext cx="2114550" cy="685800"/>
          </a:xfrm>
          <a:prstGeom prst="rect">
            <a:avLst/>
          </a:prstGeom>
          <a:noFill/>
          <a:ln>
            <a:noFill/>
          </a:ln>
        </p:spPr>
        <p:txBody>
          <a:bodyPr rtlCol="0" anchor="ctr"/>
          <a:lstStyle/>
          <a:p>
            <a:endParaRPr/>
          </a:p>
        </p:txBody>
      </p:sp>
      <p:cxnSp>
        <p:nvCxnSpPr>
          <p:cNvPr id="105" name="Connector 104"/>
          <p:cNvCxnSpPr/>
          <p:nvPr/>
        </p:nvCxnSpPr>
        <p:spPr>
          <a:xfrm>
            <a:off x="8020050" y="4324350"/>
            <a:ext cx="2114550" cy="0"/>
          </a:xfrm>
          <a:prstGeom prst="line">
            <a:avLst/>
          </a:prstGeom>
          <a:ln w="9525">
            <a:solidFill>
              <a:srgbClr val="D9D2C3"/>
            </a:solidFill>
          </a:ln>
        </p:spPr>
      </p:cxnSp>
      <p:sp>
        <p:nvSpPr>
          <p:cNvPr id="106" name="TextBox 105"/>
          <p:cNvSpPr txBox="1"/>
          <p:nvPr/>
        </p:nvSpPr>
        <p:spPr>
          <a:xfrm>
            <a:off x="8248650" y="3876675"/>
            <a:ext cx="547949"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bloquea</a:t>
            </a:r>
          </a:p>
        </p:txBody>
      </p:sp>
      <p:sp>
        <p:nvSpPr>
          <p:cNvPr id="107" name="Rounded Rectangle 106"/>
          <p:cNvSpPr/>
          <p:nvPr/>
        </p:nvSpPr>
        <p:spPr>
          <a:xfrm>
            <a:off x="8086725" y="3743325"/>
            <a:ext cx="104775" cy="104775"/>
          </a:xfrm>
          <a:prstGeom prst="roundRect">
            <a:avLst>
              <a:gd name="adj" fmla="val 50000"/>
            </a:avLst>
          </a:prstGeom>
          <a:solidFill>
            <a:srgbClr val="C9A34E"/>
          </a:solidFill>
          <a:ln>
            <a:noFill/>
          </a:ln>
        </p:spPr>
        <p:txBody>
          <a:bodyPr rtlCol="0" anchor="ctr"/>
          <a:lstStyle/>
          <a:p>
            <a:endParaRPr/>
          </a:p>
        </p:txBody>
      </p:sp>
      <p:sp>
        <p:nvSpPr>
          <p:cNvPr id="108" name="TextBox 107"/>
          <p:cNvSpPr txBox="1"/>
          <p:nvPr/>
        </p:nvSpPr>
        <p:spPr>
          <a:xfrm>
            <a:off x="8248650" y="3714750"/>
            <a:ext cx="40957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I1–I4</a:t>
            </a:r>
          </a:p>
        </p:txBody>
      </p:sp>
      <p:sp>
        <p:nvSpPr>
          <p:cNvPr id="109" name="Rectangle 108"/>
          <p:cNvSpPr/>
          <p:nvPr/>
        </p:nvSpPr>
        <p:spPr>
          <a:xfrm>
            <a:off x="10134600" y="3643312"/>
            <a:ext cx="1447800" cy="685800"/>
          </a:xfrm>
          <a:prstGeom prst="rect">
            <a:avLst/>
          </a:prstGeom>
          <a:noFill/>
          <a:ln>
            <a:noFill/>
          </a:ln>
        </p:spPr>
        <p:txBody>
          <a:bodyPr rtlCol="0" anchor="ctr"/>
          <a:lstStyle/>
          <a:p>
            <a:endParaRPr/>
          </a:p>
        </p:txBody>
      </p:sp>
      <p:cxnSp>
        <p:nvCxnSpPr>
          <p:cNvPr id="110" name="Connector 109"/>
          <p:cNvCxnSpPr/>
          <p:nvPr/>
        </p:nvCxnSpPr>
        <p:spPr>
          <a:xfrm>
            <a:off x="10134600" y="4324350"/>
            <a:ext cx="1447800" cy="0"/>
          </a:xfrm>
          <a:prstGeom prst="line">
            <a:avLst/>
          </a:prstGeom>
          <a:ln w="9525">
            <a:solidFill>
              <a:srgbClr val="D9D2C3"/>
            </a:solidFill>
          </a:ln>
        </p:spPr>
      </p:cxnSp>
      <p:sp>
        <p:nvSpPr>
          <p:cNvPr id="111" name="Rectangle 110"/>
          <p:cNvSpPr/>
          <p:nvPr/>
        </p:nvSpPr>
        <p:spPr>
          <a:xfrm>
            <a:off x="609600" y="4329112"/>
            <a:ext cx="1123950" cy="685800"/>
          </a:xfrm>
          <a:prstGeom prst="rect">
            <a:avLst/>
          </a:prstGeom>
          <a:solidFill>
            <a:srgbClr val="E8E3D8"/>
          </a:solidFill>
          <a:ln>
            <a:noFill/>
          </a:ln>
        </p:spPr>
        <p:txBody>
          <a:bodyPr rtlCol="0" anchor="ctr"/>
          <a:lstStyle/>
          <a:p>
            <a:endParaRPr/>
          </a:p>
        </p:txBody>
      </p:sp>
      <p:cxnSp>
        <p:nvCxnSpPr>
          <p:cNvPr id="112" name="Connector 111"/>
          <p:cNvCxnSpPr/>
          <p:nvPr/>
        </p:nvCxnSpPr>
        <p:spPr>
          <a:xfrm>
            <a:off x="609600" y="5010150"/>
            <a:ext cx="1123950" cy="0"/>
          </a:xfrm>
          <a:prstGeom prst="line">
            <a:avLst/>
          </a:prstGeom>
          <a:ln w="9525">
            <a:solidFill>
              <a:srgbClr val="D9D2C3"/>
            </a:solidFill>
          </a:ln>
        </p:spPr>
      </p:cxnSp>
      <p:sp>
        <p:nvSpPr>
          <p:cNvPr id="113" name="TextBox 112"/>
          <p:cNvSpPr txBox="1"/>
          <p:nvPr/>
        </p:nvSpPr>
        <p:spPr>
          <a:xfrm>
            <a:off x="704850" y="4400550"/>
            <a:ext cx="967740" cy="361950"/>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Formal del sistema</a:t>
            </a:r>
          </a:p>
        </p:txBody>
      </p:sp>
      <p:sp>
        <p:nvSpPr>
          <p:cNvPr id="114" name="TextBox 113"/>
          <p:cNvSpPr txBox="1"/>
          <p:nvPr/>
        </p:nvSpPr>
        <p:spPr>
          <a:xfrm>
            <a:off x="704850" y="4772025"/>
            <a:ext cx="363760" cy="152400"/>
          </a:xfrm>
          <a:prstGeom prst="rect">
            <a:avLst/>
          </a:prstGeom>
          <a:noFill/>
        </p:spPr>
        <p:txBody>
          <a:bodyPr wrap="none" lIns="0" tIns="0" rIns="0" bIns="0" anchor="t">
            <a:noAutofit/>
          </a:bodyPr>
          <a:lstStyle/>
          <a:p>
            <a:pPr algn="l">
              <a:lnSpc>
                <a:spcPts val="1425"/>
              </a:lnSpc>
              <a:spcBef>
                <a:spcPts val="0"/>
              </a:spcBef>
              <a:spcAft>
                <a:spcPts val="0"/>
              </a:spcAft>
            </a:pPr>
            <a:r>
              <a:rPr sz="1000" b="0" i="0">
                <a:solidFill>
                  <a:srgbClr val="7D7869"/>
                </a:solidFill>
                <a:latin typeface="Inter"/>
                <a:ea typeface="Inter"/>
                <a:cs typeface="Inter"/>
              </a:rPr>
              <a:t>TLA+</a:t>
            </a:r>
          </a:p>
        </p:txBody>
      </p:sp>
      <p:sp>
        <p:nvSpPr>
          <p:cNvPr id="115" name="Rectangle 114"/>
          <p:cNvSpPr/>
          <p:nvPr/>
        </p:nvSpPr>
        <p:spPr>
          <a:xfrm>
            <a:off x="1733550" y="4329112"/>
            <a:ext cx="1390650" cy="685800"/>
          </a:xfrm>
          <a:prstGeom prst="rect">
            <a:avLst/>
          </a:prstGeom>
          <a:noFill/>
          <a:ln>
            <a:noFill/>
          </a:ln>
        </p:spPr>
        <p:txBody>
          <a:bodyPr rtlCol="0" anchor="ctr"/>
          <a:lstStyle/>
          <a:p>
            <a:endParaRPr/>
          </a:p>
        </p:txBody>
      </p:sp>
      <p:cxnSp>
        <p:nvCxnSpPr>
          <p:cNvPr id="116" name="Connector 115"/>
          <p:cNvCxnSpPr/>
          <p:nvPr/>
        </p:nvCxnSpPr>
        <p:spPr>
          <a:xfrm>
            <a:off x="1733550" y="5010150"/>
            <a:ext cx="1390650" cy="0"/>
          </a:xfrm>
          <a:prstGeom prst="line">
            <a:avLst/>
          </a:prstGeom>
          <a:ln w="9525">
            <a:solidFill>
              <a:srgbClr val="D9D2C3"/>
            </a:solidFill>
          </a:ln>
        </p:spPr>
      </p:cxnSp>
      <p:sp>
        <p:nvSpPr>
          <p:cNvPr id="117" name="Rectangle 116"/>
          <p:cNvSpPr/>
          <p:nvPr/>
        </p:nvSpPr>
        <p:spPr>
          <a:xfrm>
            <a:off x="3124200" y="4329112"/>
            <a:ext cx="1543050" cy="685800"/>
          </a:xfrm>
          <a:prstGeom prst="rect">
            <a:avLst/>
          </a:prstGeom>
          <a:noFill/>
          <a:ln>
            <a:noFill/>
          </a:ln>
        </p:spPr>
        <p:txBody>
          <a:bodyPr rtlCol="0" anchor="ctr"/>
          <a:lstStyle/>
          <a:p>
            <a:endParaRPr/>
          </a:p>
        </p:txBody>
      </p:sp>
      <p:cxnSp>
        <p:nvCxnSpPr>
          <p:cNvPr id="118" name="Connector 117"/>
          <p:cNvCxnSpPr/>
          <p:nvPr/>
        </p:nvCxnSpPr>
        <p:spPr>
          <a:xfrm>
            <a:off x="3124200" y="5010150"/>
            <a:ext cx="1543050" cy="0"/>
          </a:xfrm>
          <a:prstGeom prst="line">
            <a:avLst/>
          </a:prstGeom>
          <a:ln w="9525">
            <a:solidFill>
              <a:srgbClr val="D9D2C3"/>
            </a:solidFill>
          </a:ln>
        </p:spPr>
      </p:cxnSp>
      <p:sp>
        <p:nvSpPr>
          <p:cNvPr id="119" name="Rectangle 118"/>
          <p:cNvSpPr/>
          <p:nvPr/>
        </p:nvSpPr>
        <p:spPr>
          <a:xfrm>
            <a:off x="4667250" y="4329112"/>
            <a:ext cx="1752600" cy="685800"/>
          </a:xfrm>
          <a:prstGeom prst="rect">
            <a:avLst/>
          </a:prstGeom>
          <a:noFill/>
          <a:ln>
            <a:noFill/>
          </a:ln>
        </p:spPr>
        <p:txBody>
          <a:bodyPr rtlCol="0" anchor="ctr"/>
          <a:lstStyle/>
          <a:p>
            <a:endParaRPr/>
          </a:p>
        </p:txBody>
      </p:sp>
      <p:cxnSp>
        <p:nvCxnSpPr>
          <p:cNvPr id="120" name="Connector 119"/>
          <p:cNvCxnSpPr/>
          <p:nvPr/>
        </p:nvCxnSpPr>
        <p:spPr>
          <a:xfrm>
            <a:off x="4667250" y="5010150"/>
            <a:ext cx="1752600" cy="0"/>
          </a:xfrm>
          <a:prstGeom prst="line">
            <a:avLst/>
          </a:prstGeom>
          <a:ln w="9525">
            <a:solidFill>
              <a:srgbClr val="D9D2C3"/>
            </a:solidFill>
          </a:ln>
        </p:spPr>
      </p:cxnSp>
      <p:sp>
        <p:nvSpPr>
          <p:cNvPr id="121" name="Rectangle 120"/>
          <p:cNvSpPr/>
          <p:nvPr/>
        </p:nvSpPr>
        <p:spPr>
          <a:xfrm>
            <a:off x="6419850" y="4329112"/>
            <a:ext cx="1600200" cy="685800"/>
          </a:xfrm>
          <a:prstGeom prst="rect">
            <a:avLst/>
          </a:prstGeom>
          <a:noFill/>
          <a:ln>
            <a:noFill/>
          </a:ln>
        </p:spPr>
        <p:txBody>
          <a:bodyPr rtlCol="0" anchor="ctr"/>
          <a:lstStyle/>
          <a:p>
            <a:endParaRPr/>
          </a:p>
        </p:txBody>
      </p:sp>
      <p:cxnSp>
        <p:nvCxnSpPr>
          <p:cNvPr id="122" name="Connector 121"/>
          <p:cNvCxnSpPr/>
          <p:nvPr/>
        </p:nvCxnSpPr>
        <p:spPr>
          <a:xfrm>
            <a:off x="6419850" y="5010150"/>
            <a:ext cx="1600200" cy="0"/>
          </a:xfrm>
          <a:prstGeom prst="line">
            <a:avLst/>
          </a:prstGeom>
          <a:ln w="9525">
            <a:solidFill>
              <a:srgbClr val="D9D2C3"/>
            </a:solidFill>
          </a:ln>
        </p:spPr>
      </p:cxnSp>
      <p:sp>
        <p:nvSpPr>
          <p:cNvPr id="123" name="Rectangle 122"/>
          <p:cNvSpPr/>
          <p:nvPr/>
        </p:nvSpPr>
        <p:spPr>
          <a:xfrm>
            <a:off x="8020050" y="4329112"/>
            <a:ext cx="2114550" cy="685800"/>
          </a:xfrm>
          <a:prstGeom prst="rect">
            <a:avLst/>
          </a:prstGeom>
          <a:noFill/>
          <a:ln>
            <a:noFill/>
          </a:ln>
        </p:spPr>
        <p:txBody>
          <a:bodyPr rtlCol="0" anchor="ctr"/>
          <a:lstStyle/>
          <a:p>
            <a:endParaRPr/>
          </a:p>
        </p:txBody>
      </p:sp>
      <p:cxnSp>
        <p:nvCxnSpPr>
          <p:cNvPr id="124" name="Connector 123"/>
          <p:cNvCxnSpPr/>
          <p:nvPr/>
        </p:nvCxnSpPr>
        <p:spPr>
          <a:xfrm>
            <a:off x="8020050" y="5010150"/>
            <a:ext cx="2114550" cy="0"/>
          </a:xfrm>
          <a:prstGeom prst="line">
            <a:avLst/>
          </a:prstGeom>
          <a:ln w="9525">
            <a:solidFill>
              <a:srgbClr val="D9D2C3"/>
            </a:solidFill>
          </a:ln>
        </p:spPr>
      </p:cxnSp>
      <p:sp>
        <p:nvSpPr>
          <p:cNvPr id="125" name="Rectangle 124"/>
          <p:cNvSpPr/>
          <p:nvPr/>
        </p:nvSpPr>
        <p:spPr>
          <a:xfrm>
            <a:off x="10134600" y="4329112"/>
            <a:ext cx="1447800" cy="685800"/>
          </a:xfrm>
          <a:prstGeom prst="rect">
            <a:avLst/>
          </a:prstGeom>
          <a:noFill/>
          <a:ln>
            <a:noFill/>
          </a:ln>
        </p:spPr>
        <p:txBody>
          <a:bodyPr rtlCol="0" anchor="ctr"/>
          <a:lstStyle/>
          <a:p>
            <a:endParaRPr/>
          </a:p>
        </p:txBody>
      </p:sp>
      <p:cxnSp>
        <p:nvCxnSpPr>
          <p:cNvPr id="126" name="Connector 125"/>
          <p:cNvCxnSpPr/>
          <p:nvPr/>
        </p:nvCxnSpPr>
        <p:spPr>
          <a:xfrm>
            <a:off x="10134600" y="5010150"/>
            <a:ext cx="1447800" cy="0"/>
          </a:xfrm>
          <a:prstGeom prst="line">
            <a:avLst/>
          </a:prstGeom>
          <a:ln w="9525">
            <a:solidFill>
              <a:srgbClr val="D9D2C3"/>
            </a:solidFill>
          </a:ln>
        </p:spPr>
      </p:cxnSp>
      <p:sp>
        <p:nvSpPr>
          <p:cNvPr id="127" name="TextBox 126"/>
          <p:cNvSpPr txBox="1"/>
          <p:nvPr/>
        </p:nvSpPr>
        <p:spPr>
          <a:xfrm>
            <a:off x="10363200" y="4562475"/>
            <a:ext cx="864013"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en desarrollo</a:t>
            </a:r>
          </a:p>
        </p:txBody>
      </p:sp>
      <p:sp>
        <p:nvSpPr>
          <p:cNvPr id="128" name="Rounded Rectangle 127"/>
          <p:cNvSpPr/>
          <p:nvPr/>
        </p:nvSpPr>
        <p:spPr>
          <a:xfrm>
            <a:off x="10201275" y="4429125"/>
            <a:ext cx="104775" cy="104775"/>
          </a:xfrm>
          <a:prstGeom prst="roundRect">
            <a:avLst>
              <a:gd name="adj" fmla="val 50000"/>
            </a:avLst>
          </a:prstGeom>
          <a:solidFill>
            <a:srgbClr val="C9A34E"/>
          </a:solidFill>
          <a:ln>
            <a:noFill/>
          </a:ln>
        </p:spPr>
        <p:txBody>
          <a:bodyPr rtlCol="0" anchor="ctr"/>
          <a:lstStyle/>
          <a:p>
            <a:endParaRPr/>
          </a:p>
        </p:txBody>
      </p:sp>
      <p:sp>
        <p:nvSpPr>
          <p:cNvPr id="129" name="TextBox 128"/>
          <p:cNvSpPr txBox="1"/>
          <p:nvPr/>
        </p:nvSpPr>
        <p:spPr>
          <a:xfrm>
            <a:off x="10363200" y="4400550"/>
            <a:ext cx="260985"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1C2433"/>
                </a:solidFill>
                <a:latin typeface="JetBrains Mono Medium"/>
                <a:ea typeface="JetBrains Mono Medium"/>
                <a:cs typeface="JetBrains Mono Medium"/>
              </a:rPr>
              <a:t>TLC</a:t>
            </a:r>
          </a:p>
        </p:txBody>
      </p:sp>
      <p:sp>
        <p:nvSpPr>
          <p:cNvPr id="130" name="TextBox 129"/>
          <p:cNvSpPr txBox="1"/>
          <p:nvPr/>
        </p:nvSpPr>
        <p:spPr>
          <a:xfrm>
            <a:off x="609600" y="5114925"/>
            <a:ext cx="11048162"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SemiBold"/>
                <a:ea typeface="Inter SemiBold"/>
                <a:cs typeface="Inter SemiBold"/>
              </a:rPr>
              <a:t>Juez:</a:t>
            </a:r>
            <a:r>
              <a:rPr sz="1100" b="0" i="0">
                <a:solidFill>
                  <a:srgbClr val="7D7869"/>
                </a:solidFill>
                <a:latin typeface="Inter"/>
                <a:ea typeface="Inter"/>
                <a:cs typeface="Inter"/>
              </a:rPr>
              <a:t> continuidad, arco, coherencia de personajes, ritmo, tono, prosa, naturalidad de la personalización y autenticidad de época. </a:t>
            </a:r>
            <a:r>
              <a:rPr sz="1100" b="0" i="0">
                <a:solidFill>
                  <a:srgbClr val="1C2433"/>
                </a:solidFill>
                <a:latin typeface="Inter SemiBold"/>
                <a:ea typeface="Inter SemiBold"/>
                <a:cs typeface="Inter SemiBold"/>
              </a:rPr>
              <a:t>Todos envían su resultado a Langfuse como score.</a:t>
            </a:r>
          </a:p>
        </p:txBody>
      </p:sp>
      <p:pic>
        <p:nvPicPr>
          <p:cNvPr id="131" name="Picture 130" descr="r003.png"/>
          <p:cNvPicPr>
            <a:picLocks noChangeAspect="1"/>
          </p:cNvPicPr>
          <p:nvPr/>
        </p:nvPicPr>
        <p:blipFill>
          <a:blip r:embed="rId3"/>
          <a:stretch>
            <a:fillRect/>
          </a:stretch>
        </p:blipFill>
        <p:spPr>
          <a:xfrm>
            <a:off x="381000" y="6343650"/>
            <a:ext cx="11430000" cy="76200"/>
          </a:xfrm>
          <a:prstGeom prst="rect">
            <a:avLst/>
          </a:prstGeom>
        </p:spPr>
      </p:pic>
      <p:pic>
        <p:nvPicPr>
          <p:cNvPr id="132" name="Picture 131" descr="r037.png"/>
          <p:cNvPicPr>
            <a:picLocks noChangeAspect="1"/>
          </p:cNvPicPr>
          <p:nvPr/>
        </p:nvPicPr>
        <p:blipFill>
          <a:blip r:embed="rId4"/>
          <a:stretch>
            <a:fillRect/>
          </a:stretch>
        </p:blipFill>
        <p:spPr>
          <a:xfrm>
            <a:off x="381000" y="6505575"/>
            <a:ext cx="171450" cy="190500"/>
          </a:xfrm>
          <a:prstGeom prst="rect">
            <a:avLst/>
          </a:prstGeom>
        </p:spPr>
      </p:pic>
      <p:sp>
        <p:nvSpPr>
          <p:cNvPr id="133" name="TextBox 132"/>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134" name="TextBox 133"/>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135" name="TextBox 134"/>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136" name="TextBox 135"/>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11 / 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91023" y="323850"/>
            <a:ext cx="101600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EVALUACIÓN</a:t>
            </a:r>
          </a:p>
        </p:txBody>
      </p:sp>
      <p:sp>
        <p:nvSpPr>
          <p:cNvPr id="3" name="TextBox 2"/>
          <p:cNvSpPr txBox="1"/>
          <p:nvPr/>
        </p:nvSpPr>
        <p:spPr>
          <a:xfrm>
            <a:off x="609600" y="323850"/>
            <a:ext cx="95966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a:t>
            </a:r>
          </a:p>
        </p:txBody>
      </p:sp>
      <p:sp>
        <p:nvSpPr>
          <p:cNvPr id="4" name="Rectangle 3"/>
          <p:cNvSpPr/>
          <p:nvPr/>
        </p:nvSpPr>
        <p:spPr>
          <a:xfrm>
            <a:off x="1610023" y="395288"/>
            <a:ext cx="266700" cy="9525"/>
          </a:xfrm>
          <a:prstGeom prst="rect">
            <a:avLst/>
          </a:prstGeom>
          <a:noFill/>
          <a:ln>
            <a:noFill/>
          </a:ln>
        </p:spPr>
        <p:txBody>
          <a:bodyPr rtlCol="0" anchor="ctr"/>
          <a:lstStyle/>
          <a:p>
            <a:endParaRPr/>
          </a:p>
        </p:txBody>
      </p:sp>
      <p:cxnSp>
        <p:nvCxnSpPr>
          <p:cNvPr id="5" name="Connector 4"/>
          <p:cNvCxnSpPr/>
          <p:nvPr/>
        </p:nvCxnSpPr>
        <p:spPr>
          <a:xfrm>
            <a:off x="1610023" y="400050"/>
            <a:ext cx="266700" cy="0"/>
          </a:xfrm>
          <a:prstGeom prst="line">
            <a:avLst/>
          </a:prstGeom>
          <a:ln w="9525">
            <a:solidFill>
              <a:srgbClr val="C9A34E"/>
            </a:solidFill>
          </a:ln>
        </p:spPr>
      </p:cxnSp>
      <p:sp>
        <p:nvSpPr>
          <p:cNvPr id="6" name="TextBox 5"/>
          <p:cNvSpPr txBox="1"/>
          <p:nvPr/>
        </p:nvSpPr>
        <p:spPr>
          <a:xfrm>
            <a:off x="609600" y="561975"/>
            <a:ext cx="11048162" cy="752475"/>
          </a:xfrm>
          <a:prstGeom prst="rect">
            <a:avLst/>
          </a:prstGeom>
          <a:noFill/>
        </p:spPr>
        <p:txBody>
          <a:bodyPr wrap="square" lIns="0" tIns="0" rIns="0" bIns="0" anchor="t">
            <a:noAutofit/>
          </a:bodyPr>
          <a:lstStyle/>
          <a:p>
            <a:pPr algn="l">
              <a:lnSpc>
                <a:spcPts val="2925"/>
              </a:lnSpc>
              <a:spcBef>
                <a:spcPts val="0"/>
              </a:spcBef>
              <a:spcAft>
                <a:spcPts val="0"/>
              </a:spcAft>
            </a:pPr>
            <a:r>
              <a:rPr sz="2500" b="0" i="0" spc="-25">
                <a:solidFill>
                  <a:srgbClr val="1C2433"/>
                </a:solidFill>
                <a:latin typeface="Fraunces SemiBold"/>
                <a:ea typeface="Fraunces SemiBold"/>
                <a:cs typeface="Fraunces SemiBold"/>
              </a:rPr>
              <a:t>Diez novelas publicadas: lo que un validador cazó se reparó antes de publicar, y dos fallos se le escaparon</a:t>
            </a:r>
          </a:p>
        </p:txBody>
      </p:sp>
      <p:sp>
        <p:nvSpPr>
          <p:cNvPr id="7" name="Rectangle 6"/>
          <p:cNvSpPr/>
          <p:nvPr/>
        </p:nvSpPr>
        <p:spPr>
          <a:xfrm>
            <a:off x="381000" y="1409700"/>
            <a:ext cx="3030438" cy="400050"/>
          </a:xfrm>
          <a:prstGeom prst="rect">
            <a:avLst/>
          </a:prstGeom>
          <a:solidFill>
            <a:srgbClr val="1C2433"/>
          </a:solidFill>
          <a:ln>
            <a:noFill/>
          </a:ln>
        </p:spPr>
        <p:txBody>
          <a:bodyPr rtlCol="0" anchor="ctr"/>
          <a:lstStyle/>
          <a:p>
            <a:endParaRPr/>
          </a:p>
        </p:txBody>
      </p:sp>
      <p:sp>
        <p:nvSpPr>
          <p:cNvPr id="8" name="TextBox 7"/>
          <p:cNvSpPr txBox="1"/>
          <p:nvPr/>
        </p:nvSpPr>
        <p:spPr>
          <a:xfrm>
            <a:off x="476250" y="1600200"/>
            <a:ext cx="1065228" cy="152400"/>
          </a:xfrm>
          <a:prstGeom prst="rect">
            <a:avLst/>
          </a:prstGeom>
          <a:noFill/>
        </p:spPr>
        <p:txBody>
          <a:bodyPr wrap="none" lIns="0" tIns="0" rIns="0" bIns="0" anchor="t">
            <a:noAutofit/>
          </a:bodyPr>
          <a:lstStyle/>
          <a:p>
            <a:pPr algn="l">
              <a:lnSpc>
                <a:spcPts val="1125"/>
              </a:lnSpc>
              <a:spcBef>
                <a:spcPts val="0"/>
              </a:spcBef>
              <a:spcAft>
                <a:spcPts val="0"/>
              </a:spcAft>
            </a:pPr>
            <a:r>
              <a:rPr sz="1000" b="0" i="0">
                <a:solidFill>
                  <a:srgbClr val="F5EFE3"/>
                </a:solidFill>
                <a:latin typeface="Inter SemiBold"/>
                <a:ea typeface="Inter SemiBold"/>
                <a:cs typeface="Inter SemiBold"/>
              </a:rPr>
              <a:t>Novela · ocasión</a:t>
            </a:r>
          </a:p>
        </p:txBody>
      </p:sp>
      <p:sp>
        <p:nvSpPr>
          <p:cNvPr id="9" name="Rectangle 8"/>
          <p:cNvSpPr/>
          <p:nvPr/>
        </p:nvSpPr>
        <p:spPr>
          <a:xfrm>
            <a:off x="3411438" y="1409700"/>
            <a:ext cx="542330" cy="400050"/>
          </a:xfrm>
          <a:prstGeom prst="rect">
            <a:avLst/>
          </a:prstGeom>
          <a:solidFill>
            <a:srgbClr val="1C2433"/>
          </a:solidFill>
          <a:ln>
            <a:noFill/>
          </a:ln>
        </p:spPr>
        <p:txBody>
          <a:bodyPr rtlCol="0" anchor="ctr"/>
          <a:lstStyle/>
          <a:p>
            <a:endParaRPr/>
          </a:p>
        </p:txBody>
      </p:sp>
      <p:sp>
        <p:nvSpPr>
          <p:cNvPr id="10" name="TextBox 9"/>
          <p:cNvSpPr txBox="1"/>
          <p:nvPr/>
        </p:nvSpPr>
        <p:spPr>
          <a:xfrm>
            <a:off x="3482926" y="1600200"/>
            <a:ext cx="399205" cy="152400"/>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F5EFE3"/>
                </a:solidFill>
                <a:latin typeface="Inter SemiBold"/>
                <a:ea typeface="Inter SemiBold"/>
                <a:cs typeface="Inter SemiBold"/>
              </a:rPr>
              <a:t>Caps.</a:t>
            </a:r>
          </a:p>
        </p:txBody>
      </p:sp>
      <p:sp>
        <p:nvSpPr>
          <p:cNvPr id="11" name="Rectangle 10"/>
          <p:cNvSpPr/>
          <p:nvPr/>
        </p:nvSpPr>
        <p:spPr>
          <a:xfrm>
            <a:off x="3953768" y="1409700"/>
            <a:ext cx="1114425" cy="400050"/>
          </a:xfrm>
          <a:prstGeom prst="rect">
            <a:avLst/>
          </a:prstGeom>
          <a:solidFill>
            <a:srgbClr val="1C2433"/>
          </a:solidFill>
          <a:ln>
            <a:noFill/>
          </a:ln>
        </p:spPr>
        <p:txBody>
          <a:bodyPr rtlCol="0" anchor="ctr"/>
          <a:lstStyle/>
          <a:p>
            <a:endParaRPr/>
          </a:p>
        </p:txBody>
      </p:sp>
      <p:sp>
        <p:nvSpPr>
          <p:cNvPr id="12" name="TextBox 11"/>
          <p:cNvSpPr txBox="1"/>
          <p:nvPr/>
        </p:nvSpPr>
        <p:spPr>
          <a:xfrm>
            <a:off x="4278026" y="1600200"/>
            <a:ext cx="465761" cy="152400"/>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F5EFE3"/>
                </a:solidFill>
                <a:latin typeface="Inter SemiBold"/>
                <a:ea typeface="Inter SemiBold"/>
                <a:cs typeface="Inter SemiBold"/>
              </a:rPr>
              <a:t>Estado</a:t>
            </a:r>
          </a:p>
        </p:txBody>
      </p:sp>
      <p:sp>
        <p:nvSpPr>
          <p:cNvPr id="13" name="Rectangle 12"/>
          <p:cNvSpPr/>
          <p:nvPr/>
        </p:nvSpPr>
        <p:spPr>
          <a:xfrm>
            <a:off x="5068193" y="1409700"/>
            <a:ext cx="707380" cy="400050"/>
          </a:xfrm>
          <a:prstGeom prst="rect">
            <a:avLst/>
          </a:prstGeom>
          <a:solidFill>
            <a:srgbClr val="1C2433"/>
          </a:solidFill>
          <a:ln>
            <a:noFill/>
          </a:ln>
        </p:spPr>
        <p:txBody>
          <a:bodyPr rtlCol="0" anchor="ctr"/>
          <a:lstStyle/>
          <a:p>
            <a:endParaRPr/>
          </a:p>
        </p:txBody>
      </p:sp>
      <p:sp>
        <p:nvSpPr>
          <p:cNvPr id="14" name="TextBox 13"/>
          <p:cNvSpPr txBox="1"/>
          <p:nvPr/>
        </p:nvSpPr>
        <p:spPr>
          <a:xfrm>
            <a:off x="5173260" y="1600200"/>
            <a:ext cx="545163" cy="152400"/>
          </a:xfrm>
          <a:prstGeom prst="rect">
            <a:avLst/>
          </a:prstGeom>
          <a:noFill/>
        </p:spPr>
        <p:txBody>
          <a:bodyPr wrap="none" lIns="0" tIns="0" rIns="0" bIns="0" anchor="t">
            <a:noAutofit/>
          </a:bodyPr>
          <a:lstStyle/>
          <a:p>
            <a:pPr algn="r">
              <a:lnSpc>
                <a:spcPts val="1125"/>
              </a:lnSpc>
              <a:spcBef>
                <a:spcPts val="0"/>
              </a:spcBef>
              <a:spcAft>
                <a:spcPts val="0"/>
              </a:spcAft>
            </a:pPr>
            <a:r>
              <a:rPr sz="1000" b="0" i="0">
                <a:solidFill>
                  <a:srgbClr val="F5EFE3"/>
                </a:solidFill>
                <a:latin typeface="Inter SemiBold"/>
                <a:ea typeface="Inter SemiBold"/>
                <a:cs typeface="Inter SemiBold"/>
              </a:rPr>
              <a:t>Intentos</a:t>
            </a:r>
          </a:p>
        </p:txBody>
      </p:sp>
      <p:sp>
        <p:nvSpPr>
          <p:cNvPr id="15" name="Rectangle 14"/>
          <p:cNvSpPr/>
          <p:nvPr/>
        </p:nvSpPr>
        <p:spPr>
          <a:xfrm>
            <a:off x="5775573" y="1409700"/>
            <a:ext cx="885230" cy="400050"/>
          </a:xfrm>
          <a:prstGeom prst="rect">
            <a:avLst/>
          </a:prstGeom>
          <a:solidFill>
            <a:srgbClr val="1C2433"/>
          </a:solidFill>
          <a:ln>
            <a:noFill/>
          </a:ln>
        </p:spPr>
        <p:txBody>
          <a:bodyPr rtlCol="0" anchor="ctr"/>
          <a:lstStyle/>
          <a:p>
            <a:endParaRPr/>
          </a:p>
        </p:txBody>
      </p:sp>
      <p:sp>
        <p:nvSpPr>
          <p:cNvPr id="16" name="TextBox 15"/>
          <p:cNvSpPr txBox="1"/>
          <p:nvPr/>
        </p:nvSpPr>
        <p:spPr>
          <a:xfrm>
            <a:off x="5825648" y="1457325"/>
            <a:ext cx="785080" cy="295275"/>
          </a:xfrm>
          <a:prstGeom prst="rect">
            <a:avLst/>
          </a:prstGeom>
          <a:noFill/>
        </p:spPr>
        <p:txBody>
          <a:bodyPr wrap="square" lIns="0" tIns="0" rIns="0" bIns="0" anchor="t">
            <a:noAutofit/>
          </a:bodyPr>
          <a:lstStyle/>
          <a:p>
            <a:pPr algn="ctr">
              <a:lnSpc>
                <a:spcPts val="1125"/>
              </a:lnSpc>
              <a:spcBef>
                <a:spcPts val="0"/>
              </a:spcBef>
              <a:spcAft>
                <a:spcPts val="0"/>
              </a:spcAft>
            </a:pPr>
            <a:r>
              <a:rPr sz="1000" b="0" i="0">
                <a:solidFill>
                  <a:srgbClr val="F5EFE3"/>
                </a:solidFill>
                <a:latin typeface="Inter SemiBold"/>
                <a:ea typeface="Inter SemiBold"/>
                <a:cs typeface="Inter SemiBold"/>
              </a:rPr>
              <a:t>nombres</a:t>
            </a:r>
          </a:p>
          <a:p>
            <a:pPr algn="ctr">
              <a:lnSpc>
                <a:spcPts val="1125"/>
              </a:lnSpc>
              <a:spcBef>
                <a:spcPts val="0"/>
              </a:spcBef>
              <a:spcAft>
                <a:spcPts val="0"/>
              </a:spcAft>
            </a:pPr>
            <a:r>
              <a:rPr sz="1000" b="0" i="0">
                <a:solidFill>
                  <a:srgbClr val="F5EFE3"/>
                </a:solidFill>
                <a:latin typeface="Inter SemiBold"/>
                <a:ea typeface="Inter SemiBold"/>
                <a:cs typeface="Inter SemiBold"/>
              </a:rPr>
              <a:t>exactos</a:t>
            </a:r>
          </a:p>
        </p:txBody>
      </p:sp>
      <p:sp>
        <p:nvSpPr>
          <p:cNvPr id="17" name="Rectangle 16"/>
          <p:cNvSpPr/>
          <p:nvPr/>
        </p:nvSpPr>
        <p:spPr>
          <a:xfrm>
            <a:off x="6660803" y="1409700"/>
            <a:ext cx="885230" cy="400050"/>
          </a:xfrm>
          <a:prstGeom prst="rect">
            <a:avLst/>
          </a:prstGeom>
          <a:solidFill>
            <a:srgbClr val="1C2433"/>
          </a:solidFill>
          <a:ln>
            <a:noFill/>
          </a:ln>
        </p:spPr>
        <p:txBody>
          <a:bodyPr rtlCol="0" anchor="ctr"/>
          <a:lstStyle/>
          <a:p>
            <a:endParaRPr/>
          </a:p>
        </p:txBody>
      </p:sp>
      <p:sp>
        <p:nvSpPr>
          <p:cNvPr id="18" name="TextBox 17"/>
          <p:cNvSpPr txBox="1"/>
          <p:nvPr/>
        </p:nvSpPr>
        <p:spPr>
          <a:xfrm>
            <a:off x="6829443" y="1600200"/>
            <a:ext cx="547949" cy="152400"/>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F5EFE3"/>
                </a:solidFill>
                <a:latin typeface="Inter SemiBold"/>
                <a:ea typeface="Inter SemiBold"/>
                <a:cs typeface="Inter SemiBold"/>
              </a:rPr>
              <a:t>longitud</a:t>
            </a:r>
          </a:p>
        </p:txBody>
      </p:sp>
      <p:sp>
        <p:nvSpPr>
          <p:cNvPr id="19" name="Rectangle 18"/>
          <p:cNvSpPr/>
          <p:nvPr/>
        </p:nvSpPr>
        <p:spPr>
          <a:xfrm>
            <a:off x="7546032" y="1409700"/>
            <a:ext cx="880914" cy="400050"/>
          </a:xfrm>
          <a:prstGeom prst="rect">
            <a:avLst/>
          </a:prstGeom>
          <a:solidFill>
            <a:srgbClr val="1C2433"/>
          </a:solidFill>
          <a:ln>
            <a:noFill/>
          </a:ln>
        </p:spPr>
        <p:txBody>
          <a:bodyPr rtlCol="0" anchor="ctr"/>
          <a:lstStyle/>
          <a:p>
            <a:endParaRPr/>
          </a:p>
        </p:txBody>
      </p:sp>
      <p:sp>
        <p:nvSpPr>
          <p:cNvPr id="20" name="TextBox 19"/>
          <p:cNvSpPr txBox="1"/>
          <p:nvPr/>
        </p:nvSpPr>
        <p:spPr>
          <a:xfrm>
            <a:off x="7637990" y="1600200"/>
            <a:ext cx="696849" cy="152400"/>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F5EFE3"/>
                </a:solidFill>
                <a:latin typeface="Inter SemiBold"/>
                <a:ea typeface="Inter SemiBold"/>
                <a:cs typeface="Inter SemiBold"/>
              </a:rPr>
              <a:t>prohibidas</a:t>
            </a:r>
          </a:p>
        </p:txBody>
      </p:sp>
      <p:sp>
        <p:nvSpPr>
          <p:cNvPr id="21" name="Rectangle 20"/>
          <p:cNvSpPr/>
          <p:nvPr/>
        </p:nvSpPr>
        <p:spPr>
          <a:xfrm>
            <a:off x="8426946" y="1409700"/>
            <a:ext cx="966043" cy="400050"/>
          </a:xfrm>
          <a:prstGeom prst="rect">
            <a:avLst/>
          </a:prstGeom>
          <a:solidFill>
            <a:srgbClr val="1C2433"/>
          </a:solidFill>
          <a:ln>
            <a:noFill/>
          </a:ln>
        </p:spPr>
        <p:txBody>
          <a:bodyPr rtlCol="0" anchor="ctr"/>
          <a:lstStyle/>
          <a:p>
            <a:endParaRPr/>
          </a:p>
        </p:txBody>
      </p:sp>
      <p:sp>
        <p:nvSpPr>
          <p:cNvPr id="22" name="TextBox 21"/>
          <p:cNvSpPr txBox="1"/>
          <p:nvPr/>
        </p:nvSpPr>
        <p:spPr>
          <a:xfrm>
            <a:off x="8739313" y="1600200"/>
            <a:ext cx="341162" cy="152400"/>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F5EFE3"/>
                </a:solidFill>
                <a:latin typeface="Inter SemiBold"/>
                <a:ea typeface="Inter SemiBold"/>
                <a:cs typeface="Inter SemiBold"/>
              </a:rPr>
              <a:t>Lean</a:t>
            </a:r>
          </a:p>
        </p:txBody>
      </p:sp>
      <p:sp>
        <p:nvSpPr>
          <p:cNvPr id="23" name="Rectangle 22"/>
          <p:cNvSpPr/>
          <p:nvPr/>
        </p:nvSpPr>
        <p:spPr>
          <a:xfrm>
            <a:off x="9392989" y="1409700"/>
            <a:ext cx="1059507" cy="400050"/>
          </a:xfrm>
          <a:prstGeom prst="rect">
            <a:avLst/>
          </a:prstGeom>
          <a:solidFill>
            <a:srgbClr val="1C2433"/>
          </a:solidFill>
          <a:ln>
            <a:noFill/>
          </a:ln>
        </p:spPr>
        <p:txBody>
          <a:bodyPr rtlCol="0" anchor="ctr"/>
          <a:lstStyle/>
          <a:p>
            <a:endParaRPr/>
          </a:p>
        </p:txBody>
      </p:sp>
      <p:sp>
        <p:nvSpPr>
          <p:cNvPr id="24" name="TextBox 23"/>
          <p:cNvSpPr txBox="1"/>
          <p:nvPr/>
        </p:nvSpPr>
        <p:spPr>
          <a:xfrm>
            <a:off x="9434943" y="1457325"/>
            <a:ext cx="960404" cy="295275"/>
          </a:xfrm>
          <a:prstGeom prst="rect">
            <a:avLst/>
          </a:prstGeom>
          <a:noFill/>
        </p:spPr>
        <p:txBody>
          <a:bodyPr wrap="square" lIns="0" tIns="0" rIns="0" bIns="0" anchor="t">
            <a:noAutofit/>
          </a:bodyPr>
          <a:lstStyle/>
          <a:p>
            <a:pPr algn="r">
              <a:lnSpc>
                <a:spcPts val="1125"/>
              </a:lnSpc>
              <a:spcBef>
                <a:spcPts val="0"/>
              </a:spcBef>
              <a:spcAft>
                <a:spcPts val="0"/>
              </a:spcAft>
            </a:pPr>
            <a:r>
              <a:rPr sz="1000" b="0" i="0">
                <a:solidFill>
                  <a:srgbClr val="F5EFE3"/>
                </a:solidFill>
                <a:latin typeface="Inter SemiBold"/>
                <a:ea typeface="Inter SemiBold"/>
                <a:cs typeface="Inter SemiBold"/>
              </a:rPr>
              <a:t>Juez media</a:t>
            </a:r>
          </a:p>
          <a:p>
            <a:pPr algn="r">
              <a:lnSpc>
                <a:spcPts val="1125"/>
              </a:lnSpc>
              <a:spcBef>
                <a:spcPts val="0"/>
              </a:spcBef>
              <a:spcAft>
                <a:spcPts val="0"/>
              </a:spcAft>
            </a:pPr>
            <a:r>
              <a:rPr sz="1000" b="0" i="0">
                <a:solidFill>
                  <a:srgbClr val="F5EFE3"/>
                </a:solidFill>
                <a:latin typeface="Inter SemiBold"/>
                <a:ea typeface="Inter SemiBold"/>
                <a:cs typeface="Inter SemiBold"/>
              </a:rPr>
              <a:t>/ continuidad</a:t>
            </a:r>
          </a:p>
        </p:txBody>
      </p:sp>
      <p:sp>
        <p:nvSpPr>
          <p:cNvPr id="25" name="Rectangle 24"/>
          <p:cNvSpPr/>
          <p:nvPr/>
        </p:nvSpPr>
        <p:spPr>
          <a:xfrm>
            <a:off x="10452497" y="1409700"/>
            <a:ext cx="678507" cy="400050"/>
          </a:xfrm>
          <a:prstGeom prst="rect">
            <a:avLst/>
          </a:prstGeom>
          <a:solidFill>
            <a:srgbClr val="1C2433"/>
          </a:solidFill>
          <a:ln>
            <a:noFill/>
          </a:ln>
        </p:spPr>
        <p:txBody>
          <a:bodyPr rtlCol="0" anchor="ctr"/>
          <a:lstStyle/>
          <a:p>
            <a:endParaRPr/>
          </a:p>
        </p:txBody>
      </p:sp>
      <p:sp>
        <p:nvSpPr>
          <p:cNvPr id="26" name="TextBox 25"/>
          <p:cNvSpPr txBox="1"/>
          <p:nvPr/>
        </p:nvSpPr>
        <p:spPr>
          <a:xfrm>
            <a:off x="10586270" y="1600200"/>
            <a:ext cx="487585" cy="152400"/>
          </a:xfrm>
          <a:prstGeom prst="rect">
            <a:avLst/>
          </a:prstGeom>
          <a:noFill/>
        </p:spPr>
        <p:txBody>
          <a:bodyPr wrap="none" lIns="0" tIns="0" rIns="0" bIns="0" anchor="t">
            <a:noAutofit/>
          </a:bodyPr>
          <a:lstStyle/>
          <a:p>
            <a:pPr algn="r">
              <a:lnSpc>
                <a:spcPts val="1125"/>
              </a:lnSpc>
              <a:spcBef>
                <a:spcPts val="0"/>
              </a:spcBef>
              <a:spcAft>
                <a:spcPts val="0"/>
              </a:spcAft>
            </a:pPr>
            <a:r>
              <a:rPr sz="1000" b="0" i="0">
                <a:solidFill>
                  <a:srgbClr val="F5EFE3"/>
                </a:solidFill>
                <a:latin typeface="Inter SemiBold"/>
                <a:ea typeface="Inter SemiBold"/>
                <a:cs typeface="Inter SemiBold"/>
              </a:rPr>
              <a:t>Tokens</a:t>
            </a:r>
          </a:p>
        </p:txBody>
      </p:sp>
      <p:sp>
        <p:nvSpPr>
          <p:cNvPr id="27" name="Rectangle 26"/>
          <p:cNvSpPr/>
          <p:nvPr/>
        </p:nvSpPr>
        <p:spPr>
          <a:xfrm>
            <a:off x="11131004" y="1409700"/>
            <a:ext cx="679996" cy="400050"/>
          </a:xfrm>
          <a:prstGeom prst="rect">
            <a:avLst/>
          </a:prstGeom>
          <a:solidFill>
            <a:srgbClr val="1C2433"/>
          </a:solidFill>
          <a:ln>
            <a:noFill/>
          </a:ln>
        </p:spPr>
        <p:txBody>
          <a:bodyPr rtlCol="0" anchor="ctr"/>
          <a:lstStyle/>
          <a:p>
            <a:endParaRPr/>
          </a:p>
        </p:txBody>
      </p:sp>
      <p:sp>
        <p:nvSpPr>
          <p:cNvPr id="28" name="TextBox 27"/>
          <p:cNvSpPr txBox="1"/>
          <p:nvPr/>
        </p:nvSpPr>
        <p:spPr>
          <a:xfrm>
            <a:off x="11351240" y="1600200"/>
            <a:ext cx="402610" cy="152400"/>
          </a:xfrm>
          <a:prstGeom prst="rect">
            <a:avLst/>
          </a:prstGeom>
          <a:noFill/>
        </p:spPr>
        <p:txBody>
          <a:bodyPr wrap="none" lIns="0" tIns="0" rIns="0" bIns="0" anchor="t">
            <a:noAutofit/>
          </a:bodyPr>
          <a:lstStyle/>
          <a:p>
            <a:pPr algn="r">
              <a:lnSpc>
                <a:spcPts val="1125"/>
              </a:lnSpc>
              <a:spcBef>
                <a:spcPts val="0"/>
              </a:spcBef>
              <a:spcAft>
                <a:spcPts val="0"/>
              </a:spcAft>
            </a:pPr>
            <a:r>
              <a:rPr sz="1000" b="0" i="0">
                <a:solidFill>
                  <a:srgbClr val="F5EFE3"/>
                </a:solidFill>
                <a:latin typeface="Inter SemiBold"/>
                <a:ea typeface="Inter SemiBold"/>
                <a:cs typeface="Inter SemiBold"/>
              </a:rPr>
              <a:t>Coste</a:t>
            </a:r>
          </a:p>
        </p:txBody>
      </p:sp>
      <p:sp>
        <p:nvSpPr>
          <p:cNvPr id="29" name="Rectangle 28"/>
          <p:cNvSpPr/>
          <p:nvPr/>
        </p:nvSpPr>
        <p:spPr>
          <a:xfrm>
            <a:off x="381000" y="1809750"/>
            <a:ext cx="3030438" cy="295275"/>
          </a:xfrm>
          <a:prstGeom prst="rect">
            <a:avLst/>
          </a:prstGeom>
          <a:noFill/>
          <a:ln>
            <a:noFill/>
          </a:ln>
        </p:spPr>
        <p:txBody>
          <a:bodyPr rtlCol="0" anchor="ctr"/>
          <a:lstStyle/>
          <a:p>
            <a:endParaRPr/>
          </a:p>
        </p:txBody>
      </p:sp>
      <p:cxnSp>
        <p:nvCxnSpPr>
          <p:cNvPr id="30" name="Connector 29"/>
          <p:cNvCxnSpPr/>
          <p:nvPr/>
        </p:nvCxnSpPr>
        <p:spPr>
          <a:xfrm>
            <a:off x="381000" y="2100262"/>
            <a:ext cx="3030438" cy="0"/>
          </a:xfrm>
          <a:prstGeom prst="line">
            <a:avLst/>
          </a:prstGeom>
          <a:ln w="9525">
            <a:solidFill>
              <a:srgbClr val="D9D2C3"/>
            </a:solidFill>
          </a:ln>
        </p:spPr>
      </p:cxnSp>
      <p:sp>
        <p:nvSpPr>
          <p:cNvPr id="31" name="TextBox 30"/>
          <p:cNvSpPr txBox="1"/>
          <p:nvPr/>
        </p:nvSpPr>
        <p:spPr>
          <a:xfrm>
            <a:off x="476250" y="1874044"/>
            <a:ext cx="1817465"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Cádiz, 1803–1806</a:t>
            </a:r>
            <a:r>
              <a:rPr sz="1050" b="0" i="0">
                <a:solidFill>
                  <a:srgbClr val="1C2433"/>
                </a:solidFill>
                <a:latin typeface="Inter"/>
                <a:ea typeface="Inter"/>
                <a:cs typeface="Inter"/>
              </a:rPr>
              <a:t> </a:t>
            </a:r>
            <a:r>
              <a:rPr sz="950" b="0" i="0">
                <a:solidFill>
                  <a:srgbClr val="7D7869"/>
                </a:solidFill>
                <a:latin typeface="Inter"/>
                <a:ea typeface="Inter"/>
                <a:cs typeface="Inter"/>
              </a:rPr>
              <a:t>jubilación</a:t>
            </a:r>
          </a:p>
        </p:txBody>
      </p:sp>
      <p:sp>
        <p:nvSpPr>
          <p:cNvPr id="32" name="Rectangle 31"/>
          <p:cNvSpPr/>
          <p:nvPr/>
        </p:nvSpPr>
        <p:spPr>
          <a:xfrm>
            <a:off x="3411438" y="1809750"/>
            <a:ext cx="542330" cy="295275"/>
          </a:xfrm>
          <a:prstGeom prst="rect">
            <a:avLst/>
          </a:prstGeom>
          <a:noFill/>
          <a:ln>
            <a:noFill/>
          </a:ln>
        </p:spPr>
        <p:txBody>
          <a:bodyPr rtlCol="0" anchor="ctr"/>
          <a:lstStyle/>
          <a:p>
            <a:endParaRPr/>
          </a:p>
        </p:txBody>
      </p:sp>
      <p:cxnSp>
        <p:nvCxnSpPr>
          <p:cNvPr id="33" name="Connector 32"/>
          <p:cNvCxnSpPr/>
          <p:nvPr/>
        </p:nvCxnSpPr>
        <p:spPr>
          <a:xfrm>
            <a:off x="3411438" y="2100262"/>
            <a:ext cx="542330" cy="0"/>
          </a:xfrm>
          <a:prstGeom prst="line">
            <a:avLst/>
          </a:prstGeom>
          <a:ln w="9525">
            <a:solidFill>
              <a:srgbClr val="D9D2C3"/>
            </a:solidFill>
          </a:ln>
        </p:spPr>
      </p:cxnSp>
      <p:sp>
        <p:nvSpPr>
          <p:cNvPr id="34" name="TextBox 33"/>
          <p:cNvSpPr txBox="1"/>
          <p:nvPr/>
        </p:nvSpPr>
        <p:spPr>
          <a:xfrm>
            <a:off x="3591580" y="1874044"/>
            <a:ext cx="182047"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10</a:t>
            </a:r>
          </a:p>
        </p:txBody>
      </p:sp>
      <p:sp>
        <p:nvSpPr>
          <p:cNvPr id="35" name="Rectangle 34"/>
          <p:cNvSpPr/>
          <p:nvPr/>
        </p:nvSpPr>
        <p:spPr>
          <a:xfrm>
            <a:off x="3953768" y="1809750"/>
            <a:ext cx="1114425" cy="295275"/>
          </a:xfrm>
          <a:prstGeom prst="rect">
            <a:avLst/>
          </a:prstGeom>
          <a:noFill/>
          <a:ln>
            <a:noFill/>
          </a:ln>
        </p:spPr>
        <p:txBody>
          <a:bodyPr rtlCol="0" anchor="ctr"/>
          <a:lstStyle/>
          <a:p>
            <a:endParaRPr/>
          </a:p>
        </p:txBody>
      </p:sp>
      <p:cxnSp>
        <p:nvCxnSpPr>
          <p:cNvPr id="36" name="Connector 35"/>
          <p:cNvCxnSpPr/>
          <p:nvPr/>
        </p:nvCxnSpPr>
        <p:spPr>
          <a:xfrm>
            <a:off x="3953768" y="2100262"/>
            <a:ext cx="1114425" cy="0"/>
          </a:xfrm>
          <a:prstGeom prst="line">
            <a:avLst/>
          </a:prstGeom>
          <a:ln w="9525">
            <a:solidFill>
              <a:srgbClr val="D9D2C3"/>
            </a:solidFill>
          </a:ln>
        </p:spPr>
      </p:cxnSp>
      <p:sp>
        <p:nvSpPr>
          <p:cNvPr id="37" name="Rounded Rectangle 36"/>
          <p:cNvSpPr/>
          <p:nvPr/>
        </p:nvSpPr>
        <p:spPr>
          <a:xfrm>
            <a:off x="4093964" y="1859756"/>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8" name="TextBox 37"/>
          <p:cNvSpPr txBox="1"/>
          <p:nvPr/>
        </p:nvSpPr>
        <p:spPr>
          <a:xfrm>
            <a:off x="4127575" y="1878806"/>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39" name="Rectangle 38"/>
          <p:cNvSpPr/>
          <p:nvPr/>
        </p:nvSpPr>
        <p:spPr>
          <a:xfrm>
            <a:off x="5068193" y="1809750"/>
            <a:ext cx="707380" cy="295275"/>
          </a:xfrm>
          <a:prstGeom prst="rect">
            <a:avLst/>
          </a:prstGeom>
          <a:noFill/>
          <a:ln>
            <a:noFill/>
          </a:ln>
        </p:spPr>
        <p:txBody>
          <a:bodyPr rtlCol="0" anchor="ctr"/>
          <a:lstStyle/>
          <a:p>
            <a:endParaRPr/>
          </a:p>
        </p:txBody>
      </p:sp>
      <p:cxnSp>
        <p:nvCxnSpPr>
          <p:cNvPr id="40" name="Connector 39"/>
          <p:cNvCxnSpPr/>
          <p:nvPr/>
        </p:nvCxnSpPr>
        <p:spPr>
          <a:xfrm>
            <a:off x="5068193" y="2100262"/>
            <a:ext cx="707380" cy="0"/>
          </a:xfrm>
          <a:prstGeom prst="line">
            <a:avLst/>
          </a:prstGeom>
          <a:ln w="9525">
            <a:solidFill>
              <a:srgbClr val="D9D2C3"/>
            </a:solidFill>
          </a:ln>
        </p:spPr>
      </p:cxnSp>
      <p:sp>
        <p:nvSpPr>
          <p:cNvPr id="41" name="TextBox 40"/>
          <p:cNvSpPr txBox="1"/>
          <p:nvPr/>
        </p:nvSpPr>
        <p:spPr>
          <a:xfrm>
            <a:off x="5519815" y="1864519"/>
            <a:ext cx="198608"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14</a:t>
            </a:r>
          </a:p>
        </p:txBody>
      </p:sp>
      <p:sp>
        <p:nvSpPr>
          <p:cNvPr id="42" name="Rectangle 41"/>
          <p:cNvSpPr/>
          <p:nvPr/>
        </p:nvSpPr>
        <p:spPr>
          <a:xfrm>
            <a:off x="5775573" y="1809750"/>
            <a:ext cx="885230" cy="295275"/>
          </a:xfrm>
          <a:prstGeom prst="rect">
            <a:avLst/>
          </a:prstGeom>
          <a:noFill/>
          <a:ln>
            <a:noFill/>
          </a:ln>
        </p:spPr>
        <p:txBody>
          <a:bodyPr rtlCol="0" anchor="ctr"/>
          <a:lstStyle/>
          <a:p>
            <a:endParaRPr/>
          </a:p>
        </p:txBody>
      </p:sp>
      <p:cxnSp>
        <p:nvCxnSpPr>
          <p:cNvPr id="43" name="Connector 42"/>
          <p:cNvCxnSpPr/>
          <p:nvPr/>
        </p:nvCxnSpPr>
        <p:spPr>
          <a:xfrm>
            <a:off x="5775573" y="2100262"/>
            <a:ext cx="885230" cy="0"/>
          </a:xfrm>
          <a:prstGeom prst="line">
            <a:avLst/>
          </a:prstGeom>
          <a:ln w="9525">
            <a:solidFill>
              <a:srgbClr val="D9D2C3"/>
            </a:solidFill>
          </a:ln>
        </p:spPr>
      </p:cxnSp>
      <p:sp>
        <p:nvSpPr>
          <p:cNvPr id="44" name="Rounded Rectangle 43"/>
          <p:cNvSpPr/>
          <p:nvPr/>
        </p:nvSpPr>
        <p:spPr>
          <a:xfrm>
            <a:off x="6098828" y="1859756"/>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45" name="TextBox 44"/>
          <p:cNvSpPr txBox="1"/>
          <p:nvPr/>
        </p:nvSpPr>
        <p:spPr>
          <a:xfrm>
            <a:off x="6144348" y="1878806"/>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46" name="Rectangle 45"/>
          <p:cNvSpPr/>
          <p:nvPr/>
        </p:nvSpPr>
        <p:spPr>
          <a:xfrm>
            <a:off x="6660803" y="1809750"/>
            <a:ext cx="885230" cy="295275"/>
          </a:xfrm>
          <a:prstGeom prst="rect">
            <a:avLst/>
          </a:prstGeom>
          <a:noFill/>
          <a:ln>
            <a:noFill/>
          </a:ln>
        </p:spPr>
        <p:txBody>
          <a:bodyPr rtlCol="0" anchor="ctr"/>
          <a:lstStyle/>
          <a:p>
            <a:endParaRPr/>
          </a:p>
        </p:txBody>
      </p:sp>
      <p:cxnSp>
        <p:nvCxnSpPr>
          <p:cNvPr id="47" name="Connector 46"/>
          <p:cNvCxnSpPr/>
          <p:nvPr/>
        </p:nvCxnSpPr>
        <p:spPr>
          <a:xfrm>
            <a:off x="6660803" y="2100262"/>
            <a:ext cx="885229" cy="0"/>
          </a:xfrm>
          <a:prstGeom prst="line">
            <a:avLst/>
          </a:prstGeom>
          <a:ln w="9525">
            <a:solidFill>
              <a:srgbClr val="D9D2C3"/>
            </a:solidFill>
          </a:ln>
        </p:spPr>
      </p:cxnSp>
      <p:sp>
        <p:nvSpPr>
          <p:cNvPr id="48" name="Rounded Rectangle 47"/>
          <p:cNvSpPr/>
          <p:nvPr/>
        </p:nvSpPr>
        <p:spPr>
          <a:xfrm>
            <a:off x="6785670" y="1859756"/>
            <a:ext cx="635347"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49" name="TextBox 48"/>
          <p:cNvSpPr txBox="1"/>
          <p:nvPr/>
        </p:nvSpPr>
        <p:spPr>
          <a:xfrm>
            <a:off x="6823255" y="1878806"/>
            <a:ext cx="560177"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×3</a:t>
            </a:r>
          </a:p>
        </p:txBody>
      </p:sp>
      <p:sp>
        <p:nvSpPr>
          <p:cNvPr id="50" name="Rectangle 49"/>
          <p:cNvSpPr/>
          <p:nvPr/>
        </p:nvSpPr>
        <p:spPr>
          <a:xfrm>
            <a:off x="7546032" y="1809750"/>
            <a:ext cx="880914" cy="295275"/>
          </a:xfrm>
          <a:prstGeom prst="rect">
            <a:avLst/>
          </a:prstGeom>
          <a:noFill/>
          <a:ln>
            <a:noFill/>
          </a:ln>
        </p:spPr>
        <p:txBody>
          <a:bodyPr rtlCol="0" anchor="ctr"/>
          <a:lstStyle/>
          <a:p>
            <a:endParaRPr/>
          </a:p>
        </p:txBody>
      </p:sp>
      <p:cxnSp>
        <p:nvCxnSpPr>
          <p:cNvPr id="51" name="Connector 50"/>
          <p:cNvCxnSpPr/>
          <p:nvPr/>
        </p:nvCxnSpPr>
        <p:spPr>
          <a:xfrm>
            <a:off x="7546032" y="2100262"/>
            <a:ext cx="880914" cy="0"/>
          </a:xfrm>
          <a:prstGeom prst="line">
            <a:avLst/>
          </a:prstGeom>
          <a:ln w="9525">
            <a:solidFill>
              <a:srgbClr val="D9D2C3"/>
            </a:solidFill>
          </a:ln>
        </p:spPr>
      </p:cxnSp>
      <p:sp>
        <p:nvSpPr>
          <p:cNvPr id="52" name="Rounded Rectangle 51"/>
          <p:cNvSpPr/>
          <p:nvPr/>
        </p:nvSpPr>
        <p:spPr>
          <a:xfrm>
            <a:off x="7867204" y="1859756"/>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53" name="TextBox 52"/>
          <p:cNvSpPr txBox="1"/>
          <p:nvPr/>
        </p:nvSpPr>
        <p:spPr>
          <a:xfrm>
            <a:off x="7912724" y="1878806"/>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54" name="Rectangle 53"/>
          <p:cNvSpPr/>
          <p:nvPr/>
        </p:nvSpPr>
        <p:spPr>
          <a:xfrm>
            <a:off x="8426946" y="1809750"/>
            <a:ext cx="966043" cy="295275"/>
          </a:xfrm>
          <a:prstGeom prst="rect">
            <a:avLst/>
          </a:prstGeom>
          <a:noFill/>
          <a:ln>
            <a:noFill/>
          </a:ln>
        </p:spPr>
        <p:txBody>
          <a:bodyPr rtlCol="0" anchor="ctr"/>
          <a:lstStyle/>
          <a:p>
            <a:endParaRPr/>
          </a:p>
        </p:txBody>
      </p:sp>
      <p:cxnSp>
        <p:nvCxnSpPr>
          <p:cNvPr id="55" name="Connector 54"/>
          <p:cNvCxnSpPr/>
          <p:nvPr/>
        </p:nvCxnSpPr>
        <p:spPr>
          <a:xfrm>
            <a:off x="8426946" y="2100262"/>
            <a:ext cx="966043" cy="0"/>
          </a:xfrm>
          <a:prstGeom prst="line">
            <a:avLst/>
          </a:prstGeom>
          <a:ln w="9525">
            <a:solidFill>
              <a:srgbClr val="D9D2C3"/>
            </a:solidFill>
          </a:ln>
        </p:spPr>
      </p:cxnSp>
      <p:sp>
        <p:nvSpPr>
          <p:cNvPr id="56" name="Rounded Rectangle 55"/>
          <p:cNvSpPr/>
          <p:nvPr/>
        </p:nvSpPr>
        <p:spPr>
          <a:xfrm>
            <a:off x="8685163" y="1859756"/>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57" name="TextBox 56"/>
          <p:cNvSpPr txBox="1"/>
          <p:nvPr/>
        </p:nvSpPr>
        <p:spPr>
          <a:xfrm>
            <a:off x="8726466" y="1878806"/>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58" name="Rectangle 57"/>
          <p:cNvSpPr/>
          <p:nvPr/>
        </p:nvSpPr>
        <p:spPr>
          <a:xfrm>
            <a:off x="9392989" y="1809750"/>
            <a:ext cx="1059507" cy="295275"/>
          </a:xfrm>
          <a:prstGeom prst="rect">
            <a:avLst/>
          </a:prstGeom>
          <a:noFill/>
          <a:ln>
            <a:noFill/>
          </a:ln>
        </p:spPr>
        <p:txBody>
          <a:bodyPr rtlCol="0" anchor="ctr"/>
          <a:lstStyle/>
          <a:p>
            <a:endParaRPr/>
          </a:p>
        </p:txBody>
      </p:sp>
      <p:cxnSp>
        <p:nvCxnSpPr>
          <p:cNvPr id="59" name="Connector 58"/>
          <p:cNvCxnSpPr/>
          <p:nvPr/>
        </p:nvCxnSpPr>
        <p:spPr>
          <a:xfrm>
            <a:off x="9392989" y="2100262"/>
            <a:ext cx="1059508" cy="0"/>
          </a:xfrm>
          <a:prstGeom prst="line">
            <a:avLst/>
          </a:prstGeom>
          <a:ln w="9525">
            <a:solidFill>
              <a:srgbClr val="D9D2C3"/>
            </a:solidFill>
          </a:ln>
        </p:spPr>
      </p:cxnSp>
      <p:sp>
        <p:nvSpPr>
          <p:cNvPr id="60" name="TextBox 59"/>
          <p:cNvSpPr txBox="1"/>
          <p:nvPr/>
        </p:nvSpPr>
        <p:spPr>
          <a:xfrm>
            <a:off x="9715214" y="1864519"/>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7,12 / 6</a:t>
            </a:r>
          </a:p>
        </p:txBody>
      </p:sp>
      <p:sp>
        <p:nvSpPr>
          <p:cNvPr id="61" name="Rectangle 60"/>
          <p:cNvSpPr/>
          <p:nvPr/>
        </p:nvSpPr>
        <p:spPr>
          <a:xfrm>
            <a:off x="10452497" y="1809750"/>
            <a:ext cx="678507" cy="295275"/>
          </a:xfrm>
          <a:prstGeom prst="rect">
            <a:avLst/>
          </a:prstGeom>
          <a:noFill/>
          <a:ln>
            <a:noFill/>
          </a:ln>
        </p:spPr>
        <p:txBody>
          <a:bodyPr rtlCol="0" anchor="ctr"/>
          <a:lstStyle/>
          <a:p>
            <a:endParaRPr/>
          </a:p>
        </p:txBody>
      </p:sp>
      <p:cxnSp>
        <p:nvCxnSpPr>
          <p:cNvPr id="62" name="Connector 61"/>
          <p:cNvCxnSpPr/>
          <p:nvPr/>
        </p:nvCxnSpPr>
        <p:spPr>
          <a:xfrm>
            <a:off x="10452497" y="2100262"/>
            <a:ext cx="678507" cy="0"/>
          </a:xfrm>
          <a:prstGeom prst="line">
            <a:avLst/>
          </a:prstGeom>
          <a:ln w="9525">
            <a:solidFill>
              <a:srgbClr val="D9D2C3"/>
            </a:solidFill>
          </a:ln>
        </p:spPr>
      </p:cxnSp>
      <p:sp>
        <p:nvSpPr>
          <p:cNvPr id="63" name="TextBox 62"/>
          <p:cNvSpPr txBox="1"/>
          <p:nvPr/>
        </p:nvSpPr>
        <p:spPr>
          <a:xfrm>
            <a:off x="10554230" y="1864519"/>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1,05 M</a:t>
            </a:r>
          </a:p>
        </p:txBody>
      </p:sp>
      <p:sp>
        <p:nvSpPr>
          <p:cNvPr id="64" name="Rectangle 63"/>
          <p:cNvSpPr/>
          <p:nvPr/>
        </p:nvSpPr>
        <p:spPr>
          <a:xfrm>
            <a:off x="11131004" y="1809750"/>
            <a:ext cx="679996" cy="295275"/>
          </a:xfrm>
          <a:prstGeom prst="rect">
            <a:avLst/>
          </a:prstGeom>
          <a:noFill/>
          <a:ln>
            <a:noFill/>
          </a:ln>
        </p:spPr>
        <p:txBody>
          <a:bodyPr rtlCol="0" anchor="ctr"/>
          <a:lstStyle/>
          <a:p>
            <a:endParaRPr/>
          </a:p>
        </p:txBody>
      </p:sp>
      <p:cxnSp>
        <p:nvCxnSpPr>
          <p:cNvPr id="65" name="Connector 64"/>
          <p:cNvCxnSpPr/>
          <p:nvPr/>
        </p:nvCxnSpPr>
        <p:spPr>
          <a:xfrm>
            <a:off x="11131004" y="2100262"/>
            <a:ext cx="679996" cy="0"/>
          </a:xfrm>
          <a:prstGeom prst="line">
            <a:avLst/>
          </a:prstGeom>
          <a:ln w="9525">
            <a:solidFill>
              <a:srgbClr val="D9D2C3"/>
            </a:solidFill>
          </a:ln>
        </p:spPr>
      </p:cxnSp>
      <p:sp>
        <p:nvSpPr>
          <p:cNvPr id="66" name="TextBox 65"/>
          <p:cNvSpPr txBox="1"/>
          <p:nvPr/>
        </p:nvSpPr>
        <p:spPr>
          <a:xfrm>
            <a:off x="11234226" y="1864519"/>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3,62 $</a:t>
            </a:r>
          </a:p>
        </p:txBody>
      </p:sp>
      <p:sp>
        <p:nvSpPr>
          <p:cNvPr id="67" name="Rectangle 66"/>
          <p:cNvSpPr/>
          <p:nvPr/>
        </p:nvSpPr>
        <p:spPr>
          <a:xfrm>
            <a:off x="381000" y="2105025"/>
            <a:ext cx="11430000" cy="200025"/>
          </a:xfrm>
          <a:prstGeom prst="rect">
            <a:avLst/>
          </a:prstGeom>
          <a:solidFill>
            <a:srgbClr val="F2EAD6"/>
          </a:solidFill>
          <a:ln>
            <a:noFill/>
          </a:ln>
        </p:spPr>
        <p:txBody>
          <a:bodyPr rtlCol="0" anchor="ctr"/>
          <a:lstStyle/>
          <a:p>
            <a:endParaRPr/>
          </a:p>
        </p:txBody>
      </p:sp>
      <p:cxnSp>
        <p:nvCxnSpPr>
          <p:cNvPr id="68" name="Connector 67"/>
          <p:cNvCxnSpPr/>
          <p:nvPr/>
        </p:nvCxnSpPr>
        <p:spPr>
          <a:xfrm>
            <a:off x="381000" y="2300288"/>
            <a:ext cx="11430000" cy="0"/>
          </a:xfrm>
          <a:prstGeom prst="line">
            <a:avLst/>
          </a:prstGeom>
          <a:ln w="9525">
            <a:solidFill>
              <a:srgbClr val="D9D2C3"/>
            </a:solidFill>
          </a:ln>
        </p:spPr>
      </p:cxnSp>
      <p:sp>
        <p:nvSpPr>
          <p:cNvPr id="69" name="TextBox 68"/>
          <p:cNvSpPr txBox="1"/>
          <p:nvPr/>
        </p:nvSpPr>
        <p:spPr>
          <a:xfrm>
            <a:off x="476250" y="2119312"/>
            <a:ext cx="10551152" cy="142875"/>
          </a:xfrm>
          <a:prstGeom prst="rect">
            <a:avLst/>
          </a:prstGeom>
          <a:noFill/>
        </p:spPr>
        <p:txBody>
          <a:bodyPr wrap="none" lIns="0" tIns="0" rIns="0" bIns="0" anchor="t">
            <a:noAutofit/>
          </a:bodyPr>
          <a:lstStyle/>
          <a:p>
            <a:pPr algn="l">
              <a:lnSpc>
                <a:spcPts val="1125"/>
              </a:lnSpc>
              <a:spcBef>
                <a:spcPts val="0"/>
              </a:spcBef>
              <a:spcAft>
                <a:spcPts val="0"/>
              </a:spcAft>
            </a:pPr>
            <a:r>
              <a:rPr sz="950" b="0" i="0">
                <a:solidFill>
                  <a:srgbClr val="8A6D28"/>
                </a:solidFill>
                <a:latin typeface="Inter SemiBold"/>
                <a:ea typeface="Inter SemiBold"/>
                <a:cs typeface="Inter SemiBold"/>
              </a:rPr>
              <a:t>! RT-08: texto de la política de privacidad colado en los capítulos 6 y 7; ningún validador lo vio. Regenerada como eval-01b: limpia, 7,38 del juez y 3,15 $; es la novela de ejemplo.</a:t>
            </a:r>
          </a:p>
        </p:txBody>
      </p:sp>
      <p:sp>
        <p:nvSpPr>
          <p:cNvPr id="70" name="Rectangle 69"/>
          <p:cNvSpPr/>
          <p:nvPr/>
        </p:nvSpPr>
        <p:spPr>
          <a:xfrm>
            <a:off x="381000" y="2305050"/>
            <a:ext cx="3030438" cy="295275"/>
          </a:xfrm>
          <a:prstGeom prst="rect">
            <a:avLst/>
          </a:prstGeom>
          <a:noFill/>
          <a:ln>
            <a:noFill/>
          </a:ln>
        </p:spPr>
        <p:txBody>
          <a:bodyPr rtlCol="0" anchor="ctr"/>
          <a:lstStyle/>
          <a:p>
            <a:endParaRPr/>
          </a:p>
        </p:txBody>
      </p:sp>
      <p:cxnSp>
        <p:nvCxnSpPr>
          <p:cNvPr id="71" name="Connector 70"/>
          <p:cNvCxnSpPr/>
          <p:nvPr/>
        </p:nvCxnSpPr>
        <p:spPr>
          <a:xfrm>
            <a:off x="381000" y="2595562"/>
            <a:ext cx="3030438" cy="0"/>
          </a:xfrm>
          <a:prstGeom prst="line">
            <a:avLst/>
          </a:prstGeom>
          <a:ln w="9525">
            <a:solidFill>
              <a:srgbClr val="D9D2C3"/>
            </a:solidFill>
          </a:ln>
        </p:spPr>
      </p:cxnSp>
      <p:sp>
        <p:nvSpPr>
          <p:cNvPr id="72" name="TextBox 71"/>
          <p:cNvSpPr txBox="1"/>
          <p:nvPr/>
        </p:nvSpPr>
        <p:spPr>
          <a:xfrm>
            <a:off x="476250" y="2371725"/>
            <a:ext cx="2190798"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Madrid, 1787–1789</a:t>
            </a:r>
            <a:r>
              <a:rPr sz="1050" b="0" i="0">
                <a:solidFill>
                  <a:srgbClr val="1C2433"/>
                </a:solidFill>
                <a:latin typeface="Inter"/>
                <a:ea typeface="Inter"/>
                <a:cs typeface="Inter"/>
              </a:rPr>
              <a:t> </a:t>
            </a:r>
            <a:r>
              <a:rPr sz="950" b="0" i="0">
                <a:solidFill>
                  <a:srgbClr val="7D7869"/>
                </a:solidFill>
                <a:latin typeface="Inter"/>
                <a:ea typeface="Inter"/>
                <a:cs typeface="Inter"/>
              </a:rPr>
              <a:t>18 cumpleaños</a:t>
            </a:r>
          </a:p>
        </p:txBody>
      </p:sp>
      <p:sp>
        <p:nvSpPr>
          <p:cNvPr id="73" name="Rectangle 72"/>
          <p:cNvSpPr/>
          <p:nvPr/>
        </p:nvSpPr>
        <p:spPr>
          <a:xfrm>
            <a:off x="3411438" y="2305050"/>
            <a:ext cx="542330" cy="295275"/>
          </a:xfrm>
          <a:prstGeom prst="rect">
            <a:avLst/>
          </a:prstGeom>
          <a:noFill/>
          <a:ln>
            <a:noFill/>
          </a:ln>
        </p:spPr>
        <p:txBody>
          <a:bodyPr rtlCol="0" anchor="ctr"/>
          <a:lstStyle/>
          <a:p>
            <a:endParaRPr/>
          </a:p>
        </p:txBody>
      </p:sp>
      <p:cxnSp>
        <p:nvCxnSpPr>
          <p:cNvPr id="74" name="Connector 73"/>
          <p:cNvCxnSpPr/>
          <p:nvPr/>
        </p:nvCxnSpPr>
        <p:spPr>
          <a:xfrm>
            <a:off x="3411438" y="2595562"/>
            <a:ext cx="542330" cy="0"/>
          </a:xfrm>
          <a:prstGeom prst="line">
            <a:avLst/>
          </a:prstGeom>
          <a:ln w="9525">
            <a:solidFill>
              <a:srgbClr val="D9D2C3"/>
            </a:solidFill>
          </a:ln>
        </p:spPr>
      </p:cxnSp>
      <p:sp>
        <p:nvSpPr>
          <p:cNvPr id="75" name="TextBox 74"/>
          <p:cNvSpPr txBox="1"/>
          <p:nvPr/>
        </p:nvSpPr>
        <p:spPr>
          <a:xfrm>
            <a:off x="3591580" y="2371725"/>
            <a:ext cx="182047"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10</a:t>
            </a:r>
          </a:p>
        </p:txBody>
      </p:sp>
      <p:sp>
        <p:nvSpPr>
          <p:cNvPr id="76" name="Rectangle 75"/>
          <p:cNvSpPr/>
          <p:nvPr/>
        </p:nvSpPr>
        <p:spPr>
          <a:xfrm>
            <a:off x="3953768" y="2305050"/>
            <a:ext cx="1114425" cy="295275"/>
          </a:xfrm>
          <a:prstGeom prst="rect">
            <a:avLst/>
          </a:prstGeom>
          <a:noFill/>
          <a:ln>
            <a:noFill/>
          </a:ln>
        </p:spPr>
        <p:txBody>
          <a:bodyPr rtlCol="0" anchor="ctr"/>
          <a:lstStyle/>
          <a:p>
            <a:endParaRPr/>
          </a:p>
        </p:txBody>
      </p:sp>
      <p:cxnSp>
        <p:nvCxnSpPr>
          <p:cNvPr id="77" name="Connector 76"/>
          <p:cNvCxnSpPr/>
          <p:nvPr/>
        </p:nvCxnSpPr>
        <p:spPr>
          <a:xfrm>
            <a:off x="3953768" y="2595562"/>
            <a:ext cx="1114425" cy="0"/>
          </a:xfrm>
          <a:prstGeom prst="line">
            <a:avLst/>
          </a:prstGeom>
          <a:ln w="9525">
            <a:solidFill>
              <a:srgbClr val="D9D2C3"/>
            </a:solidFill>
          </a:ln>
        </p:spPr>
      </p:cxnSp>
      <p:sp>
        <p:nvSpPr>
          <p:cNvPr id="78" name="Rounded Rectangle 77"/>
          <p:cNvSpPr/>
          <p:nvPr/>
        </p:nvSpPr>
        <p:spPr>
          <a:xfrm>
            <a:off x="4093964" y="2357438"/>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79" name="TextBox 78"/>
          <p:cNvSpPr txBox="1"/>
          <p:nvPr/>
        </p:nvSpPr>
        <p:spPr>
          <a:xfrm>
            <a:off x="4127575" y="2376488"/>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80" name="Rectangle 79"/>
          <p:cNvSpPr/>
          <p:nvPr/>
        </p:nvSpPr>
        <p:spPr>
          <a:xfrm>
            <a:off x="5068193" y="2305050"/>
            <a:ext cx="707380" cy="295275"/>
          </a:xfrm>
          <a:prstGeom prst="rect">
            <a:avLst/>
          </a:prstGeom>
          <a:noFill/>
          <a:ln>
            <a:noFill/>
          </a:ln>
        </p:spPr>
        <p:txBody>
          <a:bodyPr rtlCol="0" anchor="ctr"/>
          <a:lstStyle/>
          <a:p>
            <a:endParaRPr/>
          </a:p>
        </p:txBody>
      </p:sp>
      <p:cxnSp>
        <p:nvCxnSpPr>
          <p:cNvPr id="81" name="Connector 80"/>
          <p:cNvCxnSpPr/>
          <p:nvPr/>
        </p:nvCxnSpPr>
        <p:spPr>
          <a:xfrm>
            <a:off x="5068193" y="2595562"/>
            <a:ext cx="707380" cy="0"/>
          </a:xfrm>
          <a:prstGeom prst="line">
            <a:avLst/>
          </a:prstGeom>
          <a:ln w="9525">
            <a:solidFill>
              <a:srgbClr val="D9D2C3"/>
            </a:solidFill>
          </a:ln>
        </p:spPr>
      </p:cxnSp>
      <p:sp>
        <p:nvSpPr>
          <p:cNvPr id="82" name="TextBox 81"/>
          <p:cNvSpPr txBox="1"/>
          <p:nvPr/>
        </p:nvSpPr>
        <p:spPr>
          <a:xfrm>
            <a:off x="5519815" y="2362200"/>
            <a:ext cx="198608"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16</a:t>
            </a:r>
          </a:p>
        </p:txBody>
      </p:sp>
      <p:sp>
        <p:nvSpPr>
          <p:cNvPr id="83" name="Rectangle 82"/>
          <p:cNvSpPr/>
          <p:nvPr/>
        </p:nvSpPr>
        <p:spPr>
          <a:xfrm>
            <a:off x="5775573" y="2305050"/>
            <a:ext cx="885230" cy="295275"/>
          </a:xfrm>
          <a:prstGeom prst="rect">
            <a:avLst/>
          </a:prstGeom>
          <a:noFill/>
          <a:ln>
            <a:noFill/>
          </a:ln>
        </p:spPr>
        <p:txBody>
          <a:bodyPr rtlCol="0" anchor="ctr"/>
          <a:lstStyle/>
          <a:p>
            <a:endParaRPr/>
          </a:p>
        </p:txBody>
      </p:sp>
      <p:cxnSp>
        <p:nvCxnSpPr>
          <p:cNvPr id="84" name="Connector 83"/>
          <p:cNvCxnSpPr/>
          <p:nvPr/>
        </p:nvCxnSpPr>
        <p:spPr>
          <a:xfrm>
            <a:off x="5775573" y="2595562"/>
            <a:ext cx="885230" cy="0"/>
          </a:xfrm>
          <a:prstGeom prst="line">
            <a:avLst/>
          </a:prstGeom>
          <a:ln w="9525">
            <a:solidFill>
              <a:srgbClr val="D9D2C3"/>
            </a:solidFill>
          </a:ln>
        </p:spPr>
      </p:cxnSp>
      <p:sp>
        <p:nvSpPr>
          <p:cNvPr id="85" name="Rounded Rectangle 84"/>
          <p:cNvSpPr/>
          <p:nvPr/>
        </p:nvSpPr>
        <p:spPr>
          <a:xfrm>
            <a:off x="5993457" y="2357438"/>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86" name="TextBox 85"/>
          <p:cNvSpPr txBox="1"/>
          <p:nvPr/>
        </p:nvSpPr>
        <p:spPr>
          <a:xfrm>
            <a:off x="6034760" y="2376488"/>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87" name="Rectangle 86"/>
          <p:cNvSpPr/>
          <p:nvPr/>
        </p:nvSpPr>
        <p:spPr>
          <a:xfrm>
            <a:off x="6660803" y="2305050"/>
            <a:ext cx="885230" cy="295275"/>
          </a:xfrm>
          <a:prstGeom prst="rect">
            <a:avLst/>
          </a:prstGeom>
          <a:noFill/>
          <a:ln>
            <a:noFill/>
          </a:ln>
        </p:spPr>
        <p:txBody>
          <a:bodyPr rtlCol="0" anchor="ctr"/>
          <a:lstStyle/>
          <a:p>
            <a:endParaRPr/>
          </a:p>
        </p:txBody>
      </p:sp>
      <p:cxnSp>
        <p:nvCxnSpPr>
          <p:cNvPr id="88" name="Connector 87"/>
          <p:cNvCxnSpPr/>
          <p:nvPr/>
        </p:nvCxnSpPr>
        <p:spPr>
          <a:xfrm>
            <a:off x="6660803" y="2595562"/>
            <a:ext cx="885229" cy="0"/>
          </a:xfrm>
          <a:prstGeom prst="line">
            <a:avLst/>
          </a:prstGeom>
          <a:ln w="9525">
            <a:solidFill>
              <a:srgbClr val="D9D2C3"/>
            </a:solidFill>
          </a:ln>
        </p:spPr>
      </p:cxnSp>
      <p:sp>
        <p:nvSpPr>
          <p:cNvPr id="89" name="Rounded Rectangle 88"/>
          <p:cNvSpPr/>
          <p:nvPr/>
        </p:nvSpPr>
        <p:spPr>
          <a:xfrm>
            <a:off x="6786414" y="2357438"/>
            <a:ext cx="633859"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90" name="TextBox 89"/>
          <p:cNvSpPr txBox="1"/>
          <p:nvPr/>
        </p:nvSpPr>
        <p:spPr>
          <a:xfrm>
            <a:off x="6824028" y="2376488"/>
            <a:ext cx="558629"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×2</a:t>
            </a:r>
          </a:p>
        </p:txBody>
      </p:sp>
      <p:sp>
        <p:nvSpPr>
          <p:cNvPr id="91" name="Rectangle 90"/>
          <p:cNvSpPr/>
          <p:nvPr/>
        </p:nvSpPr>
        <p:spPr>
          <a:xfrm>
            <a:off x="7546032" y="2305050"/>
            <a:ext cx="880914" cy="295275"/>
          </a:xfrm>
          <a:prstGeom prst="rect">
            <a:avLst/>
          </a:prstGeom>
          <a:noFill/>
          <a:ln>
            <a:noFill/>
          </a:ln>
        </p:spPr>
        <p:txBody>
          <a:bodyPr rtlCol="0" anchor="ctr"/>
          <a:lstStyle/>
          <a:p>
            <a:endParaRPr/>
          </a:p>
        </p:txBody>
      </p:sp>
      <p:cxnSp>
        <p:nvCxnSpPr>
          <p:cNvPr id="92" name="Connector 91"/>
          <p:cNvCxnSpPr/>
          <p:nvPr/>
        </p:nvCxnSpPr>
        <p:spPr>
          <a:xfrm>
            <a:off x="7546032" y="2595562"/>
            <a:ext cx="880914" cy="0"/>
          </a:xfrm>
          <a:prstGeom prst="line">
            <a:avLst/>
          </a:prstGeom>
          <a:ln w="9525">
            <a:solidFill>
              <a:srgbClr val="D9D2C3"/>
            </a:solidFill>
          </a:ln>
        </p:spPr>
      </p:cxnSp>
      <p:sp>
        <p:nvSpPr>
          <p:cNvPr id="93" name="Rounded Rectangle 92"/>
          <p:cNvSpPr/>
          <p:nvPr/>
        </p:nvSpPr>
        <p:spPr>
          <a:xfrm>
            <a:off x="7761684" y="2357438"/>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94" name="TextBox 93"/>
          <p:cNvSpPr txBox="1"/>
          <p:nvPr/>
        </p:nvSpPr>
        <p:spPr>
          <a:xfrm>
            <a:off x="7802987" y="2376488"/>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95" name="Rectangle 94"/>
          <p:cNvSpPr/>
          <p:nvPr/>
        </p:nvSpPr>
        <p:spPr>
          <a:xfrm>
            <a:off x="8426946" y="2305050"/>
            <a:ext cx="966043" cy="295275"/>
          </a:xfrm>
          <a:prstGeom prst="rect">
            <a:avLst/>
          </a:prstGeom>
          <a:noFill/>
          <a:ln>
            <a:noFill/>
          </a:ln>
        </p:spPr>
        <p:txBody>
          <a:bodyPr rtlCol="0" anchor="ctr"/>
          <a:lstStyle/>
          <a:p>
            <a:endParaRPr/>
          </a:p>
        </p:txBody>
      </p:sp>
      <p:cxnSp>
        <p:nvCxnSpPr>
          <p:cNvPr id="96" name="Connector 95"/>
          <p:cNvCxnSpPr/>
          <p:nvPr/>
        </p:nvCxnSpPr>
        <p:spPr>
          <a:xfrm>
            <a:off x="8426946" y="2595562"/>
            <a:ext cx="966043" cy="0"/>
          </a:xfrm>
          <a:prstGeom prst="line">
            <a:avLst/>
          </a:prstGeom>
          <a:ln w="9525">
            <a:solidFill>
              <a:srgbClr val="D9D2C3"/>
            </a:solidFill>
          </a:ln>
        </p:spPr>
      </p:cxnSp>
      <p:sp>
        <p:nvSpPr>
          <p:cNvPr id="97" name="Rounded Rectangle 96"/>
          <p:cNvSpPr/>
          <p:nvPr/>
        </p:nvSpPr>
        <p:spPr>
          <a:xfrm>
            <a:off x="8593038" y="2357438"/>
            <a:ext cx="633859"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98" name="TextBox 97"/>
          <p:cNvSpPr txBox="1"/>
          <p:nvPr/>
        </p:nvSpPr>
        <p:spPr>
          <a:xfrm>
            <a:off x="8630653" y="2376488"/>
            <a:ext cx="558629"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×2</a:t>
            </a:r>
          </a:p>
        </p:txBody>
      </p:sp>
      <p:sp>
        <p:nvSpPr>
          <p:cNvPr id="99" name="Rectangle 98"/>
          <p:cNvSpPr/>
          <p:nvPr/>
        </p:nvSpPr>
        <p:spPr>
          <a:xfrm>
            <a:off x="9392989" y="2305050"/>
            <a:ext cx="1059507" cy="295275"/>
          </a:xfrm>
          <a:prstGeom prst="rect">
            <a:avLst/>
          </a:prstGeom>
          <a:noFill/>
          <a:ln>
            <a:noFill/>
          </a:ln>
        </p:spPr>
        <p:txBody>
          <a:bodyPr rtlCol="0" anchor="ctr"/>
          <a:lstStyle/>
          <a:p>
            <a:endParaRPr/>
          </a:p>
        </p:txBody>
      </p:sp>
      <p:cxnSp>
        <p:nvCxnSpPr>
          <p:cNvPr id="100" name="Connector 99"/>
          <p:cNvCxnSpPr/>
          <p:nvPr/>
        </p:nvCxnSpPr>
        <p:spPr>
          <a:xfrm>
            <a:off x="9392989" y="2595562"/>
            <a:ext cx="1059508" cy="0"/>
          </a:xfrm>
          <a:prstGeom prst="line">
            <a:avLst/>
          </a:prstGeom>
          <a:ln w="9525">
            <a:solidFill>
              <a:srgbClr val="D9D2C3"/>
            </a:solidFill>
          </a:ln>
        </p:spPr>
      </p:cxnSp>
      <p:sp>
        <p:nvSpPr>
          <p:cNvPr id="101" name="TextBox 100"/>
          <p:cNvSpPr txBox="1"/>
          <p:nvPr/>
        </p:nvSpPr>
        <p:spPr>
          <a:xfrm>
            <a:off x="9715214" y="2362200"/>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7,75 / 7</a:t>
            </a:r>
          </a:p>
        </p:txBody>
      </p:sp>
      <p:sp>
        <p:nvSpPr>
          <p:cNvPr id="102" name="Rectangle 101"/>
          <p:cNvSpPr/>
          <p:nvPr/>
        </p:nvSpPr>
        <p:spPr>
          <a:xfrm>
            <a:off x="10452497" y="2305050"/>
            <a:ext cx="678507" cy="295275"/>
          </a:xfrm>
          <a:prstGeom prst="rect">
            <a:avLst/>
          </a:prstGeom>
          <a:noFill/>
          <a:ln>
            <a:noFill/>
          </a:ln>
        </p:spPr>
        <p:txBody>
          <a:bodyPr rtlCol="0" anchor="ctr"/>
          <a:lstStyle/>
          <a:p>
            <a:endParaRPr/>
          </a:p>
        </p:txBody>
      </p:sp>
      <p:cxnSp>
        <p:nvCxnSpPr>
          <p:cNvPr id="103" name="Connector 102"/>
          <p:cNvCxnSpPr/>
          <p:nvPr/>
        </p:nvCxnSpPr>
        <p:spPr>
          <a:xfrm>
            <a:off x="10452497" y="2595562"/>
            <a:ext cx="678507" cy="0"/>
          </a:xfrm>
          <a:prstGeom prst="line">
            <a:avLst/>
          </a:prstGeom>
          <a:ln w="9525">
            <a:solidFill>
              <a:srgbClr val="D9D2C3"/>
            </a:solidFill>
          </a:ln>
        </p:spPr>
      </p:cxnSp>
      <p:sp>
        <p:nvSpPr>
          <p:cNvPr id="104" name="TextBox 103"/>
          <p:cNvSpPr txBox="1"/>
          <p:nvPr/>
        </p:nvSpPr>
        <p:spPr>
          <a:xfrm>
            <a:off x="10554230" y="2362200"/>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1,03 M</a:t>
            </a:r>
          </a:p>
        </p:txBody>
      </p:sp>
      <p:sp>
        <p:nvSpPr>
          <p:cNvPr id="105" name="Rectangle 104"/>
          <p:cNvSpPr/>
          <p:nvPr/>
        </p:nvSpPr>
        <p:spPr>
          <a:xfrm>
            <a:off x="11131004" y="2305050"/>
            <a:ext cx="679996" cy="295275"/>
          </a:xfrm>
          <a:prstGeom prst="rect">
            <a:avLst/>
          </a:prstGeom>
          <a:noFill/>
          <a:ln>
            <a:noFill/>
          </a:ln>
        </p:spPr>
        <p:txBody>
          <a:bodyPr rtlCol="0" anchor="ctr"/>
          <a:lstStyle/>
          <a:p>
            <a:endParaRPr/>
          </a:p>
        </p:txBody>
      </p:sp>
      <p:cxnSp>
        <p:nvCxnSpPr>
          <p:cNvPr id="106" name="Connector 105"/>
          <p:cNvCxnSpPr/>
          <p:nvPr/>
        </p:nvCxnSpPr>
        <p:spPr>
          <a:xfrm>
            <a:off x="11131004" y="2595562"/>
            <a:ext cx="679996" cy="0"/>
          </a:xfrm>
          <a:prstGeom prst="line">
            <a:avLst/>
          </a:prstGeom>
          <a:ln w="9525">
            <a:solidFill>
              <a:srgbClr val="D9D2C3"/>
            </a:solidFill>
          </a:ln>
        </p:spPr>
      </p:cxnSp>
      <p:sp>
        <p:nvSpPr>
          <p:cNvPr id="107" name="TextBox 106"/>
          <p:cNvSpPr txBox="1"/>
          <p:nvPr/>
        </p:nvSpPr>
        <p:spPr>
          <a:xfrm>
            <a:off x="11234226" y="2362200"/>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3,68 $</a:t>
            </a:r>
          </a:p>
        </p:txBody>
      </p:sp>
      <p:sp>
        <p:nvSpPr>
          <p:cNvPr id="108" name="Rectangle 107"/>
          <p:cNvSpPr/>
          <p:nvPr/>
        </p:nvSpPr>
        <p:spPr>
          <a:xfrm>
            <a:off x="381000" y="2600325"/>
            <a:ext cx="3030438" cy="295275"/>
          </a:xfrm>
          <a:prstGeom prst="rect">
            <a:avLst/>
          </a:prstGeom>
          <a:noFill/>
          <a:ln>
            <a:noFill/>
          </a:ln>
        </p:spPr>
        <p:txBody>
          <a:bodyPr rtlCol="0" anchor="ctr"/>
          <a:lstStyle/>
          <a:p>
            <a:endParaRPr/>
          </a:p>
        </p:txBody>
      </p:sp>
      <p:cxnSp>
        <p:nvCxnSpPr>
          <p:cNvPr id="109" name="Connector 108"/>
          <p:cNvCxnSpPr/>
          <p:nvPr/>
        </p:nvCxnSpPr>
        <p:spPr>
          <a:xfrm>
            <a:off x="381000" y="2890838"/>
            <a:ext cx="3030438" cy="0"/>
          </a:xfrm>
          <a:prstGeom prst="line">
            <a:avLst/>
          </a:prstGeom>
          <a:ln w="9525">
            <a:solidFill>
              <a:srgbClr val="D9D2C3"/>
            </a:solidFill>
          </a:ln>
        </p:spPr>
      </p:cxnSp>
      <p:sp>
        <p:nvSpPr>
          <p:cNvPr id="110" name="TextBox 109"/>
          <p:cNvSpPr txBox="1"/>
          <p:nvPr/>
        </p:nvSpPr>
        <p:spPr>
          <a:xfrm>
            <a:off x="476250" y="2667000"/>
            <a:ext cx="2548342"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Santiago, 1180–1188</a:t>
            </a:r>
            <a:r>
              <a:rPr sz="1050" b="0" i="0">
                <a:solidFill>
                  <a:srgbClr val="1C2433"/>
                </a:solidFill>
                <a:latin typeface="Inter"/>
                <a:ea typeface="Inter"/>
                <a:cs typeface="Inter"/>
              </a:rPr>
              <a:t> </a:t>
            </a:r>
            <a:r>
              <a:rPr sz="950" b="0" i="0">
                <a:solidFill>
                  <a:srgbClr val="7D7869"/>
                </a:solidFill>
                <a:latin typeface="Inter"/>
                <a:ea typeface="Inter"/>
                <a:cs typeface="Inter"/>
              </a:rPr>
              <a:t>diez años de pareja</a:t>
            </a:r>
          </a:p>
        </p:txBody>
      </p:sp>
      <p:sp>
        <p:nvSpPr>
          <p:cNvPr id="111" name="Rectangle 110"/>
          <p:cNvSpPr/>
          <p:nvPr/>
        </p:nvSpPr>
        <p:spPr>
          <a:xfrm>
            <a:off x="3411438" y="2600325"/>
            <a:ext cx="542330" cy="295275"/>
          </a:xfrm>
          <a:prstGeom prst="rect">
            <a:avLst/>
          </a:prstGeom>
          <a:noFill/>
          <a:ln>
            <a:noFill/>
          </a:ln>
        </p:spPr>
        <p:txBody>
          <a:bodyPr rtlCol="0" anchor="ctr"/>
          <a:lstStyle/>
          <a:p>
            <a:endParaRPr/>
          </a:p>
        </p:txBody>
      </p:sp>
      <p:cxnSp>
        <p:nvCxnSpPr>
          <p:cNvPr id="112" name="Connector 111"/>
          <p:cNvCxnSpPr/>
          <p:nvPr/>
        </p:nvCxnSpPr>
        <p:spPr>
          <a:xfrm>
            <a:off x="3411438" y="2890838"/>
            <a:ext cx="542330" cy="0"/>
          </a:xfrm>
          <a:prstGeom prst="line">
            <a:avLst/>
          </a:prstGeom>
          <a:ln w="9525">
            <a:solidFill>
              <a:srgbClr val="D9D2C3"/>
            </a:solidFill>
          </a:ln>
        </p:spPr>
      </p:cxnSp>
      <p:sp>
        <p:nvSpPr>
          <p:cNvPr id="113" name="TextBox 112"/>
          <p:cNvSpPr txBox="1"/>
          <p:nvPr/>
        </p:nvSpPr>
        <p:spPr>
          <a:xfrm>
            <a:off x="3591580" y="2667000"/>
            <a:ext cx="182047"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10</a:t>
            </a:r>
          </a:p>
        </p:txBody>
      </p:sp>
      <p:sp>
        <p:nvSpPr>
          <p:cNvPr id="114" name="Rectangle 113"/>
          <p:cNvSpPr/>
          <p:nvPr/>
        </p:nvSpPr>
        <p:spPr>
          <a:xfrm>
            <a:off x="3953768" y="2600325"/>
            <a:ext cx="1114425" cy="295275"/>
          </a:xfrm>
          <a:prstGeom prst="rect">
            <a:avLst/>
          </a:prstGeom>
          <a:noFill/>
          <a:ln>
            <a:noFill/>
          </a:ln>
        </p:spPr>
        <p:txBody>
          <a:bodyPr rtlCol="0" anchor="ctr"/>
          <a:lstStyle/>
          <a:p>
            <a:endParaRPr/>
          </a:p>
        </p:txBody>
      </p:sp>
      <p:cxnSp>
        <p:nvCxnSpPr>
          <p:cNvPr id="115" name="Connector 114"/>
          <p:cNvCxnSpPr/>
          <p:nvPr/>
        </p:nvCxnSpPr>
        <p:spPr>
          <a:xfrm>
            <a:off x="3953768" y="2890838"/>
            <a:ext cx="1114425" cy="0"/>
          </a:xfrm>
          <a:prstGeom prst="line">
            <a:avLst/>
          </a:prstGeom>
          <a:ln w="9525">
            <a:solidFill>
              <a:srgbClr val="D9D2C3"/>
            </a:solidFill>
          </a:ln>
        </p:spPr>
      </p:cxnSp>
      <p:sp>
        <p:nvSpPr>
          <p:cNvPr id="116" name="Rounded Rectangle 115"/>
          <p:cNvSpPr/>
          <p:nvPr/>
        </p:nvSpPr>
        <p:spPr>
          <a:xfrm>
            <a:off x="4093964" y="2652712"/>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17" name="TextBox 116"/>
          <p:cNvSpPr txBox="1"/>
          <p:nvPr/>
        </p:nvSpPr>
        <p:spPr>
          <a:xfrm>
            <a:off x="4127575" y="2671762"/>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118" name="Rectangle 117"/>
          <p:cNvSpPr/>
          <p:nvPr/>
        </p:nvSpPr>
        <p:spPr>
          <a:xfrm>
            <a:off x="5068193" y="2600325"/>
            <a:ext cx="707380" cy="295275"/>
          </a:xfrm>
          <a:prstGeom prst="rect">
            <a:avLst/>
          </a:prstGeom>
          <a:noFill/>
          <a:ln>
            <a:noFill/>
          </a:ln>
        </p:spPr>
        <p:txBody>
          <a:bodyPr rtlCol="0" anchor="ctr"/>
          <a:lstStyle/>
          <a:p>
            <a:endParaRPr/>
          </a:p>
        </p:txBody>
      </p:sp>
      <p:cxnSp>
        <p:nvCxnSpPr>
          <p:cNvPr id="119" name="Connector 118"/>
          <p:cNvCxnSpPr/>
          <p:nvPr/>
        </p:nvCxnSpPr>
        <p:spPr>
          <a:xfrm>
            <a:off x="5068193" y="2890838"/>
            <a:ext cx="707380" cy="0"/>
          </a:xfrm>
          <a:prstGeom prst="line">
            <a:avLst/>
          </a:prstGeom>
          <a:ln w="9525">
            <a:solidFill>
              <a:srgbClr val="D9D2C3"/>
            </a:solidFill>
          </a:ln>
        </p:spPr>
      </p:cxnSp>
      <p:sp>
        <p:nvSpPr>
          <p:cNvPr id="120" name="TextBox 119"/>
          <p:cNvSpPr txBox="1"/>
          <p:nvPr/>
        </p:nvSpPr>
        <p:spPr>
          <a:xfrm>
            <a:off x="5519815" y="2657475"/>
            <a:ext cx="198608"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11</a:t>
            </a:r>
          </a:p>
        </p:txBody>
      </p:sp>
      <p:sp>
        <p:nvSpPr>
          <p:cNvPr id="121" name="Rectangle 120"/>
          <p:cNvSpPr/>
          <p:nvPr/>
        </p:nvSpPr>
        <p:spPr>
          <a:xfrm>
            <a:off x="5775573" y="2600325"/>
            <a:ext cx="885230" cy="295275"/>
          </a:xfrm>
          <a:prstGeom prst="rect">
            <a:avLst/>
          </a:prstGeom>
          <a:noFill/>
          <a:ln>
            <a:noFill/>
          </a:ln>
        </p:spPr>
        <p:txBody>
          <a:bodyPr rtlCol="0" anchor="ctr"/>
          <a:lstStyle/>
          <a:p>
            <a:endParaRPr/>
          </a:p>
        </p:txBody>
      </p:sp>
      <p:cxnSp>
        <p:nvCxnSpPr>
          <p:cNvPr id="122" name="Connector 121"/>
          <p:cNvCxnSpPr/>
          <p:nvPr/>
        </p:nvCxnSpPr>
        <p:spPr>
          <a:xfrm>
            <a:off x="5775573" y="2890838"/>
            <a:ext cx="885230" cy="0"/>
          </a:xfrm>
          <a:prstGeom prst="line">
            <a:avLst/>
          </a:prstGeom>
          <a:ln w="9525">
            <a:solidFill>
              <a:srgbClr val="D9D2C3"/>
            </a:solidFill>
          </a:ln>
        </p:spPr>
      </p:cxnSp>
      <p:sp>
        <p:nvSpPr>
          <p:cNvPr id="123" name="Rounded Rectangle 122"/>
          <p:cNvSpPr/>
          <p:nvPr/>
        </p:nvSpPr>
        <p:spPr>
          <a:xfrm>
            <a:off x="6098828" y="265271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24" name="TextBox 123"/>
          <p:cNvSpPr txBox="1"/>
          <p:nvPr/>
        </p:nvSpPr>
        <p:spPr>
          <a:xfrm>
            <a:off x="6144348" y="267176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125" name="Rectangle 124"/>
          <p:cNvSpPr/>
          <p:nvPr/>
        </p:nvSpPr>
        <p:spPr>
          <a:xfrm>
            <a:off x="6660803" y="2600325"/>
            <a:ext cx="885230" cy="295275"/>
          </a:xfrm>
          <a:prstGeom prst="rect">
            <a:avLst/>
          </a:prstGeom>
          <a:noFill/>
          <a:ln>
            <a:noFill/>
          </a:ln>
        </p:spPr>
        <p:txBody>
          <a:bodyPr rtlCol="0" anchor="ctr"/>
          <a:lstStyle/>
          <a:p>
            <a:endParaRPr/>
          </a:p>
        </p:txBody>
      </p:sp>
      <p:cxnSp>
        <p:nvCxnSpPr>
          <p:cNvPr id="126" name="Connector 125"/>
          <p:cNvCxnSpPr/>
          <p:nvPr/>
        </p:nvCxnSpPr>
        <p:spPr>
          <a:xfrm>
            <a:off x="6660803" y="2890838"/>
            <a:ext cx="885229" cy="0"/>
          </a:xfrm>
          <a:prstGeom prst="line">
            <a:avLst/>
          </a:prstGeom>
          <a:ln w="9525">
            <a:solidFill>
              <a:srgbClr val="D9D2C3"/>
            </a:solidFill>
          </a:ln>
        </p:spPr>
      </p:cxnSp>
      <p:sp>
        <p:nvSpPr>
          <p:cNvPr id="127" name="Rounded Rectangle 126"/>
          <p:cNvSpPr/>
          <p:nvPr/>
        </p:nvSpPr>
        <p:spPr>
          <a:xfrm>
            <a:off x="6878687" y="2652712"/>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128" name="TextBox 127"/>
          <p:cNvSpPr txBox="1"/>
          <p:nvPr/>
        </p:nvSpPr>
        <p:spPr>
          <a:xfrm>
            <a:off x="6919990" y="2671762"/>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129" name="Rectangle 128"/>
          <p:cNvSpPr/>
          <p:nvPr/>
        </p:nvSpPr>
        <p:spPr>
          <a:xfrm>
            <a:off x="7546032" y="2600325"/>
            <a:ext cx="880914" cy="295275"/>
          </a:xfrm>
          <a:prstGeom prst="rect">
            <a:avLst/>
          </a:prstGeom>
          <a:noFill/>
          <a:ln>
            <a:noFill/>
          </a:ln>
        </p:spPr>
        <p:txBody>
          <a:bodyPr rtlCol="0" anchor="ctr"/>
          <a:lstStyle/>
          <a:p>
            <a:endParaRPr/>
          </a:p>
        </p:txBody>
      </p:sp>
      <p:cxnSp>
        <p:nvCxnSpPr>
          <p:cNvPr id="130" name="Connector 129"/>
          <p:cNvCxnSpPr/>
          <p:nvPr/>
        </p:nvCxnSpPr>
        <p:spPr>
          <a:xfrm>
            <a:off x="7546032" y="2890838"/>
            <a:ext cx="880914" cy="0"/>
          </a:xfrm>
          <a:prstGeom prst="line">
            <a:avLst/>
          </a:prstGeom>
          <a:ln w="9525">
            <a:solidFill>
              <a:srgbClr val="D9D2C3"/>
            </a:solidFill>
          </a:ln>
        </p:spPr>
      </p:cxnSp>
      <p:sp>
        <p:nvSpPr>
          <p:cNvPr id="131" name="Rounded Rectangle 130"/>
          <p:cNvSpPr/>
          <p:nvPr/>
        </p:nvSpPr>
        <p:spPr>
          <a:xfrm>
            <a:off x="7867204" y="265271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32" name="TextBox 131"/>
          <p:cNvSpPr txBox="1"/>
          <p:nvPr/>
        </p:nvSpPr>
        <p:spPr>
          <a:xfrm>
            <a:off x="7912724" y="267176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133" name="Rectangle 132"/>
          <p:cNvSpPr/>
          <p:nvPr/>
        </p:nvSpPr>
        <p:spPr>
          <a:xfrm>
            <a:off x="8426946" y="2600325"/>
            <a:ext cx="966043" cy="295275"/>
          </a:xfrm>
          <a:prstGeom prst="rect">
            <a:avLst/>
          </a:prstGeom>
          <a:noFill/>
          <a:ln>
            <a:noFill/>
          </a:ln>
        </p:spPr>
        <p:txBody>
          <a:bodyPr rtlCol="0" anchor="ctr"/>
          <a:lstStyle/>
          <a:p>
            <a:endParaRPr/>
          </a:p>
        </p:txBody>
      </p:sp>
      <p:cxnSp>
        <p:nvCxnSpPr>
          <p:cNvPr id="134" name="Connector 133"/>
          <p:cNvCxnSpPr/>
          <p:nvPr/>
        </p:nvCxnSpPr>
        <p:spPr>
          <a:xfrm>
            <a:off x="8426946" y="2890838"/>
            <a:ext cx="966043" cy="0"/>
          </a:xfrm>
          <a:prstGeom prst="line">
            <a:avLst/>
          </a:prstGeom>
          <a:ln w="9525">
            <a:solidFill>
              <a:srgbClr val="D9D2C3"/>
            </a:solidFill>
          </a:ln>
        </p:spPr>
      </p:cxnSp>
      <p:sp>
        <p:nvSpPr>
          <p:cNvPr id="135" name="Rounded Rectangle 134"/>
          <p:cNvSpPr/>
          <p:nvPr/>
        </p:nvSpPr>
        <p:spPr>
          <a:xfrm>
            <a:off x="8790682" y="265271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36" name="TextBox 135"/>
          <p:cNvSpPr txBox="1"/>
          <p:nvPr/>
        </p:nvSpPr>
        <p:spPr>
          <a:xfrm>
            <a:off x="8836203" y="267176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137" name="Rectangle 136"/>
          <p:cNvSpPr/>
          <p:nvPr/>
        </p:nvSpPr>
        <p:spPr>
          <a:xfrm>
            <a:off x="9392989" y="2600325"/>
            <a:ext cx="1059507" cy="295275"/>
          </a:xfrm>
          <a:prstGeom prst="rect">
            <a:avLst/>
          </a:prstGeom>
          <a:noFill/>
          <a:ln>
            <a:noFill/>
          </a:ln>
        </p:spPr>
        <p:txBody>
          <a:bodyPr rtlCol="0" anchor="ctr"/>
          <a:lstStyle/>
          <a:p>
            <a:endParaRPr/>
          </a:p>
        </p:txBody>
      </p:sp>
      <p:cxnSp>
        <p:nvCxnSpPr>
          <p:cNvPr id="138" name="Connector 137"/>
          <p:cNvCxnSpPr/>
          <p:nvPr/>
        </p:nvCxnSpPr>
        <p:spPr>
          <a:xfrm>
            <a:off x="9392989" y="2890838"/>
            <a:ext cx="1059508" cy="0"/>
          </a:xfrm>
          <a:prstGeom prst="line">
            <a:avLst/>
          </a:prstGeom>
          <a:ln w="9525">
            <a:solidFill>
              <a:srgbClr val="D9D2C3"/>
            </a:solidFill>
          </a:ln>
        </p:spPr>
      </p:cxnSp>
      <p:sp>
        <p:nvSpPr>
          <p:cNvPr id="139" name="TextBox 138"/>
          <p:cNvSpPr txBox="1"/>
          <p:nvPr/>
        </p:nvSpPr>
        <p:spPr>
          <a:xfrm>
            <a:off x="9715214" y="2657475"/>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7,00 / 5</a:t>
            </a:r>
          </a:p>
        </p:txBody>
      </p:sp>
      <p:sp>
        <p:nvSpPr>
          <p:cNvPr id="140" name="Rectangle 139"/>
          <p:cNvSpPr/>
          <p:nvPr/>
        </p:nvSpPr>
        <p:spPr>
          <a:xfrm>
            <a:off x="10452497" y="2600325"/>
            <a:ext cx="678507" cy="295275"/>
          </a:xfrm>
          <a:prstGeom prst="rect">
            <a:avLst/>
          </a:prstGeom>
          <a:noFill/>
          <a:ln>
            <a:noFill/>
          </a:ln>
        </p:spPr>
        <p:txBody>
          <a:bodyPr rtlCol="0" anchor="ctr"/>
          <a:lstStyle/>
          <a:p>
            <a:endParaRPr/>
          </a:p>
        </p:txBody>
      </p:sp>
      <p:cxnSp>
        <p:nvCxnSpPr>
          <p:cNvPr id="141" name="Connector 140"/>
          <p:cNvCxnSpPr/>
          <p:nvPr/>
        </p:nvCxnSpPr>
        <p:spPr>
          <a:xfrm>
            <a:off x="10452497" y="2890838"/>
            <a:ext cx="678507" cy="0"/>
          </a:xfrm>
          <a:prstGeom prst="line">
            <a:avLst/>
          </a:prstGeom>
          <a:ln w="9525">
            <a:solidFill>
              <a:srgbClr val="D9D2C3"/>
            </a:solidFill>
          </a:ln>
        </p:spPr>
      </p:cxnSp>
      <p:sp>
        <p:nvSpPr>
          <p:cNvPr id="142" name="TextBox 141"/>
          <p:cNvSpPr txBox="1"/>
          <p:nvPr/>
        </p:nvSpPr>
        <p:spPr>
          <a:xfrm>
            <a:off x="10634561" y="2657475"/>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612 K</a:t>
            </a:r>
          </a:p>
        </p:txBody>
      </p:sp>
      <p:sp>
        <p:nvSpPr>
          <p:cNvPr id="143" name="Rectangle 142"/>
          <p:cNvSpPr/>
          <p:nvPr/>
        </p:nvSpPr>
        <p:spPr>
          <a:xfrm>
            <a:off x="11131004" y="2600325"/>
            <a:ext cx="679996" cy="295275"/>
          </a:xfrm>
          <a:prstGeom prst="rect">
            <a:avLst/>
          </a:prstGeom>
          <a:noFill/>
          <a:ln>
            <a:noFill/>
          </a:ln>
        </p:spPr>
        <p:txBody>
          <a:bodyPr rtlCol="0" anchor="ctr"/>
          <a:lstStyle/>
          <a:p>
            <a:endParaRPr/>
          </a:p>
        </p:txBody>
      </p:sp>
      <p:cxnSp>
        <p:nvCxnSpPr>
          <p:cNvPr id="144" name="Connector 143"/>
          <p:cNvCxnSpPr/>
          <p:nvPr/>
        </p:nvCxnSpPr>
        <p:spPr>
          <a:xfrm>
            <a:off x="11131004" y="2890838"/>
            <a:ext cx="679996" cy="0"/>
          </a:xfrm>
          <a:prstGeom prst="line">
            <a:avLst/>
          </a:prstGeom>
          <a:ln w="9525">
            <a:solidFill>
              <a:srgbClr val="D9D2C3"/>
            </a:solidFill>
          </a:ln>
        </p:spPr>
      </p:cxnSp>
      <p:sp>
        <p:nvSpPr>
          <p:cNvPr id="145" name="TextBox 144"/>
          <p:cNvSpPr txBox="1"/>
          <p:nvPr/>
        </p:nvSpPr>
        <p:spPr>
          <a:xfrm>
            <a:off x="11234226" y="2657475"/>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2,31 $</a:t>
            </a:r>
          </a:p>
        </p:txBody>
      </p:sp>
      <p:sp>
        <p:nvSpPr>
          <p:cNvPr id="146" name="Rectangle 145"/>
          <p:cNvSpPr/>
          <p:nvPr/>
        </p:nvSpPr>
        <p:spPr>
          <a:xfrm>
            <a:off x="381000" y="2895600"/>
            <a:ext cx="3030438" cy="295275"/>
          </a:xfrm>
          <a:prstGeom prst="rect">
            <a:avLst/>
          </a:prstGeom>
          <a:noFill/>
          <a:ln>
            <a:noFill/>
          </a:ln>
        </p:spPr>
        <p:txBody>
          <a:bodyPr rtlCol="0" anchor="ctr"/>
          <a:lstStyle/>
          <a:p>
            <a:endParaRPr/>
          </a:p>
        </p:txBody>
      </p:sp>
      <p:cxnSp>
        <p:nvCxnSpPr>
          <p:cNvPr id="147" name="Connector 146"/>
          <p:cNvCxnSpPr/>
          <p:nvPr/>
        </p:nvCxnSpPr>
        <p:spPr>
          <a:xfrm>
            <a:off x="381000" y="3186112"/>
            <a:ext cx="3030438" cy="0"/>
          </a:xfrm>
          <a:prstGeom prst="line">
            <a:avLst/>
          </a:prstGeom>
          <a:ln w="9525">
            <a:solidFill>
              <a:srgbClr val="D9D2C3"/>
            </a:solidFill>
          </a:ln>
        </p:spPr>
      </p:cxnSp>
      <p:sp>
        <p:nvSpPr>
          <p:cNvPr id="148" name="TextBox 147"/>
          <p:cNvSpPr txBox="1"/>
          <p:nvPr/>
        </p:nvSpPr>
        <p:spPr>
          <a:xfrm>
            <a:off x="476250" y="2962275"/>
            <a:ext cx="1834336"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Barcelona, 1928–1929</a:t>
            </a:r>
            <a:r>
              <a:rPr sz="1050" b="0" i="0">
                <a:solidFill>
                  <a:srgbClr val="1C2433"/>
                </a:solidFill>
                <a:latin typeface="Inter"/>
                <a:ea typeface="Inter"/>
                <a:cs typeface="Inter"/>
              </a:rPr>
              <a:t> </a:t>
            </a:r>
            <a:r>
              <a:rPr sz="950" b="0" i="0">
                <a:solidFill>
                  <a:srgbClr val="7D7869"/>
                </a:solidFill>
                <a:latin typeface="Inter"/>
                <a:ea typeface="Inter"/>
                <a:cs typeface="Inter"/>
              </a:rPr>
              <a:t>boda</a:t>
            </a:r>
          </a:p>
        </p:txBody>
      </p:sp>
      <p:sp>
        <p:nvSpPr>
          <p:cNvPr id="149" name="Rectangle 148"/>
          <p:cNvSpPr/>
          <p:nvPr/>
        </p:nvSpPr>
        <p:spPr>
          <a:xfrm>
            <a:off x="3411438" y="2895600"/>
            <a:ext cx="542330" cy="295275"/>
          </a:xfrm>
          <a:prstGeom prst="rect">
            <a:avLst/>
          </a:prstGeom>
          <a:noFill/>
          <a:ln>
            <a:noFill/>
          </a:ln>
        </p:spPr>
        <p:txBody>
          <a:bodyPr rtlCol="0" anchor="ctr"/>
          <a:lstStyle/>
          <a:p>
            <a:endParaRPr/>
          </a:p>
        </p:txBody>
      </p:sp>
      <p:cxnSp>
        <p:nvCxnSpPr>
          <p:cNvPr id="150" name="Connector 149"/>
          <p:cNvCxnSpPr/>
          <p:nvPr/>
        </p:nvCxnSpPr>
        <p:spPr>
          <a:xfrm>
            <a:off x="3411438" y="3186112"/>
            <a:ext cx="542330" cy="0"/>
          </a:xfrm>
          <a:prstGeom prst="line">
            <a:avLst/>
          </a:prstGeom>
          <a:ln w="9525">
            <a:solidFill>
              <a:srgbClr val="D9D2C3"/>
            </a:solidFill>
          </a:ln>
        </p:spPr>
      </p:cxnSp>
      <p:sp>
        <p:nvSpPr>
          <p:cNvPr id="151" name="TextBox 150"/>
          <p:cNvSpPr txBox="1"/>
          <p:nvPr/>
        </p:nvSpPr>
        <p:spPr>
          <a:xfrm>
            <a:off x="3591580" y="2962275"/>
            <a:ext cx="182047"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10</a:t>
            </a:r>
          </a:p>
        </p:txBody>
      </p:sp>
      <p:sp>
        <p:nvSpPr>
          <p:cNvPr id="152" name="Rectangle 151"/>
          <p:cNvSpPr/>
          <p:nvPr/>
        </p:nvSpPr>
        <p:spPr>
          <a:xfrm>
            <a:off x="3953768" y="2895600"/>
            <a:ext cx="1114425" cy="295275"/>
          </a:xfrm>
          <a:prstGeom prst="rect">
            <a:avLst/>
          </a:prstGeom>
          <a:noFill/>
          <a:ln>
            <a:noFill/>
          </a:ln>
        </p:spPr>
        <p:txBody>
          <a:bodyPr rtlCol="0" anchor="ctr"/>
          <a:lstStyle/>
          <a:p>
            <a:endParaRPr/>
          </a:p>
        </p:txBody>
      </p:sp>
      <p:cxnSp>
        <p:nvCxnSpPr>
          <p:cNvPr id="153" name="Connector 152"/>
          <p:cNvCxnSpPr/>
          <p:nvPr/>
        </p:nvCxnSpPr>
        <p:spPr>
          <a:xfrm>
            <a:off x="3953768" y="3186112"/>
            <a:ext cx="1114425" cy="0"/>
          </a:xfrm>
          <a:prstGeom prst="line">
            <a:avLst/>
          </a:prstGeom>
          <a:ln w="9525">
            <a:solidFill>
              <a:srgbClr val="D9D2C3"/>
            </a:solidFill>
          </a:ln>
        </p:spPr>
      </p:cxnSp>
      <p:sp>
        <p:nvSpPr>
          <p:cNvPr id="154" name="Rounded Rectangle 153"/>
          <p:cNvSpPr/>
          <p:nvPr/>
        </p:nvSpPr>
        <p:spPr>
          <a:xfrm>
            <a:off x="4093964" y="2947988"/>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55" name="TextBox 154"/>
          <p:cNvSpPr txBox="1"/>
          <p:nvPr/>
        </p:nvSpPr>
        <p:spPr>
          <a:xfrm>
            <a:off x="4127575" y="2967038"/>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156" name="Rectangle 155"/>
          <p:cNvSpPr/>
          <p:nvPr/>
        </p:nvSpPr>
        <p:spPr>
          <a:xfrm>
            <a:off x="5068193" y="2895600"/>
            <a:ext cx="707380" cy="295275"/>
          </a:xfrm>
          <a:prstGeom prst="rect">
            <a:avLst/>
          </a:prstGeom>
          <a:noFill/>
          <a:ln>
            <a:noFill/>
          </a:ln>
        </p:spPr>
        <p:txBody>
          <a:bodyPr rtlCol="0" anchor="ctr"/>
          <a:lstStyle/>
          <a:p>
            <a:endParaRPr/>
          </a:p>
        </p:txBody>
      </p:sp>
      <p:cxnSp>
        <p:nvCxnSpPr>
          <p:cNvPr id="157" name="Connector 156"/>
          <p:cNvCxnSpPr/>
          <p:nvPr/>
        </p:nvCxnSpPr>
        <p:spPr>
          <a:xfrm>
            <a:off x="5068193" y="3186112"/>
            <a:ext cx="707380" cy="0"/>
          </a:xfrm>
          <a:prstGeom prst="line">
            <a:avLst/>
          </a:prstGeom>
          <a:ln w="9525">
            <a:solidFill>
              <a:srgbClr val="D9D2C3"/>
            </a:solidFill>
          </a:ln>
        </p:spPr>
      </p:cxnSp>
      <p:sp>
        <p:nvSpPr>
          <p:cNvPr id="158" name="TextBox 157"/>
          <p:cNvSpPr txBox="1"/>
          <p:nvPr/>
        </p:nvSpPr>
        <p:spPr>
          <a:xfrm>
            <a:off x="5519815" y="2952750"/>
            <a:ext cx="198608"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14</a:t>
            </a:r>
          </a:p>
        </p:txBody>
      </p:sp>
      <p:sp>
        <p:nvSpPr>
          <p:cNvPr id="159" name="Rectangle 158"/>
          <p:cNvSpPr/>
          <p:nvPr/>
        </p:nvSpPr>
        <p:spPr>
          <a:xfrm>
            <a:off x="5775573" y="2895600"/>
            <a:ext cx="885230" cy="295275"/>
          </a:xfrm>
          <a:prstGeom prst="rect">
            <a:avLst/>
          </a:prstGeom>
          <a:noFill/>
          <a:ln>
            <a:noFill/>
          </a:ln>
        </p:spPr>
        <p:txBody>
          <a:bodyPr rtlCol="0" anchor="ctr"/>
          <a:lstStyle/>
          <a:p>
            <a:endParaRPr/>
          </a:p>
        </p:txBody>
      </p:sp>
      <p:cxnSp>
        <p:nvCxnSpPr>
          <p:cNvPr id="160" name="Connector 159"/>
          <p:cNvCxnSpPr/>
          <p:nvPr/>
        </p:nvCxnSpPr>
        <p:spPr>
          <a:xfrm>
            <a:off x="5775573" y="3186112"/>
            <a:ext cx="885230" cy="0"/>
          </a:xfrm>
          <a:prstGeom prst="line">
            <a:avLst/>
          </a:prstGeom>
          <a:ln w="9525">
            <a:solidFill>
              <a:srgbClr val="D9D2C3"/>
            </a:solidFill>
          </a:ln>
        </p:spPr>
      </p:cxnSp>
      <p:sp>
        <p:nvSpPr>
          <p:cNvPr id="161" name="Rounded Rectangle 160"/>
          <p:cNvSpPr/>
          <p:nvPr/>
        </p:nvSpPr>
        <p:spPr>
          <a:xfrm>
            <a:off x="6098828" y="2947988"/>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62" name="TextBox 161"/>
          <p:cNvSpPr txBox="1"/>
          <p:nvPr/>
        </p:nvSpPr>
        <p:spPr>
          <a:xfrm>
            <a:off x="6144348" y="2967038"/>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163" name="Rectangle 162"/>
          <p:cNvSpPr/>
          <p:nvPr/>
        </p:nvSpPr>
        <p:spPr>
          <a:xfrm>
            <a:off x="6660803" y="2895600"/>
            <a:ext cx="885230" cy="295275"/>
          </a:xfrm>
          <a:prstGeom prst="rect">
            <a:avLst/>
          </a:prstGeom>
          <a:noFill/>
          <a:ln>
            <a:noFill/>
          </a:ln>
        </p:spPr>
        <p:txBody>
          <a:bodyPr rtlCol="0" anchor="ctr"/>
          <a:lstStyle/>
          <a:p>
            <a:endParaRPr/>
          </a:p>
        </p:txBody>
      </p:sp>
      <p:cxnSp>
        <p:nvCxnSpPr>
          <p:cNvPr id="164" name="Connector 163"/>
          <p:cNvCxnSpPr/>
          <p:nvPr/>
        </p:nvCxnSpPr>
        <p:spPr>
          <a:xfrm>
            <a:off x="6660803" y="3186112"/>
            <a:ext cx="885229" cy="0"/>
          </a:xfrm>
          <a:prstGeom prst="line">
            <a:avLst/>
          </a:prstGeom>
          <a:ln w="9525">
            <a:solidFill>
              <a:srgbClr val="D9D2C3"/>
            </a:solidFill>
          </a:ln>
        </p:spPr>
      </p:cxnSp>
      <p:sp>
        <p:nvSpPr>
          <p:cNvPr id="165" name="Rounded Rectangle 164"/>
          <p:cNvSpPr/>
          <p:nvPr/>
        </p:nvSpPr>
        <p:spPr>
          <a:xfrm>
            <a:off x="6783884" y="2947988"/>
            <a:ext cx="638919"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166" name="TextBox 165"/>
          <p:cNvSpPr txBox="1"/>
          <p:nvPr/>
        </p:nvSpPr>
        <p:spPr>
          <a:xfrm>
            <a:off x="6821397" y="2967038"/>
            <a:ext cx="563892"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×4</a:t>
            </a:r>
          </a:p>
        </p:txBody>
      </p:sp>
      <p:sp>
        <p:nvSpPr>
          <p:cNvPr id="167" name="Rectangle 166"/>
          <p:cNvSpPr/>
          <p:nvPr/>
        </p:nvSpPr>
        <p:spPr>
          <a:xfrm>
            <a:off x="7546032" y="2895600"/>
            <a:ext cx="880914" cy="295275"/>
          </a:xfrm>
          <a:prstGeom prst="rect">
            <a:avLst/>
          </a:prstGeom>
          <a:noFill/>
          <a:ln>
            <a:noFill/>
          </a:ln>
        </p:spPr>
        <p:txBody>
          <a:bodyPr rtlCol="0" anchor="ctr"/>
          <a:lstStyle/>
          <a:p>
            <a:endParaRPr/>
          </a:p>
        </p:txBody>
      </p:sp>
      <p:cxnSp>
        <p:nvCxnSpPr>
          <p:cNvPr id="168" name="Connector 167"/>
          <p:cNvCxnSpPr/>
          <p:nvPr/>
        </p:nvCxnSpPr>
        <p:spPr>
          <a:xfrm>
            <a:off x="7546032" y="3186112"/>
            <a:ext cx="880914" cy="0"/>
          </a:xfrm>
          <a:prstGeom prst="line">
            <a:avLst/>
          </a:prstGeom>
          <a:ln w="9525">
            <a:solidFill>
              <a:srgbClr val="D9D2C3"/>
            </a:solidFill>
          </a:ln>
        </p:spPr>
      </p:cxnSp>
      <p:sp>
        <p:nvSpPr>
          <p:cNvPr id="169" name="Rounded Rectangle 168"/>
          <p:cNvSpPr/>
          <p:nvPr/>
        </p:nvSpPr>
        <p:spPr>
          <a:xfrm>
            <a:off x="7867204" y="2947988"/>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70" name="TextBox 169"/>
          <p:cNvSpPr txBox="1"/>
          <p:nvPr/>
        </p:nvSpPr>
        <p:spPr>
          <a:xfrm>
            <a:off x="7912724" y="2967038"/>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171" name="Rectangle 170"/>
          <p:cNvSpPr/>
          <p:nvPr/>
        </p:nvSpPr>
        <p:spPr>
          <a:xfrm>
            <a:off x="8426946" y="2895600"/>
            <a:ext cx="966043" cy="295275"/>
          </a:xfrm>
          <a:prstGeom prst="rect">
            <a:avLst/>
          </a:prstGeom>
          <a:noFill/>
          <a:ln>
            <a:noFill/>
          </a:ln>
        </p:spPr>
        <p:txBody>
          <a:bodyPr rtlCol="0" anchor="ctr"/>
          <a:lstStyle/>
          <a:p>
            <a:endParaRPr/>
          </a:p>
        </p:txBody>
      </p:sp>
      <p:cxnSp>
        <p:nvCxnSpPr>
          <p:cNvPr id="172" name="Connector 171"/>
          <p:cNvCxnSpPr/>
          <p:nvPr/>
        </p:nvCxnSpPr>
        <p:spPr>
          <a:xfrm>
            <a:off x="8426946" y="3186112"/>
            <a:ext cx="966043" cy="0"/>
          </a:xfrm>
          <a:prstGeom prst="line">
            <a:avLst/>
          </a:prstGeom>
          <a:ln w="9525">
            <a:solidFill>
              <a:srgbClr val="D9D2C3"/>
            </a:solidFill>
          </a:ln>
        </p:spPr>
      </p:cxnSp>
      <p:sp>
        <p:nvSpPr>
          <p:cNvPr id="173" name="Rounded Rectangle 172"/>
          <p:cNvSpPr/>
          <p:nvPr/>
        </p:nvSpPr>
        <p:spPr>
          <a:xfrm>
            <a:off x="8790682" y="2947988"/>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74" name="TextBox 173"/>
          <p:cNvSpPr txBox="1"/>
          <p:nvPr/>
        </p:nvSpPr>
        <p:spPr>
          <a:xfrm>
            <a:off x="8836203" y="2967038"/>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175" name="Rectangle 174"/>
          <p:cNvSpPr/>
          <p:nvPr/>
        </p:nvSpPr>
        <p:spPr>
          <a:xfrm>
            <a:off x="9392989" y="2895600"/>
            <a:ext cx="1059507" cy="295275"/>
          </a:xfrm>
          <a:prstGeom prst="rect">
            <a:avLst/>
          </a:prstGeom>
          <a:noFill/>
          <a:ln>
            <a:noFill/>
          </a:ln>
        </p:spPr>
        <p:txBody>
          <a:bodyPr rtlCol="0" anchor="ctr"/>
          <a:lstStyle/>
          <a:p>
            <a:endParaRPr/>
          </a:p>
        </p:txBody>
      </p:sp>
      <p:cxnSp>
        <p:nvCxnSpPr>
          <p:cNvPr id="176" name="Connector 175"/>
          <p:cNvCxnSpPr/>
          <p:nvPr/>
        </p:nvCxnSpPr>
        <p:spPr>
          <a:xfrm>
            <a:off x="9392989" y="3186112"/>
            <a:ext cx="1059508" cy="0"/>
          </a:xfrm>
          <a:prstGeom prst="line">
            <a:avLst/>
          </a:prstGeom>
          <a:ln w="9525">
            <a:solidFill>
              <a:srgbClr val="D9D2C3"/>
            </a:solidFill>
          </a:ln>
        </p:spPr>
      </p:cxnSp>
      <p:sp>
        <p:nvSpPr>
          <p:cNvPr id="177" name="TextBox 176"/>
          <p:cNvSpPr txBox="1"/>
          <p:nvPr/>
        </p:nvSpPr>
        <p:spPr>
          <a:xfrm>
            <a:off x="9715214" y="2952750"/>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7,88 / 7</a:t>
            </a:r>
          </a:p>
        </p:txBody>
      </p:sp>
      <p:sp>
        <p:nvSpPr>
          <p:cNvPr id="178" name="Rectangle 177"/>
          <p:cNvSpPr/>
          <p:nvPr/>
        </p:nvSpPr>
        <p:spPr>
          <a:xfrm>
            <a:off x="10452497" y="2895600"/>
            <a:ext cx="678507" cy="295275"/>
          </a:xfrm>
          <a:prstGeom prst="rect">
            <a:avLst/>
          </a:prstGeom>
          <a:noFill/>
          <a:ln>
            <a:noFill/>
          </a:ln>
        </p:spPr>
        <p:txBody>
          <a:bodyPr rtlCol="0" anchor="ctr"/>
          <a:lstStyle/>
          <a:p>
            <a:endParaRPr/>
          </a:p>
        </p:txBody>
      </p:sp>
      <p:cxnSp>
        <p:nvCxnSpPr>
          <p:cNvPr id="179" name="Connector 178"/>
          <p:cNvCxnSpPr/>
          <p:nvPr/>
        </p:nvCxnSpPr>
        <p:spPr>
          <a:xfrm>
            <a:off x="10452497" y="3186112"/>
            <a:ext cx="678507" cy="0"/>
          </a:xfrm>
          <a:prstGeom prst="line">
            <a:avLst/>
          </a:prstGeom>
          <a:ln w="9525">
            <a:solidFill>
              <a:srgbClr val="D9D2C3"/>
            </a:solidFill>
          </a:ln>
        </p:spPr>
      </p:cxnSp>
      <p:sp>
        <p:nvSpPr>
          <p:cNvPr id="180" name="TextBox 179"/>
          <p:cNvSpPr txBox="1"/>
          <p:nvPr/>
        </p:nvSpPr>
        <p:spPr>
          <a:xfrm>
            <a:off x="10634561" y="2952750"/>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825 K</a:t>
            </a:r>
          </a:p>
        </p:txBody>
      </p:sp>
      <p:sp>
        <p:nvSpPr>
          <p:cNvPr id="181" name="Rectangle 180"/>
          <p:cNvSpPr/>
          <p:nvPr/>
        </p:nvSpPr>
        <p:spPr>
          <a:xfrm>
            <a:off x="11131004" y="2895600"/>
            <a:ext cx="679996" cy="295275"/>
          </a:xfrm>
          <a:prstGeom prst="rect">
            <a:avLst/>
          </a:prstGeom>
          <a:noFill/>
          <a:ln>
            <a:noFill/>
          </a:ln>
        </p:spPr>
        <p:txBody>
          <a:bodyPr rtlCol="0" anchor="ctr"/>
          <a:lstStyle/>
          <a:p>
            <a:endParaRPr/>
          </a:p>
        </p:txBody>
      </p:sp>
      <p:cxnSp>
        <p:nvCxnSpPr>
          <p:cNvPr id="182" name="Connector 181"/>
          <p:cNvCxnSpPr/>
          <p:nvPr/>
        </p:nvCxnSpPr>
        <p:spPr>
          <a:xfrm>
            <a:off x="11131004" y="3186112"/>
            <a:ext cx="679996" cy="0"/>
          </a:xfrm>
          <a:prstGeom prst="line">
            <a:avLst/>
          </a:prstGeom>
          <a:ln w="9525">
            <a:solidFill>
              <a:srgbClr val="D9D2C3"/>
            </a:solidFill>
          </a:ln>
        </p:spPr>
      </p:cxnSp>
      <p:sp>
        <p:nvSpPr>
          <p:cNvPr id="183" name="TextBox 182"/>
          <p:cNvSpPr txBox="1"/>
          <p:nvPr/>
        </p:nvSpPr>
        <p:spPr>
          <a:xfrm>
            <a:off x="11234226" y="2952750"/>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2,99 $</a:t>
            </a:r>
          </a:p>
        </p:txBody>
      </p:sp>
      <p:sp>
        <p:nvSpPr>
          <p:cNvPr id="184" name="Rectangle 183"/>
          <p:cNvSpPr/>
          <p:nvPr/>
        </p:nvSpPr>
        <p:spPr>
          <a:xfrm>
            <a:off x="381000" y="3190875"/>
            <a:ext cx="3030438" cy="295275"/>
          </a:xfrm>
          <a:prstGeom prst="rect">
            <a:avLst/>
          </a:prstGeom>
          <a:noFill/>
          <a:ln>
            <a:noFill/>
          </a:ln>
        </p:spPr>
        <p:txBody>
          <a:bodyPr rtlCol="0" anchor="ctr"/>
          <a:lstStyle/>
          <a:p>
            <a:endParaRPr/>
          </a:p>
        </p:txBody>
      </p:sp>
      <p:cxnSp>
        <p:nvCxnSpPr>
          <p:cNvPr id="185" name="Connector 184"/>
          <p:cNvCxnSpPr/>
          <p:nvPr/>
        </p:nvCxnSpPr>
        <p:spPr>
          <a:xfrm>
            <a:off x="381000" y="3481388"/>
            <a:ext cx="3030438" cy="0"/>
          </a:xfrm>
          <a:prstGeom prst="line">
            <a:avLst/>
          </a:prstGeom>
          <a:ln w="9525">
            <a:solidFill>
              <a:srgbClr val="D9D2C3"/>
            </a:solidFill>
          </a:ln>
        </p:spPr>
      </p:cxnSp>
      <p:sp>
        <p:nvSpPr>
          <p:cNvPr id="186" name="TextBox 185"/>
          <p:cNvSpPr txBox="1"/>
          <p:nvPr/>
        </p:nvSpPr>
        <p:spPr>
          <a:xfrm>
            <a:off x="476250" y="3257550"/>
            <a:ext cx="2212931"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Valencia, 1885–1886</a:t>
            </a:r>
            <a:r>
              <a:rPr sz="1050" b="0" i="0">
                <a:solidFill>
                  <a:srgbClr val="1C2433"/>
                </a:solidFill>
                <a:latin typeface="Inter"/>
                <a:ea typeface="Inter"/>
                <a:cs typeface="Inter"/>
              </a:rPr>
              <a:t> </a:t>
            </a:r>
            <a:r>
              <a:rPr sz="950" b="0" i="0">
                <a:solidFill>
                  <a:srgbClr val="7D7869"/>
                </a:solidFill>
                <a:latin typeface="Inter"/>
                <a:ea typeface="Inter"/>
                <a:cs typeface="Inter"/>
              </a:rPr>
              <a:t>bodas de oro</a:t>
            </a:r>
          </a:p>
        </p:txBody>
      </p:sp>
      <p:sp>
        <p:nvSpPr>
          <p:cNvPr id="187" name="Rectangle 186"/>
          <p:cNvSpPr/>
          <p:nvPr/>
        </p:nvSpPr>
        <p:spPr>
          <a:xfrm>
            <a:off x="3411438" y="3190875"/>
            <a:ext cx="542330" cy="295275"/>
          </a:xfrm>
          <a:prstGeom prst="rect">
            <a:avLst/>
          </a:prstGeom>
          <a:noFill/>
          <a:ln>
            <a:noFill/>
          </a:ln>
        </p:spPr>
        <p:txBody>
          <a:bodyPr rtlCol="0" anchor="ctr"/>
          <a:lstStyle/>
          <a:p>
            <a:endParaRPr/>
          </a:p>
        </p:txBody>
      </p:sp>
      <p:cxnSp>
        <p:nvCxnSpPr>
          <p:cNvPr id="188" name="Connector 187"/>
          <p:cNvCxnSpPr/>
          <p:nvPr/>
        </p:nvCxnSpPr>
        <p:spPr>
          <a:xfrm>
            <a:off x="3411438" y="3481388"/>
            <a:ext cx="542330" cy="0"/>
          </a:xfrm>
          <a:prstGeom prst="line">
            <a:avLst/>
          </a:prstGeom>
          <a:ln w="9525">
            <a:solidFill>
              <a:srgbClr val="D9D2C3"/>
            </a:solidFill>
          </a:ln>
        </p:spPr>
      </p:cxnSp>
      <p:sp>
        <p:nvSpPr>
          <p:cNvPr id="189" name="TextBox 188"/>
          <p:cNvSpPr txBox="1"/>
          <p:nvPr/>
        </p:nvSpPr>
        <p:spPr>
          <a:xfrm>
            <a:off x="3591580" y="3257550"/>
            <a:ext cx="182047"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10</a:t>
            </a:r>
          </a:p>
        </p:txBody>
      </p:sp>
      <p:sp>
        <p:nvSpPr>
          <p:cNvPr id="190" name="Rectangle 189"/>
          <p:cNvSpPr/>
          <p:nvPr/>
        </p:nvSpPr>
        <p:spPr>
          <a:xfrm>
            <a:off x="3953768" y="3190875"/>
            <a:ext cx="1114425" cy="295275"/>
          </a:xfrm>
          <a:prstGeom prst="rect">
            <a:avLst/>
          </a:prstGeom>
          <a:noFill/>
          <a:ln>
            <a:noFill/>
          </a:ln>
        </p:spPr>
        <p:txBody>
          <a:bodyPr rtlCol="0" anchor="ctr"/>
          <a:lstStyle/>
          <a:p>
            <a:endParaRPr/>
          </a:p>
        </p:txBody>
      </p:sp>
      <p:cxnSp>
        <p:nvCxnSpPr>
          <p:cNvPr id="191" name="Connector 190"/>
          <p:cNvCxnSpPr/>
          <p:nvPr/>
        </p:nvCxnSpPr>
        <p:spPr>
          <a:xfrm>
            <a:off x="3953768" y="3481388"/>
            <a:ext cx="1114425" cy="0"/>
          </a:xfrm>
          <a:prstGeom prst="line">
            <a:avLst/>
          </a:prstGeom>
          <a:ln w="9525">
            <a:solidFill>
              <a:srgbClr val="D9D2C3"/>
            </a:solidFill>
          </a:ln>
        </p:spPr>
      </p:cxnSp>
      <p:sp>
        <p:nvSpPr>
          <p:cNvPr id="192" name="Rounded Rectangle 191"/>
          <p:cNvSpPr/>
          <p:nvPr/>
        </p:nvSpPr>
        <p:spPr>
          <a:xfrm>
            <a:off x="4093964" y="3243262"/>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193" name="TextBox 192"/>
          <p:cNvSpPr txBox="1"/>
          <p:nvPr/>
        </p:nvSpPr>
        <p:spPr>
          <a:xfrm>
            <a:off x="4127575" y="3262312"/>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194" name="Rectangle 193"/>
          <p:cNvSpPr/>
          <p:nvPr/>
        </p:nvSpPr>
        <p:spPr>
          <a:xfrm>
            <a:off x="5068193" y="3190875"/>
            <a:ext cx="707380" cy="295275"/>
          </a:xfrm>
          <a:prstGeom prst="rect">
            <a:avLst/>
          </a:prstGeom>
          <a:noFill/>
          <a:ln>
            <a:noFill/>
          </a:ln>
        </p:spPr>
        <p:txBody>
          <a:bodyPr rtlCol="0" anchor="ctr"/>
          <a:lstStyle/>
          <a:p>
            <a:endParaRPr/>
          </a:p>
        </p:txBody>
      </p:sp>
      <p:cxnSp>
        <p:nvCxnSpPr>
          <p:cNvPr id="195" name="Connector 194"/>
          <p:cNvCxnSpPr/>
          <p:nvPr/>
        </p:nvCxnSpPr>
        <p:spPr>
          <a:xfrm>
            <a:off x="5068193" y="3481388"/>
            <a:ext cx="707380" cy="0"/>
          </a:xfrm>
          <a:prstGeom prst="line">
            <a:avLst/>
          </a:prstGeom>
          <a:ln w="9525">
            <a:solidFill>
              <a:srgbClr val="D9D2C3"/>
            </a:solidFill>
          </a:ln>
        </p:spPr>
      </p:cxnSp>
      <p:sp>
        <p:nvSpPr>
          <p:cNvPr id="196" name="TextBox 195"/>
          <p:cNvSpPr txBox="1"/>
          <p:nvPr/>
        </p:nvSpPr>
        <p:spPr>
          <a:xfrm>
            <a:off x="5519815" y="3248025"/>
            <a:ext cx="198608"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11</a:t>
            </a:r>
          </a:p>
        </p:txBody>
      </p:sp>
      <p:sp>
        <p:nvSpPr>
          <p:cNvPr id="197" name="Rectangle 196"/>
          <p:cNvSpPr/>
          <p:nvPr/>
        </p:nvSpPr>
        <p:spPr>
          <a:xfrm>
            <a:off x="5775573" y="3190875"/>
            <a:ext cx="885230" cy="295275"/>
          </a:xfrm>
          <a:prstGeom prst="rect">
            <a:avLst/>
          </a:prstGeom>
          <a:noFill/>
          <a:ln>
            <a:noFill/>
          </a:ln>
        </p:spPr>
        <p:txBody>
          <a:bodyPr rtlCol="0" anchor="ctr"/>
          <a:lstStyle/>
          <a:p>
            <a:endParaRPr/>
          </a:p>
        </p:txBody>
      </p:sp>
      <p:cxnSp>
        <p:nvCxnSpPr>
          <p:cNvPr id="198" name="Connector 197"/>
          <p:cNvCxnSpPr/>
          <p:nvPr/>
        </p:nvCxnSpPr>
        <p:spPr>
          <a:xfrm>
            <a:off x="5775573" y="3481388"/>
            <a:ext cx="885230" cy="0"/>
          </a:xfrm>
          <a:prstGeom prst="line">
            <a:avLst/>
          </a:prstGeom>
          <a:ln w="9525">
            <a:solidFill>
              <a:srgbClr val="D9D2C3"/>
            </a:solidFill>
          </a:ln>
        </p:spPr>
      </p:cxnSp>
      <p:sp>
        <p:nvSpPr>
          <p:cNvPr id="199" name="Rounded Rectangle 198"/>
          <p:cNvSpPr/>
          <p:nvPr/>
        </p:nvSpPr>
        <p:spPr>
          <a:xfrm>
            <a:off x="6098828" y="324326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200" name="TextBox 199"/>
          <p:cNvSpPr txBox="1"/>
          <p:nvPr/>
        </p:nvSpPr>
        <p:spPr>
          <a:xfrm>
            <a:off x="6144348" y="326231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201" name="Rectangle 200"/>
          <p:cNvSpPr/>
          <p:nvPr/>
        </p:nvSpPr>
        <p:spPr>
          <a:xfrm>
            <a:off x="6660803" y="3190875"/>
            <a:ext cx="885230" cy="295275"/>
          </a:xfrm>
          <a:prstGeom prst="rect">
            <a:avLst/>
          </a:prstGeom>
          <a:noFill/>
          <a:ln>
            <a:noFill/>
          </a:ln>
        </p:spPr>
        <p:txBody>
          <a:bodyPr rtlCol="0" anchor="ctr"/>
          <a:lstStyle/>
          <a:p>
            <a:endParaRPr/>
          </a:p>
        </p:txBody>
      </p:sp>
      <p:cxnSp>
        <p:nvCxnSpPr>
          <p:cNvPr id="202" name="Connector 201"/>
          <p:cNvCxnSpPr/>
          <p:nvPr/>
        </p:nvCxnSpPr>
        <p:spPr>
          <a:xfrm>
            <a:off x="6660803" y="3481388"/>
            <a:ext cx="885229" cy="0"/>
          </a:xfrm>
          <a:prstGeom prst="line">
            <a:avLst/>
          </a:prstGeom>
          <a:ln w="9525">
            <a:solidFill>
              <a:srgbClr val="D9D2C3"/>
            </a:solidFill>
          </a:ln>
        </p:spPr>
      </p:cxnSp>
      <p:sp>
        <p:nvSpPr>
          <p:cNvPr id="203" name="Rounded Rectangle 202"/>
          <p:cNvSpPr/>
          <p:nvPr/>
        </p:nvSpPr>
        <p:spPr>
          <a:xfrm>
            <a:off x="6878687" y="3243262"/>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204" name="TextBox 203"/>
          <p:cNvSpPr txBox="1"/>
          <p:nvPr/>
        </p:nvSpPr>
        <p:spPr>
          <a:xfrm>
            <a:off x="6919990" y="3262312"/>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205" name="Rectangle 204"/>
          <p:cNvSpPr/>
          <p:nvPr/>
        </p:nvSpPr>
        <p:spPr>
          <a:xfrm>
            <a:off x="7546032" y="3190875"/>
            <a:ext cx="880914" cy="295275"/>
          </a:xfrm>
          <a:prstGeom prst="rect">
            <a:avLst/>
          </a:prstGeom>
          <a:noFill/>
          <a:ln>
            <a:noFill/>
          </a:ln>
        </p:spPr>
        <p:txBody>
          <a:bodyPr rtlCol="0" anchor="ctr"/>
          <a:lstStyle/>
          <a:p>
            <a:endParaRPr/>
          </a:p>
        </p:txBody>
      </p:sp>
      <p:cxnSp>
        <p:nvCxnSpPr>
          <p:cNvPr id="206" name="Connector 205"/>
          <p:cNvCxnSpPr/>
          <p:nvPr/>
        </p:nvCxnSpPr>
        <p:spPr>
          <a:xfrm>
            <a:off x="7546032" y="3481388"/>
            <a:ext cx="880914" cy="0"/>
          </a:xfrm>
          <a:prstGeom prst="line">
            <a:avLst/>
          </a:prstGeom>
          <a:ln w="9525">
            <a:solidFill>
              <a:srgbClr val="D9D2C3"/>
            </a:solidFill>
          </a:ln>
        </p:spPr>
      </p:cxnSp>
      <p:sp>
        <p:nvSpPr>
          <p:cNvPr id="207" name="Rounded Rectangle 206"/>
          <p:cNvSpPr/>
          <p:nvPr/>
        </p:nvSpPr>
        <p:spPr>
          <a:xfrm>
            <a:off x="7867204" y="324326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208" name="TextBox 207"/>
          <p:cNvSpPr txBox="1"/>
          <p:nvPr/>
        </p:nvSpPr>
        <p:spPr>
          <a:xfrm>
            <a:off x="7912724" y="326231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209" name="Rectangle 208"/>
          <p:cNvSpPr/>
          <p:nvPr/>
        </p:nvSpPr>
        <p:spPr>
          <a:xfrm>
            <a:off x="8426946" y="3190875"/>
            <a:ext cx="966043" cy="295275"/>
          </a:xfrm>
          <a:prstGeom prst="rect">
            <a:avLst/>
          </a:prstGeom>
          <a:noFill/>
          <a:ln>
            <a:noFill/>
          </a:ln>
        </p:spPr>
        <p:txBody>
          <a:bodyPr rtlCol="0" anchor="ctr"/>
          <a:lstStyle/>
          <a:p>
            <a:endParaRPr/>
          </a:p>
        </p:txBody>
      </p:sp>
      <p:cxnSp>
        <p:nvCxnSpPr>
          <p:cNvPr id="210" name="Connector 209"/>
          <p:cNvCxnSpPr/>
          <p:nvPr/>
        </p:nvCxnSpPr>
        <p:spPr>
          <a:xfrm>
            <a:off x="8426946" y="3481388"/>
            <a:ext cx="966043" cy="0"/>
          </a:xfrm>
          <a:prstGeom prst="line">
            <a:avLst/>
          </a:prstGeom>
          <a:ln w="9525">
            <a:solidFill>
              <a:srgbClr val="D9D2C3"/>
            </a:solidFill>
          </a:ln>
        </p:spPr>
      </p:cxnSp>
      <p:sp>
        <p:nvSpPr>
          <p:cNvPr id="211" name="Rounded Rectangle 210"/>
          <p:cNvSpPr/>
          <p:nvPr/>
        </p:nvSpPr>
        <p:spPr>
          <a:xfrm>
            <a:off x="8824020" y="3243262"/>
            <a:ext cx="171748" cy="190500"/>
          </a:xfrm>
          <a:prstGeom prst="roundRect">
            <a:avLst>
              <a:gd name="adj" fmla="val 38821"/>
            </a:avLst>
          </a:prstGeom>
          <a:solidFill>
            <a:srgbClr val="EEE0C0"/>
          </a:solidFill>
          <a:ln w="9525">
            <a:solidFill>
              <a:srgbClr val="C9A34E"/>
            </a:solidFill>
          </a:ln>
        </p:spPr>
        <p:txBody>
          <a:bodyPr rtlCol="0" anchor="ctr"/>
          <a:lstStyle/>
          <a:p>
            <a:endParaRPr/>
          </a:p>
        </p:txBody>
      </p:sp>
      <p:sp>
        <p:nvSpPr>
          <p:cNvPr id="212" name="TextBox 211"/>
          <p:cNvSpPr txBox="1"/>
          <p:nvPr/>
        </p:nvSpPr>
        <p:spPr>
          <a:xfrm>
            <a:off x="8870877" y="3262312"/>
            <a:ext cx="78034"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1C2433"/>
                </a:solidFill>
                <a:latin typeface="Inter SemiBold"/>
                <a:ea typeface="Inter SemiBold"/>
                <a:cs typeface="Inter SemiBold"/>
              </a:rPr>
              <a:t>!</a:t>
            </a:r>
          </a:p>
        </p:txBody>
      </p:sp>
      <p:sp>
        <p:nvSpPr>
          <p:cNvPr id="213" name="Rectangle 212"/>
          <p:cNvSpPr/>
          <p:nvPr/>
        </p:nvSpPr>
        <p:spPr>
          <a:xfrm>
            <a:off x="9392989" y="3190875"/>
            <a:ext cx="1059507" cy="295275"/>
          </a:xfrm>
          <a:prstGeom prst="rect">
            <a:avLst/>
          </a:prstGeom>
          <a:noFill/>
          <a:ln>
            <a:noFill/>
          </a:ln>
        </p:spPr>
        <p:txBody>
          <a:bodyPr rtlCol="0" anchor="ctr"/>
          <a:lstStyle/>
          <a:p>
            <a:endParaRPr/>
          </a:p>
        </p:txBody>
      </p:sp>
      <p:cxnSp>
        <p:nvCxnSpPr>
          <p:cNvPr id="214" name="Connector 213"/>
          <p:cNvCxnSpPr/>
          <p:nvPr/>
        </p:nvCxnSpPr>
        <p:spPr>
          <a:xfrm>
            <a:off x="9392989" y="3481388"/>
            <a:ext cx="1059508" cy="0"/>
          </a:xfrm>
          <a:prstGeom prst="line">
            <a:avLst/>
          </a:prstGeom>
          <a:ln w="9525">
            <a:solidFill>
              <a:srgbClr val="D9D2C3"/>
            </a:solidFill>
          </a:ln>
        </p:spPr>
      </p:cxnSp>
      <p:sp>
        <p:nvSpPr>
          <p:cNvPr id="215" name="TextBox 214"/>
          <p:cNvSpPr txBox="1"/>
          <p:nvPr/>
        </p:nvSpPr>
        <p:spPr>
          <a:xfrm>
            <a:off x="9715214" y="3248025"/>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7,63 / 6</a:t>
            </a:r>
          </a:p>
        </p:txBody>
      </p:sp>
      <p:sp>
        <p:nvSpPr>
          <p:cNvPr id="216" name="Rectangle 215"/>
          <p:cNvSpPr/>
          <p:nvPr/>
        </p:nvSpPr>
        <p:spPr>
          <a:xfrm>
            <a:off x="10452497" y="3190875"/>
            <a:ext cx="678507" cy="295275"/>
          </a:xfrm>
          <a:prstGeom prst="rect">
            <a:avLst/>
          </a:prstGeom>
          <a:noFill/>
          <a:ln>
            <a:noFill/>
          </a:ln>
        </p:spPr>
        <p:txBody>
          <a:bodyPr rtlCol="0" anchor="ctr"/>
          <a:lstStyle/>
          <a:p>
            <a:endParaRPr/>
          </a:p>
        </p:txBody>
      </p:sp>
      <p:cxnSp>
        <p:nvCxnSpPr>
          <p:cNvPr id="217" name="Connector 216"/>
          <p:cNvCxnSpPr/>
          <p:nvPr/>
        </p:nvCxnSpPr>
        <p:spPr>
          <a:xfrm>
            <a:off x="10452497" y="3481388"/>
            <a:ext cx="678507" cy="0"/>
          </a:xfrm>
          <a:prstGeom prst="line">
            <a:avLst/>
          </a:prstGeom>
          <a:ln w="9525">
            <a:solidFill>
              <a:srgbClr val="D9D2C3"/>
            </a:solidFill>
          </a:ln>
        </p:spPr>
      </p:cxnSp>
      <p:sp>
        <p:nvSpPr>
          <p:cNvPr id="218" name="TextBox 217"/>
          <p:cNvSpPr txBox="1"/>
          <p:nvPr/>
        </p:nvSpPr>
        <p:spPr>
          <a:xfrm>
            <a:off x="10634561" y="3248025"/>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780 K</a:t>
            </a:r>
          </a:p>
        </p:txBody>
      </p:sp>
      <p:sp>
        <p:nvSpPr>
          <p:cNvPr id="219" name="Rectangle 218"/>
          <p:cNvSpPr/>
          <p:nvPr/>
        </p:nvSpPr>
        <p:spPr>
          <a:xfrm>
            <a:off x="11131004" y="3190875"/>
            <a:ext cx="679996" cy="295275"/>
          </a:xfrm>
          <a:prstGeom prst="rect">
            <a:avLst/>
          </a:prstGeom>
          <a:noFill/>
          <a:ln>
            <a:noFill/>
          </a:ln>
        </p:spPr>
        <p:txBody>
          <a:bodyPr rtlCol="0" anchor="ctr"/>
          <a:lstStyle/>
          <a:p>
            <a:endParaRPr/>
          </a:p>
        </p:txBody>
      </p:sp>
      <p:cxnSp>
        <p:nvCxnSpPr>
          <p:cNvPr id="220" name="Connector 219"/>
          <p:cNvCxnSpPr/>
          <p:nvPr/>
        </p:nvCxnSpPr>
        <p:spPr>
          <a:xfrm>
            <a:off x="11131004" y="3481388"/>
            <a:ext cx="679996" cy="0"/>
          </a:xfrm>
          <a:prstGeom prst="line">
            <a:avLst/>
          </a:prstGeom>
          <a:ln w="9525">
            <a:solidFill>
              <a:srgbClr val="D9D2C3"/>
            </a:solidFill>
          </a:ln>
        </p:spPr>
      </p:cxnSp>
      <p:sp>
        <p:nvSpPr>
          <p:cNvPr id="221" name="TextBox 220"/>
          <p:cNvSpPr txBox="1"/>
          <p:nvPr/>
        </p:nvSpPr>
        <p:spPr>
          <a:xfrm>
            <a:off x="11234226" y="3248025"/>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2,76 $</a:t>
            </a:r>
          </a:p>
        </p:txBody>
      </p:sp>
      <p:sp>
        <p:nvSpPr>
          <p:cNvPr id="222" name="Rectangle 221"/>
          <p:cNvSpPr/>
          <p:nvPr/>
        </p:nvSpPr>
        <p:spPr>
          <a:xfrm>
            <a:off x="381000" y="3486150"/>
            <a:ext cx="3030438" cy="295275"/>
          </a:xfrm>
          <a:prstGeom prst="rect">
            <a:avLst/>
          </a:prstGeom>
          <a:noFill/>
          <a:ln>
            <a:noFill/>
          </a:ln>
        </p:spPr>
        <p:txBody>
          <a:bodyPr rtlCol="0" anchor="ctr"/>
          <a:lstStyle/>
          <a:p>
            <a:endParaRPr/>
          </a:p>
        </p:txBody>
      </p:sp>
      <p:cxnSp>
        <p:nvCxnSpPr>
          <p:cNvPr id="223" name="Connector 222"/>
          <p:cNvCxnSpPr/>
          <p:nvPr/>
        </p:nvCxnSpPr>
        <p:spPr>
          <a:xfrm>
            <a:off x="381000" y="3776662"/>
            <a:ext cx="3030438" cy="0"/>
          </a:xfrm>
          <a:prstGeom prst="line">
            <a:avLst/>
          </a:prstGeom>
          <a:ln w="9525">
            <a:solidFill>
              <a:srgbClr val="D9D2C3"/>
            </a:solidFill>
          </a:ln>
        </p:spPr>
      </p:cxnSp>
      <p:sp>
        <p:nvSpPr>
          <p:cNvPr id="224" name="TextBox 223"/>
          <p:cNvSpPr txBox="1"/>
          <p:nvPr/>
        </p:nvSpPr>
        <p:spPr>
          <a:xfrm>
            <a:off x="476250" y="3552825"/>
            <a:ext cx="2561034"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Córdoba, 965–970</a:t>
            </a:r>
            <a:r>
              <a:rPr sz="1050" b="0" i="0">
                <a:solidFill>
                  <a:srgbClr val="1C2433"/>
                </a:solidFill>
                <a:latin typeface="Inter"/>
                <a:ea typeface="Inter"/>
                <a:cs typeface="Inter"/>
              </a:rPr>
              <a:t> </a:t>
            </a:r>
            <a:r>
              <a:rPr sz="950" b="0" i="0">
                <a:solidFill>
                  <a:srgbClr val="7D7869"/>
                </a:solidFill>
                <a:latin typeface="Inter"/>
                <a:ea typeface="Inter"/>
                <a:cs typeface="Inter"/>
              </a:rPr>
              <a:t>adversarial · injection</a:t>
            </a:r>
          </a:p>
        </p:txBody>
      </p:sp>
      <p:sp>
        <p:nvSpPr>
          <p:cNvPr id="225" name="Rectangle 224"/>
          <p:cNvSpPr/>
          <p:nvPr/>
        </p:nvSpPr>
        <p:spPr>
          <a:xfrm>
            <a:off x="3411438" y="3486150"/>
            <a:ext cx="542330" cy="295275"/>
          </a:xfrm>
          <a:prstGeom prst="rect">
            <a:avLst/>
          </a:prstGeom>
          <a:noFill/>
          <a:ln>
            <a:noFill/>
          </a:ln>
        </p:spPr>
        <p:txBody>
          <a:bodyPr rtlCol="0" anchor="ctr"/>
          <a:lstStyle/>
          <a:p>
            <a:endParaRPr/>
          </a:p>
        </p:txBody>
      </p:sp>
      <p:cxnSp>
        <p:nvCxnSpPr>
          <p:cNvPr id="226" name="Connector 225"/>
          <p:cNvCxnSpPr/>
          <p:nvPr/>
        </p:nvCxnSpPr>
        <p:spPr>
          <a:xfrm>
            <a:off x="3411438" y="3776662"/>
            <a:ext cx="542330" cy="0"/>
          </a:xfrm>
          <a:prstGeom prst="line">
            <a:avLst/>
          </a:prstGeom>
          <a:ln w="9525">
            <a:solidFill>
              <a:srgbClr val="D9D2C3"/>
            </a:solidFill>
          </a:ln>
        </p:spPr>
      </p:cxnSp>
      <p:sp>
        <p:nvSpPr>
          <p:cNvPr id="227" name="TextBox 226"/>
          <p:cNvSpPr txBox="1"/>
          <p:nvPr/>
        </p:nvSpPr>
        <p:spPr>
          <a:xfrm>
            <a:off x="3622381" y="3552825"/>
            <a:ext cx="120444"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5</a:t>
            </a:r>
          </a:p>
        </p:txBody>
      </p:sp>
      <p:sp>
        <p:nvSpPr>
          <p:cNvPr id="228" name="Rectangle 227"/>
          <p:cNvSpPr/>
          <p:nvPr/>
        </p:nvSpPr>
        <p:spPr>
          <a:xfrm>
            <a:off x="3953768" y="3486150"/>
            <a:ext cx="1114425" cy="295275"/>
          </a:xfrm>
          <a:prstGeom prst="rect">
            <a:avLst/>
          </a:prstGeom>
          <a:noFill/>
          <a:ln>
            <a:noFill/>
          </a:ln>
        </p:spPr>
        <p:txBody>
          <a:bodyPr rtlCol="0" anchor="ctr"/>
          <a:lstStyle/>
          <a:p>
            <a:endParaRPr/>
          </a:p>
        </p:txBody>
      </p:sp>
      <p:cxnSp>
        <p:nvCxnSpPr>
          <p:cNvPr id="229" name="Connector 228"/>
          <p:cNvCxnSpPr/>
          <p:nvPr/>
        </p:nvCxnSpPr>
        <p:spPr>
          <a:xfrm>
            <a:off x="3953768" y="3776662"/>
            <a:ext cx="1114425" cy="0"/>
          </a:xfrm>
          <a:prstGeom prst="line">
            <a:avLst/>
          </a:prstGeom>
          <a:ln w="9525">
            <a:solidFill>
              <a:srgbClr val="D9D2C3"/>
            </a:solidFill>
          </a:ln>
        </p:spPr>
      </p:cxnSp>
      <p:sp>
        <p:nvSpPr>
          <p:cNvPr id="230" name="Rounded Rectangle 229"/>
          <p:cNvSpPr/>
          <p:nvPr/>
        </p:nvSpPr>
        <p:spPr>
          <a:xfrm>
            <a:off x="4093964" y="3538538"/>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231" name="TextBox 230"/>
          <p:cNvSpPr txBox="1"/>
          <p:nvPr/>
        </p:nvSpPr>
        <p:spPr>
          <a:xfrm>
            <a:off x="4127575" y="3557588"/>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232" name="Rectangle 231"/>
          <p:cNvSpPr/>
          <p:nvPr/>
        </p:nvSpPr>
        <p:spPr>
          <a:xfrm>
            <a:off x="5068193" y="3486150"/>
            <a:ext cx="707380" cy="295275"/>
          </a:xfrm>
          <a:prstGeom prst="rect">
            <a:avLst/>
          </a:prstGeom>
          <a:noFill/>
          <a:ln>
            <a:noFill/>
          </a:ln>
        </p:spPr>
        <p:txBody>
          <a:bodyPr rtlCol="0" anchor="ctr"/>
          <a:lstStyle/>
          <a:p>
            <a:endParaRPr/>
          </a:p>
        </p:txBody>
      </p:sp>
      <p:cxnSp>
        <p:nvCxnSpPr>
          <p:cNvPr id="233" name="Connector 232"/>
          <p:cNvCxnSpPr/>
          <p:nvPr/>
        </p:nvCxnSpPr>
        <p:spPr>
          <a:xfrm>
            <a:off x="5068193" y="3776662"/>
            <a:ext cx="707380" cy="0"/>
          </a:xfrm>
          <a:prstGeom prst="line">
            <a:avLst/>
          </a:prstGeom>
          <a:ln w="9525">
            <a:solidFill>
              <a:srgbClr val="D9D2C3"/>
            </a:solidFill>
          </a:ln>
        </p:spPr>
      </p:cxnSp>
      <p:sp>
        <p:nvSpPr>
          <p:cNvPr id="234" name="TextBox 233"/>
          <p:cNvSpPr txBox="1"/>
          <p:nvPr/>
        </p:nvSpPr>
        <p:spPr>
          <a:xfrm>
            <a:off x="5519815" y="3543300"/>
            <a:ext cx="198608"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11</a:t>
            </a:r>
          </a:p>
        </p:txBody>
      </p:sp>
      <p:sp>
        <p:nvSpPr>
          <p:cNvPr id="235" name="Rectangle 234"/>
          <p:cNvSpPr/>
          <p:nvPr/>
        </p:nvSpPr>
        <p:spPr>
          <a:xfrm>
            <a:off x="5775573" y="3486150"/>
            <a:ext cx="885230" cy="295275"/>
          </a:xfrm>
          <a:prstGeom prst="rect">
            <a:avLst/>
          </a:prstGeom>
          <a:noFill/>
          <a:ln>
            <a:noFill/>
          </a:ln>
        </p:spPr>
        <p:txBody>
          <a:bodyPr rtlCol="0" anchor="ctr"/>
          <a:lstStyle/>
          <a:p>
            <a:endParaRPr/>
          </a:p>
        </p:txBody>
      </p:sp>
      <p:cxnSp>
        <p:nvCxnSpPr>
          <p:cNvPr id="236" name="Connector 235"/>
          <p:cNvCxnSpPr/>
          <p:nvPr/>
        </p:nvCxnSpPr>
        <p:spPr>
          <a:xfrm>
            <a:off x="5775573" y="3776662"/>
            <a:ext cx="885230" cy="0"/>
          </a:xfrm>
          <a:prstGeom prst="line">
            <a:avLst/>
          </a:prstGeom>
          <a:ln w="9525">
            <a:solidFill>
              <a:srgbClr val="D9D2C3"/>
            </a:solidFill>
          </a:ln>
        </p:spPr>
      </p:cxnSp>
      <p:sp>
        <p:nvSpPr>
          <p:cNvPr id="237" name="Rounded Rectangle 236"/>
          <p:cNvSpPr/>
          <p:nvPr/>
        </p:nvSpPr>
        <p:spPr>
          <a:xfrm>
            <a:off x="5993457" y="3538538"/>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238" name="TextBox 237"/>
          <p:cNvSpPr txBox="1"/>
          <p:nvPr/>
        </p:nvSpPr>
        <p:spPr>
          <a:xfrm>
            <a:off x="6034760" y="3557588"/>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239" name="Rectangle 238"/>
          <p:cNvSpPr/>
          <p:nvPr/>
        </p:nvSpPr>
        <p:spPr>
          <a:xfrm>
            <a:off x="6660803" y="3486150"/>
            <a:ext cx="885230" cy="295275"/>
          </a:xfrm>
          <a:prstGeom prst="rect">
            <a:avLst/>
          </a:prstGeom>
          <a:noFill/>
          <a:ln>
            <a:noFill/>
          </a:ln>
        </p:spPr>
        <p:txBody>
          <a:bodyPr rtlCol="0" anchor="ctr"/>
          <a:lstStyle/>
          <a:p>
            <a:endParaRPr/>
          </a:p>
        </p:txBody>
      </p:sp>
      <p:cxnSp>
        <p:nvCxnSpPr>
          <p:cNvPr id="240" name="Connector 239"/>
          <p:cNvCxnSpPr/>
          <p:nvPr/>
        </p:nvCxnSpPr>
        <p:spPr>
          <a:xfrm>
            <a:off x="6660803" y="3776662"/>
            <a:ext cx="885229" cy="0"/>
          </a:xfrm>
          <a:prstGeom prst="line">
            <a:avLst/>
          </a:prstGeom>
          <a:ln w="9525">
            <a:solidFill>
              <a:srgbClr val="D9D2C3"/>
            </a:solidFill>
          </a:ln>
        </p:spPr>
      </p:cxnSp>
      <p:sp>
        <p:nvSpPr>
          <p:cNvPr id="241" name="Rounded Rectangle 240"/>
          <p:cNvSpPr/>
          <p:nvPr/>
        </p:nvSpPr>
        <p:spPr>
          <a:xfrm>
            <a:off x="6785670" y="3538538"/>
            <a:ext cx="635347"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242" name="TextBox 241"/>
          <p:cNvSpPr txBox="1"/>
          <p:nvPr/>
        </p:nvSpPr>
        <p:spPr>
          <a:xfrm>
            <a:off x="6823255" y="3557588"/>
            <a:ext cx="560177"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×3</a:t>
            </a:r>
          </a:p>
        </p:txBody>
      </p:sp>
      <p:sp>
        <p:nvSpPr>
          <p:cNvPr id="243" name="Rectangle 242"/>
          <p:cNvSpPr/>
          <p:nvPr/>
        </p:nvSpPr>
        <p:spPr>
          <a:xfrm>
            <a:off x="7546032" y="3486150"/>
            <a:ext cx="880914" cy="295275"/>
          </a:xfrm>
          <a:prstGeom prst="rect">
            <a:avLst/>
          </a:prstGeom>
          <a:noFill/>
          <a:ln>
            <a:noFill/>
          </a:ln>
        </p:spPr>
        <p:txBody>
          <a:bodyPr rtlCol="0" anchor="ctr"/>
          <a:lstStyle/>
          <a:p>
            <a:endParaRPr/>
          </a:p>
        </p:txBody>
      </p:sp>
      <p:cxnSp>
        <p:nvCxnSpPr>
          <p:cNvPr id="244" name="Connector 243"/>
          <p:cNvCxnSpPr/>
          <p:nvPr/>
        </p:nvCxnSpPr>
        <p:spPr>
          <a:xfrm>
            <a:off x="7546032" y="3776662"/>
            <a:ext cx="880914" cy="0"/>
          </a:xfrm>
          <a:prstGeom prst="line">
            <a:avLst/>
          </a:prstGeom>
          <a:ln w="9525">
            <a:solidFill>
              <a:srgbClr val="D9D2C3"/>
            </a:solidFill>
          </a:ln>
        </p:spPr>
      </p:cxnSp>
      <p:sp>
        <p:nvSpPr>
          <p:cNvPr id="245" name="Rounded Rectangle 244"/>
          <p:cNvSpPr/>
          <p:nvPr/>
        </p:nvSpPr>
        <p:spPr>
          <a:xfrm>
            <a:off x="7668816" y="3538538"/>
            <a:ext cx="635347"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246" name="TextBox 245"/>
          <p:cNvSpPr txBox="1"/>
          <p:nvPr/>
        </p:nvSpPr>
        <p:spPr>
          <a:xfrm>
            <a:off x="7706401" y="3557588"/>
            <a:ext cx="560177"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×3</a:t>
            </a:r>
          </a:p>
        </p:txBody>
      </p:sp>
      <p:sp>
        <p:nvSpPr>
          <p:cNvPr id="247" name="Rectangle 246"/>
          <p:cNvSpPr/>
          <p:nvPr/>
        </p:nvSpPr>
        <p:spPr>
          <a:xfrm>
            <a:off x="8426946" y="3486150"/>
            <a:ext cx="966043" cy="295275"/>
          </a:xfrm>
          <a:prstGeom prst="rect">
            <a:avLst/>
          </a:prstGeom>
          <a:noFill/>
          <a:ln>
            <a:noFill/>
          </a:ln>
        </p:spPr>
        <p:txBody>
          <a:bodyPr rtlCol="0" anchor="ctr"/>
          <a:lstStyle/>
          <a:p>
            <a:endParaRPr/>
          </a:p>
        </p:txBody>
      </p:sp>
      <p:cxnSp>
        <p:nvCxnSpPr>
          <p:cNvPr id="248" name="Connector 247"/>
          <p:cNvCxnSpPr/>
          <p:nvPr/>
        </p:nvCxnSpPr>
        <p:spPr>
          <a:xfrm>
            <a:off x="8426946" y="3776662"/>
            <a:ext cx="966043" cy="0"/>
          </a:xfrm>
          <a:prstGeom prst="line">
            <a:avLst/>
          </a:prstGeom>
          <a:ln w="9525">
            <a:solidFill>
              <a:srgbClr val="D9D2C3"/>
            </a:solidFill>
          </a:ln>
        </p:spPr>
      </p:cxnSp>
      <p:sp>
        <p:nvSpPr>
          <p:cNvPr id="249" name="Rounded Rectangle 248"/>
          <p:cNvSpPr/>
          <p:nvPr/>
        </p:nvSpPr>
        <p:spPr>
          <a:xfrm>
            <a:off x="8824020" y="3538538"/>
            <a:ext cx="171748" cy="190500"/>
          </a:xfrm>
          <a:prstGeom prst="roundRect">
            <a:avLst>
              <a:gd name="adj" fmla="val 38821"/>
            </a:avLst>
          </a:prstGeom>
          <a:solidFill>
            <a:srgbClr val="EEE0C0"/>
          </a:solidFill>
          <a:ln w="9525">
            <a:solidFill>
              <a:srgbClr val="C9A34E"/>
            </a:solidFill>
          </a:ln>
        </p:spPr>
        <p:txBody>
          <a:bodyPr rtlCol="0" anchor="ctr"/>
          <a:lstStyle/>
          <a:p>
            <a:endParaRPr/>
          </a:p>
        </p:txBody>
      </p:sp>
      <p:sp>
        <p:nvSpPr>
          <p:cNvPr id="250" name="TextBox 249"/>
          <p:cNvSpPr txBox="1"/>
          <p:nvPr/>
        </p:nvSpPr>
        <p:spPr>
          <a:xfrm>
            <a:off x="8870877" y="3557588"/>
            <a:ext cx="78034"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1C2433"/>
                </a:solidFill>
                <a:latin typeface="Inter SemiBold"/>
                <a:ea typeface="Inter SemiBold"/>
                <a:cs typeface="Inter SemiBold"/>
              </a:rPr>
              <a:t>!</a:t>
            </a:r>
          </a:p>
        </p:txBody>
      </p:sp>
      <p:sp>
        <p:nvSpPr>
          <p:cNvPr id="251" name="Rectangle 250"/>
          <p:cNvSpPr/>
          <p:nvPr/>
        </p:nvSpPr>
        <p:spPr>
          <a:xfrm>
            <a:off x="9392989" y="3486150"/>
            <a:ext cx="1059507" cy="295275"/>
          </a:xfrm>
          <a:prstGeom prst="rect">
            <a:avLst/>
          </a:prstGeom>
          <a:noFill/>
          <a:ln>
            <a:noFill/>
          </a:ln>
        </p:spPr>
        <p:txBody>
          <a:bodyPr rtlCol="0" anchor="ctr"/>
          <a:lstStyle/>
          <a:p>
            <a:endParaRPr/>
          </a:p>
        </p:txBody>
      </p:sp>
      <p:cxnSp>
        <p:nvCxnSpPr>
          <p:cNvPr id="252" name="Connector 251"/>
          <p:cNvCxnSpPr/>
          <p:nvPr/>
        </p:nvCxnSpPr>
        <p:spPr>
          <a:xfrm>
            <a:off x="9392989" y="3776662"/>
            <a:ext cx="1059508" cy="0"/>
          </a:xfrm>
          <a:prstGeom prst="line">
            <a:avLst/>
          </a:prstGeom>
          <a:ln w="9525">
            <a:solidFill>
              <a:srgbClr val="D9D2C3"/>
            </a:solidFill>
          </a:ln>
        </p:spPr>
      </p:cxnSp>
      <p:sp>
        <p:nvSpPr>
          <p:cNvPr id="253" name="TextBox 252"/>
          <p:cNvSpPr txBox="1"/>
          <p:nvPr/>
        </p:nvSpPr>
        <p:spPr>
          <a:xfrm>
            <a:off x="9715214" y="3543300"/>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8,75 / 9</a:t>
            </a:r>
          </a:p>
        </p:txBody>
      </p:sp>
      <p:sp>
        <p:nvSpPr>
          <p:cNvPr id="254" name="Rectangle 253"/>
          <p:cNvSpPr/>
          <p:nvPr/>
        </p:nvSpPr>
        <p:spPr>
          <a:xfrm>
            <a:off x="10452497" y="3486150"/>
            <a:ext cx="678507" cy="295275"/>
          </a:xfrm>
          <a:prstGeom prst="rect">
            <a:avLst/>
          </a:prstGeom>
          <a:noFill/>
          <a:ln>
            <a:noFill/>
          </a:ln>
        </p:spPr>
        <p:txBody>
          <a:bodyPr rtlCol="0" anchor="ctr"/>
          <a:lstStyle/>
          <a:p>
            <a:endParaRPr/>
          </a:p>
        </p:txBody>
      </p:sp>
      <p:cxnSp>
        <p:nvCxnSpPr>
          <p:cNvPr id="255" name="Connector 254"/>
          <p:cNvCxnSpPr/>
          <p:nvPr/>
        </p:nvCxnSpPr>
        <p:spPr>
          <a:xfrm>
            <a:off x="10452497" y="3776662"/>
            <a:ext cx="678507" cy="0"/>
          </a:xfrm>
          <a:prstGeom prst="line">
            <a:avLst/>
          </a:prstGeom>
          <a:ln w="9525">
            <a:solidFill>
              <a:srgbClr val="D9D2C3"/>
            </a:solidFill>
          </a:ln>
        </p:spPr>
      </p:cxnSp>
      <p:sp>
        <p:nvSpPr>
          <p:cNvPr id="256" name="TextBox 255"/>
          <p:cNvSpPr txBox="1"/>
          <p:nvPr/>
        </p:nvSpPr>
        <p:spPr>
          <a:xfrm>
            <a:off x="10634561" y="3543300"/>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621 K</a:t>
            </a:r>
          </a:p>
        </p:txBody>
      </p:sp>
      <p:sp>
        <p:nvSpPr>
          <p:cNvPr id="257" name="Rectangle 256"/>
          <p:cNvSpPr/>
          <p:nvPr/>
        </p:nvSpPr>
        <p:spPr>
          <a:xfrm>
            <a:off x="11131004" y="3486150"/>
            <a:ext cx="679996" cy="295275"/>
          </a:xfrm>
          <a:prstGeom prst="rect">
            <a:avLst/>
          </a:prstGeom>
          <a:noFill/>
          <a:ln>
            <a:noFill/>
          </a:ln>
        </p:spPr>
        <p:txBody>
          <a:bodyPr rtlCol="0" anchor="ctr"/>
          <a:lstStyle/>
          <a:p>
            <a:endParaRPr/>
          </a:p>
        </p:txBody>
      </p:sp>
      <p:cxnSp>
        <p:nvCxnSpPr>
          <p:cNvPr id="258" name="Connector 257"/>
          <p:cNvCxnSpPr/>
          <p:nvPr/>
        </p:nvCxnSpPr>
        <p:spPr>
          <a:xfrm>
            <a:off x="11131004" y="3776662"/>
            <a:ext cx="679996" cy="0"/>
          </a:xfrm>
          <a:prstGeom prst="line">
            <a:avLst/>
          </a:prstGeom>
          <a:ln w="9525">
            <a:solidFill>
              <a:srgbClr val="D9D2C3"/>
            </a:solidFill>
          </a:ln>
        </p:spPr>
      </p:cxnSp>
      <p:sp>
        <p:nvSpPr>
          <p:cNvPr id="259" name="TextBox 258"/>
          <p:cNvSpPr txBox="1"/>
          <p:nvPr/>
        </p:nvSpPr>
        <p:spPr>
          <a:xfrm>
            <a:off x="11234226" y="3543300"/>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2,22 $</a:t>
            </a:r>
          </a:p>
        </p:txBody>
      </p:sp>
      <p:sp>
        <p:nvSpPr>
          <p:cNvPr id="260" name="Rectangle 259"/>
          <p:cNvSpPr/>
          <p:nvPr/>
        </p:nvSpPr>
        <p:spPr>
          <a:xfrm>
            <a:off x="381000" y="3781425"/>
            <a:ext cx="3030438" cy="295275"/>
          </a:xfrm>
          <a:prstGeom prst="rect">
            <a:avLst/>
          </a:prstGeom>
          <a:solidFill>
            <a:srgbClr val="EDD9CC"/>
          </a:solidFill>
          <a:ln>
            <a:noFill/>
          </a:ln>
        </p:spPr>
        <p:txBody>
          <a:bodyPr rtlCol="0" anchor="ctr"/>
          <a:lstStyle/>
          <a:p>
            <a:endParaRPr/>
          </a:p>
        </p:txBody>
      </p:sp>
      <p:cxnSp>
        <p:nvCxnSpPr>
          <p:cNvPr id="261" name="Connector 260"/>
          <p:cNvCxnSpPr/>
          <p:nvPr/>
        </p:nvCxnSpPr>
        <p:spPr>
          <a:xfrm>
            <a:off x="381000" y="4071938"/>
            <a:ext cx="3030438" cy="0"/>
          </a:xfrm>
          <a:prstGeom prst="line">
            <a:avLst/>
          </a:prstGeom>
          <a:ln w="9525">
            <a:solidFill>
              <a:srgbClr val="D9D2C3"/>
            </a:solidFill>
          </a:ln>
        </p:spPr>
      </p:cxnSp>
      <p:sp>
        <p:nvSpPr>
          <p:cNvPr id="262" name="TextBox 261"/>
          <p:cNvSpPr txBox="1"/>
          <p:nvPr/>
        </p:nvSpPr>
        <p:spPr>
          <a:xfrm>
            <a:off x="476250" y="3848100"/>
            <a:ext cx="2523113"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Cádiz, 1805–1808</a:t>
            </a:r>
            <a:r>
              <a:rPr sz="1050" b="0" i="0">
                <a:solidFill>
                  <a:srgbClr val="1C2433"/>
                </a:solidFill>
                <a:latin typeface="Inter"/>
                <a:ea typeface="Inter"/>
                <a:cs typeface="Inter"/>
              </a:rPr>
              <a:t> </a:t>
            </a:r>
            <a:r>
              <a:rPr sz="950" b="0" i="0">
                <a:solidFill>
                  <a:srgbClr val="7D7869"/>
                </a:solidFill>
                <a:latin typeface="Inter"/>
                <a:ea typeface="Inter"/>
                <a:cs typeface="Inter"/>
              </a:rPr>
              <a:t>adversarial · temporal</a:t>
            </a:r>
          </a:p>
        </p:txBody>
      </p:sp>
      <p:sp>
        <p:nvSpPr>
          <p:cNvPr id="263" name="Rectangle 262"/>
          <p:cNvSpPr/>
          <p:nvPr/>
        </p:nvSpPr>
        <p:spPr>
          <a:xfrm>
            <a:off x="3411438" y="3781425"/>
            <a:ext cx="542330" cy="295275"/>
          </a:xfrm>
          <a:prstGeom prst="rect">
            <a:avLst/>
          </a:prstGeom>
          <a:solidFill>
            <a:srgbClr val="EDD9CC"/>
          </a:solidFill>
          <a:ln>
            <a:noFill/>
          </a:ln>
        </p:spPr>
        <p:txBody>
          <a:bodyPr rtlCol="0" anchor="ctr"/>
          <a:lstStyle/>
          <a:p>
            <a:endParaRPr/>
          </a:p>
        </p:txBody>
      </p:sp>
      <p:cxnSp>
        <p:nvCxnSpPr>
          <p:cNvPr id="264" name="Connector 263"/>
          <p:cNvCxnSpPr/>
          <p:nvPr/>
        </p:nvCxnSpPr>
        <p:spPr>
          <a:xfrm>
            <a:off x="3411438" y="4071938"/>
            <a:ext cx="542330" cy="0"/>
          </a:xfrm>
          <a:prstGeom prst="line">
            <a:avLst/>
          </a:prstGeom>
          <a:ln w="9525">
            <a:solidFill>
              <a:srgbClr val="D9D2C3"/>
            </a:solidFill>
          </a:ln>
        </p:spPr>
      </p:cxnSp>
      <p:sp>
        <p:nvSpPr>
          <p:cNvPr id="265" name="TextBox 264"/>
          <p:cNvSpPr txBox="1"/>
          <p:nvPr/>
        </p:nvSpPr>
        <p:spPr>
          <a:xfrm>
            <a:off x="3622381" y="3848100"/>
            <a:ext cx="120444"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5</a:t>
            </a:r>
          </a:p>
        </p:txBody>
      </p:sp>
      <p:sp>
        <p:nvSpPr>
          <p:cNvPr id="266" name="Rectangle 265"/>
          <p:cNvSpPr/>
          <p:nvPr/>
        </p:nvSpPr>
        <p:spPr>
          <a:xfrm>
            <a:off x="3953768" y="3781425"/>
            <a:ext cx="1114425" cy="295275"/>
          </a:xfrm>
          <a:prstGeom prst="rect">
            <a:avLst/>
          </a:prstGeom>
          <a:solidFill>
            <a:srgbClr val="EDD9CC"/>
          </a:solidFill>
          <a:ln>
            <a:noFill/>
          </a:ln>
        </p:spPr>
        <p:txBody>
          <a:bodyPr rtlCol="0" anchor="ctr"/>
          <a:lstStyle/>
          <a:p>
            <a:endParaRPr/>
          </a:p>
        </p:txBody>
      </p:sp>
      <p:cxnSp>
        <p:nvCxnSpPr>
          <p:cNvPr id="267" name="Connector 266"/>
          <p:cNvCxnSpPr/>
          <p:nvPr/>
        </p:nvCxnSpPr>
        <p:spPr>
          <a:xfrm>
            <a:off x="3953768" y="4071938"/>
            <a:ext cx="1114425" cy="0"/>
          </a:xfrm>
          <a:prstGeom prst="line">
            <a:avLst/>
          </a:prstGeom>
          <a:ln w="9525">
            <a:solidFill>
              <a:srgbClr val="D9D2C3"/>
            </a:solidFill>
          </a:ln>
        </p:spPr>
      </p:cxnSp>
      <p:sp>
        <p:nvSpPr>
          <p:cNvPr id="268" name="Rounded Rectangle 267"/>
          <p:cNvSpPr/>
          <p:nvPr/>
        </p:nvSpPr>
        <p:spPr>
          <a:xfrm>
            <a:off x="4093964" y="3833812"/>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269" name="TextBox 268"/>
          <p:cNvSpPr txBox="1"/>
          <p:nvPr/>
        </p:nvSpPr>
        <p:spPr>
          <a:xfrm>
            <a:off x="4127575" y="3852862"/>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270" name="Rectangle 269"/>
          <p:cNvSpPr/>
          <p:nvPr/>
        </p:nvSpPr>
        <p:spPr>
          <a:xfrm>
            <a:off x="5068193" y="3781425"/>
            <a:ext cx="707380" cy="295275"/>
          </a:xfrm>
          <a:prstGeom prst="rect">
            <a:avLst/>
          </a:prstGeom>
          <a:solidFill>
            <a:srgbClr val="EDD9CC"/>
          </a:solidFill>
          <a:ln>
            <a:noFill/>
          </a:ln>
        </p:spPr>
        <p:txBody>
          <a:bodyPr rtlCol="0" anchor="ctr"/>
          <a:lstStyle/>
          <a:p>
            <a:endParaRPr/>
          </a:p>
        </p:txBody>
      </p:sp>
      <p:cxnSp>
        <p:nvCxnSpPr>
          <p:cNvPr id="271" name="Connector 270"/>
          <p:cNvCxnSpPr/>
          <p:nvPr/>
        </p:nvCxnSpPr>
        <p:spPr>
          <a:xfrm>
            <a:off x="5068193" y="4071938"/>
            <a:ext cx="707380" cy="0"/>
          </a:xfrm>
          <a:prstGeom prst="line">
            <a:avLst/>
          </a:prstGeom>
          <a:ln w="9525">
            <a:solidFill>
              <a:srgbClr val="D9D2C3"/>
            </a:solidFill>
          </a:ln>
        </p:spPr>
      </p:cxnSp>
      <p:sp>
        <p:nvSpPr>
          <p:cNvPr id="272" name="TextBox 271"/>
          <p:cNvSpPr txBox="1"/>
          <p:nvPr/>
        </p:nvSpPr>
        <p:spPr>
          <a:xfrm>
            <a:off x="5599992" y="3838575"/>
            <a:ext cx="118431"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6</a:t>
            </a:r>
          </a:p>
        </p:txBody>
      </p:sp>
      <p:sp>
        <p:nvSpPr>
          <p:cNvPr id="273" name="Rectangle 272"/>
          <p:cNvSpPr/>
          <p:nvPr/>
        </p:nvSpPr>
        <p:spPr>
          <a:xfrm>
            <a:off x="5775573" y="3781425"/>
            <a:ext cx="885230" cy="295275"/>
          </a:xfrm>
          <a:prstGeom prst="rect">
            <a:avLst/>
          </a:prstGeom>
          <a:solidFill>
            <a:srgbClr val="EDD9CC"/>
          </a:solidFill>
          <a:ln>
            <a:noFill/>
          </a:ln>
        </p:spPr>
        <p:txBody>
          <a:bodyPr rtlCol="0" anchor="ctr"/>
          <a:lstStyle/>
          <a:p>
            <a:endParaRPr/>
          </a:p>
        </p:txBody>
      </p:sp>
      <p:cxnSp>
        <p:nvCxnSpPr>
          <p:cNvPr id="274" name="Connector 273"/>
          <p:cNvCxnSpPr/>
          <p:nvPr/>
        </p:nvCxnSpPr>
        <p:spPr>
          <a:xfrm>
            <a:off x="5775573" y="4071938"/>
            <a:ext cx="885230" cy="0"/>
          </a:xfrm>
          <a:prstGeom prst="line">
            <a:avLst/>
          </a:prstGeom>
          <a:ln w="9525">
            <a:solidFill>
              <a:srgbClr val="D9D2C3"/>
            </a:solidFill>
          </a:ln>
        </p:spPr>
      </p:cxnSp>
      <p:sp>
        <p:nvSpPr>
          <p:cNvPr id="275" name="Rounded Rectangle 274"/>
          <p:cNvSpPr/>
          <p:nvPr/>
        </p:nvSpPr>
        <p:spPr>
          <a:xfrm>
            <a:off x="6098828" y="383381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276" name="TextBox 275"/>
          <p:cNvSpPr txBox="1"/>
          <p:nvPr/>
        </p:nvSpPr>
        <p:spPr>
          <a:xfrm>
            <a:off x="6144348" y="385286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277" name="Rectangle 276"/>
          <p:cNvSpPr/>
          <p:nvPr/>
        </p:nvSpPr>
        <p:spPr>
          <a:xfrm>
            <a:off x="6660803" y="3781425"/>
            <a:ext cx="885230" cy="295275"/>
          </a:xfrm>
          <a:prstGeom prst="rect">
            <a:avLst/>
          </a:prstGeom>
          <a:solidFill>
            <a:srgbClr val="EDD9CC"/>
          </a:solidFill>
          <a:ln>
            <a:noFill/>
          </a:ln>
        </p:spPr>
        <p:txBody>
          <a:bodyPr rtlCol="0" anchor="ctr"/>
          <a:lstStyle/>
          <a:p>
            <a:endParaRPr/>
          </a:p>
        </p:txBody>
      </p:sp>
      <p:cxnSp>
        <p:nvCxnSpPr>
          <p:cNvPr id="278" name="Connector 277"/>
          <p:cNvCxnSpPr/>
          <p:nvPr/>
        </p:nvCxnSpPr>
        <p:spPr>
          <a:xfrm>
            <a:off x="6660803" y="4071938"/>
            <a:ext cx="885229" cy="0"/>
          </a:xfrm>
          <a:prstGeom prst="line">
            <a:avLst/>
          </a:prstGeom>
          <a:ln w="9525">
            <a:solidFill>
              <a:srgbClr val="D9D2C3"/>
            </a:solidFill>
          </a:ln>
        </p:spPr>
      </p:cxnSp>
      <p:sp>
        <p:nvSpPr>
          <p:cNvPr id="279" name="Rounded Rectangle 278"/>
          <p:cNvSpPr/>
          <p:nvPr/>
        </p:nvSpPr>
        <p:spPr>
          <a:xfrm>
            <a:off x="6878687" y="3833812"/>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280" name="TextBox 279"/>
          <p:cNvSpPr txBox="1"/>
          <p:nvPr/>
        </p:nvSpPr>
        <p:spPr>
          <a:xfrm>
            <a:off x="6919990" y="3852862"/>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281" name="Rectangle 280"/>
          <p:cNvSpPr/>
          <p:nvPr/>
        </p:nvSpPr>
        <p:spPr>
          <a:xfrm>
            <a:off x="7546032" y="3781425"/>
            <a:ext cx="880914" cy="295275"/>
          </a:xfrm>
          <a:prstGeom prst="rect">
            <a:avLst/>
          </a:prstGeom>
          <a:solidFill>
            <a:srgbClr val="EDD9CC"/>
          </a:solidFill>
          <a:ln>
            <a:noFill/>
          </a:ln>
        </p:spPr>
        <p:txBody>
          <a:bodyPr rtlCol="0" anchor="ctr"/>
          <a:lstStyle/>
          <a:p>
            <a:endParaRPr/>
          </a:p>
        </p:txBody>
      </p:sp>
      <p:cxnSp>
        <p:nvCxnSpPr>
          <p:cNvPr id="282" name="Connector 281"/>
          <p:cNvCxnSpPr/>
          <p:nvPr/>
        </p:nvCxnSpPr>
        <p:spPr>
          <a:xfrm>
            <a:off x="7546032" y="4071938"/>
            <a:ext cx="880914" cy="0"/>
          </a:xfrm>
          <a:prstGeom prst="line">
            <a:avLst/>
          </a:prstGeom>
          <a:ln w="9525">
            <a:solidFill>
              <a:srgbClr val="D9D2C3"/>
            </a:solidFill>
          </a:ln>
        </p:spPr>
      </p:cxnSp>
      <p:sp>
        <p:nvSpPr>
          <p:cNvPr id="283" name="Rounded Rectangle 282"/>
          <p:cNvSpPr/>
          <p:nvPr/>
        </p:nvSpPr>
        <p:spPr>
          <a:xfrm>
            <a:off x="7867204" y="383381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284" name="TextBox 283"/>
          <p:cNvSpPr txBox="1"/>
          <p:nvPr/>
        </p:nvSpPr>
        <p:spPr>
          <a:xfrm>
            <a:off x="7912724" y="385286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285" name="Rectangle 284"/>
          <p:cNvSpPr/>
          <p:nvPr/>
        </p:nvSpPr>
        <p:spPr>
          <a:xfrm>
            <a:off x="8426946" y="3781425"/>
            <a:ext cx="966043" cy="295275"/>
          </a:xfrm>
          <a:prstGeom prst="rect">
            <a:avLst/>
          </a:prstGeom>
          <a:solidFill>
            <a:srgbClr val="EDD9CC"/>
          </a:solidFill>
          <a:ln>
            <a:noFill/>
          </a:ln>
        </p:spPr>
        <p:txBody>
          <a:bodyPr rtlCol="0" anchor="ctr"/>
          <a:lstStyle/>
          <a:p>
            <a:endParaRPr/>
          </a:p>
        </p:txBody>
      </p:sp>
      <p:cxnSp>
        <p:nvCxnSpPr>
          <p:cNvPr id="286" name="Connector 285"/>
          <p:cNvCxnSpPr/>
          <p:nvPr/>
        </p:nvCxnSpPr>
        <p:spPr>
          <a:xfrm>
            <a:off x="8426946" y="4071938"/>
            <a:ext cx="966043" cy="0"/>
          </a:xfrm>
          <a:prstGeom prst="line">
            <a:avLst/>
          </a:prstGeom>
          <a:ln w="9525">
            <a:solidFill>
              <a:srgbClr val="D9D2C3"/>
            </a:solidFill>
          </a:ln>
        </p:spPr>
      </p:cxnSp>
      <p:sp>
        <p:nvSpPr>
          <p:cNvPr id="287" name="Rounded Rectangle 286"/>
          <p:cNvSpPr/>
          <p:nvPr/>
        </p:nvSpPr>
        <p:spPr>
          <a:xfrm>
            <a:off x="8556129" y="3833812"/>
            <a:ext cx="707678"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288" name="TextBox 287"/>
          <p:cNvSpPr txBox="1"/>
          <p:nvPr/>
        </p:nvSpPr>
        <p:spPr>
          <a:xfrm>
            <a:off x="8592267" y="3852862"/>
            <a:ext cx="635401"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 no lo ve</a:t>
            </a:r>
          </a:p>
        </p:txBody>
      </p:sp>
      <p:sp>
        <p:nvSpPr>
          <p:cNvPr id="289" name="Rectangle 288"/>
          <p:cNvSpPr/>
          <p:nvPr/>
        </p:nvSpPr>
        <p:spPr>
          <a:xfrm>
            <a:off x="9392989" y="3781425"/>
            <a:ext cx="1059507" cy="295275"/>
          </a:xfrm>
          <a:prstGeom prst="rect">
            <a:avLst/>
          </a:prstGeom>
          <a:solidFill>
            <a:srgbClr val="EDD9CC"/>
          </a:solidFill>
          <a:ln>
            <a:noFill/>
          </a:ln>
        </p:spPr>
        <p:txBody>
          <a:bodyPr rtlCol="0" anchor="ctr"/>
          <a:lstStyle/>
          <a:p>
            <a:endParaRPr/>
          </a:p>
        </p:txBody>
      </p:sp>
      <p:cxnSp>
        <p:nvCxnSpPr>
          <p:cNvPr id="290" name="Connector 289"/>
          <p:cNvCxnSpPr/>
          <p:nvPr/>
        </p:nvCxnSpPr>
        <p:spPr>
          <a:xfrm>
            <a:off x="9392989" y="4071938"/>
            <a:ext cx="1059508" cy="0"/>
          </a:xfrm>
          <a:prstGeom prst="line">
            <a:avLst/>
          </a:prstGeom>
          <a:ln w="9525">
            <a:solidFill>
              <a:srgbClr val="D9D2C3"/>
            </a:solidFill>
          </a:ln>
        </p:spPr>
      </p:cxnSp>
      <p:sp>
        <p:nvSpPr>
          <p:cNvPr id="291" name="TextBox 290"/>
          <p:cNvSpPr txBox="1"/>
          <p:nvPr/>
        </p:nvSpPr>
        <p:spPr>
          <a:xfrm>
            <a:off x="9715214" y="3838575"/>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7,63 / 8</a:t>
            </a:r>
          </a:p>
        </p:txBody>
      </p:sp>
      <p:sp>
        <p:nvSpPr>
          <p:cNvPr id="292" name="Rectangle 291"/>
          <p:cNvSpPr/>
          <p:nvPr/>
        </p:nvSpPr>
        <p:spPr>
          <a:xfrm>
            <a:off x="10452497" y="3781425"/>
            <a:ext cx="678507" cy="295275"/>
          </a:xfrm>
          <a:prstGeom prst="rect">
            <a:avLst/>
          </a:prstGeom>
          <a:solidFill>
            <a:srgbClr val="EDD9CC"/>
          </a:solidFill>
          <a:ln>
            <a:noFill/>
          </a:ln>
        </p:spPr>
        <p:txBody>
          <a:bodyPr rtlCol="0" anchor="ctr"/>
          <a:lstStyle/>
          <a:p>
            <a:endParaRPr/>
          </a:p>
        </p:txBody>
      </p:sp>
      <p:cxnSp>
        <p:nvCxnSpPr>
          <p:cNvPr id="293" name="Connector 292"/>
          <p:cNvCxnSpPr/>
          <p:nvPr/>
        </p:nvCxnSpPr>
        <p:spPr>
          <a:xfrm>
            <a:off x="10452497" y="4071938"/>
            <a:ext cx="678507" cy="0"/>
          </a:xfrm>
          <a:prstGeom prst="line">
            <a:avLst/>
          </a:prstGeom>
          <a:ln w="9525">
            <a:solidFill>
              <a:srgbClr val="D9D2C3"/>
            </a:solidFill>
          </a:ln>
        </p:spPr>
      </p:cxnSp>
      <p:sp>
        <p:nvSpPr>
          <p:cNvPr id="294" name="TextBox 293"/>
          <p:cNvSpPr txBox="1"/>
          <p:nvPr/>
        </p:nvSpPr>
        <p:spPr>
          <a:xfrm>
            <a:off x="10634561" y="3838575"/>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576 K</a:t>
            </a:r>
          </a:p>
        </p:txBody>
      </p:sp>
      <p:sp>
        <p:nvSpPr>
          <p:cNvPr id="295" name="Rectangle 294"/>
          <p:cNvSpPr/>
          <p:nvPr/>
        </p:nvSpPr>
        <p:spPr>
          <a:xfrm>
            <a:off x="11131004" y="3781425"/>
            <a:ext cx="679996" cy="295275"/>
          </a:xfrm>
          <a:prstGeom prst="rect">
            <a:avLst/>
          </a:prstGeom>
          <a:solidFill>
            <a:srgbClr val="EDD9CC"/>
          </a:solidFill>
          <a:ln>
            <a:noFill/>
          </a:ln>
        </p:spPr>
        <p:txBody>
          <a:bodyPr rtlCol="0" anchor="ctr"/>
          <a:lstStyle/>
          <a:p>
            <a:endParaRPr/>
          </a:p>
        </p:txBody>
      </p:sp>
      <p:cxnSp>
        <p:nvCxnSpPr>
          <p:cNvPr id="296" name="Connector 295"/>
          <p:cNvCxnSpPr/>
          <p:nvPr/>
        </p:nvCxnSpPr>
        <p:spPr>
          <a:xfrm>
            <a:off x="11131004" y="4071938"/>
            <a:ext cx="679996" cy="0"/>
          </a:xfrm>
          <a:prstGeom prst="line">
            <a:avLst/>
          </a:prstGeom>
          <a:ln w="9525">
            <a:solidFill>
              <a:srgbClr val="D9D2C3"/>
            </a:solidFill>
          </a:ln>
        </p:spPr>
      </p:cxnSp>
      <p:sp>
        <p:nvSpPr>
          <p:cNvPr id="297" name="TextBox 296"/>
          <p:cNvSpPr txBox="1"/>
          <p:nvPr/>
        </p:nvSpPr>
        <p:spPr>
          <a:xfrm>
            <a:off x="11234226" y="3838575"/>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2,04 $</a:t>
            </a:r>
          </a:p>
        </p:txBody>
      </p:sp>
      <p:sp>
        <p:nvSpPr>
          <p:cNvPr id="298" name="Rectangle 297"/>
          <p:cNvSpPr/>
          <p:nvPr/>
        </p:nvSpPr>
        <p:spPr>
          <a:xfrm>
            <a:off x="381000" y="4076700"/>
            <a:ext cx="11430000" cy="200025"/>
          </a:xfrm>
          <a:prstGeom prst="rect">
            <a:avLst/>
          </a:prstGeom>
          <a:solidFill>
            <a:srgbClr val="EDD9CC"/>
          </a:solidFill>
          <a:ln>
            <a:noFill/>
          </a:ln>
        </p:spPr>
        <p:txBody>
          <a:bodyPr rtlCol="0" anchor="ctr"/>
          <a:lstStyle/>
          <a:p>
            <a:endParaRPr/>
          </a:p>
        </p:txBody>
      </p:sp>
      <p:cxnSp>
        <p:nvCxnSpPr>
          <p:cNvPr id="299" name="Connector 298"/>
          <p:cNvCxnSpPr/>
          <p:nvPr/>
        </p:nvCxnSpPr>
        <p:spPr>
          <a:xfrm>
            <a:off x="381000" y="4271962"/>
            <a:ext cx="11430000" cy="0"/>
          </a:xfrm>
          <a:prstGeom prst="line">
            <a:avLst/>
          </a:prstGeom>
          <a:ln w="9525">
            <a:solidFill>
              <a:srgbClr val="D9D2C3"/>
            </a:solidFill>
          </a:ln>
        </p:spPr>
      </p:cxnSp>
      <p:sp>
        <p:nvSpPr>
          <p:cNvPr id="300" name="TextBox 299"/>
          <p:cNvSpPr txBox="1"/>
          <p:nvPr/>
        </p:nvSpPr>
        <p:spPr>
          <a:xfrm>
            <a:off x="476250" y="4090988"/>
            <a:ext cx="4990945" cy="142875"/>
          </a:xfrm>
          <a:prstGeom prst="rect">
            <a:avLst/>
          </a:prstGeom>
          <a:noFill/>
        </p:spPr>
        <p:txBody>
          <a:bodyPr wrap="none" lIns="0" tIns="0" rIns="0" bIns="0" anchor="t">
            <a:noAutofit/>
          </a:bodyPr>
          <a:lstStyle/>
          <a:p>
            <a:pPr algn="l">
              <a:lnSpc>
                <a:spcPts val="1125"/>
              </a:lnSpc>
              <a:spcBef>
                <a:spcPts val="0"/>
              </a:spcBef>
              <a:spcAft>
                <a:spcPts val="0"/>
              </a:spcAft>
            </a:pPr>
            <a:r>
              <a:rPr sz="950" b="0" i="0">
                <a:solidFill>
                  <a:srgbClr val="B23A2B"/>
                </a:solidFill>
                <a:latin typeface="Inter SemiBold"/>
                <a:ea typeface="Inter SemiBold"/>
                <a:cs typeface="Inter SemiBold"/>
              </a:rPr>
              <a:t>✕ Lean no lo detecta: la fecha de muerte del canon la inventó el arquitecto (RT-09).</a:t>
            </a:r>
          </a:p>
        </p:txBody>
      </p:sp>
      <p:sp>
        <p:nvSpPr>
          <p:cNvPr id="301" name="Rectangle 300"/>
          <p:cNvSpPr/>
          <p:nvPr/>
        </p:nvSpPr>
        <p:spPr>
          <a:xfrm>
            <a:off x="381000" y="4276725"/>
            <a:ext cx="3030438" cy="295275"/>
          </a:xfrm>
          <a:prstGeom prst="rect">
            <a:avLst/>
          </a:prstGeom>
          <a:solidFill>
            <a:srgbClr val="EFE9DC"/>
          </a:solidFill>
          <a:ln>
            <a:noFill/>
          </a:ln>
        </p:spPr>
        <p:txBody>
          <a:bodyPr rtlCol="0" anchor="ctr"/>
          <a:lstStyle/>
          <a:p>
            <a:endParaRPr/>
          </a:p>
        </p:txBody>
      </p:sp>
      <p:cxnSp>
        <p:nvCxnSpPr>
          <p:cNvPr id="302" name="Connector 301"/>
          <p:cNvCxnSpPr/>
          <p:nvPr/>
        </p:nvCxnSpPr>
        <p:spPr>
          <a:xfrm>
            <a:off x="381000" y="4567238"/>
            <a:ext cx="3030438" cy="0"/>
          </a:xfrm>
          <a:prstGeom prst="line">
            <a:avLst/>
          </a:prstGeom>
          <a:ln w="9525">
            <a:solidFill>
              <a:srgbClr val="D9D2C3"/>
            </a:solidFill>
          </a:ln>
        </p:spPr>
      </p:cxnSp>
      <p:sp>
        <p:nvSpPr>
          <p:cNvPr id="303" name="TextBox 302"/>
          <p:cNvSpPr txBox="1"/>
          <p:nvPr/>
        </p:nvSpPr>
        <p:spPr>
          <a:xfrm>
            <a:off x="476250" y="4343400"/>
            <a:ext cx="2433185"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Madrid, 1856–1858</a:t>
            </a:r>
            <a:r>
              <a:rPr sz="1050" b="0" i="0">
                <a:solidFill>
                  <a:srgbClr val="1C2433"/>
                </a:solidFill>
                <a:latin typeface="Inter"/>
                <a:ea typeface="Inter"/>
                <a:cs typeface="Inter"/>
              </a:rPr>
              <a:t> </a:t>
            </a:r>
            <a:r>
              <a:rPr sz="950" b="0" i="0">
                <a:solidFill>
                  <a:srgbClr val="7D7869"/>
                </a:solidFill>
                <a:latin typeface="Inter"/>
                <a:ea typeface="Inter"/>
                <a:cs typeface="Inter"/>
              </a:rPr>
              <a:t>referencia · solo v1</a:t>
            </a:r>
          </a:p>
        </p:txBody>
      </p:sp>
      <p:sp>
        <p:nvSpPr>
          <p:cNvPr id="304" name="Rectangle 303"/>
          <p:cNvSpPr/>
          <p:nvPr/>
        </p:nvSpPr>
        <p:spPr>
          <a:xfrm>
            <a:off x="3411438" y="4276725"/>
            <a:ext cx="542330" cy="295275"/>
          </a:xfrm>
          <a:prstGeom prst="rect">
            <a:avLst/>
          </a:prstGeom>
          <a:solidFill>
            <a:srgbClr val="EFE9DC"/>
          </a:solidFill>
          <a:ln>
            <a:noFill/>
          </a:ln>
        </p:spPr>
        <p:txBody>
          <a:bodyPr rtlCol="0" anchor="ctr"/>
          <a:lstStyle/>
          <a:p>
            <a:endParaRPr/>
          </a:p>
        </p:txBody>
      </p:sp>
      <p:cxnSp>
        <p:nvCxnSpPr>
          <p:cNvPr id="305" name="Connector 304"/>
          <p:cNvCxnSpPr/>
          <p:nvPr/>
        </p:nvCxnSpPr>
        <p:spPr>
          <a:xfrm>
            <a:off x="3411438" y="4567238"/>
            <a:ext cx="542330" cy="0"/>
          </a:xfrm>
          <a:prstGeom prst="line">
            <a:avLst/>
          </a:prstGeom>
          <a:ln w="9525">
            <a:solidFill>
              <a:srgbClr val="D9D2C3"/>
            </a:solidFill>
          </a:ln>
        </p:spPr>
      </p:cxnSp>
      <p:sp>
        <p:nvSpPr>
          <p:cNvPr id="306" name="TextBox 305"/>
          <p:cNvSpPr txBox="1"/>
          <p:nvPr/>
        </p:nvSpPr>
        <p:spPr>
          <a:xfrm>
            <a:off x="3622381" y="4343400"/>
            <a:ext cx="120444"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5</a:t>
            </a:r>
          </a:p>
        </p:txBody>
      </p:sp>
      <p:sp>
        <p:nvSpPr>
          <p:cNvPr id="307" name="Rectangle 306"/>
          <p:cNvSpPr/>
          <p:nvPr/>
        </p:nvSpPr>
        <p:spPr>
          <a:xfrm>
            <a:off x="3953768" y="4276725"/>
            <a:ext cx="1114425" cy="295275"/>
          </a:xfrm>
          <a:prstGeom prst="rect">
            <a:avLst/>
          </a:prstGeom>
          <a:solidFill>
            <a:srgbClr val="EFE9DC"/>
          </a:solidFill>
          <a:ln>
            <a:noFill/>
          </a:ln>
        </p:spPr>
        <p:txBody>
          <a:bodyPr rtlCol="0" anchor="ctr"/>
          <a:lstStyle/>
          <a:p>
            <a:endParaRPr/>
          </a:p>
        </p:txBody>
      </p:sp>
      <p:cxnSp>
        <p:nvCxnSpPr>
          <p:cNvPr id="308" name="Connector 307"/>
          <p:cNvCxnSpPr/>
          <p:nvPr/>
        </p:nvCxnSpPr>
        <p:spPr>
          <a:xfrm>
            <a:off x="3953768" y="4567238"/>
            <a:ext cx="1114425" cy="0"/>
          </a:xfrm>
          <a:prstGeom prst="line">
            <a:avLst/>
          </a:prstGeom>
          <a:ln w="9525">
            <a:solidFill>
              <a:srgbClr val="D9D2C3"/>
            </a:solidFill>
          </a:ln>
        </p:spPr>
      </p:cxnSp>
      <p:sp>
        <p:nvSpPr>
          <p:cNvPr id="309" name="Rounded Rectangle 308"/>
          <p:cNvSpPr/>
          <p:nvPr/>
        </p:nvSpPr>
        <p:spPr>
          <a:xfrm>
            <a:off x="4093964" y="4329112"/>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10" name="TextBox 309"/>
          <p:cNvSpPr txBox="1"/>
          <p:nvPr/>
        </p:nvSpPr>
        <p:spPr>
          <a:xfrm>
            <a:off x="4127575" y="4348162"/>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311" name="Rectangle 310"/>
          <p:cNvSpPr/>
          <p:nvPr/>
        </p:nvSpPr>
        <p:spPr>
          <a:xfrm>
            <a:off x="5068193" y="4276725"/>
            <a:ext cx="707380" cy="295275"/>
          </a:xfrm>
          <a:prstGeom prst="rect">
            <a:avLst/>
          </a:prstGeom>
          <a:solidFill>
            <a:srgbClr val="EFE9DC"/>
          </a:solidFill>
          <a:ln>
            <a:noFill/>
          </a:ln>
        </p:spPr>
        <p:txBody>
          <a:bodyPr rtlCol="0" anchor="ctr"/>
          <a:lstStyle/>
          <a:p>
            <a:endParaRPr/>
          </a:p>
        </p:txBody>
      </p:sp>
      <p:cxnSp>
        <p:nvCxnSpPr>
          <p:cNvPr id="312" name="Connector 311"/>
          <p:cNvCxnSpPr/>
          <p:nvPr/>
        </p:nvCxnSpPr>
        <p:spPr>
          <a:xfrm>
            <a:off x="5068193" y="4567238"/>
            <a:ext cx="707380" cy="0"/>
          </a:xfrm>
          <a:prstGeom prst="line">
            <a:avLst/>
          </a:prstGeom>
          <a:ln w="9525">
            <a:solidFill>
              <a:srgbClr val="D9D2C3"/>
            </a:solidFill>
          </a:ln>
        </p:spPr>
      </p:cxnSp>
      <p:sp>
        <p:nvSpPr>
          <p:cNvPr id="313" name="TextBox 312"/>
          <p:cNvSpPr txBox="1"/>
          <p:nvPr/>
        </p:nvSpPr>
        <p:spPr>
          <a:xfrm>
            <a:off x="5599992" y="4333875"/>
            <a:ext cx="118431"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a:t>
            </a:r>
          </a:p>
        </p:txBody>
      </p:sp>
      <p:sp>
        <p:nvSpPr>
          <p:cNvPr id="314" name="Rectangle 313"/>
          <p:cNvSpPr/>
          <p:nvPr/>
        </p:nvSpPr>
        <p:spPr>
          <a:xfrm>
            <a:off x="5775573" y="4276725"/>
            <a:ext cx="885230" cy="295275"/>
          </a:xfrm>
          <a:prstGeom prst="rect">
            <a:avLst/>
          </a:prstGeom>
          <a:solidFill>
            <a:srgbClr val="EFE9DC"/>
          </a:solidFill>
          <a:ln>
            <a:noFill/>
          </a:ln>
        </p:spPr>
        <p:txBody>
          <a:bodyPr rtlCol="0" anchor="ctr"/>
          <a:lstStyle/>
          <a:p>
            <a:endParaRPr/>
          </a:p>
        </p:txBody>
      </p:sp>
      <p:cxnSp>
        <p:nvCxnSpPr>
          <p:cNvPr id="315" name="Connector 314"/>
          <p:cNvCxnSpPr/>
          <p:nvPr/>
        </p:nvCxnSpPr>
        <p:spPr>
          <a:xfrm>
            <a:off x="5775573" y="4567238"/>
            <a:ext cx="885230" cy="0"/>
          </a:xfrm>
          <a:prstGeom prst="line">
            <a:avLst/>
          </a:prstGeom>
          <a:ln w="9525">
            <a:solidFill>
              <a:srgbClr val="D9D2C3"/>
            </a:solidFill>
          </a:ln>
        </p:spPr>
      </p:cxnSp>
      <p:sp>
        <p:nvSpPr>
          <p:cNvPr id="316" name="Rounded Rectangle 315"/>
          <p:cNvSpPr/>
          <p:nvPr/>
        </p:nvSpPr>
        <p:spPr>
          <a:xfrm>
            <a:off x="6098828" y="432911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17" name="TextBox 316"/>
          <p:cNvSpPr txBox="1"/>
          <p:nvPr/>
        </p:nvSpPr>
        <p:spPr>
          <a:xfrm>
            <a:off x="6144348" y="434816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318" name="Rectangle 317"/>
          <p:cNvSpPr/>
          <p:nvPr/>
        </p:nvSpPr>
        <p:spPr>
          <a:xfrm>
            <a:off x="6660803" y="4276725"/>
            <a:ext cx="885230" cy="295275"/>
          </a:xfrm>
          <a:prstGeom prst="rect">
            <a:avLst/>
          </a:prstGeom>
          <a:solidFill>
            <a:srgbClr val="EFE9DC"/>
          </a:solidFill>
          <a:ln>
            <a:noFill/>
          </a:ln>
        </p:spPr>
        <p:txBody>
          <a:bodyPr rtlCol="0" anchor="ctr"/>
          <a:lstStyle/>
          <a:p>
            <a:endParaRPr/>
          </a:p>
        </p:txBody>
      </p:sp>
      <p:cxnSp>
        <p:nvCxnSpPr>
          <p:cNvPr id="319" name="Connector 318"/>
          <p:cNvCxnSpPr/>
          <p:nvPr/>
        </p:nvCxnSpPr>
        <p:spPr>
          <a:xfrm>
            <a:off x="6660803" y="4567238"/>
            <a:ext cx="885229" cy="0"/>
          </a:xfrm>
          <a:prstGeom prst="line">
            <a:avLst/>
          </a:prstGeom>
          <a:ln w="9525">
            <a:solidFill>
              <a:srgbClr val="D9D2C3"/>
            </a:solidFill>
          </a:ln>
        </p:spPr>
      </p:cxnSp>
      <p:sp>
        <p:nvSpPr>
          <p:cNvPr id="320" name="Rounded Rectangle 319"/>
          <p:cNvSpPr/>
          <p:nvPr/>
        </p:nvSpPr>
        <p:spPr>
          <a:xfrm>
            <a:off x="6786414" y="4329112"/>
            <a:ext cx="633859"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321" name="TextBox 320"/>
          <p:cNvSpPr txBox="1"/>
          <p:nvPr/>
        </p:nvSpPr>
        <p:spPr>
          <a:xfrm>
            <a:off x="6824028" y="4348162"/>
            <a:ext cx="558629"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×2</a:t>
            </a:r>
          </a:p>
        </p:txBody>
      </p:sp>
      <p:sp>
        <p:nvSpPr>
          <p:cNvPr id="322" name="Rectangle 321"/>
          <p:cNvSpPr/>
          <p:nvPr/>
        </p:nvSpPr>
        <p:spPr>
          <a:xfrm>
            <a:off x="7546032" y="4276725"/>
            <a:ext cx="880914" cy="295275"/>
          </a:xfrm>
          <a:prstGeom prst="rect">
            <a:avLst/>
          </a:prstGeom>
          <a:solidFill>
            <a:srgbClr val="EFE9DC"/>
          </a:solidFill>
          <a:ln>
            <a:noFill/>
          </a:ln>
        </p:spPr>
        <p:txBody>
          <a:bodyPr rtlCol="0" anchor="ctr"/>
          <a:lstStyle/>
          <a:p>
            <a:endParaRPr/>
          </a:p>
        </p:txBody>
      </p:sp>
      <p:cxnSp>
        <p:nvCxnSpPr>
          <p:cNvPr id="323" name="Connector 322"/>
          <p:cNvCxnSpPr/>
          <p:nvPr/>
        </p:nvCxnSpPr>
        <p:spPr>
          <a:xfrm>
            <a:off x="7546032" y="4567238"/>
            <a:ext cx="880914" cy="0"/>
          </a:xfrm>
          <a:prstGeom prst="line">
            <a:avLst/>
          </a:prstGeom>
          <a:ln w="9525">
            <a:solidFill>
              <a:srgbClr val="D9D2C3"/>
            </a:solidFill>
          </a:ln>
        </p:spPr>
      </p:cxnSp>
      <p:sp>
        <p:nvSpPr>
          <p:cNvPr id="324" name="Rounded Rectangle 323"/>
          <p:cNvSpPr/>
          <p:nvPr/>
        </p:nvSpPr>
        <p:spPr>
          <a:xfrm>
            <a:off x="7761684" y="4329112"/>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325" name="TextBox 324"/>
          <p:cNvSpPr txBox="1"/>
          <p:nvPr/>
        </p:nvSpPr>
        <p:spPr>
          <a:xfrm>
            <a:off x="7802987" y="4348162"/>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326" name="Rectangle 325"/>
          <p:cNvSpPr/>
          <p:nvPr/>
        </p:nvSpPr>
        <p:spPr>
          <a:xfrm>
            <a:off x="8426946" y="4276725"/>
            <a:ext cx="966043" cy="295275"/>
          </a:xfrm>
          <a:prstGeom prst="rect">
            <a:avLst/>
          </a:prstGeom>
          <a:solidFill>
            <a:srgbClr val="EFE9DC"/>
          </a:solidFill>
          <a:ln>
            <a:noFill/>
          </a:ln>
        </p:spPr>
        <p:txBody>
          <a:bodyPr rtlCol="0" anchor="ctr"/>
          <a:lstStyle/>
          <a:p>
            <a:endParaRPr/>
          </a:p>
        </p:txBody>
      </p:sp>
      <p:cxnSp>
        <p:nvCxnSpPr>
          <p:cNvPr id="327" name="Connector 326"/>
          <p:cNvCxnSpPr/>
          <p:nvPr/>
        </p:nvCxnSpPr>
        <p:spPr>
          <a:xfrm>
            <a:off x="8426946" y="4567238"/>
            <a:ext cx="966043" cy="0"/>
          </a:xfrm>
          <a:prstGeom prst="line">
            <a:avLst/>
          </a:prstGeom>
          <a:ln w="9525">
            <a:solidFill>
              <a:srgbClr val="D9D2C3"/>
            </a:solidFill>
          </a:ln>
        </p:spPr>
      </p:cxnSp>
      <p:sp>
        <p:nvSpPr>
          <p:cNvPr id="328" name="Rounded Rectangle 327"/>
          <p:cNvSpPr/>
          <p:nvPr/>
        </p:nvSpPr>
        <p:spPr>
          <a:xfrm>
            <a:off x="8824020" y="4329112"/>
            <a:ext cx="171748" cy="190500"/>
          </a:xfrm>
          <a:prstGeom prst="roundRect">
            <a:avLst>
              <a:gd name="adj" fmla="val 38821"/>
            </a:avLst>
          </a:prstGeom>
          <a:solidFill>
            <a:srgbClr val="EEE0C0"/>
          </a:solidFill>
          <a:ln w="9525">
            <a:solidFill>
              <a:srgbClr val="C9A34E"/>
            </a:solidFill>
          </a:ln>
        </p:spPr>
        <p:txBody>
          <a:bodyPr rtlCol="0" anchor="ctr"/>
          <a:lstStyle/>
          <a:p>
            <a:endParaRPr/>
          </a:p>
        </p:txBody>
      </p:sp>
      <p:sp>
        <p:nvSpPr>
          <p:cNvPr id="329" name="TextBox 328"/>
          <p:cNvSpPr txBox="1"/>
          <p:nvPr/>
        </p:nvSpPr>
        <p:spPr>
          <a:xfrm>
            <a:off x="8870877" y="4348162"/>
            <a:ext cx="78034"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1C2433"/>
                </a:solidFill>
                <a:latin typeface="Inter SemiBold"/>
                <a:ea typeface="Inter SemiBold"/>
                <a:cs typeface="Inter SemiBold"/>
              </a:rPr>
              <a:t>!</a:t>
            </a:r>
          </a:p>
        </p:txBody>
      </p:sp>
      <p:sp>
        <p:nvSpPr>
          <p:cNvPr id="330" name="Rectangle 329"/>
          <p:cNvSpPr/>
          <p:nvPr/>
        </p:nvSpPr>
        <p:spPr>
          <a:xfrm>
            <a:off x="9392989" y="4276725"/>
            <a:ext cx="1059507" cy="295275"/>
          </a:xfrm>
          <a:prstGeom prst="rect">
            <a:avLst/>
          </a:prstGeom>
          <a:solidFill>
            <a:srgbClr val="EFE9DC"/>
          </a:solidFill>
          <a:ln>
            <a:noFill/>
          </a:ln>
        </p:spPr>
        <p:txBody>
          <a:bodyPr rtlCol="0" anchor="ctr"/>
          <a:lstStyle/>
          <a:p>
            <a:endParaRPr/>
          </a:p>
        </p:txBody>
      </p:sp>
      <p:cxnSp>
        <p:nvCxnSpPr>
          <p:cNvPr id="331" name="Connector 330"/>
          <p:cNvCxnSpPr/>
          <p:nvPr/>
        </p:nvCxnSpPr>
        <p:spPr>
          <a:xfrm>
            <a:off x="9392989" y="4567238"/>
            <a:ext cx="1059508" cy="0"/>
          </a:xfrm>
          <a:prstGeom prst="line">
            <a:avLst/>
          </a:prstGeom>
          <a:ln w="9525">
            <a:solidFill>
              <a:srgbClr val="D9D2C3"/>
            </a:solidFill>
          </a:ln>
        </p:spPr>
      </p:cxnSp>
      <p:sp>
        <p:nvSpPr>
          <p:cNvPr id="332" name="TextBox 331"/>
          <p:cNvSpPr txBox="1"/>
          <p:nvPr/>
        </p:nvSpPr>
        <p:spPr>
          <a:xfrm>
            <a:off x="9715214" y="4333875"/>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7,71 / 8</a:t>
            </a:r>
          </a:p>
        </p:txBody>
      </p:sp>
      <p:sp>
        <p:nvSpPr>
          <p:cNvPr id="333" name="Rectangle 332"/>
          <p:cNvSpPr/>
          <p:nvPr/>
        </p:nvSpPr>
        <p:spPr>
          <a:xfrm>
            <a:off x="10452497" y="4276725"/>
            <a:ext cx="678507" cy="295275"/>
          </a:xfrm>
          <a:prstGeom prst="rect">
            <a:avLst/>
          </a:prstGeom>
          <a:solidFill>
            <a:srgbClr val="EFE9DC"/>
          </a:solidFill>
          <a:ln>
            <a:noFill/>
          </a:ln>
        </p:spPr>
        <p:txBody>
          <a:bodyPr rtlCol="0" anchor="ctr"/>
          <a:lstStyle/>
          <a:p>
            <a:endParaRPr/>
          </a:p>
        </p:txBody>
      </p:sp>
      <p:cxnSp>
        <p:nvCxnSpPr>
          <p:cNvPr id="334" name="Connector 333"/>
          <p:cNvCxnSpPr/>
          <p:nvPr/>
        </p:nvCxnSpPr>
        <p:spPr>
          <a:xfrm>
            <a:off x="10452497" y="4567238"/>
            <a:ext cx="678507" cy="0"/>
          </a:xfrm>
          <a:prstGeom prst="line">
            <a:avLst/>
          </a:prstGeom>
          <a:ln w="9525">
            <a:solidFill>
              <a:srgbClr val="D9D2C3"/>
            </a:solidFill>
          </a:ln>
        </p:spPr>
      </p:cxnSp>
      <p:sp>
        <p:nvSpPr>
          <p:cNvPr id="335" name="TextBox 334"/>
          <p:cNvSpPr txBox="1"/>
          <p:nvPr/>
        </p:nvSpPr>
        <p:spPr>
          <a:xfrm>
            <a:off x="10634561" y="4333875"/>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508 K</a:t>
            </a:r>
          </a:p>
        </p:txBody>
      </p:sp>
      <p:sp>
        <p:nvSpPr>
          <p:cNvPr id="336" name="Rectangle 335"/>
          <p:cNvSpPr/>
          <p:nvPr/>
        </p:nvSpPr>
        <p:spPr>
          <a:xfrm>
            <a:off x="11131004" y="4276725"/>
            <a:ext cx="679996" cy="295275"/>
          </a:xfrm>
          <a:prstGeom prst="rect">
            <a:avLst/>
          </a:prstGeom>
          <a:solidFill>
            <a:srgbClr val="EFE9DC"/>
          </a:solidFill>
          <a:ln>
            <a:noFill/>
          </a:ln>
        </p:spPr>
        <p:txBody>
          <a:bodyPr rtlCol="0" anchor="ctr"/>
          <a:lstStyle/>
          <a:p>
            <a:endParaRPr/>
          </a:p>
        </p:txBody>
      </p:sp>
      <p:cxnSp>
        <p:nvCxnSpPr>
          <p:cNvPr id="337" name="Connector 336"/>
          <p:cNvCxnSpPr/>
          <p:nvPr/>
        </p:nvCxnSpPr>
        <p:spPr>
          <a:xfrm>
            <a:off x="11131004" y="4567238"/>
            <a:ext cx="679996" cy="0"/>
          </a:xfrm>
          <a:prstGeom prst="line">
            <a:avLst/>
          </a:prstGeom>
          <a:ln w="9525">
            <a:solidFill>
              <a:srgbClr val="D9D2C3"/>
            </a:solidFill>
          </a:ln>
        </p:spPr>
      </p:cxnSp>
      <p:sp>
        <p:nvSpPr>
          <p:cNvPr id="338" name="TextBox 337"/>
          <p:cNvSpPr txBox="1"/>
          <p:nvPr/>
        </p:nvSpPr>
        <p:spPr>
          <a:xfrm>
            <a:off x="11234226" y="4333875"/>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1,93 $</a:t>
            </a:r>
          </a:p>
        </p:txBody>
      </p:sp>
      <p:sp>
        <p:nvSpPr>
          <p:cNvPr id="339" name="Rectangle 338"/>
          <p:cNvSpPr/>
          <p:nvPr/>
        </p:nvSpPr>
        <p:spPr>
          <a:xfrm>
            <a:off x="381000" y="4572000"/>
            <a:ext cx="3030438" cy="295275"/>
          </a:xfrm>
          <a:prstGeom prst="rect">
            <a:avLst/>
          </a:prstGeom>
          <a:solidFill>
            <a:srgbClr val="EFE9DC"/>
          </a:solidFill>
          <a:ln>
            <a:noFill/>
          </a:ln>
        </p:spPr>
        <p:txBody>
          <a:bodyPr rtlCol="0" anchor="ctr"/>
          <a:lstStyle/>
          <a:p>
            <a:endParaRPr/>
          </a:p>
        </p:txBody>
      </p:sp>
      <p:cxnSp>
        <p:nvCxnSpPr>
          <p:cNvPr id="340" name="Connector 339"/>
          <p:cNvCxnSpPr/>
          <p:nvPr/>
        </p:nvCxnSpPr>
        <p:spPr>
          <a:xfrm>
            <a:off x="381000" y="4862512"/>
            <a:ext cx="3030438" cy="0"/>
          </a:xfrm>
          <a:prstGeom prst="line">
            <a:avLst/>
          </a:prstGeom>
          <a:ln w="9525">
            <a:solidFill>
              <a:srgbClr val="D9D2C3"/>
            </a:solidFill>
          </a:ln>
        </p:spPr>
      </p:cxnSp>
      <p:sp>
        <p:nvSpPr>
          <p:cNvPr id="341" name="TextBox 340"/>
          <p:cNvSpPr txBox="1"/>
          <p:nvPr/>
        </p:nvSpPr>
        <p:spPr>
          <a:xfrm>
            <a:off x="476250" y="4638675"/>
            <a:ext cx="1867769"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Madrid, 1917–1919</a:t>
            </a:r>
            <a:r>
              <a:rPr sz="1050" b="0" i="0">
                <a:solidFill>
                  <a:srgbClr val="1C2433"/>
                </a:solidFill>
                <a:latin typeface="Inter"/>
                <a:ea typeface="Inter"/>
                <a:cs typeface="Inter"/>
              </a:rPr>
              <a:t> </a:t>
            </a:r>
            <a:r>
              <a:rPr sz="950" b="0" i="0">
                <a:solidFill>
                  <a:srgbClr val="7D7869"/>
                </a:solidFill>
                <a:latin typeface="Inter"/>
                <a:ea typeface="Inter"/>
                <a:cs typeface="Inter"/>
              </a:rPr>
              <a:t>referencia</a:t>
            </a:r>
          </a:p>
        </p:txBody>
      </p:sp>
      <p:sp>
        <p:nvSpPr>
          <p:cNvPr id="342" name="Rectangle 341"/>
          <p:cNvSpPr/>
          <p:nvPr/>
        </p:nvSpPr>
        <p:spPr>
          <a:xfrm>
            <a:off x="3411438" y="4572000"/>
            <a:ext cx="542330" cy="295275"/>
          </a:xfrm>
          <a:prstGeom prst="rect">
            <a:avLst/>
          </a:prstGeom>
          <a:solidFill>
            <a:srgbClr val="EFE9DC"/>
          </a:solidFill>
          <a:ln>
            <a:noFill/>
          </a:ln>
        </p:spPr>
        <p:txBody>
          <a:bodyPr rtlCol="0" anchor="ctr"/>
          <a:lstStyle/>
          <a:p>
            <a:endParaRPr/>
          </a:p>
        </p:txBody>
      </p:sp>
      <p:cxnSp>
        <p:nvCxnSpPr>
          <p:cNvPr id="343" name="Connector 342"/>
          <p:cNvCxnSpPr/>
          <p:nvPr/>
        </p:nvCxnSpPr>
        <p:spPr>
          <a:xfrm>
            <a:off x="3411438" y="4862512"/>
            <a:ext cx="542330" cy="0"/>
          </a:xfrm>
          <a:prstGeom prst="line">
            <a:avLst/>
          </a:prstGeom>
          <a:ln w="9525">
            <a:solidFill>
              <a:srgbClr val="D9D2C3"/>
            </a:solidFill>
          </a:ln>
        </p:spPr>
      </p:cxnSp>
      <p:sp>
        <p:nvSpPr>
          <p:cNvPr id="344" name="TextBox 343"/>
          <p:cNvSpPr txBox="1"/>
          <p:nvPr/>
        </p:nvSpPr>
        <p:spPr>
          <a:xfrm>
            <a:off x="3622381" y="4638675"/>
            <a:ext cx="120444"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5</a:t>
            </a:r>
          </a:p>
        </p:txBody>
      </p:sp>
      <p:sp>
        <p:nvSpPr>
          <p:cNvPr id="345" name="Rectangle 344"/>
          <p:cNvSpPr/>
          <p:nvPr/>
        </p:nvSpPr>
        <p:spPr>
          <a:xfrm>
            <a:off x="3953768" y="4572000"/>
            <a:ext cx="1114425" cy="295275"/>
          </a:xfrm>
          <a:prstGeom prst="rect">
            <a:avLst/>
          </a:prstGeom>
          <a:solidFill>
            <a:srgbClr val="EFE9DC"/>
          </a:solidFill>
          <a:ln>
            <a:noFill/>
          </a:ln>
        </p:spPr>
        <p:txBody>
          <a:bodyPr rtlCol="0" anchor="ctr"/>
          <a:lstStyle/>
          <a:p>
            <a:endParaRPr/>
          </a:p>
        </p:txBody>
      </p:sp>
      <p:cxnSp>
        <p:nvCxnSpPr>
          <p:cNvPr id="346" name="Connector 345"/>
          <p:cNvCxnSpPr/>
          <p:nvPr/>
        </p:nvCxnSpPr>
        <p:spPr>
          <a:xfrm>
            <a:off x="3953768" y="4862512"/>
            <a:ext cx="1114425" cy="0"/>
          </a:xfrm>
          <a:prstGeom prst="line">
            <a:avLst/>
          </a:prstGeom>
          <a:ln w="9525">
            <a:solidFill>
              <a:srgbClr val="D9D2C3"/>
            </a:solidFill>
          </a:ln>
        </p:spPr>
      </p:cxnSp>
      <p:sp>
        <p:nvSpPr>
          <p:cNvPr id="347" name="Rounded Rectangle 346"/>
          <p:cNvSpPr/>
          <p:nvPr/>
        </p:nvSpPr>
        <p:spPr>
          <a:xfrm>
            <a:off x="4093964" y="4624388"/>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48" name="TextBox 347"/>
          <p:cNvSpPr txBox="1"/>
          <p:nvPr/>
        </p:nvSpPr>
        <p:spPr>
          <a:xfrm>
            <a:off x="4127575" y="4643438"/>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349" name="Rectangle 348"/>
          <p:cNvSpPr/>
          <p:nvPr/>
        </p:nvSpPr>
        <p:spPr>
          <a:xfrm>
            <a:off x="5068193" y="4572000"/>
            <a:ext cx="707380" cy="295275"/>
          </a:xfrm>
          <a:prstGeom prst="rect">
            <a:avLst/>
          </a:prstGeom>
          <a:solidFill>
            <a:srgbClr val="EFE9DC"/>
          </a:solidFill>
          <a:ln>
            <a:noFill/>
          </a:ln>
        </p:spPr>
        <p:txBody>
          <a:bodyPr rtlCol="0" anchor="ctr"/>
          <a:lstStyle/>
          <a:p>
            <a:endParaRPr/>
          </a:p>
        </p:txBody>
      </p:sp>
      <p:cxnSp>
        <p:nvCxnSpPr>
          <p:cNvPr id="350" name="Connector 349"/>
          <p:cNvCxnSpPr/>
          <p:nvPr/>
        </p:nvCxnSpPr>
        <p:spPr>
          <a:xfrm>
            <a:off x="5068193" y="4862512"/>
            <a:ext cx="707380" cy="0"/>
          </a:xfrm>
          <a:prstGeom prst="line">
            <a:avLst/>
          </a:prstGeom>
          <a:ln w="9525">
            <a:solidFill>
              <a:srgbClr val="D9D2C3"/>
            </a:solidFill>
          </a:ln>
        </p:spPr>
      </p:cxnSp>
      <p:sp>
        <p:nvSpPr>
          <p:cNvPr id="351" name="TextBox 350"/>
          <p:cNvSpPr txBox="1"/>
          <p:nvPr/>
        </p:nvSpPr>
        <p:spPr>
          <a:xfrm>
            <a:off x="5599992" y="4629150"/>
            <a:ext cx="118431"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9</a:t>
            </a:r>
          </a:p>
        </p:txBody>
      </p:sp>
      <p:sp>
        <p:nvSpPr>
          <p:cNvPr id="352" name="Rectangle 351"/>
          <p:cNvSpPr/>
          <p:nvPr/>
        </p:nvSpPr>
        <p:spPr>
          <a:xfrm>
            <a:off x="5775573" y="4572000"/>
            <a:ext cx="885230" cy="295275"/>
          </a:xfrm>
          <a:prstGeom prst="rect">
            <a:avLst/>
          </a:prstGeom>
          <a:solidFill>
            <a:srgbClr val="EFE9DC"/>
          </a:solidFill>
          <a:ln>
            <a:noFill/>
          </a:ln>
        </p:spPr>
        <p:txBody>
          <a:bodyPr rtlCol="0" anchor="ctr"/>
          <a:lstStyle/>
          <a:p>
            <a:endParaRPr/>
          </a:p>
        </p:txBody>
      </p:sp>
      <p:cxnSp>
        <p:nvCxnSpPr>
          <p:cNvPr id="353" name="Connector 352"/>
          <p:cNvCxnSpPr/>
          <p:nvPr/>
        </p:nvCxnSpPr>
        <p:spPr>
          <a:xfrm>
            <a:off x="5775573" y="4862512"/>
            <a:ext cx="885230" cy="0"/>
          </a:xfrm>
          <a:prstGeom prst="line">
            <a:avLst/>
          </a:prstGeom>
          <a:ln w="9525">
            <a:solidFill>
              <a:srgbClr val="D9D2C3"/>
            </a:solidFill>
          </a:ln>
        </p:spPr>
      </p:cxnSp>
      <p:sp>
        <p:nvSpPr>
          <p:cNvPr id="354" name="Rounded Rectangle 353"/>
          <p:cNvSpPr/>
          <p:nvPr/>
        </p:nvSpPr>
        <p:spPr>
          <a:xfrm>
            <a:off x="5898654" y="4624388"/>
            <a:ext cx="638919"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355" name="TextBox 354"/>
          <p:cNvSpPr txBox="1"/>
          <p:nvPr/>
        </p:nvSpPr>
        <p:spPr>
          <a:xfrm>
            <a:off x="5936168" y="4643438"/>
            <a:ext cx="563892"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r>
              <a:rPr sz="950" b="0" i="0">
                <a:solidFill>
                  <a:srgbClr val="B23A2B"/>
                </a:solidFill>
                <a:latin typeface="Inter SemiBold"/>
                <a:ea typeface="Inter SemiBold"/>
                <a:cs typeface="Inter SemiBold"/>
              </a:rPr>
              <a:t> ×4</a:t>
            </a:r>
          </a:p>
        </p:txBody>
      </p:sp>
      <p:sp>
        <p:nvSpPr>
          <p:cNvPr id="356" name="Rectangle 355"/>
          <p:cNvSpPr/>
          <p:nvPr/>
        </p:nvSpPr>
        <p:spPr>
          <a:xfrm>
            <a:off x="6660803" y="4572000"/>
            <a:ext cx="885230" cy="295275"/>
          </a:xfrm>
          <a:prstGeom prst="rect">
            <a:avLst/>
          </a:prstGeom>
          <a:solidFill>
            <a:srgbClr val="EFE9DC"/>
          </a:solidFill>
          <a:ln>
            <a:noFill/>
          </a:ln>
        </p:spPr>
        <p:txBody>
          <a:bodyPr rtlCol="0" anchor="ctr"/>
          <a:lstStyle/>
          <a:p>
            <a:endParaRPr/>
          </a:p>
        </p:txBody>
      </p:sp>
      <p:cxnSp>
        <p:nvCxnSpPr>
          <p:cNvPr id="357" name="Connector 356"/>
          <p:cNvCxnSpPr/>
          <p:nvPr/>
        </p:nvCxnSpPr>
        <p:spPr>
          <a:xfrm>
            <a:off x="6660803" y="4862512"/>
            <a:ext cx="885229" cy="0"/>
          </a:xfrm>
          <a:prstGeom prst="line">
            <a:avLst/>
          </a:prstGeom>
          <a:ln w="9525">
            <a:solidFill>
              <a:srgbClr val="D9D2C3"/>
            </a:solidFill>
          </a:ln>
        </p:spPr>
      </p:cxnSp>
      <p:sp>
        <p:nvSpPr>
          <p:cNvPr id="358" name="Rounded Rectangle 357"/>
          <p:cNvSpPr/>
          <p:nvPr/>
        </p:nvSpPr>
        <p:spPr>
          <a:xfrm>
            <a:off x="6984057" y="4624388"/>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59" name="TextBox 358"/>
          <p:cNvSpPr txBox="1"/>
          <p:nvPr/>
        </p:nvSpPr>
        <p:spPr>
          <a:xfrm>
            <a:off x="7029578" y="4643438"/>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360" name="Rectangle 359"/>
          <p:cNvSpPr/>
          <p:nvPr/>
        </p:nvSpPr>
        <p:spPr>
          <a:xfrm>
            <a:off x="7546032" y="4572000"/>
            <a:ext cx="880914" cy="295275"/>
          </a:xfrm>
          <a:prstGeom prst="rect">
            <a:avLst/>
          </a:prstGeom>
          <a:solidFill>
            <a:srgbClr val="EFE9DC"/>
          </a:solidFill>
          <a:ln>
            <a:noFill/>
          </a:ln>
        </p:spPr>
        <p:txBody>
          <a:bodyPr rtlCol="0" anchor="ctr"/>
          <a:lstStyle/>
          <a:p>
            <a:endParaRPr/>
          </a:p>
        </p:txBody>
      </p:sp>
      <p:cxnSp>
        <p:nvCxnSpPr>
          <p:cNvPr id="361" name="Connector 360"/>
          <p:cNvCxnSpPr/>
          <p:nvPr/>
        </p:nvCxnSpPr>
        <p:spPr>
          <a:xfrm>
            <a:off x="7546032" y="4862512"/>
            <a:ext cx="880914" cy="0"/>
          </a:xfrm>
          <a:prstGeom prst="line">
            <a:avLst/>
          </a:prstGeom>
          <a:ln w="9525">
            <a:solidFill>
              <a:srgbClr val="D9D2C3"/>
            </a:solidFill>
          </a:ln>
        </p:spPr>
      </p:cxnSp>
      <p:sp>
        <p:nvSpPr>
          <p:cNvPr id="362" name="Rounded Rectangle 361"/>
          <p:cNvSpPr/>
          <p:nvPr/>
        </p:nvSpPr>
        <p:spPr>
          <a:xfrm>
            <a:off x="7867204" y="4624388"/>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63" name="TextBox 362"/>
          <p:cNvSpPr txBox="1"/>
          <p:nvPr/>
        </p:nvSpPr>
        <p:spPr>
          <a:xfrm>
            <a:off x="7912724" y="4643438"/>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364" name="Rectangle 363"/>
          <p:cNvSpPr/>
          <p:nvPr/>
        </p:nvSpPr>
        <p:spPr>
          <a:xfrm>
            <a:off x="8426946" y="4572000"/>
            <a:ext cx="966043" cy="295275"/>
          </a:xfrm>
          <a:prstGeom prst="rect">
            <a:avLst/>
          </a:prstGeom>
          <a:solidFill>
            <a:srgbClr val="EFE9DC"/>
          </a:solidFill>
          <a:ln>
            <a:noFill/>
          </a:ln>
        </p:spPr>
        <p:txBody>
          <a:bodyPr rtlCol="0" anchor="ctr"/>
          <a:lstStyle/>
          <a:p>
            <a:endParaRPr/>
          </a:p>
        </p:txBody>
      </p:sp>
      <p:cxnSp>
        <p:nvCxnSpPr>
          <p:cNvPr id="365" name="Connector 364"/>
          <p:cNvCxnSpPr/>
          <p:nvPr/>
        </p:nvCxnSpPr>
        <p:spPr>
          <a:xfrm>
            <a:off x="8426946" y="4862512"/>
            <a:ext cx="966043" cy="0"/>
          </a:xfrm>
          <a:prstGeom prst="line">
            <a:avLst/>
          </a:prstGeom>
          <a:ln w="9525">
            <a:solidFill>
              <a:srgbClr val="D9D2C3"/>
            </a:solidFill>
          </a:ln>
        </p:spPr>
      </p:cxnSp>
      <p:sp>
        <p:nvSpPr>
          <p:cNvPr id="366" name="Rounded Rectangle 365"/>
          <p:cNvSpPr/>
          <p:nvPr/>
        </p:nvSpPr>
        <p:spPr>
          <a:xfrm>
            <a:off x="8731002" y="4624388"/>
            <a:ext cx="357932" cy="190500"/>
          </a:xfrm>
          <a:prstGeom prst="roundRect">
            <a:avLst>
              <a:gd name="adj" fmla="val 35000"/>
            </a:avLst>
          </a:prstGeom>
          <a:solidFill>
            <a:srgbClr val="EEE0C0"/>
          </a:solidFill>
          <a:ln w="9525">
            <a:solidFill>
              <a:srgbClr val="C9A34E"/>
            </a:solidFill>
          </a:ln>
        </p:spPr>
        <p:txBody>
          <a:bodyPr rtlCol="0" anchor="ctr"/>
          <a:lstStyle/>
          <a:p>
            <a:endParaRPr/>
          </a:p>
        </p:txBody>
      </p:sp>
      <p:sp>
        <p:nvSpPr>
          <p:cNvPr id="367" name="TextBox 366"/>
          <p:cNvSpPr txBox="1"/>
          <p:nvPr/>
        </p:nvSpPr>
        <p:spPr>
          <a:xfrm>
            <a:off x="8774135" y="4643438"/>
            <a:ext cx="27166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1C2433"/>
                </a:solidFill>
                <a:latin typeface="Inter SemiBold"/>
                <a:ea typeface="Inter SemiBold"/>
                <a:cs typeface="Inter SemiBold"/>
              </a:rPr>
              <a:t>! ×6</a:t>
            </a:r>
          </a:p>
        </p:txBody>
      </p:sp>
      <p:sp>
        <p:nvSpPr>
          <p:cNvPr id="368" name="Rectangle 367"/>
          <p:cNvSpPr/>
          <p:nvPr/>
        </p:nvSpPr>
        <p:spPr>
          <a:xfrm>
            <a:off x="9392989" y="4572000"/>
            <a:ext cx="1059507" cy="295275"/>
          </a:xfrm>
          <a:prstGeom prst="rect">
            <a:avLst/>
          </a:prstGeom>
          <a:solidFill>
            <a:srgbClr val="EFE9DC"/>
          </a:solidFill>
          <a:ln>
            <a:noFill/>
          </a:ln>
        </p:spPr>
        <p:txBody>
          <a:bodyPr rtlCol="0" anchor="ctr"/>
          <a:lstStyle/>
          <a:p>
            <a:endParaRPr/>
          </a:p>
        </p:txBody>
      </p:sp>
      <p:cxnSp>
        <p:nvCxnSpPr>
          <p:cNvPr id="369" name="Connector 368"/>
          <p:cNvCxnSpPr/>
          <p:nvPr/>
        </p:nvCxnSpPr>
        <p:spPr>
          <a:xfrm>
            <a:off x="9392989" y="4862512"/>
            <a:ext cx="1059508" cy="0"/>
          </a:xfrm>
          <a:prstGeom prst="line">
            <a:avLst/>
          </a:prstGeom>
          <a:ln w="9525">
            <a:solidFill>
              <a:srgbClr val="D9D2C3"/>
            </a:solidFill>
          </a:ln>
        </p:spPr>
      </p:cxnSp>
      <p:sp>
        <p:nvSpPr>
          <p:cNvPr id="370" name="TextBox 369"/>
          <p:cNvSpPr txBox="1"/>
          <p:nvPr/>
        </p:nvSpPr>
        <p:spPr>
          <a:xfrm>
            <a:off x="9715214" y="4629150"/>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7,14 / 6</a:t>
            </a:r>
          </a:p>
        </p:txBody>
      </p:sp>
      <p:sp>
        <p:nvSpPr>
          <p:cNvPr id="371" name="Rectangle 370"/>
          <p:cNvSpPr/>
          <p:nvPr/>
        </p:nvSpPr>
        <p:spPr>
          <a:xfrm>
            <a:off x="10452497" y="4572000"/>
            <a:ext cx="678507" cy="295275"/>
          </a:xfrm>
          <a:prstGeom prst="rect">
            <a:avLst/>
          </a:prstGeom>
          <a:solidFill>
            <a:srgbClr val="EFE9DC"/>
          </a:solidFill>
          <a:ln>
            <a:noFill/>
          </a:ln>
        </p:spPr>
        <p:txBody>
          <a:bodyPr rtlCol="0" anchor="ctr"/>
          <a:lstStyle/>
          <a:p>
            <a:endParaRPr/>
          </a:p>
        </p:txBody>
      </p:sp>
      <p:cxnSp>
        <p:nvCxnSpPr>
          <p:cNvPr id="372" name="Connector 371"/>
          <p:cNvCxnSpPr/>
          <p:nvPr/>
        </p:nvCxnSpPr>
        <p:spPr>
          <a:xfrm>
            <a:off x="10452497" y="4862512"/>
            <a:ext cx="678507" cy="0"/>
          </a:xfrm>
          <a:prstGeom prst="line">
            <a:avLst/>
          </a:prstGeom>
          <a:ln w="9525">
            <a:solidFill>
              <a:srgbClr val="D9D2C3"/>
            </a:solidFill>
          </a:ln>
        </p:spPr>
      </p:cxnSp>
      <p:sp>
        <p:nvSpPr>
          <p:cNvPr id="373" name="TextBox 372"/>
          <p:cNvSpPr txBox="1"/>
          <p:nvPr/>
        </p:nvSpPr>
        <p:spPr>
          <a:xfrm>
            <a:off x="10634561" y="4629150"/>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645 K</a:t>
            </a:r>
          </a:p>
        </p:txBody>
      </p:sp>
      <p:sp>
        <p:nvSpPr>
          <p:cNvPr id="374" name="Rectangle 373"/>
          <p:cNvSpPr/>
          <p:nvPr/>
        </p:nvSpPr>
        <p:spPr>
          <a:xfrm>
            <a:off x="11131004" y="4572000"/>
            <a:ext cx="679996" cy="295275"/>
          </a:xfrm>
          <a:prstGeom prst="rect">
            <a:avLst/>
          </a:prstGeom>
          <a:solidFill>
            <a:srgbClr val="EFE9DC"/>
          </a:solidFill>
          <a:ln>
            <a:noFill/>
          </a:ln>
        </p:spPr>
        <p:txBody>
          <a:bodyPr rtlCol="0" anchor="ctr"/>
          <a:lstStyle/>
          <a:p>
            <a:endParaRPr/>
          </a:p>
        </p:txBody>
      </p:sp>
      <p:cxnSp>
        <p:nvCxnSpPr>
          <p:cNvPr id="375" name="Connector 374"/>
          <p:cNvCxnSpPr/>
          <p:nvPr/>
        </p:nvCxnSpPr>
        <p:spPr>
          <a:xfrm>
            <a:off x="11131004" y="4862512"/>
            <a:ext cx="679996" cy="0"/>
          </a:xfrm>
          <a:prstGeom prst="line">
            <a:avLst/>
          </a:prstGeom>
          <a:ln w="9525">
            <a:solidFill>
              <a:srgbClr val="D9D2C3"/>
            </a:solidFill>
          </a:ln>
        </p:spPr>
      </p:cxnSp>
      <p:sp>
        <p:nvSpPr>
          <p:cNvPr id="376" name="TextBox 375"/>
          <p:cNvSpPr txBox="1"/>
          <p:nvPr/>
        </p:nvSpPr>
        <p:spPr>
          <a:xfrm>
            <a:off x="11234226" y="4629150"/>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2,39 $</a:t>
            </a:r>
          </a:p>
        </p:txBody>
      </p:sp>
      <p:sp>
        <p:nvSpPr>
          <p:cNvPr id="377" name="Rectangle 376"/>
          <p:cNvSpPr/>
          <p:nvPr/>
        </p:nvSpPr>
        <p:spPr>
          <a:xfrm>
            <a:off x="381000" y="4867275"/>
            <a:ext cx="3030438" cy="295275"/>
          </a:xfrm>
          <a:prstGeom prst="rect">
            <a:avLst/>
          </a:prstGeom>
          <a:solidFill>
            <a:srgbClr val="EFE9DC"/>
          </a:solidFill>
          <a:ln>
            <a:noFill/>
          </a:ln>
        </p:spPr>
        <p:txBody>
          <a:bodyPr rtlCol="0" anchor="ctr"/>
          <a:lstStyle/>
          <a:p>
            <a:endParaRPr/>
          </a:p>
        </p:txBody>
      </p:sp>
      <p:cxnSp>
        <p:nvCxnSpPr>
          <p:cNvPr id="378" name="Connector 377"/>
          <p:cNvCxnSpPr/>
          <p:nvPr/>
        </p:nvCxnSpPr>
        <p:spPr>
          <a:xfrm>
            <a:off x="381000" y="5157788"/>
            <a:ext cx="3030438" cy="0"/>
          </a:xfrm>
          <a:prstGeom prst="line">
            <a:avLst/>
          </a:prstGeom>
          <a:ln w="9525">
            <a:solidFill>
              <a:srgbClr val="D9D2C3"/>
            </a:solidFill>
          </a:ln>
        </p:spPr>
      </p:cxnSp>
      <p:sp>
        <p:nvSpPr>
          <p:cNvPr id="379" name="TextBox 378"/>
          <p:cNvSpPr txBox="1"/>
          <p:nvPr/>
        </p:nvSpPr>
        <p:spPr>
          <a:xfrm>
            <a:off x="476250" y="4933950"/>
            <a:ext cx="1787438" cy="161925"/>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1C2433"/>
                </a:solidFill>
                <a:latin typeface="Inter SemiBold"/>
                <a:ea typeface="Inter SemiBold"/>
                <a:cs typeface="Inter SemiBold"/>
              </a:rPr>
              <a:t>Cádiz, 1810–1812</a:t>
            </a:r>
            <a:r>
              <a:rPr sz="1050" b="0" i="0">
                <a:solidFill>
                  <a:srgbClr val="1C2433"/>
                </a:solidFill>
                <a:latin typeface="Inter"/>
                <a:ea typeface="Inter"/>
                <a:cs typeface="Inter"/>
              </a:rPr>
              <a:t> </a:t>
            </a:r>
            <a:r>
              <a:rPr sz="950" b="0" i="0">
                <a:solidFill>
                  <a:srgbClr val="7D7869"/>
                </a:solidFill>
                <a:latin typeface="Inter"/>
                <a:ea typeface="Inter"/>
                <a:cs typeface="Inter"/>
              </a:rPr>
              <a:t>referencia</a:t>
            </a:r>
          </a:p>
        </p:txBody>
      </p:sp>
      <p:sp>
        <p:nvSpPr>
          <p:cNvPr id="380" name="Rectangle 379"/>
          <p:cNvSpPr/>
          <p:nvPr/>
        </p:nvSpPr>
        <p:spPr>
          <a:xfrm>
            <a:off x="3411438" y="4867275"/>
            <a:ext cx="542330" cy="295275"/>
          </a:xfrm>
          <a:prstGeom prst="rect">
            <a:avLst/>
          </a:prstGeom>
          <a:solidFill>
            <a:srgbClr val="EFE9DC"/>
          </a:solidFill>
          <a:ln>
            <a:noFill/>
          </a:ln>
        </p:spPr>
        <p:txBody>
          <a:bodyPr rtlCol="0" anchor="ctr"/>
          <a:lstStyle/>
          <a:p>
            <a:endParaRPr/>
          </a:p>
        </p:txBody>
      </p:sp>
      <p:cxnSp>
        <p:nvCxnSpPr>
          <p:cNvPr id="381" name="Connector 380"/>
          <p:cNvCxnSpPr/>
          <p:nvPr/>
        </p:nvCxnSpPr>
        <p:spPr>
          <a:xfrm>
            <a:off x="3411438" y="5157788"/>
            <a:ext cx="542330" cy="0"/>
          </a:xfrm>
          <a:prstGeom prst="line">
            <a:avLst/>
          </a:prstGeom>
          <a:ln w="9525">
            <a:solidFill>
              <a:srgbClr val="D9D2C3"/>
            </a:solidFill>
          </a:ln>
        </p:spPr>
      </p:cxnSp>
      <p:sp>
        <p:nvSpPr>
          <p:cNvPr id="382" name="TextBox 381"/>
          <p:cNvSpPr txBox="1"/>
          <p:nvPr/>
        </p:nvSpPr>
        <p:spPr>
          <a:xfrm>
            <a:off x="3622381" y="4933950"/>
            <a:ext cx="120444"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5</a:t>
            </a:r>
          </a:p>
        </p:txBody>
      </p:sp>
      <p:sp>
        <p:nvSpPr>
          <p:cNvPr id="383" name="Rectangle 382"/>
          <p:cNvSpPr/>
          <p:nvPr/>
        </p:nvSpPr>
        <p:spPr>
          <a:xfrm>
            <a:off x="3953768" y="4867275"/>
            <a:ext cx="1114425" cy="295275"/>
          </a:xfrm>
          <a:prstGeom prst="rect">
            <a:avLst/>
          </a:prstGeom>
          <a:solidFill>
            <a:srgbClr val="EFE9DC"/>
          </a:solidFill>
          <a:ln>
            <a:noFill/>
          </a:ln>
        </p:spPr>
        <p:txBody>
          <a:bodyPr rtlCol="0" anchor="ctr"/>
          <a:lstStyle/>
          <a:p>
            <a:endParaRPr/>
          </a:p>
        </p:txBody>
      </p:sp>
      <p:cxnSp>
        <p:nvCxnSpPr>
          <p:cNvPr id="384" name="Connector 383"/>
          <p:cNvCxnSpPr/>
          <p:nvPr/>
        </p:nvCxnSpPr>
        <p:spPr>
          <a:xfrm>
            <a:off x="3953768" y="5157788"/>
            <a:ext cx="1114425" cy="0"/>
          </a:xfrm>
          <a:prstGeom prst="line">
            <a:avLst/>
          </a:prstGeom>
          <a:ln w="9525">
            <a:solidFill>
              <a:srgbClr val="D9D2C3"/>
            </a:solidFill>
          </a:ln>
        </p:spPr>
      </p:cxnSp>
      <p:sp>
        <p:nvSpPr>
          <p:cNvPr id="385" name="Rounded Rectangle 384"/>
          <p:cNvSpPr/>
          <p:nvPr/>
        </p:nvSpPr>
        <p:spPr>
          <a:xfrm>
            <a:off x="4093964" y="4919662"/>
            <a:ext cx="834033"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86" name="TextBox 385"/>
          <p:cNvSpPr txBox="1"/>
          <p:nvPr/>
        </p:nvSpPr>
        <p:spPr>
          <a:xfrm>
            <a:off x="4127575" y="4938712"/>
            <a:ext cx="76681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r>
              <a:rPr sz="950" b="0" i="0">
                <a:solidFill>
                  <a:srgbClr val="1C2433"/>
                </a:solidFill>
                <a:latin typeface="Inter SemiBold"/>
                <a:ea typeface="Inter SemiBold"/>
                <a:cs typeface="Inter SemiBold"/>
              </a:rPr>
              <a:t> publicada</a:t>
            </a:r>
          </a:p>
        </p:txBody>
      </p:sp>
      <p:sp>
        <p:nvSpPr>
          <p:cNvPr id="387" name="Rectangle 386"/>
          <p:cNvSpPr/>
          <p:nvPr/>
        </p:nvSpPr>
        <p:spPr>
          <a:xfrm>
            <a:off x="5068193" y="4867275"/>
            <a:ext cx="707380" cy="295275"/>
          </a:xfrm>
          <a:prstGeom prst="rect">
            <a:avLst/>
          </a:prstGeom>
          <a:solidFill>
            <a:srgbClr val="EFE9DC"/>
          </a:solidFill>
          <a:ln>
            <a:noFill/>
          </a:ln>
        </p:spPr>
        <p:txBody>
          <a:bodyPr rtlCol="0" anchor="ctr"/>
          <a:lstStyle/>
          <a:p>
            <a:endParaRPr/>
          </a:p>
        </p:txBody>
      </p:sp>
      <p:cxnSp>
        <p:nvCxnSpPr>
          <p:cNvPr id="388" name="Connector 387"/>
          <p:cNvCxnSpPr/>
          <p:nvPr/>
        </p:nvCxnSpPr>
        <p:spPr>
          <a:xfrm>
            <a:off x="5068193" y="5157788"/>
            <a:ext cx="707380" cy="0"/>
          </a:xfrm>
          <a:prstGeom prst="line">
            <a:avLst/>
          </a:prstGeom>
          <a:ln w="9525">
            <a:solidFill>
              <a:srgbClr val="D9D2C3"/>
            </a:solidFill>
          </a:ln>
        </p:spPr>
      </p:cxnSp>
      <p:sp>
        <p:nvSpPr>
          <p:cNvPr id="389" name="TextBox 388"/>
          <p:cNvSpPr txBox="1"/>
          <p:nvPr/>
        </p:nvSpPr>
        <p:spPr>
          <a:xfrm>
            <a:off x="5599992" y="4924425"/>
            <a:ext cx="118431"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6</a:t>
            </a:r>
          </a:p>
        </p:txBody>
      </p:sp>
      <p:sp>
        <p:nvSpPr>
          <p:cNvPr id="390" name="Rectangle 389"/>
          <p:cNvSpPr/>
          <p:nvPr/>
        </p:nvSpPr>
        <p:spPr>
          <a:xfrm>
            <a:off x="5775573" y="4867275"/>
            <a:ext cx="885230" cy="295275"/>
          </a:xfrm>
          <a:prstGeom prst="rect">
            <a:avLst/>
          </a:prstGeom>
          <a:solidFill>
            <a:srgbClr val="EFE9DC"/>
          </a:solidFill>
          <a:ln>
            <a:noFill/>
          </a:ln>
        </p:spPr>
        <p:txBody>
          <a:bodyPr rtlCol="0" anchor="ctr"/>
          <a:lstStyle/>
          <a:p>
            <a:endParaRPr/>
          </a:p>
        </p:txBody>
      </p:sp>
      <p:cxnSp>
        <p:nvCxnSpPr>
          <p:cNvPr id="391" name="Connector 390"/>
          <p:cNvCxnSpPr/>
          <p:nvPr/>
        </p:nvCxnSpPr>
        <p:spPr>
          <a:xfrm>
            <a:off x="5775573" y="5157788"/>
            <a:ext cx="885230" cy="0"/>
          </a:xfrm>
          <a:prstGeom prst="line">
            <a:avLst/>
          </a:prstGeom>
          <a:ln w="9525">
            <a:solidFill>
              <a:srgbClr val="D9D2C3"/>
            </a:solidFill>
          </a:ln>
        </p:spPr>
      </p:cxnSp>
      <p:sp>
        <p:nvSpPr>
          <p:cNvPr id="392" name="Rounded Rectangle 391"/>
          <p:cNvSpPr/>
          <p:nvPr/>
        </p:nvSpPr>
        <p:spPr>
          <a:xfrm>
            <a:off x="6098828" y="491966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393" name="TextBox 392"/>
          <p:cNvSpPr txBox="1"/>
          <p:nvPr/>
        </p:nvSpPr>
        <p:spPr>
          <a:xfrm>
            <a:off x="6144348" y="493871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394" name="Rectangle 393"/>
          <p:cNvSpPr/>
          <p:nvPr/>
        </p:nvSpPr>
        <p:spPr>
          <a:xfrm>
            <a:off x="6660803" y="4867275"/>
            <a:ext cx="885230" cy="295275"/>
          </a:xfrm>
          <a:prstGeom prst="rect">
            <a:avLst/>
          </a:prstGeom>
          <a:solidFill>
            <a:srgbClr val="EFE9DC"/>
          </a:solidFill>
          <a:ln>
            <a:noFill/>
          </a:ln>
        </p:spPr>
        <p:txBody>
          <a:bodyPr rtlCol="0" anchor="ctr"/>
          <a:lstStyle/>
          <a:p>
            <a:endParaRPr/>
          </a:p>
        </p:txBody>
      </p:sp>
      <p:cxnSp>
        <p:nvCxnSpPr>
          <p:cNvPr id="395" name="Connector 394"/>
          <p:cNvCxnSpPr/>
          <p:nvPr/>
        </p:nvCxnSpPr>
        <p:spPr>
          <a:xfrm>
            <a:off x="6660803" y="5157788"/>
            <a:ext cx="885229" cy="0"/>
          </a:xfrm>
          <a:prstGeom prst="line">
            <a:avLst/>
          </a:prstGeom>
          <a:ln w="9525">
            <a:solidFill>
              <a:srgbClr val="D9D2C3"/>
            </a:solidFill>
          </a:ln>
        </p:spPr>
      </p:cxnSp>
      <p:sp>
        <p:nvSpPr>
          <p:cNvPr id="396" name="Rounded Rectangle 395"/>
          <p:cNvSpPr/>
          <p:nvPr/>
        </p:nvSpPr>
        <p:spPr>
          <a:xfrm>
            <a:off x="6878687" y="4919662"/>
            <a:ext cx="449461" cy="190500"/>
          </a:xfrm>
          <a:prstGeom prst="roundRect">
            <a:avLst>
              <a:gd name="adj" fmla="val 35000"/>
            </a:avLst>
          </a:prstGeom>
          <a:solidFill>
            <a:srgbClr val="EDD9CC"/>
          </a:solidFill>
          <a:ln w="9525">
            <a:solidFill>
              <a:srgbClr val="B23A2B"/>
            </a:solidFill>
          </a:ln>
        </p:spPr>
        <p:txBody>
          <a:bodyPr rtlCol="0" anchor="ctr"/>
          <a:lstStyle/>
          <a:p>
            <a:endParaRPr/>
          </a:p>
        </p:txBody>
      </p:sp>
      <p:sp>
        <p:nvSpPr>
          <p:cNvPr id="397" name="TextBox 396"/>
          <p:cNvSpPr txBox="1"/>
          <p:nvPr/>
        </p:nvSpPr>
        <p:spPr>
          <a:xfrm>
            <a:off x="6919990" y="4938712"/>
            <a:ext cx="366855"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B23A2B"/>
                </a:solidFill>
                <a:latin typeface="Inter SemiBold"/>
                <a:ea typeface="Inter SemiBold"/>
                <a:cs typeface="Inter SemiBold"/>
              </a:rPr>
              <a:t>✕→</a:t>
            </a:r>
            <a:r>
              <a:rPr sz="950" b="0" i="0">
                <a:solidFill>
                  <a:srgbClr val="5E8C6A"/>
                </a:solidFill>
                <a:latin typeface="Inter SemiBold"/>
                <a:ea typeface="Inter SemiBold"/>
                <a:cs typeface="Inter SemiBold"/>
              </a:rPr>
              <a:t>✓</a:t>
            </a:r>
          </a:p>
        </p:txBody>
      </p:sp>
      <p:sp>
        <p:nvSpPr>
          <p:cNvPr id="398" name="Rectangle 397"/>
          <p:cNvSpPr/>
          <p:nvPr/>
        </p:nvSpPr>
        <p:spPr>
          <a:xfrm>
            <a:off x="7546032" y="4867275"/>
            <a:ext cx="880914" cy="295275"/>
          </a:xfrm>
          <a:prstGeom prst="rect">
            <a:avLst/>
          </a:prstGeom>
          <a:solidFill>
            <a:srgbClr val="EFE9DC"/>
          </a:solidFill>
          <a:ln>
            <a:noFill/>
          </a:ln>
        </p:spPr>
        <p:txBody>
          <a:bodyPr rtlCol="0" anchor="ctr"/>
          <a:lstStyle/>
          <a:p>
            <a:endParaRPr/>
          </a:p>
        </p:txBody>
      </p:sp>
      <p:cxnSp>
        <p:nvCxnSpPr>
          <p:cNvPr id="399" name="Connector 398"/>
          <p:cNvCxnSpPr/>
          <p:nvPr/>
        </p:nvCxnSpPr>
        <p:spPr>
          <a:xfrm>
            <a:off x="7546032" y="5157788"/>
            <a:ext cx="880914" cy="0"/>
          </a:xfrm>
          <a:prstGeom prst="line">
            <a:avLst/>
          </a:prstGeom>
          <a:ln w="9525">
            <a:solidFill>
              <a:srgbClr val="D9D2C3"/>
            </a:solidFill>
          </a:ln>
        </p:spPr>
      </p:cxnSp>
      <p:sp>
        <p:nvSpPr>
          <p:cNvPr id="400" name="Rounded Rectangle 399"/>
          <p:cNvSpPr/>
          <p:nvPr/>
        </p:nvSpPr>
        <p:spPr>
          <a:xfrm>
            <a:off x="7867204" y="491966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401" name="TextBox 400"/>
          <p:cNvSpPr txBox="1"/>
          <p:nvPr/>
        </p:nvSpPr>
        <p:spPr>
          <a:xfrm>
            <a:off x="7912724" y="493871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402" name="Rectangle 401"/>
          <p:cNvSpPr/>
          <p:nvPr/>
        </p:nvSpPr>
        <p:spPr>
          <a:xfrm>
            <a:off x="8426946" y="4867275"/>
            <a:ext cx="966043" cy="295275"/>
          </a:xfrm>
          <a:prstGeom prst="rect">
            <a:avLst/>
          </a:prstGeom>
          <a:solidFill>
            <a:srgbClr val="EFE9DC"/>
          </a:solidFill>
          <a:ln>
            <a:noFill/>
          </a:ln>
        </p:spPr>
        <p:txBody>
          <a:bodyPr rtlCol="0" anchor="ctr"/>
          <a:lstStyle/>
          <a:p>
            <a:endParaRPr/>
          </a:p>
        </p:txBody>
      </p:sp>
      <p:cxnSp>
        <p:nvCxnSpPr>
          <p:cNvPr id="403" name="Connector 402"/>
          <p:cNvCxnSpPr/>
          <p:nvPr/>
        </p:nvCxnSpPr>
        <p:spPr>
          <a:xfrm>
            <a:off x="8426946" y="5157788"/>
            <a:ext cx="966043" cy="0"/>
          </a:xfrm>
          <a:prstGeom prst="line">
            <a:avLst/>
          </a:prstGeom>
          <a:ln w="9525">
            <a:solidFill>
              <a:srgbClr val="D9D2C3"/>
            </a:solidFill>
          </a:ln>
        </p:spPr>
      </p:cxnSp>
      <p:sp>
        <p:nvSpPr>
          <p:cNvPr id="404" name="Rounded Rectangle 403"/>
          <p:cNvSpPr/>
          <p:nvPr/>
        </p:nvSpPr>
        <p:spPr>
          <a:xfrm>
            <a:off x="8790682" y="4919662"/>
            <a:ext cx="238571" cy="190500"/>
          </a:xfrm>
          <a:prstGeom prst="roundRect">
            <a:avLst>
              <a:gd name="adj" fmla="val 35000"/>
            </a:avLst>
          </a:prstGeom>
          <a:solidFill>
            <a:srgbClr val="DDE3D5"/>
          </a:solidFill>
          <a:ln w="9525">
            <a:solidFill>
              <a:srgbClr val="5E8C6A"/>
            </a:solidFill>
          </a:ln>
        </p:spPr>
        <p:txBody>
          <a:bodyPr rtlCol="0" anchor="ctr"/>
          <a:lstStyle/>
          <a:p>
            <a:endParaRPr/>
          </a:p>
        </p:txBody>
      </p:sp>
      <p:sp>
        <p:nvSpPr>
          <p:cNvPr id="405" name="TextBox 404"/>
          <p:cNvSpPr txBox="1"/>
          <p:nvPr/>
        </p:nvSpPr>
        <p:spPr>
          <a:xfrm>
            <a:off x="8836203" y="4938712"/>
            <a:ext cx="147530" cy="142875"/>
          </a:xfrm>
          <a:prstGeom prst="rect">
            <a:avLst/>
          </a:prstGeom>
          <a:noFill/>
        </p:spPr>
        <p:txBody>
          <a:bodyPr wrap="none" lIns="0" tIns="0" rIns="0" bIns="0" anchor="t">
            <a:noAutofit/>
          </a:bodyPr>
          <a:lstStyle/>
          <a:p>
            <a:pPr algn="ctr">
              <a:lnSpc>
                <a:spcPts val="1050"/>
              </a:lnSpc>
              <a:spcBef>
                <a:spcPts val="0"/>
              </a:spcBef>
              <a:spcAft>
                <a:spcPts val="0"/>
              </a:spcAft>
            </a:pPr>
            <a:r>
              <a:rPr sz="950" b="0" i="0">
                <a:solidFill>
                  <a:srgbClr val="5E8C6A"/>
                </a:solidFill>
                <a:latin typeface="Inter SemiBold"/>
                <a:ea typeface="Inter SemiBold"/>
                <a:cs typeface="Inter SemiBold"/>
              </a:rPr>
              <a:t>✓</a:t>
            </a:r>
          </a:p>
        </p:txBody>
      </p:sp>
      <p:sp>
        <p:nvSpPr>
          <p:cNvPr id="406" name="Rectangle 405"/>
          <p:cNvSpPr/>
          <p:nvPr/>
        </p:nvSpPr>
        <p:spPr>
          <a:xfrm>
            <a:off x="9392989" y="4867275"/>
            <a:ext cx="1059507" cy="295275"/>
          </a:xfrm>
          <a:prstGeom prst="rect">
            <a:avLst/>
          </a:prstGeom>
          <a:solidFill>
            <a:srgbClr val="EFE9DC"/>
          </a:solidFill>
          <a:ln>
            <a:noFill/>
          </a:ln>
        </p:spPr>
        <p:txBody>
          <a:bodyPr rtlCol="0" anchor="ctr"/>
          <a:lstStyle/>
          <a:p>
            <a:endParaRPr/>
          </a:p>
        </p:txBody>
      </p:sp>
      <p:cxnSp>
        <p:nvCxnSpPr>
          <p:cNvPr id="407" name="Connector 406"/>
          <p:cNvCxnSpPr/>
          <p:nvPr/>
        </p:nvCxnSpPr>
        <p:spPr>
          <a:xfrm>
            <a:off x="9392989" y="5157788"/>
            <a:ext cx="1059508" cy="0"/>
          </a:xfrm>
          <a:prstGeom prst="line">
            <a:avLst/>
          </a:prstGeom>
          <a:ln w="9525">
            <a:solidFill>
              <a:srgbClr val="D9D2C3"/>
            </a:solidFill>
          </a:ln>
        </p:spPr>
      </p:cxnSp>
      <p:sp>
        <p:nvSpPr>
          <p:cNvPr id="408" name="TextBox 407"/>
          <p:cNvSpPr txBox="1"/>
          <p:nvPr/>
        </p:nvSpPr>
        <p:spPr>
          <a:xfrm>
            <a:off x="9715214" y="4924425"/>
            <a:ext cx="68013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6,29 / 4</a:t>
            </a:r>
          </a:p>
        </p:txBody>
      </p:sp>
      <p:sp>
        <p:nvSpPr>
          <p:cNvPr id="409" name="Rectangle 408"/>
          <p:cNvSpPr/>
          <p:nvPr/>
        </p:nvSpPr>
        <p:spPr>
          <a:xfrm>
            <a:off x="10452497" y="4867275"/>
            <a:ext cx="678507" cy="295275"/>
          </a:xfrm>
          <a:prstGeom prst="rect">
            <a:avLst/>
          </a:prstGeom>
          <a:solidFill>
            <a:srgbClr val="EFE9DC"/>
          </a:solidFill>
          <a:ln>
            <a:noFill/>
          </a:ln>
        </p:spPr>
        <p:txBody>
          <a:bodyPr rtlCol="0" anchor="ctr"/>
          <a:lstStyle/>
          <a:p>
            <a:endParaRPr/>
          </a:p>
        </p:txBody>
      </p:sp>
      <p:cxnSp>
        <p:nvCxnSpPr>
          <p:cNvPr id="410" name="Connector 409"/>
          <p:cNvCxnSpPr/>
          <p:nvPr/>
        </p:nvCxnSpPr>
        <p:spPr>
          <a:xfrm>
            <a:off x="10452497" y="5157788"/>
            <a:ext cx="678507" cy="0"/>
          </a:xfrm>
          <a:prstGeom prst="line">
            <a:avLst/>
          </a:prstGeom>
          <a:ln w="9525">
            <a:solidFill>
              <a:srgbClr val="D9D2C3"/>
            </a:solidFill>
          </a:ln>
        </p:spPr>
      </p:cxnSp>
      <p:sp>
        <p:nvSpPr>
          <p:cNvPr id="411" name="TextBox 410"/>
          <p:cNvSpPr txBox="1"/>
          <p:nvPr/>
        </p:nvSpPr>
        <p:spPr>
          <a:xfrm>
            <a:off x="10634561" y="4924425"/>
            <a:ext cx="439293"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512 K</a:t>
            </a:r>
          </a:p>
        </p:txBody>
      </p:sp>
      <p:sp>
        <p:nvSpPr>
          <p:cNvPr id="412" name="Rectangle 411"/>
          <p:cNvSpPr/>
          <p:nvPr/>
        </p:nvSpPr>
        <p:spPr>
          <a:xfrm>
            <a:off x="11131004" y="4867275"/>
            <a:ext cx="679996" cy="295275"/>
          </a:xfrm>
          <a:prstGeom prst="rect">
            <a:avLst/>
          </a:prstGeom>
          <a:solidFill>
            <a:srgbClr val="EFE9DC"/>
          </a:solidFill>
          <a:ln>
            <a:noFill/>
          </a:ln>
        </p:spPr>
        <p:txBody>
          <a:bodyPr rtlCol="0" anchor="ctr"/>
          <a:lstStyle/>
          <a:p>
            <a:endParaRPr/>
          </a:p>
        </p:txBody>
      </p:sp>
      <p:cxnSp>
        <p:nvCxnSpPr>
          <p:cNvPr id="413" name="Connector 412"/>
          <p:cNvCxnSpPr/>
          <p:nvPr/>
        </p:nvCxnSpPr>
        <p:spPr>
          <a:xfrm>
            <a:off x="11131004" y="5157788"/>
            <a:ext cx="679996" cy="0"/>
          </a:xfrm>
          <a:prstGeom prst="line">
            <a:avLst/>
          </a:prstGeom>
          <a:ln w="9525">
            <a:solidFill>
              <a:srgbClr val="D9D2C3"/>
            </a:solidFill>
          </a:ln>
        </p:spPr>
      </p:cxnSp>
      <p:sp>
        <p:nvSpPr>
          <p:cNvPr id="414" name="TextBox 413"/>
          <p:cNvSpPr txBox="1"/>
          <p:nvPr/>
        </p:nvSpPr>
        <p:spPr>
          <a:xfrm>
            <a:off x="11234226" y="4924425"/>
            <a:ext cx="519624" cy="171450"/>
          </a:xfrm>
          <a:prstGeom prst="rect">
            <a:avLst/>
          </a:prstGeom>
          <a:noFill/>
        </p:spPr>
        <p:txBody>
          <a:bodyPr wrap="none" lIns="0" tIns="0" rIns="0" bIns="0" anchor="t">
            <a:noAutofit/>
          </a:bodyPr>
          <a:lstStyle/>
          <a:p>
            <a:pPr algn="r">
              <a:lnSpc>
                <a:spcPts val="1275"/>
              </a:lnSpc>
              <a:spcBef>
                <a:spcPts val="0"/>
              </a:spcBef>
              <a:spcAft>
                <a:spcPts val="0"/>
              </a:spcAft>
            </a:pPr>
            <a:r>
              <a:rPr sz="1000" b="0" i="0">
                <a:solidFill>
                  <a:srgbClr val="1C2433"/>
                </a:solidFill>
                <a:latin typeface="JetBrains Mono Medium"/>
                <a:ea typeface="JetBrains Mono Medium"/>
                <a:cs typeface="JetBrains Mono Medium"/>
              </a:rPr>
              <a:t>1,91 $</a:t>
            </a:r>
          </a:p>
        </p:txBody>
      </p:sp>
      <p:sp>
        <p:nvSpPr>
          <p:cNvPr id="415" name="TextBox 414"/>
          <p:cNvSpPr txBox="1"/>
          <p:nvPr/>
        </p:nvSpPr>
        <p:spPr>
          <a:xfrm>
            <a:off x="381000" y="5524500"/>
            <a:ext cx="1571982" cy="514350"/>
          </a:xfrm>
          <a:prstGeom prst="rect">
            <a:avLst/>
          </a:prstGeom>
          <a:noFill/>
        </p:spPr>
        <p:txBody>
          <a:bodyPr wrap="none" lIns="0" tIns="0" rIns="0" bIns="0" anchor="t">
            <a:noAutofit/>
          </a:bodyPr>
          <a:lstStyle/>
          <a:p>
            <a:pPr algn="l">
              <a:lnSpc>
                <a:spcPts val="3450"/>
              </a:lnSpc>
              <a:spcBef>
                <a:spcPts val="0"/>
              </a:spcBef>
              <a:spcAft>
                <a:spcPts val="0"/>
              </a:spcAft>
            </a:pPr>
            <a:r>
              <a:rPr sz="3300" b="0" i="0">
                <a:solidFill>
                  <a:srgbClr val="9A7A2E"/>
                </a:solidFill>
                <a:latin typeface="Fraunces SemiBold"/>
                <a:ea typeface="Fraunces SemiBold"/>
                <a:cs typeface="Fraunces SemiBold"/>
              </a:rPr>
              <a:t>60 / 60</a:t>
            </a:r>
          </a:p>
        </p:txBody>
      </p:sp>
      <p:sp>
        <p:nvSpPr>
          <p:cNvPr id="416" name="TextBox 415"/>
          <p:cNvSpPr txBox="1"/>
          <p:nvPr/>
        </p:nvSpPr>
        <p:spPr>
          <a:xfrm>
            <a:off x="1866900" y="5572125"/>
            <a:ext cx="3075813" cy="342900"/>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1C2433"/>
                </a:solidFill>
                <a:latin typeface="Inter"/>
                <a:ea typeface="Inter"/>
                <a:cs typeface="Inter"/>
              </a:rPr>
              <a:t>capítulos publicados de las evals pasan los cinco deterministas y Lean</a:t>
            </a:r>
          </a:p>
        </p:txBody>
      </p:sp>
      <p:sp>
        <p:nvSpPr>
          <p:cNvPr id="417" name="TextBox 416"/>
          <p:cNvSpPr txBox="1"/>
          <p:nvPr/>
        </p:nvSpPr>
        <p:spPr>
          <a:xfrm>
            <a:off x="5048250" y="5524500"/>
            <a:ext cx="935367" cy="514350"/>
          </a:xfrm>
          <a:prstGeom prst="rect">
            <a:avLst/>
          </a:prstGeom>
          <a:noFill/>
        </p:spPr>
        <p:txBody>
          <a:bodyPr wrap="none" lIns="0" tIns="0" rIns="0" bIns="0" anchor="t">
            <a:noAutofit/>
          </a:bodyPr>
          <a:lstStyle/>
          <a:p>
            <a:pPr algn="l">
              <a:lnSpc>
                <a:spcPts val="1822"/>
              </a:lnSpc>
              <a:spcBef>
                <a:spcPts val="0"/>
              </a:spcBef>
              <a:spcAft>
                <a:spcPts val="0"/>
              </a:spcAft>
            </a:pPr>
            <a:r>
              <a:rPr sz="3300" b="0" i="0">
                <a:solidFill>
                  <a:srgbClr val="9A7A2E"/>
                </a:solidFill>
                <a:latin typeface="Fraunces SemiBold"/>
                <a:ea typeface="Fraunces SemiBold"/>
                <a:cs typeface="Fraunces SemiBold"/>
              </a:rPr>
              <a:t>7,49</a:t>
            </a:r>
          </a:p>
        </p:txBody>
      </p:sp>
      <p:sp>
        <p:nvSpPr>
          <p:cNvPr id="418" name="TextBox 417"/>
          <p:cNvSpPr txBox="1"/>
          <p:nvPr/>
        </p:nvSpPr>
        <p:spPr>
          <a:xfrm>
            <a:off x="6000750" y="5572125"/>
            <a:ext cx="1830134" cy="342900"/>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1C2433"/>
                </a:solidFill>
                <a:latin typeface="Inter"/>
                <a:ea typeface="Inter"/>
                <a:cs typeface="Inter"/>
              </a:rPr>
              <a:t>media del juez en las 10 versiones publicadas</a:t>
            </a:r>
          </a:p>
        </p:txBody>
      </p:sp>
      <p:sp>
        <p:nvSpPr>
          <p:cNvPr id="419" name="Rounded Rectangle 418"/>
          <p:cNvSpPr/>
          <p:nvPr/>
        </p:nvSpPr>
        <p:spPr>
          <a:xfrm>
            <a:off x="8001000" y="5486400"/>
            <a:ext cx="593527" cy="171450"/>
          </a:xfrm>
          <a:prstGeom prst="roundRect">
            <a:avLst>
              <a:gd name="adj" fmla="val 38888"/>
            </a:avLst>
          </a:prstGeom>
          <a:solidFill>
            <a:srgbClr val="EDD9CC"/>
          </a:solidFill>
          <a:ln w="9525">
            <a:solidFill>
              <a:srgbClr val="B23A2B"/>
            </a:solidFill>
          </a:ln>
        </p:spPr>
        <p:txBody>
          <a:bodyPr rtlCol="0" anchor="ctr"/>
          <a:lstStyle/>
          <a:p>
            <a:endParaRPr/>
          </a:p>
        </p:txBody>
      </p:sp>
      <p:sp>
        <p:nvSpPr>
          <p:cNvPr id="420" name="TextBox 419"/>
          <p:cNvSpPr txBox="1"/>
          <p:nvPr/>
        </p:nvSpPr>
        <p:spPr>
          <a:xfrm>
            <a:off x="8058150" y="5495925"/>
            <a:ext cx="536496" cy="142875"/>
          </a:xfrm>
          <a:prstGeom prst="rect">
            <a:avLst/>
          </a:prstGeom>
          <a:noFill/>
        </p:spPr>
        <p:txBody>
          <a:bodyPr wrap="none" lIns="0" tIns="0" rIns="0" bIns="0" anchor="t">
            <a:noAutofit/>
          </a:bodyPr>
          <a:lstStyle/>
          <a:p>
            <a:pPr algn="l">
              <a:lnSpc>
                <a:spcPts val="1050"/>
              </a:lnSpc>
              <a:spcBef>
                <a:spcPts val="0"/>
              </a:spcBef>
              <a:spcAft>
                <a:spcPts val="0"/>
              </a:spcAft>
            </a:pPr>
            <a:r>
              <a:rPr sz="900" b="0" i="0">
                <a:solidFill>
                  <a:srgbClr val="B23A2B"/>
                </a:solidFill>
                <a:latin typeface="Inter SemiBold"/>
                <a:ea typeface="Inter SemiBold"/>
                <a:cs typeface="Inter SemiBold"/>
              </a:rPr>
              <a:t>✕→</a:t>
            </a:r>
            <a:r>
              <a:rPr sz="900" b="0" i="0">
                <a:solidFill>
                  <a:srgbClr val="5E8C6A"/>
                </a:solidFill>
                <a:latin typeface="Inter SemiBold"/>
                <a:ea typeface="Inter SemiBold"/>
                <a:cs typeface="Inter SemiBold"/>
              </a:rPr>
              <a:t>✓</a:t>
            </a:r>
            <a:r>
              <a:rPr sz="900" b="0" i="0">
                <a:solidFill>
                  <a:srgbClr val="B23A2B"/>
                </a:solidFill>
                <a:latin typeface="Inter SemiBold"/>
                <a:ea typeface="Inter SemiBold"/>
                <a:cs typeface="Inter SemiBold"/>
              </a:rPr>
              <a:t> ×n</a:t>
            </a:r>
          </a:p>
        </p:txBody>
      </p:sp>
      <p:sp>
        <p:nvSpPr>
          <p:cNvPr id="421" name="TextBox 420"/>
          <p:cNvSpPr txBox="1"/>
          <p:nvPr/>
        </p:nvSpPr>
        <p:spPr>
          <a:xfrm>
            <a:off x="8670727" y="5495925"/>
            <a:ext cx="1312259" cy="142875"/>
          </a:xfrm>
          <a:prstGeom prst="rect">
            <a:avLst/>
          </a:prstGeom>
          <a:noFill/>
        </p:spPr>
        <p:txBody>
          <a:bodyPr wrap="none" lIns="0" tIns="0" rIns="0" bIns="0" anchor="t">
            <a:noAutofit/>
          </a:bodyPr>
          <a:lstStyle/>
          <a:p>
            <a:pPr algn="l">
              <a:lnSpc>
                <a:spcPts val="1200"/>
              </a:lnSpc>
              <a:spcBef>
                <a:spcPts val="0"/>
              </a:spcBef>
              <a:spcAft>
                <a:spcPts val="0"/>
              </a:spcAft>
            </a:pPr>
            <a:r>
              <a:rPr sz="950" b="0" i="0">
                <a:solidFill>
                  <a:srgbClr val="7D7869"/>
                </a:solidFill>
                <a:latin typeface="Inter"/>
                <a:ea typeface="Inter"/>
                <a:cs typeface="Inter"/>
              </a:rPr>
              <a:t>n rechazos reparados</a:t>
            </a:r>
          </a:p>
        </p:txBody>
      </p:sp>
      <p:sp>
        <p:nvSpPr>
          <p:cNvPr id="422" name="Rounded Rectangle 421"/>
          <p:cNvSpPr/>
          <p:nvPr/>
        </p:nvSpPr>
        <p:spPr>
          <a:xfrm>
            <a:off x="9972080" y="5486400"/>
            <a:ext cx="151061" cy="171450"/>
          </a:xfrm>
          <a:prstGeom prst="roundRect">
            <a:avLst>
              <a:gd name="adj" fmla="val 44137"/>
            </a:avLst>
          </a:prstGeom>
          <a:solidFill>
            <a:srgbClr val="EEE0C0"/>
          </a:solidFill>
          <a:ln w="9525">
            <a:solidFill>
              <a:srgbClr val="C9A34E"/>
            </a:solidFill>
          </a:ln>
        </p:spPr>
        <p:txBody>
          <a:bodyPr rtlCol="0" anchor="ctr"/>
          <a:lstStyle/>
          <a:p>
            <a:endParaRPr/>
          </a:p>
        </p:txBody>
      </p:sp>
      <p:sp>
        <p:nvSpPr>
          <p:cNvPr id="423" name="TextBox 422"/>
          <p:cNvSpPr txBox="1"/>
          <p:nvPr/>
        </p:nvSpPr>
        <p:spPr>
          <a:xfrm>
            <a:off x="10029230" y="5495925"/>
            <a:ext cx="76331" cy="142875"/>
          </a:xfrm>
          <a:prstGeom prst="rect">
            <a:avLst/>
          </a:prstGeom>
          <a:noFill/>
        </p:spPr>
        <p:txBody>
          <a:bodyPr wrap="none" lIns="0" tIns="0" rIns="0" bIns="0" anchor="t">
            <a:noAutofit/>
          </a:bodyPr>
          <a:lstStyle/>
          <a:p>
            <a:pPr algn="l">
              <a:lnSpc>
                <a:spcPts val="1050"/>
              </a:lnSpc>
              <a:spcBef>
                <a:spcPts val="0"/>
              </a:spcBef>
              <a:spcAft>
                <a:spcPts val="0"/>
              </a:spcAft>
            </a:pPr>
            <a:r>
              <a:rPr sz="900" b="0" i="0">
                <a:solidFill>
                  <a:srgbClr val="1C2433"/>
                </a:solidFill>
                <a:latin typeface="Inter SemiBold"/>
                <a:ea typeface="Inter SemiBold"/>
                <a:cs typeface="Inter SemiBold"/>
              </a:rPr>
              <a:t>!</a:t>
            </a:r>
          </a:p>
        </p:txBody>
      </p:sp>
      <p:sp>
        <p:nvSpPr>
          <p:cNvPr id="424" name="TextBox 423"/>
          <p:cNvSpPr txBox="1"/>
          <p:nvPr/>
        </p:nvSpPr>
        <p:spPr>
          <a:xfrm>
            <a:off x="10199340" y="5495925"/>
            <a:ext cx="1690080" cy="142875"/>
          </a:xfrm>
          <a:prstGeom prst="rect">
            <a:avLst/>
          </a:prstGeom>
          <a:noFill/>
        </p:spPr>
        <p:txBody>
          <a:bodyPr wrap="none" lIns="0" tIns="0" rIns="0" bIns="0" anchor="t">
            <a:noAutofit/>
          </a:bodyPr>
          <a:lstStyle/>
          <a:p>
            <a:pPr algn="l">
              <a:lnSpc>
                <a:spcPts val="1200"/>
              </a:lnSpc>
              <a:spcBef>
                <a:spcPts val="0"/>
              </a:spcBef>
              <a:spcAft>
                <a:spcPts val="0"/>
              </a:spcAft>
            </a:pPr>
            <a:r>
              <a:rPr sz="950" b="0" i="0">
                <a:solidFill>
                  <a:srgbClr val="7D7869"/>
                </a:solidFill>
                <a:latin typeface="Inter"/>
                <a:ea typeface="Inter"/>
                <a:cs typeface="Inter"/>
              </a:rPr>
              <a:t>aviso de Lean en la escaleta</a:t>
            </a:r>
          </a:p>
        </p:txBody>
      </p:sp>
      <p:sp>
        <p:nvSpPr>
          <p:cNvPr id="425" name="TextBox 424"/>
          <p:cNvSpPr txBox="1"/>
          <p:nvPr/>
        </p:nvSpPr>
        <p:spPr>
          <a:xfrm>
            <a:off x="8001000" y="5695950"/>
            <a:ext cx="3842385" cy="295275"/>
          </a:xfrm>
          <a:prstGeom prst="rect">
            <a:avLst/>
          </a:prstGeom>
          <a:noFill/>
        </p:spPr>
        <p:txBody>
          <a:bodyPr wrap="square" lIns="0" tIns="0" rIns="0" bIns="0" anchor="t">
            <a:noAutofit/>
          </a:bodyPr>
          <a:lstStyle/>
          <a:p>
            <a:pPr algn="l">
              <a:lnSpc>
                <a:spcPts val="1200"/>
              </a:lnSpc>
              <a:spcBef>
                <a:spcPts val="0"/>
              </a:spcBef>
              <a:spcAft>
                <a:spcPts val="0"/>
              </a:spcAft>
            </a:pPr>
            <a:r>
              <a:rPr sz="950" b="0" i="0">
                <a:solidFill>
                  <a:srgbClr val="7D7869"/>
                </a:solidFill>
                <a:latin typeface="Inter"/>
                <a:ea typeface="Inter"/>
                <a:cs typeface="Inter"/>
              </a:rPr>
              <a:t>Haiku 4.5 en los 9 roles · evals en batch, sin gates · referencias (fondo gris): sin score por capítulo, cuentan las incidencias.</a:t>
            </a:r>
          </a:p>
        </p:txBody>
      </p:sp>
      <p:pic>
        <p:nvPicPr>
          <p:cNvPr id="426" name="Picture 425" descr="r003.png"/>
          <p:cNvPicPr>
            <a:picLocks noChangeAspect="1"/>
          </p:cNvPicPr>
          <p:nvPr/>
        </p:nvPicPr>
        <p:blipFill>
          <a:blip r:embed="rId3"/>
          <a:stretch>
            <a:fillRect/>
          </a:stretch>
        </p:blipFill>
        <p:spPr>
          <a:xfrm>
            <a:off x="381000" y="6343650"/>
            <a:ext cx="11430000" cy="76200"/>
          </a:xfrm>
          <a:prstGeom prst="rect">
            <a:avLst/>
          </a:prstGeom>
        </p:spPr>
      </p:pic>
      <p:pic>
        <p:nvPicPr>
          <p:cNvPr id="427" name="Picture 426" descr="r004.png"/>
          <p:cNvPicPr>
            <a:picLocks noChangeAspect="1"/>
          </p:cNvPicPr>
          <p:nvPr/>
        </p:nvPicPr>
        <p:blipFill>
          <a:blip r:embed="rId4"/>
          <a:stretch>
            <a:fillRect/>
          </a:stretch>
        </p:blipFill>
        <p:spPr>
          <a:xfrm>
            <a:off x="381000" y="6505575"/>
            <a:ext cx="171450" cy="190500"/>
          </a:xfrm>
          <a:prstGeom prst="rect">
            <a:avLst/>
          </a:prstGeom>
        </p:spPr>
      </p:pic>
      <p:sp>
        <p:nvSpPr>
          <p:cNvPr id="428" name="TextBox 427"/>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429" name="TextBox 428"/>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430" name="TextBox 429"/>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431" name="TextBox 430"/>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12 / 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91023" y="323850"/>
            <a:ext cx="176174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EVALUACIÓN · TUNING</a:t>
            </a:r>
          </a:p>
        </p:txBody>
      </p:sp>
      <p:sp>
        <p:nvSpPr>
          <p:cNvPr id="3" name="TextBox 2"/>
          <p:cNvSpPr txBox="1"/>
          <p:nvPr/>
        </p:nvSpPr>
        <p:spPr>
          <a:xfrm>
            <a:off x="609600" y="323850"/>
            <a:ext cx="95966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a:t>
            </a:r>
          </a:p>
        </p:txBody>
      </p:sp>
      <p:sp>
        <p:nvSpPr>
          <p:cNvPr id="4" name="Rectangle 3"/>
          <p:cNvSpPr/>
          <p:nvPr/>
        </p:nvSpPr>
        <p:spPr>
          <a:xfrm>
            <a:off x="1610023" y="395288"/>
            <a:ext cx="266700" cy="9525"/>
          </a:xfrm>
          <a:prstGeom prst="rect">
            <a:avLst/>
          </a:prstGeom>
          <a:noFill/>
          <a:ln>
            <a:noFill/>
          </a:ln>
        </p:spPr>
        <p:txBody>
          <a:bodyPr rtlCol="0" anchor="ctr"/>
          <a:lstStyle/>
          <a:p>
            <a:endParaRPr/>
          </a:p>
        </p:txBody>
      </p:sp>
      <p:cxnSp>
        <p:nvCxnSpPr>
          <p:cNvPr id="5" name="Connector 4"/>
          <p:cNvCxnSpPr/>
          <p:nvPr/>
        </p:nvCxnSpPr>
        <p:spPr>
          <a:xfrm>
            <a:off x="1610023"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La lectura humana destapó un juez demasiado generoso; el tuning lo corrigió</a:t>
            </a:r>
          </a:p>
        </p:txBody>
      </p:sp>
      <p:sp>
        <p:nvSpPr>
          <p:cNvPr id="7" name="TextBox 6"/>
          <p:cNvSpPr txBox="1"/>
          <p:nvPr/>
        </p:nvSpPr>
        <p:spPr>
          <a:xfrm>
            <a:off x="609600" y="1524000"/>
            <a:ext cx="3560147"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B23A2B"/>
                </a:solidFill>
                <a:latin typeface="Inter SemiBold"/>
                <a:ea typeface="Inter SemiBold"/>
                <a:cs typeface="Inter SemiBold"/>
              </a:rPr>
              <a:t>ANTES · NOVELA DE SEVILLA, 10 CAPÍTULOS</a:t>
            </a:r>
          </a:p>
        </p:txBody>
      </p:sp>
      <p:sp>
        <p:nvSpPr>
          <p:cNvPr id="8" name="TextBox 7"/>
          <p:cNvSpPr txBox="1"/>
          <p:nvPr/>
        </p:nvSpPr>
        <p:spPr>
          <a:xfrm>
            <a:off x="990600" y="1762125"/>
            <a:ext cx="3049369" cy="190500"/>
          </a:xfrm>
          <a:prstGeom prst="rect">
            <a:avLst/>
          </a:prstGeom>
          <a:noFill/>
        </p:spPr>
        <p:txBody>
          <a:bodyPr wrap="non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Juez: 7,4 de media y 8 en continuidad</a:t>
            </a:r>
          </a:p>
        </p:txBody>
      </p:sp>
      <p:sp>
        <p:nvSpPr>
          <p:cNvPr id="9" name="TextBox 8"/>
          <p:cNvSpPr txBox="1"/>
          <p:nvPr/>
        </p:nvSpPr>
        <p:spPr>
          <a:xfrm>
            <a:off x="781050" y="1762125"/>
            <a:ext cx="175701"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B23A2B"/>
                </a:solidFill>
                <a:latin typeface="Inter"/>
                <a:ea typeface="Inter"/>
                <a:cs typeface="Inter"/>
              </a:rPr>
              <a:t>✕</a:t>
            </a:r>
          </a:p>
        </p:txBody>
      </p:sp>
      <p:sp>
        <p:nvSpPr>
          <p:cNvPr id="10" name="TextBox 9"/>
          <p:cNvSpPr txBox="1"/>
          <p:nvPr/>
        </p:nvSpPr>
        <p:spPr>
          <a:xfrm>
            <a:off x="990600" y="2076450"/>
            <a:ext cx="46089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Lectura humana: la firma del mapa se contradice en 5 capítulos</a:t>
            </a:r>
          </a:p>
        </p:txBody>
      </p:sp>
      <p:sp>
        <p:nvSpPr>
          <p:cNvPr id="11" name="TextBox 10"/>
          <p:cNvSpPr txBox="1"/>
          <p:nvPr/>
        </p:nvSpPr>
        <p:spPr>
          <a:xfrm>
            <a:off x="781050" y="2076450"/>
            <a:ext cx="175701"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B23A2B"/>
                </a:solidFill>
                <a:latin typeface="Inter"/>
                <a:ea typeface="Inter"/>
                <a:cs typeface="Inter"/>
              </a:rPr>
              <a:t>✕</a:t>
            </a:r>
          </a:p>
        </p:txBody>
      </p:sp>
      <p:sp>
        <p:nvSpPr>
          <p:cNvPr id="12" name="TextBox 11"/>
          <p:cNvSpPr txBox="1"/>
          <p:nvPr/>
        </p:nvSpPr>
        <p:spPr>
          <a:xfrm>
            <a:off x="990600" y="2609850"/>
            <a:ext cx="46089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«Precisión» aparece 63 veces; dos capítulos cierran con el mismo párrafo</a:t>
            </a:r>
          </a:p>
        </p:txBody>
      </p:sp>
      <p:sp>
        <p:nvSpPr>
          <p:cNvPr id="13" name="TextBox 12"/>
          <p:cNvSpPr txBox="1"/>
          <p:nvPr/>
        </p:nvSpPr>
        <p:spPr>
          <a:xfrm>
            <a:off x="781050" y="2609850"/>
            <a:ext cx="175701"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B23A2B"/>
                </a:solidFill>
                <a:latin typeface="Inter"/>
                <a:ea typeface="Inter"/>
                <a:cs typeface="Inter"/>
              </a:rPr>
              <a:t>✕</a:t>
            </a:r>
          </a:p>
        </p:txBody>
      </p:sp>
      <p:sp>
        <p:nvSpPr>
          <p:cNvPr id="14" name="TextBox 13"/>
          <p:cNvSpPr txBox="1"/>
          <p:nvPr/>
        </p:nvSpPr>
        <p:spPr>
          <a:xfrm>
            <a:off x="990600" y="3143250"/>
            <a:ext cx="46089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Causa: el writer solo veía el capítulo N−1; la nota no dependía de las contradicciones</a:t>
            </a:r>
          </a:p>
        </p:txBody>
      </p:sp>
      <p:sp>
        <p:nvSpPr>
          <p:cNvPr id="15" name="TextBox 14"/>
          <p:cNvSpPr txBox="1"/>
          <p:nvPr/>
        </p:nvSpPr>
        <p:spPr>
          <a:xfrm>
            <a:off x="781050" y="3143250"/>
            <a:ext cx="175701"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B23A2B"/>
                </a:solidFill>
                <a:latin typeface="Inter"/>
                <a:ea typeface="Inter"/>
                <a:cs typeface="Inter"/>
              </a:rPr>
              <a:t>✕</a:t>
            </a:r>
          </a:p>
        </p:txBody>
      </p:sp>
      <p:pic>
        <p:nvPicPr>
          <p:cNvPr id="16" name="Picture 15" descr="r040.png"/>
          <p:cNvPicPr>
            <a:picLocks noChangeAspect="1"/>
          </p:cNvPicPr>
          <p:nvPr/>
        </p:nvPicPr>
        <p:blipFill>
          <a:blip r:embed="rId3"/>
          <a:stretch>
            <a:fillRect/>
          </a:stretch>
        </p:blipFill>
        <p:spPr>
          <a:xfrm>
            <a:off x="5829300" y="2190750"/>
            <a:ext cx="685800" cy="571500"/>
          </a:xfrm>
          <a:prstGeom prst="rect">
            <a:avLst/>
          </a:prstGeom>
        </p:spPr>
      </p:pic>
      <p:sp>
        <p:nvSpPr>
          <p:cNvPr id="17" name="TextBox 16"/>
          <p:cNvSpPr txBox="1"/>
          <p:nvPr/>
        </p:nvSpPr>
        <p:spPr>
          <a:xfrm>
            <a:off x="6629400" y="1524000"/>
            <a:ext cx="1341203"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5E8C6A"/>
                </a:solidFill>
                <a:latin typeface="Inter SemiBold"/>
                <a:ea typeface="Inter SemiBold"/>
                <a:cs typeface="Inter SemiBold"/>
              </a:rPr>
              <a:t>DESPUÉS · IT-26</a:t>
            </a:r>
          </a:p>
        </p:txBody>
      </p:sp>
      <p:sp>
        <p:nvSpPr>
          <p:cNvPr id="18" name="TextBox 17"/>
          <p:cNvSpPr txBox="1"/>
          <p:nvPr/>
        </p:nvSpPr>
        <p:spPr>
          <a:xfrm>
            <a:off x="7010400" y="1762125"/>
            <a:ext cx="4291024" cy="190500"/>
          </a:xfrm>
          <a:prstGeom prst="rect">
            <a:avLst/>
          </a:prstGeom>
          <a:noFill/>
        </p:spPr>
        <p:txBody>
          <a:bodyPr wrap="non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El juez enumera las contradicciones antes de puntuar</a:t>
            </a:r>
          </a:p>
        </p:txBody>
      </p:sp>
      <p:sp>
        <p:nvSpPr>
          <p:cNvPr id="19" name="TextBox 18"/>
          <p:cNvSpPr txBox="1"/>
          <p:nvPr/>
        </p:nvSpPr>
        <p:spPr>
          <a:xfrm>
            <a:off x="6800850" y="1762125"/>
            <a:ext cx="186690"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5E8C6A"/>
                </a:solidFill>
                <a:latin typeface="Inter"/>
                <a:ea typeface="Inter"/>
                <a:cs typeface="Inter"/>
              </a:rPr>
              <a:t>✓</a:t>
            </a:r>
          </a:p>
        </p:txBody>
      </p:sp>
      <p:sp>
        <p:nvSpPr>
          <p:cNvPr id="20" name="TextBox 19"/>
          <p:cNvSpPr txBox="1"/>
          <p:nvPr/>
        </p:nvSpPr>
        <p:spPr>
          <a:xfrm>
            <a:off x="7010400" y="2076450"/>
            <a:ext cx="4699028" cy="190500"/>
          </a:xfrm>
          <a:prstGeom prst="rect">
            <a:avLst/>
          </a:prstGeom>
          <a:noFill/>
        </p:spPr>
        <p:txBody>
          <a:bodyPr wrap="non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Python topa la continuidad: 10 − 2 × nº de contradicciones</a:t>
            </a:r>
          </a:p>
        </p:txBody>
      </p:sp>
      <p:sp>
        <p:nvSpPr>
          <p:cNvPr id="21" name="TextBox 20"/>
          <p:cNvSpPr txBox="1"/>
          <p:nvPr/>
        </p:nvSpPr>
        <p:spPr>
          <a:xfrm>
            <a:off x="6800850" y="2076450"/>
            <a:ext cx="186690"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5E8C6A"/>
                </a:solidFill>
                <a:latin typeface="Inter"/>
                <a:ea typeface="Inter"/>
                <a:cs typeface="Inter"/>
              </a:rPr>
              <a:t>✓</a:t>
            </a:r>
          </a:p>
        </p:txBody>
      </p:sp>
      <p:sp>
        <p:nvSpPr>
          <p:cNvPr id="22" name="TextBox 21"/>
          <p:cNvSpPr txBox="1"/>
          <p:nvPr/>
        </p:nvSpPr>
        <p:spPr>
          <a:xfrm>
            <a:off x="7010400" y="2390775"/>
            <a:ext cx="4788956" cy="190500"/>
          </a:xfrm>
          <a:prstGeom prst="rect">
            <a:avLst/>
          </a:prstGeom>
          <a:noFill/>
        </p:spPr>
        <p:txBody>
          <a:bodyPr wrap="non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El writer recibe «lo que ya pasó» y las palabras ya gastadas</a:t>
            </a:r>
          </a:p>
        </p:txBody>
      </p:sp>
      <p:sp>
        <p:nvSpPr>
          <p:cNvPr id="23" name="TextBox 22"/>
          <p:cNvSpPr txBox="1"/>
          <p:nvPr/>
        </p:nvSpPr>
        <p:spPr>
          <a:xfrm>
            <a:off x="6800850" y="2390775"/>
            <a:ext cx="186690" cy="190500"/>
          </a:xfrm>
          <a:prstGeom prst="rect">
            <a:avLst/>
          </a:prstGeom>
          <a:noFill/>
        </p:spPr>
        <p:txBody>
          <a:bodyPr wrap="none" lIns="0" tIns="0" rIns="0" bIns="0" anchor="t">
            <a:noAutofit/>
          </a:bodyPr>
          <a:lstStyle/>
          <a:p>
            <a:pPr algn="l">
              <a:lnSpc>
                <a:spcPts val="1725"/>
              </a:lnSpc>
              <a:spcBef>
                <a:spcPts val="0"/>
              </a:spcBef>
              <a:spcAft>
                <a:spcPts val="0"/>
              </a:spcAft>
            </a:pPr>
            <a:r>
              <a:rPr sz="1300" b="1" i="0">
                <a:solidFill>
                  <a:srgbClr val="5E8C6A"/>
                </a:solidFill>
                <a:latin typeface="Inter"/>
                <a:ea typeface="Inter"/>
                <a:cs typeface="Inter"/>
              </a:rPr>
              <a:t>✓</a:t>
            </a:r>
          </a:p>
        </p:txBody>
      </p:sp>
      <p:sp>
        <p:nvSpPr>
          <p:cNvPr id="24" name="TextBox 23"/>
          <p:cNvSpPr txBox="1"/>
          <p:nvPr/>
        </p:nvSpPr>
        <p:spPr>
          <a:xfrm>
            <a:off x="609600" y="4019550"/>
            <a:ext cx="6813185"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CONTINUIDAD TRAS EL AJUSTE, CON LAS CONTRADICCIONES QUE ENUMERÓ EL JUEZ</a:t>
            </a:r>
          </a:p>
        </p:txBody>
      </p:sp>
      <p:sp>
        <p:nvSpPr>
          <p:cNvPr id="25" name="TextBox 24"/>
          <p:cNvSpPr txBox="1"/>
          <p:nvPr/>
        </p:nvSpPr>
        <p:spPr>
          <a:xfrm>
            <a:off x="609600" y="4257675"/>
            <a:ext cx="1032724"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Madrid, 1858</a:t>
            </a:r>
          </a:p>
        </p:txBody>
      </p:sp>
      <p:sp>
        <p:nvSpPr>
          <p:cNvPr id="26" name="TextBox 25"/>
          <p:cNvSpPr txBox="1"/>
          <p:nvPr/>
        </p:nvSpPr>
        <p:spPr>
          <a:xfrm>
            <a:off x="2171700" y="4257675"/>
            <a:ext cx="1099745"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7D7869"/>
                </a:solidFill>
                <a:latin typeface="Inter"/>
                <a:ea typeface="Inter"/>
                <a:cs typeface="Inter"/>
              </a:rPr>
              <a:t>1 contradicción</a:t>
            </a:r>
          </a:p>
        </p:txBody>
      </p:sp>
      <p:sp>
        <p:nvSpPr>
          <p:cNvPr id="27" name="Rounded Rectangle 26"/>
          <p:cNvSpPr/>
          <p:nvPr/>
        </p:nvSpPr>
        <p:spPr>
          <a:xfrm>
            <a:off x="3924300" y="4248150"/>
            <a:ext cx="5715000" cy="209550"/>
          </a:xfrm>
          <a:prstGeom prst="roundRect">
            <a:avLst>
              <a:gd name="adj" fmla="val 18181"/>
            </a:avLst>
          </a:prstGeom>
          <a:solidFill>
            <a:srgbClr val="E8E3D8"/>
          </a:solidFill>
          <a:ln>
            <a:noFill/>
          </a:ln>
        </p:spPr>
        <p:txBody>
          <a:bodyPr rtlCol="0" anchor="ctr"/>
          <a:lstStyle/>
          <a:p>
            <a:endParaRPr/>
          </a:p>
        </p:txBody>
      </p:sp>
      <p:sp>
        <p:nvSpPr>
          <p:cNvPr id="28" name="Rounded Rectangle 27"/>
          <p:cNvSpPr/>
          <p:nvPr/>
        </p:nvSpPr>
        <p:spPr>
          <a:xfrm>
            <a:off x="3924300" y="4248150"/>
            <a:ext cx="4572000" cy="209550"/>
          </a:xfrm>
          <a:prstGeom prst="roundRect">
            <a:avLst>
              <a:gd name="adj" fmla="val 18181"/>
            </a:avLst>
          </a:prstGeom>
          <a:solidFill>
            <a:srgbClr val="5E8C6A"/>
          </a:solidFill>
          <a:ln>
            <a:noFill/>
          </a:ln>
        </p:spPr>
        <p:txBody>
          <a:bodyPr rtlCol="0" anchor="ctr"/>
          <a:lstStyle/>
          <a:p>
            <a:endParaRPr/>
          </a:p>
        </p:txBody>
      </p:sp>
      <p:sp>
        <p:nvSpPr>
          <p:cNvPr id="29" name="TextBox 28"/>
          <p:cNvSpPr txBox="1"/>
          <p:nvPr/>
        </p:nvSpPr>
        <p:spPr>
          <a:xfrm>
            <a:off x="9772650" y="4238625"/>
            <a:ext cx="145209" cy="219075"/>
          </a:xfrm>
          <a:prstGeom prst="rect">
            <a:avLst/>
          </a:prstGeom>
          <a:noFill/>
        </p:spPr>
        <p:txBody>
          <a:bodyPr wrap="none" lIns="0" tIns="0" rIns="0" bIns="0" anchor="t">
            <a:noAutofit/>
          </a:bodyPr>
          <a:lstStyle/>
          <a:p>
            <a:pPr algn="l">
              <a:lnSpc>
                <a:spcPts val="1500"/>
              </a:lnSpc>
              <a:spcBef>
                <a:spcPts val="0"/>
              </a:spcBef>
              <a:spcAft>
                <a:spcPts val="0"/>
              </a:spcAft>
            </a:pPr>
            <a:r>
              <a:rPr sz="1350" b="1" i="0">
                <a:solidFill>
                  <a:srgbClr val="1C2433"/>
                </a:solidFill>
                <a:latin typeface="JetBrains Mono"/>
                <a:ea typeface="JetBrains Mono"/>
                <a:cs typeface="JetBrains Mono"/>
              </a:rPr>
              <a:t>8</a:t>
            </a:r>
          </a:p>
        </p:txBody>
      </p:sp>
      <p:sp>
        <p:nvSpPr>
          <p:cNvPr id="30" name="TextBox 29"/>
          <p:cNvSpPr txBox="1"/>
          <p:nvPr/>
        </p:nvSpPr>
        <p:spPr>
          <a:xfrm>
            <a:off x="609600" y="4552950"/>
            <a:ext cx="1002542"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Madrid, 1919</a:t>
            </a:r>
          </a:p>
        </p:txBody>
      </p:sp>
      <p:sp>
        <p:nvSpPr>
          <p:cNvPr id="31" name="TextBox 30"/>
          <p:cNvSpPr txBox="1"/>
          <p:nvPr/>
        </p:nvSpPr>
        <p:spPr>
          <a:xfrm>
            <a:off x="2171700" y="4552950"/>
            <a:ext cx="1099745"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7D7869"/>
                </a:solidFill>
                <a:latin typeface="Inter"/>
                <a:ea typeface="Inter"/>
                <a:cs typeface="Inter"/>
              </a:rPr>
              <a:t>1 contradicción</a:t>
            </a:r>
          </a:p>
        </p:txBody>
      </p:sp>
      <p:sp>
        <p:nvSpPr>
          <p:cNvPr id="32" name="Rounded Rectangle 31"/>
          <p:cNvSpPr/>
          <p:nvPr/>
        </p:nvSpPr>
        <p:spPr>
          <a:xfrm>
            <a:off x="3924300" y="4543425"/>
            <a:ext cx="5715000" cy="209550"/>
          </a:xfrm>
          <a:prstGeom prst="roundRect">
            <a:avLst>
              <a:gd name="adj" fmla="val 18181"/>
            </a:avLst>
          </a:prstGeom>
          <a:solidFill>
            <a:srgbClr val="E8E3D8"/>
          </a:solidFill>
          <a:ln>
            <a:noFill/>
          </a:ln>
        </p:spPr>
        <p:txBody>
          <a:bodyPr rtlCol="0" anchor="ctr"/>
          <a:lstStyle/>
          <a:p>
            <a:endParaRPr/>
          </a:p>
        </p:txBody>
      </p:sp>
      <p:sp>
        <p:nvSpPr>
          <p:cNvPr id="33" name="Rounded Rectangle 32"/>
          <p:cNvSpPr/>
          <p:nvPr/>
        </p:nvSpPr>
        <p:spPr>
          <a:xfrm>
            <a:off x="3924300" y="4543425"/>
            <a:ext cx="3429000" cy="209550"/>
          </a:xfrm>
          <a:prstGeom prst="roundRect">
            <a:avLst>
              <a:gd name="adj" fmla="val 18181"/>
            </a:avLst>
          </a:prstGeom>
          <a:solidFill>
            <a:srgbClr val="C9A34E"/>
          </a:solidFill>
          <a:ln>
            <a:noFill/>
          </a:ln>
        </p:spPr>
        <p:txBody>
          <a:bodyPr rtlCol="0" anchor="ctr"/>
          <a:lstStyle/>
          <a:p>
            <a:endParaRPr/>
          </a:p>
        </p:txBody>
      </p:sp>
      <p:sp>
        <p:nvSpPr>
          <p:cNvPr id="34" name="TextBox 33"/>
          <p:cNvSpPr txBox="1"/>
          <p:nvPr/>
        </p:nvSpPr>
        <p:spPr>
          <a:xfrm>
            <a:off x="9772650" y="4533900"/>
            <a:ext cx="145209" cy="219075"/>
          </a:xfrm>
          <a:prstGeom prst="rect">
            <a:avLst/>
          </a:prstGeom>
          <a:noFill/>
        </p:spPr>
        <p:txBody>
          <a:bodyPr wrap="none" lIns="0" tIns="0" rIns="0" bIns="0" anchor="t">
            <a:noAutofit/>
          </a:bodyPr>
          <a:lstStyle/>
          <a:p>
            <a:pPr algn="l">
              <a:lnSpc>
                <a:spcPts val="1500"/>
              </a:lnSpc>
              <a:spcBef>
                <a:spcPts val="0"/>
              </a:spcBef>
              <a:spcAft>
                <a:spcPts val="0"/>
              </a:spcAft>
            </a:pPr>
            <a:r>
              <a:rPr sz="1350" b="1" i="0">
                <a:solidFill>
                  <a:srgbClr val="1C2433"/>
                </a:solidFill>
                <a:latin typeface="JetBrains Mono"/>
                <a:ea typeface="JetBrains Mono"/>
                <a:cs typeface="JetBrains Mono"/>
              </a:rPr>
              <a:t>6</a:t>
            </a:r>
          </a:p>
        </p:txBody>
      </p:sp>
      <p:sp>
        <p:nvSpPr>
          <p:cNvPr id="35" name="TextBox 34"/>
          <p:cNvSpPr txBox="1"/>
          <p:nvPr/>
        </p:nvSpPr>
        <p:spPr>
          <a:xfrm>
            <a:off x="609600" y="4848225"/>
            <a:ext cx="897446"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Cádiz, 1812</a:t>
            </a:r>
          </a:p>
        </p:txBody>
      </p:sp>
      <p:sp>
        <p:nvSpPr>
          <p:cNvPr id="36" name="TextBox 35"/>
          <p:cNvSpPr txBox="1"/>
          <p:nvPr/>
        </p:nvSpPr>
        <p:spPr>
          <a:xfrm>
            <a:off x="2171700" y="4848225"/>
            <a:ext cx="1296162"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7D7869"/>
                </a:solidFill>
                <a:latin typeface="Inter"/>
                <a:ea typeface="Inter"/>
                <a:cs typeface="Inter"/>
              </a:rPr>
              <a:t>3 contradicciones</a:t>
            </a:r>
          </a:p>
        </p:txBody>
      </p:sp>
      <p:sp>
        <p:nvSpPr>
          <p:cNvPr id="37" name="Rounded Rectangle 36"/>
          <p:cNvSpPr/>
          <p:nvPr/>
        </p:nvSpPr>
        <p:spPr>
          <a:xfrm>
            <a:off x="3924300" y="4838700"/>
            <a:ext cx="5715000" cy="209550"/>
          </a:xfrm>
          <a:prstGeom prst="roundRect">
            <a:avLst>
              <a:gd name="adj" fmla="val 18181"/>
            </a:avLst>
          </a:prstGeom>
          <a:solidFill>
            <a:srgbClr val="E8E3D8"/>
          </a:solidFill>
          <a:ln>
            <a:noFill/>
          </a:ln>
        </p:spPr>
        <p:txBody>
          <a:bodyPr rtlCol="0" anchor="ctr"/>
          <a:lstStyle/>
          <a:p>
            <a:endParaRPr/>
          </a:p>
        </p:txBody>
      </p:sp>
      <p:sp>
        <p:nvSpPr>
          <p:cNvPr id="38" name="Rounded Rectangle 37"/>
          <p:cNvSpPr/>
          <p:nvPr/>
        </p:nvSpPr>
        <p:spPr>
          <a:xfrm>
            <a:off x="3924300" y="4838700"/>
            <a:ext cx="2286000" cy="209550"/>
          </a:xfrm>
          <a:prstGeom prst="roundRect">
            <a:avLst>
              <a:gd name="adj" fmla="val 18181"/>
            </a:avLst>
          </a:prstGeom>
          <a:solidFill>
            <a:srgbClr val="B23A2B"/>
          </a:solidFill>
          <a:ln>
            <a:noFill/>
          </a:ln>
        </p:spPr>
        <p:txBody>
          <a:bodyPr rtlCol="0" anchor="ctr"/>
          <a:lstStyle/>
          <a:p>
            <a:endParaRPr/>
          </a:p>
        </p:txBody>
      </p:sp>
      <p:sp>
        <p:nvSpPr>
          <p:cNvPr id="39" name="TextBox 38"/>
          <p:cNvSpPr txBox="1"/>
          <p:nvPr/>
        </p:nvSpPr>
        <p:spPr>
          <a:xfrm>
            <a:off x="9772650" y="4829175"/>
            <a:ext cx="145209" cy="219075"/>
          </a:xfrm>
          <a:prstGeom prst="rect">
            <a:avLst/>
          </a:prstGeom>
          <a:noFill/>
        </p:spPr>
        <p:txBody>
          <a:bodyPr wrap="none" lIns="0" tIns="0" rIns="0" bIns="0" anchor="t">
            <a:noAutofit/>
          </a:bodyPr>
          <a:lstStyle/>
          <a:p>
            <a:pPr algn="l">
              <a:lnSpc>
                <a:spcPts val="1500"/>
              </a:lnSpc>
              <a:spcBef>
                <a:spcPts val="0"/>
              </a:spcBef>
              <a:spcAft>
                <a:spcPts val="0"/>
              </a:spcAft>
            </a:pPr>
            <a:r>
              <a:rPr sz="1350" b="1" i="0">
                <a:solidFill>
                  <a:srgbClr val="1C2433"/>
                </a:solidFill>
                <a:latin typeface="JetBrains Mono"/>
                <a:ea typeface="JetBrains Mono"/>
                <a:cs typeface="JetBrains Mono"/>
              </a:rPr>
              <a:t>4</a:t>
            </a:r>
          </a:p>
        </p:txBody>
      </p:sp>
      <p:sp>
        <p:nvSpPr>
          <p:cNvPr id="40" name="TextBox 39"/>
          <p:cNvSpPr txBox="1"/>
          <p:nvPr/>
        </p:nvSpPr>
        <p:spPr>
          <a:xfrm>
            <a:off x="609600" y="5524500"/>
            <a:ext cx="9372957"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7D7869"/>
                </a:solidFill>
                <a:latin typeface="Inter"/>
                <a:ea typeface="Inter"/>
                <a:cs typeface="Inter"/>
              </a:rPr>
              <a:t>Segundo ajuste medido (It-25): el guardrail cazaba «hereje» pero dejaba pasar «herejía»; ahora busca la raíz dentro de cada palabra.</a:t>
            </a:r>
          </a:p>
        </p:txBody>
      </p:sp>
      <p:pic>
        <p:nvPicPr>
          <p:cNvPr id="41" name="Picture 40" descr="r003.png"/>
          <p:cNvPicPr>
            <a:picLocks noChangeAspect="1"/>
          </p:cNvPicPr>
          <p:nvPr/>
        </p:nvPicPr>
        <p:blipFill>
          <a:blip r:embed="rId4"/>
          <a:stretch>
            <a:fillRect/>
          </a:stretch>
        </p:blipFill>
        <p:spPr>
          <a:xfrm>
            <a:off x="381000" y="6343650"/>
            <a:ext cx="11430000" cy="76200"/>
          </a:xfrm>
          <a:prstGeom prst="rect">
            <a:avLst/>
          </a:prstGeom>
        </p:spPr>
      </p:pic>
      <p:pic>
        <p:nvPicPr>
          <p:cNvPr id="42" name="Picture 41" descr="r004.png"/>
          <p:cNvPicPr>
            <a:picLocks noChangeAspect="1"/>
          </p:cNvPicPr>
          <p:nvPr/>
        </p:nvPicPr>
        <p:blipFill>
          <a:blip r:embed="rId5"/>
          <a:stretch>
            <a:fillRect/>
          </a:stretch>
        </p:blipFill>
        <p:spPr>
          <a:xfrm>
            <a:off x="381000" y="6505575"/>
            <a:ext cx="171450" cy="190500"/>
          </a:xfrm>
          <a:prstGeom prst="rect">
            <a:avLst/>
          </a:prstGeom>
        </p:spPr>
      </p:pic>
      <p:sp>
        <p:nvSpPr>
          <p:cNvPr id="43" name="TextBox 42"/>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44" name="TextBox 43"/>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45" name="TextBox 44"/>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46" name="TextBox 45"/>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13 / 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91023" y="323850"/>
            <a:ext cx="1646742"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VALIDACIÓN FORMAL</a:t>
            </a:r>
          </a:p>
        </p:txBody>
      </p:sp>
      <p:sp>
        <p:nvSpPr>
          <p:cNvPr id="3" name="TextBox 2"/>
          <p:cNvSpPr txBox="1"/>
          <p:nvPr/>
        </p:nvSpPr>
        <p:spPr>
          <a:xfrm>
            <a:off x="609600" y="323850"/>
            <a:ext cx="95966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a:t>
            </a:r>
          </a:p>
        </p:txBody>
      </p:sp>
      <p:sp>
        <p:nvSpPr>
          <p:cNvPr id="4" name="Rectangle 3"/>
          <p:cNvSpPr/>
          <p:nvPr/>
        </p:nvSpPr>
        <p:spPr>
          <a:xfrm>
            <a:off x="1610023" y="395288"/>
            <a:ext cx="266700" cy="9525"/>
          </a:xfrm>
          <a:prstGeom prst="rect">
            <a:avLst/>
          </a:prstGeom>
          <a:noFill/>
          <a:ln>
            <a:noFill/>
          </a:ln>
        </p:spPr>
        <p:txBody>
          <a:bodyPr rtlCol="0" anchor="ctr"/>
          <a:lstStyle/>
          <a:p>
            <a:endParaRPr/>
          </a:p>
        </p:txBody>
      </p:sp>
      <p:cxnSp>
        <p:nvCxnSpPr>
          <p:cNvPr id="5" name="Connector 4"/>
          <p:cNvCxnSpPr/>
          <p:nvPr/>
        </p:nvCxnSpPr>
        <p:spPr>
          <a:xfrm>
            <a:off x="1610023" y="400050"/>
            <a:ext cx="266700" cy="0"/>
          </a:xfrm>
          <a:prstGeom prst="line">
            <a:avLst/>
          </a:prstGeom>
          <a:ln w="9525">
            <a:solidFill>
              <a:srgbClr val="C9A34E"/>
            </a:solidFill>
          </a:ln>
        </p:spPr>
      </p:cxnSp>
      <p:sp>
        <p:nvSpPr>
          <p:cNvPr id="6" name="TextBox 5"/>
          <p:cNvSpPr txBox="1"/>
          <p:nvPr/>
        </p:nvSpPr>
        <p:spPr>
          <a:xfrm>
            <a:off x="609600" y="561975"/>
            <a:ext cx="11048162" cy="752475"/>
          </a:xfrm>
          <a:prstGeom prst="rect">
            <a:avLst/>
          </a:prstGeom>
          <a:noFill/>
        </p:spPr>
        <p:txBody>
          <a:bodyPr wrap="square" lIns="0" tIns="0" rIns="0" bIns="0" anchor="t">
            <a:noAutofit/>
          </a:bodyPr>
          <a:lstStyle/>
          <a:p>
            <a:pPr algn="l">
              <a:lnSpc>
                <a:spcPts val="2925"/>
              </a:lnSpc>
              <a:spcBef>
                <a:spcPts val="0"/>
              </a:spcBef>
              <a:spcAft>
                <a:spcPts val="0"/>
              </a:spcAft>
            </a:pPr>
            <a:r>
              <a:rPr sz="2500" b="0" i="0" spc="-25">
                <a:solidFill>
                  <a:srgbClr val="1C2433"/>
                </a:solidFill>
                <a:latin typeface="Fraunces SemiBold"/>
                <a:ea typeface="Fraunces SemiBold"/>
                <a:cs typeface="Fraunces SemiBold"/>
              </a:rPr>
              <a:t>Lean vio una protagonista que existía antes de nacer; ni el juez ni los validadores de texto lo vieron</a:t>
            </a:r>
          </a:p>
        </p:txBody>
      </p:sp>
      <p:sp>
        <p:nvSpPr>
          <p:cNvPr id="7" name="TextBox 6"/>
          <p:cNvSpPr txBox="1"/>
          <p:nvPr/>
        </p:nvSpPr>
        <p:spPr>
          <a:xfrm>
            <a:off x="609600" y="1409700"/>
            <a:ext cx="6737033"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NOVELA DE MADRID, 1919 · ESCALETA Y PROSA FRENTE A LA FECHA DE NACIMIENTO</a:t>
            </a:r>
          </a:p>
        </p:txBody>
      </p:sp>
      <p:pic>
        <p:nvPicPr>
          <p:cNvPr id="8" name="Picture 7" descr="r043.png"/>
          <p:cNvPicPr>
            <a:picLocks noChangeAspect="1"/>
          </p:cNvPicPr>
          <p:nvPr/>
        </p:nvPicPr>
        <p:blipFill>
          <a:blip r:embed="rId3"/>
          <a:stretch>
            <a:fillRect/>
          </a:stretch>
        </p:blipFill>
        <p:spPr>
          <a:xfrm>
            <a:off x="609600" y="1638300"/>
            <a:ext cx="6096000" cy="2000250"/>
          </a:xfrm>
          <a:prstGeom prst="rect">
            <a:avLst/>
          </a:prstGeom>
        </p:spPr>
      </p:pic>
      <p:sp>
        <p:nvSpPr>
          <p:cNvPr id="9" name="TextBox 8"/>
          <p:cNvSpPr txBox="1"/>
          <p:nvPr/>
        </p:nvSpPr>
        <p:spPr>
          <a:xfrm>
            <a:off x="614583" y="2838450"/>
            <a:ext cx="371034" cy="171450"/>
          </a:xfrm>
          <a:prstGeom prst="rect">
            <a:avLst/>
          </a:prstGeom>
          <a:noFill/>
        </p:spPr>
        <p:txBody>
          <a:bodyPr wrap="none" lIns="0" tIns="0" rIns="0" bIns="0" anchor="t">
            <a:noAutofit/>
          </a:bodyPr>
          <a:lstStyle/>
          <a:p>
            <a:pPr algn="ctr">
              <a:lnSpc>
                <a:spcPts val="1350"/>
              </a:lnSpc>
              <a:spcBef>
                <a:spcPts val="0"/>
              </a:spcBef>
              <a:spcAft>
                <a:spcPts val="0"/>
              </a:spcAft>
            </a:pPr>
            <a:r>
              <a:rPr sz="1050" b="0" i="0">
                <a:solidFill>
                  <a:srgbClr val="7D7869"/>
                </a:solidFill>
                <a:latin typeface="JetBrains Mono Medium"/>
                <a:ea typeface="JetBrains Mono Medium"/>
                <a:cs typeface="JetBrains Mono Medium"/>
              </a:rPr>
              <a:t>1900</a:t>
            </a:r>
          </a:p>
        </p:txBody>
      </p:sp>
      <p:sp>
        <p:nvSpPr>
          <p:cNvPr id="10" name="TextBox 9"/>
          <p:cNvSpPr txBox="1"/>
          <p:nvPr/>
        </p:nvSpPr>
        <p:spPr>
          <a:xfrm>
            <a:off x="2243358" y="2838450"/>
            <a:ext cx="371034" cy="171450"/>
          </a:xfrm>
          <a:prstGeom prst="rect">
            <a:avLst/>
          </a:prstGeom>
          <a:noFill/>
        </p:spPr>
        <p:txBody>
          <a:bodyPr wrap="none" lIns="0" tIns="0" rIns="0" bIns="0" anchor="t">
            <a:noAutofit/>
          </a:bodyPr>
          <a:lstStyle/>
          <a:p>
            <a:pPr algn="ctr">
              <a:lnSpc>
                <a:spcPts val="1350"/>
              </a:lnSpc>
              <a:spcBef>
                <a:spcPts val="0"/>
              </a:spcBef>
              <a:spcAft>
                <a:spcPts val="0"/>
              </a:spcAft>
            </a:pPr>
            <a:r>
              <a:rPr sz="1050" b="0" i="0">
                <a:solidFill>
                  <a:srgbClr val="7D7869"/>
                </a:solidFill>
                <a:latin typeface="JetBrains Mono Medium"/>
                <a:ea typeface="JetBrains Mono Medium"/>
                <a:cs typeface="JetBrains Mono Medium"/>
              </a:rPr>
              <a:t>1920</a:t>
            </a:r>
          </a:p>
        </p:txBody>
      </p:sp>
      <p:sp>
        <p:nvSpPr>
          <p:cNvPr id="11" name="TextBox 10"/>
          <p:cNvSpPr txBox="1"/>
          <p:nvPr/>
        </p:nvSpPr>
        <p:spPr>
          <a:xfrm>
            <a:off x="3881658" y="2838450"/>
            <a:ext cx="371034" cy="171450"/>
          </a:xfrm>
          <a:prstGeom prst="rect">
            <a:avLst/>
          </a:prstGeom>
          <a:noFill/>
        </p:spPr>
        <p:txBody>
          <a:bodyPr wrap="none" lIns="0" tIns="0" rIns="0" bIns="0" anchor="t">
            <a:noAutofit/>
          </a:bodyPr>
          <a:lstStyle/>
          <a:p>
            <a:pPr algn="ctr">
              <a:lnSpc>
                <a:spcPts val="1350"/>
              </a:lnSpc>
              <a:spcBef>
                <a:spcPts val="0"/>
              </a:spcBef>
              <a:spcAft>
                <a:spcPts val="0"/>
              </a:spcAft>
            </a:pPr>
            <a:r>
              <a:rPr sz="1050" b="0" i="0">
                <a:solidFill>
                  <a:srgbClr val="7D7869"/>
                </a:solidFill>
                <a:latin typeface="JetBrains Mono Medium"/>
                <a:ea typeface="JetBrains Mono Medium"/>
                <a:cs typeface="JetBrains Mono Medium"/>
              </a:rPr>
              <a:t>1940</a:t>
            </a:r>
          </a:p>
        </p:txBody>
      </p:sp>
      <p:sp>
        <p:nvSpPr>
          <p:cNvPr id="12" name="TextBox 11"/>
          <p:cNvSpPr txBox="1"/>
          <p:nvPr/>
        </p:nvSpPr>
        <p:spPr>
          <a:xfrm>
            <a:off x="5510433" y="2838450"/>
            <a:ext cx="371034" cy="171450"/>
          </a:xfrm>
          <a:prstGeom prst="rect">
            <a:avLst/>
          </a:prstGeom>
          <a:noFill/>
        </p:spPr>
        <p:txBody>
          <a:bodyPr wrap="none" lIns="0" tIns="0" rIns="0" bIns="0" anchor="t">
            <a:noAutofit/>
          </a:bodyPr>
          <a:lstStyle/>
          <a:p>
            <a:pPr algn="ctr">
              <a:lnSpc>
                <a:spcPts val="1350"/>
              </a:lnSpc>
              <a:spcBef>
                <a:spcPts val="0"/>
              </a:spcBef>
              <a:spcAft>
                <a:spcPts val="0"/>
              </a:spcAft>
            </a:pPr>
            <a:r>
              <a:rPr sz="1050" b="0" i="0">
                <a:solidFill>
                  <a:srgbClr val="7D7869"/>
                </a:solidFill>
                <a:latin typeface="JetBrains Mono Medium"/>
                <a:ea typeface="JetBrains Mono Medium"/>
                <a:cs typeface="JetBrains Mono Medium"/>
              </a:rPr>
              <a:t>1960</a:t>
            </a:r>
          </a:p>
        </p:txBody>
      </p:sp>
      <p:sp>
        <p:nvSpPr>
          <p:cNvPr id="13" name="TextBox 12"/>
          <p:cNvSpPr txBox="1"/>
          <p:nvPr/>
        </p:nvSpPr>
        <p:spPr>
          <a:xfrm>
            <a:off x="767650" y="1657350"/>
            <a:ext cx="2278829"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B23A2B"/>
                </a:solidFill>
                <a:latin typeface="Inter SemiBold"/>
                <a:ea typeface="Inter SemiBold"/>
                <a:cs typeface="Inter SemiBold"/>
              </a:rPr>
              <a:t>I1 · nadie participa antes de nacer</a:t>
            </a:r>
          </a:p>
        </p:txBody>
      </p:sp>
      <p:sp>
        <p:nvSpPr>
          <p:cNvPr id="14" name="TextBox 13"/>
          <p:cNvSpPr txBox="1"/>
          <p:nvPr/>
        </p:nvSpPr>
        <p:spPr>
          <a:xfrm>
            <a:off x="1530465" y="3124200"/>
            <a:ext cx="1590275"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B23A2B"/>
                </a:solidFill>
                <a:latin typeface="Inter"/>
                <a:ea typeface="Inter"/>
                <a:cs typeface="Inter"/>
              </a:rPr>
              <a:t>escenas de 1900 a 1919</a:t>
            </a:r>
          </a:p>
        </p:txBody>
      </p:sp>
      <p:sp>
        <p:nvSpPr>
          <p:cNvPr id="15" name="TextBox 14"/>
          <p:cNvSpPr txBox="1"/>
          <p:nvPr/>
        </p:nvSpPr>
        <p:spPr>
          <a:xfrm>
            <a:off x="1149531" y="3295650"/>
            <a:ext cx="2349139"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B23A2B"/>
                </a:solidFill>
                <a:latin typeface="Inter SemiBold"/>
                <a:ea typeface="Inter SemiBold"/>
                <a:cs typeface="Inter SemiBold"/>
              </a:rPr>
              <a:t>9 escenas · 26 eventos de la prosa</a:t>
            </a:r>
          </a:p>
        </p:txBody>
      </p:sp>
      <p:sp>
        <p:nvSpPr>
          <p:cNvPr id="16" name="TextBox 15"/>
          <p:cNvSpPr txBox="1"/>
          <p:nvPr/>
        </p:nvSpPr>
        <p:spPr>
          <a:xfrm>
            <a:off x="6090368" y="2076450"/>
            <a:ext cx="354163"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SemiBold"/>
                <a:ea typeface="Inter SemiBold"/>
                <a:cs typeface="Inter SemiBold"/>
              </a:rPr>
              <a:t>1967</a:t>
            </a:r>
          </a:p>
        </p:txBody>
      </p:sp>
      <p:sp>
        <p:nvSpPr>
          <p:cNvPr id="17" name="TextBox 16"/>
          <p:cNvSpPr txBox="1"/>
          <p:nvPr/>
        </p:nvSpPr>
        <p:spPr>
          <a:xfrm>
            <a:off x="4997000" y="3124200"/>
            <a:ext cx="1321701"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nacimiento copiado</a:t>
            </a:r>
          </a:p>
        </p:txBody>
      </p:sp>
      <p:sp>
        <p:nvSpPr>
          <p:cNvPr id="18" name="TextBox 17"/>
          <p:cNvSpPr txBox="1"/>
          <p:nvPr/>
        </p:nvSpPr>
        <p:spPr>
          <a:xfrm>
            <a:off x="5249912" y="3295650"/>
            <a:ext cx="815876" cy="161925"/>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1C2433"/>
                </a:solidFill>
                <a:latin typeface="Inter"/>
                <a:ea typeface="Inter"/>
                <a:cs typeface="Inter"/>
              </a:rPr>
              <a:t>del encargo</a:t>
            </a:r>
          </a:p>
        </p:txBody>
      </p:sp>
      <p:sp>
        <p:nvSpPr>
          <p:cNvPr id="19" name="Rounded Rectangle 18"/>
          <p:cNvSpPr/>
          <p:nvPr/>
        </p:nvSpPr>
        <p:spPr>
          <a:xfrm>
            <a:off x="609600" y="3905250"/>
            <a:ext cx="723900" cy="247650"/>
          </a:xfrm>
          <a:prstGeom prst="roundRect">
            <a:avLst>
              <a:gd name="adj" fmla="val 26923"/>
            </a:avLst>
          </a:prstGeom>
          <a:solidFill>
            <a:srgbClr val="EDD9CC"/>
          </a:solidFill>
          <a:ln w="9525">
            <a:solidFill>
              <a:srgbClr val="B23A2B"/>
            </a:solidFill>
          </a:ln>
        </p:spPr>
        <p:txBody>
          <a:bodyPr rtlCol="0" anchor="ctr"/>
          <a:lstStyle/>
          <a:p>
            <a:endParaRPr/>
          </a:p>
        </p:txBody>
      </p:sp>
      <p:sp>
        <p:nvSpPr>
          <p:cNvPr id="20" name="TextBox 19"/>
          <p:cNvSpPr txBox="1"/>
          <p:nvPr/>
        </p:nvSpPr>
        <p:spPr>
          <a:xfrm>
            <a:off x="695721" y="3943350"/>
            <a:ext cx="551509" cy="161925"/>
          </a:xfrm>
          <a:prstGeom prst="rect">
            <a:avLst/>
          </a:prstGeom>
          <a:noFill/>
        </p:spPr>
        <p:txBody>
          <a:bodyPr wrap="none" lIns="0" tIns="0" rIns="0" bIns="0" anchor="t">
            <a:noAutofit/>
          </a:bodyPr>
          <a:lstStyle/>
          <a:p>
            <a:pPr algn="ctr">
              <a:lnSpc>
                <a:spcPts val="1200"/>
              </a:lnSpc>
              <a:spcBef>
                <a:spcPts val="0"/>
              </a:spcBef>
              <a:spcAft>
                <a:spcPts val="0"/>
              </a:spcAft>
            </a:pPr>
            <a:r>
              <a:rPr sz="1050" b="0" i="0">
                <a:solidFill>
                  <a:srgbClr val="B23A2B"/>
                </a:solidFill>
                <a:latin typeface="Inter SemiBold"/>
                <a:ea typeface="Inter SemiBold"/>
                <a:cs typeface="Inter SemiBold"/>
              </a:rPr>
              <a:t>✕ no ve</a:t>
            </a:r>
          </a:p>
        </p:txBody>
      </p:sp>
      <p:sp>
        <p:nvSpPr>
          <p:cNvPr id="21" name="TextBox 20"/>
          <p:cNvSpPr txBox="1"/>
          <p:nvPr/>
        </p:nvSpPr>
        <p:spPr>
          <a:xfrm>
            <a:off x="1447800" y="3929062"/>
            <a:ext cx="5256705" cy="190500"/>
          </a:xfrm>
          <a:prstGeom prst="rect">
            <a:avLst/>
          </a:prstGeom>
          <a:noFill/>
        </p:spPr>
        <p:txBody>
          <a:bodyPr wrap="none" lIns="0" tIns="0" rIns="0" bIns="0" anchor="t">
            <a:noAutofit/>
          </a:bodyPr>
          <a:lstStyle/>
          <a:p>
            <a:pPr algn="l">
              <a:lnSpc>
                <a:spcPts val="1575"/>
              </a:lnSpc>
              <a:spcBef>
                <a:spcPts val="0"/>
              </a:spcBef>
              <a:spcAft>
                <a:spcPts val="0"/>
              </a:spcAft>
            </a:pPr>
            <a:r>
              <a:rPr sz="1100" b="0" i="0">
                <a:solidFill>
                  <a:srgbClr val="1C2433"/>
                </a:solidFill>
                <a:latin typeface="JetBrains Mono Medium"/>
                <a:ea typeface="JetBrains Mono Medium"/>
                <a:cs typeface="JetBrains Mono Medium"/>
              </a:rPr>
              <a:t>nombres_exactos</a:t>
            </a:r>
            <a:r>
              <a:rPr sz="1200" b="0" i="0">
                <a:solidFill>
                  <a:srgbClr val="1C2433"/>
                </a:solidFill>
                <a:latin typeface="Inter"/>
                <a:ea typeface="Inter"/>
                <a:cs typeface="Inter"/>
              </a:rPr>
              <a:t> y el resto de deterministas: no miran fechas de vida</a:t>
            </a:r>
          </a:p>
        </p:txBody>
      </p:sp>
      <p:sp>
        <p:nvSpPr>
          <p:cNvPr id="22" name="Rounded Rectangle 21"/>
          <p:cNvSpPr/>
          <p:nvPr/>
        </p:nvSpPr>
        <p:spPr>
          <a:xfrm>
            <a:off x="609600" y="4248150"/>
            <a:ext cx="723900" cy="247650"/>
          </a:xfrm>
          <a:prstGeom prst="roundRect">
            <a:avLst>
              <a:gd name="adj" fmla="val 26923"/>
            </a:avLst>
          </a:prstGeom>
          <a:solidFill>
            <a:srgbClr val="EDD9CC"/>
          </a:solidFill>
          <a:ln w="9525">
            <a:solidFill>
              <a:srgbClr val="B23A2B"/>
            </a:solidFill>
          </a:ln>
        </p:spPr>
        <p:txBody>
          <a:bodyPr rtlCol="0" anchor="ctr"/>
          <a:lstStyle/>
          <a:p>
            <a:endParaRPr/>
          </a:p>
        </p:txBody>
      </p:sp>
      <p:sp>
        <p:nvSpPr>
          <p:cNvPr id="23" name="TextBox 22"/>
          <p:cNvSpPr txBox="1"/>
          <p:nvPr/>
        </p:nvSpPr>
        <p:spPr>
          <a:xfrm>
            <a:off x="695721" y="4286250"/>
            <a:ext cx="551509" cy="161925"/>
          </a:xfrm>
          <a:prstGeom prst="rect">
            <a:avLst/>
          </a:prstGeom>
          <a:noFill/>
        </p:spPr>
        <p:txBody>
          <a:bodyPr wrap="none" lIns="0" tIns="0" rIns="0" bIns="0" anchor="t">
            <a:noAutofit/>
          </a:bodyPr>
          <a:lstStyle/>
          <a:p>
            <a:pPr algn="ctr">
              <a:lnSpc>
                <a:spcPts val="1200"/>
              </a:lnSpc>
              <a:spcBef>
                <a:spcPts val="0"/>
              </a:spcBef>
              <a:spcAft>
                <a:spcPts val="0"/>
              </a:spcAft>
            </a:pPr>
            <a:r>
              <a:rPr sz="1050" b="0" i="0">
                <a:solidFill>
                  <a:srgbClr val="B23A2B"/>
                </a:solidFill>
                <a:latin typeface="Inter SemiBold"/>
                <a:ea typeface="Inter SemiBold"/>
                <a:cs typeface="Inter SemiBold"/>
              </a:rPr>
              <a:t>✕ no ve</a:t>
            </a:r>
          </a:p>
        </p:txBody>
      </p:sp>
      <p:sp>
        <p:nvSpPr>
          <p:cNvPr id="24" name="TextBox 23"/>
          <p:cNvSpPr txBox="1"/>
          <p:nvPr/>
        </p:nvSpPr>
        <p:spPr>
          <a:xfrm>
            <a:off x="1447800" y="4271962"/>
            <a:ext cx="4899470"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Juez (7,14): vio una edad incoherente, no el nacimiento imposible</a:t>
            </a:r>
          </a:p>
        </p:txBody>
      </p:sp>
      <p:sp>
        <p:nvSpPr>
          <p:cNvPr id="25" name="Rounded Rectangle 24"/>
          <p:cNvSpPr/>
          <p:nvPr/>
        </p:nvSpPr>
        <p:spPr>
          <a:xfrm>
            <a:off x="609600" y="4591050"/>
            <a:ext cx="723900" cy="247650"/>
          </a:xfrm>
          <a:prstGeom prst="roundRect">
            <a:avLst>
              <a:gd name="adj" fmla="val 26923"/>
            </a:avLst>
          </a:prstGeom>
          <a:solidFill>
            <a:srgbClr val="DDE3D5"/>
          </a:solidFill>
          <a:ln w="9525">
            <a:solidFill>
              <a:srgbClr val="5E8C6A"/>
            </a:solidFill>
          </a:ln>
        </p:spPr>
        <p:txBody>
          <a:bodyPr rtlCol="0" anchor="ctr"/>
          <a:lstStyle/>
          <a:p>
            <a:endParaRPr/>
          </a:p>
        </p:txBody>
      </p:sp>
      <p:sp>
        <p:nvSpPr>
          <p:cNvPr id="26" name="TextBox 25"/>
          <p:cNvSpPr txBox="1"/>
          <p:nvPr/>
        </p:nvSpPr>
        <p:spPr>
          <a:xfrm>
            <a:off x="717855" y="4629150"/>
            <a:ext cx="507242" cy="161925"/>
          </a:xfrm>
          <a:prstGeom prst="rect">
            <a:avLst/>
          </a:prstGeom>
          <a:noFill/>
        </p:spPr>
        <p:txBody>
          <a:bodyPr wrap="none" lIns="0" tIns="0" rIns="0" bIns="0" anchor="t">
            <a:noAutofit/>
          </a:bodyPr>
          <a:lstStyle/>
          <a:p>
            <a:pPr algn="ctr">
              <a:lnSpc>
                <a:spcPts val="1200"/>
              </a:lnSpc>
              <a:spcBef>
                <a:spcPts val="0"/>
              </a:spcBef>
              <a:spcAft>
                <a:spcPts val="0"/>
              </a:spcAft>
            </a:pPr>
            <a:r>
              <a:rPr sz="1050" b="0" i="0">
                <a:solidFill>
                  <a:srgbClr val="5E8C6A"/>
                </a:solidFill>
                <a:latin typeface="Inter SemiBold"/>
                <a:ea typeface="Inter SemiBold"/>
                <a:cs typeface="Inter SemiBold"/>
              </a:rPr>
              <a:t>✓</a:t>
            </a:r>
            <a:r>
              <a:rPr sz="1050" b="0" i="0">
                <a:solidFill>
                  <a:srgbClr val="1C2433"/>
                </a:solidFill>
                <a:latin typeface="Inter SemiBold"/>
                <a:ea typeface="Inter SemiBold"/>
                <a:cs typeface="Inter SemiBold"/>
              </a:rPr>
              <a:t> la ve</a:t>
            </a:r>
          </a:p>
        </p:txBody>
      </p:sp>
      <p:sp>
        <p:nvSpPr>
          <p:cNvPr id="27" name="TextBox 26"/>
          <p:cNvSpPr txBox="1"/>
          <p:nvPr/>
        </p:nvSpPr>
        <p:spPr>
          <a:xfrm>
            <a:off x="1447800" y="4614862"/>
            <a:ext cx="4918508"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Lean (</a:t>
            </a:r>
            <a:r>
              <a:rPr sz="1100" b="0" i="0">
                <a:solidFill>
                  <a:srgbClr val="1C2433"/>
                </a:solidFill>
                <a:latin typeface="JetBrains Mono Medium"/>
                <a:ea typeface="JetBrains Mono Medium"/>
                <a:cs typeface="JetBrains Mono Medium"/>
              </a:rPr>
              <a:t>lake build</a:t>
            </a:r>
            <a:r>
              <a:rPr sz="1200" b="0" i="0">
                <a:solidFill>
                  <a:srgbClr val="1C2433"/>
                </a:solidFill>
                <a:latin typeface="Inter"/>
                <a:ea typeface="Inter"/>
                <a:cs typeface="Inter"/>
              </a:rPr>
              <a:t> + </a:t>
            </a:r>
            <a:r>
              <a:rPr sz="1100" b="0" i="0">
                <a:solidFill>
                  <a:srgbClr val="1C2433"/>
                </a:solidFill>
                <a:latin typeface="JetBrains Mono Medium"/>
                <a:ea typeface="JetBrains Mono Medium"/>
                <a:cs typeface="JetBrains Mono Medium"/>
              </a:rPr>
              <a:t>verificar</a:t>
            </a:r>
            <a:r>
              <a:rPr sz="1200" b="0" i="0">
                <a:solidFill>
                  <a:srgbClr val="1C2433"/>
                </a:solidFill>
                <a:latin typeface="Inter"/>
                <a:ea typeface="Inter"/>
                <a:cs typeface="Inter"/>
              </a:rPr>
              <a:t>): exit 1, con los eventos culpables</a:t>
            </a:r>
          </a:p>
        </p:txBody>
      </p:sp>
      <p:sp>
        <p:nvSpPr>
          <p:cNvPr id="28" name="Rounded Rectangle 27"/>
          <p:cNvSpPr/>
          <p:nvPr/>
        </p:nvSpPr>
        <p:spPr>
          <a:xfrm>
            <a:off x="7181850" y="1638300"/>
            <a:ext cx="4400550" cy="1524000"/>
          </a:xfrm>
          <a:prstGeom prst="roundRect">
            <a:avLst>
              <a:gd name="adj" fmla="val 5000"/>
            </a:avLst>
          </a:prstGeom>
          <a:solidFill>
            <a:srgbClr val="1C2433"/>
          </a:solidFill>
          <a:ln>
            <a:noFill/>
          </a:ln>
        </p:spPr>
        <p:txBody>
          <a:bodyPr rtlCol="0" anchor="ctr"/>
          <a:lstStyle/>
          <a:p>
            <a:endParaRPr/>
          </a:p>
        </p:txBody>
      </p:sp>
      <p:sp>
        <p:nvSpPr>
          <p:cNvPr id="29" name="TextBox 28"/>
          <p:cNvSpPr txBox="1"/>
          <p:nvPr/>
        </p:nvSpPr>
        <p:spPr>
          <a:xfrm>
            <a:off x="7353300" y="1781175"/>
            <a:ext cx="3693414" cy="1238250"/>
          </a:xfrm>
          <a:prstGeom prst="rect">
            <a:avLst/>
          </a:prstGeom>
          <a:noFill/>
        </p:spPr>
        <p:txBody>
          <a:bodyPr wrap="none" lIns="0" tIns="0" rIns="0" bIns="0" anchor="t">
            <a:noAutofit/>
          </a:bodyPr>
          <a:lstStyle/>
          <a:p>
            <a:pPr algn="l">
              <a:lnSpc>
                <a:spcPts val="1650"/>
              </a:lnSpc>
              <a:spcBef>
                <a:spcPts val="0"/>
              </a:spcBef>
              <a:spcAft>
                <a:spcPts val="0"/>
              </a:spcAft>
            </a:pPr>
            <a:r>
              <a:rPr sz="1100" b="0" i="0">
                <a:solidFill>
                  <a:srgbClr val="C9A34E"/>
                </a:solidFill>
                <a:latin typeface="JetBrains Mono Medium"/>
                <a:ea typeface="JetBrains Mono Medium"/>
                <a:cs typeface="JetBrains Mono Medium"/>
              </a:rPr>
              <a:t>theorem</a:t>
            </a:r>
            <a:r>
              <a:rPr sz="1100" b="0" i="0">
                <a:solidFill>
                  <a:srgbClr val="F5EFE3"/>
                </a:solidFill>
                <a:latin typeface="JetBrains Mono Medium"/>
                <a:ea typeface="JetBrains Mono Medium"/>
                <a:cs typeface="JetBrains Mono Medium"/>
              </a:rPr>
              <a:t> I1_NadieAntesDeNacer :</a:t>
            </a:r>
          </a:p>
          <a:p>
            <a:pPr algn="l">
              <a:lnSpc>
                <a:spcPts val="1650"/>
              </a:lnSpc>
              <a:spcBef>
                <a:spcPts val="0"/>
              </a:spcBef>
              <a:spcAft>
                <a:spcPts val="0"/>
              </a:spcAft>
            </a:pPr>
            <a:r>
              <a:rPr sz="1100" b="0" i="0">
                <a:solidFill>
                  <a:srgbClr val="F5EFE3"/>
                </a:solidFill>
                <a:latin typeface="JetBrains Mono Medium"/>
                <a:ea typeface="JetBrains Mono Medium"/>
                <a:cs typeface="JetBrains Mono Medium"/>
              </a:rPr>
              <a:t>  </a:t>
            </a:r>
            <a:r>
              <a:rPr sz="1100" b="0" i="0">
                <a:solidFill>
                  <a:srgbClr val="C9A34E"/>
                </a:solidFill>
                <a:latin typeface="JetBrains Mono Medium"/>
                <a:ea typeface="JetBrains Mono Medium"/>
                <a:cs typeface="JetBrains Mono Medium"/>
              </a:rPr>
              <a:t>∀</a:t>
            </a:r>
            <a:r>
              <a:rPr sz="1100" b="0" i="0">
                <a:solidFill>
                  <a:srgbClr val="F5EFE3"/>
                </a:solidFill>
                <a:latin typeface="JetBrains Mono Medium"/>
                <a:ea typeface="JetBrains Mono Medium"/>
                <a:cs typeface="JetBrains Mono Medium"/>
              </a:rPr>
              <a:t> e </a:t>
            </a:r>
            <a:r>
              <a:rPr sz="1100" b="0" i="0">
                <a:solidFill>
                  <a:srgbClr val="C9A34E"/>
                </a:solidFill>
                <a:latin typeface="JetBrains Mono Medium"/>
                <a:ea typeface="JetBrains Mono Medium"/>
                <a:cs typeface="JetBrains Mono Medium"/>
              </a:rPr>
              <a:t>∈</a:t>
            </a:r>
            <a:r>
              <a:rPr sz="1100" b="0" i="0">
                <a:solidFill>
                  <a:srgbClr val="F5EFE3"/>
                </a:solidFill>
                <a:latin typeface="JetBrains Mono Medium"/>
                <a:ea typeface="JetBrains Mono Medium"/>
                <a:cs typeface="JetBrains Mono Medium"/>
              </a:rPr>
              <a:t> eventos, </a:t>
            </a:r>
            <a:r>
              <a:rPr sz="1100" b="0" i="0">
                <a:solidFill>
                  <a:srgbClr val="C9A34E"/>
                </a:solidFill>
                <a:latin typeface="JetBrains Mono Medium"/>
                <a:ea typeface="JetBrains Mono Medium"/>
                <a:cs typeface="JetBrains Mono Medium"/>
              </a:rPr>
              <a:t>∀</a:t>
            </a:r>
            <a:r>
              <a:rPr sz="1100" b="0" i="0">
                <a:solidFill>
                  <a:srgbClr val="F5EFE3"/>
                </a:solidFill>
                <a:latin typeface="JetBrains Mono Medium"/>
                <a:ea typeface="JetBrains Mono Medium"/>
                <a:cs typeface="JetBrains Mono Medium"/>
              </a:rPr>
              <a:t> p </a:t>
            </a:r>
            <a:r>
              <a:rPr sz="1100" b="0" i="0">
                <a:solidFill>
                  <a:srgbClr val="C9A34E"/>
                </a:solidFill>
                <a:latin typeface="JetBrains Mono Medium"/>
                <a:ea typeface="JetBrains Mono Medium"/>
                <a:cs typeface="JetBrains Mono Medium"/>
              </a:rPr>
              <a:t>∈</a:t>
            </a:r>
            <a:r>
              <a:rPr sz="1100" b="0" i="0">
                <a:solidFill>
                  <a:srgbClr val="F5EFE3"/>
                </a:solidFill>
                <a:latin typeface="JetBrains Mono Medium"/>
                <a:ea typeface="JetBrains Mono Medium"/>
                <a:cs typeface="JetBrains Mono Medium"/>
              </a:rPr>
              <a:t> e.participantes,</a:t>
            </a:r>
          </a:p>
          <a:p>
            <a:pPr algn="l">
              <a:lnSpc>
                <a:spcPts val="1650"/>
              </a:lnSpc>
              <a:spcBef>
                <a:spcPts val="0"/>
              </a:spcBef>
              <a:spcAft>
                <a:spcPts val="0"/>
              </a:spcAft>
            </a:pPr>
            <a:r>
              <a:rPr sz="1100" b="0" i="0">
                <a:solidFill>
                  <a:srgbClr val="F5EFE3"/>
                </a:solidFill>
                <a:latin typeface="JetBrains Mono Medium"/>
                <a:ea typeface="JetBrains Mono Medium"/>
                <a:cs typeface="JetBrains Mono Medium"/>
              </a:rPr>
              <a:t>    p.nacimiento </a:t>
            </a:r>
            <a:r>
              <a:rPr sz="1100" b="0" i="0">
                <a:solidFill>
                  <a:srgbClr val="C9A34E"/>
                </a:solidFill>
                <a:latin typeface="JetBrains Mono Medium"/>
                <a:ea typeface="JetBrains Mono Medium"/>
                <a:cs typeface="JetBrains Mono Medium"/>
              </a:rPr>
              <a:t>≤</a:t>
            </a:r>
            <a:r>
              <a:rPr sz="1100" b="0" i="0">
                <a:solidFill>
                  <a:srgbClr val="F5EFE3"/>
                </a:solidFill>
                <a:latin typeface="JetBrains Mono Medium"/>
                <a:ea typeface="JetBrains Mono Medium"/>
                <a:cs typeface="JetBrains Mono Medium"/>
              </a:rPr>
              <a:t> e.momento := </a:t>
            </a:r>
            <a:r>
              <a:rPr sz="1100" b="0" i="0">
                <a:solidFill>
                  <a:srgbClr val="C9A34E"/>
                </a:solidFill>
                <a:latin typeface="JetBrains Mono Medium"/>
                <a:ea typeface="JetBrains Mono Medium"/>
                <a:cs typeface="JetBrains Mono Medium"/>
              </a:rPr>
              <a:t>by</a:t>
            </a:r>
            <a:r>
              <a:rPr sz="1100" b="0" i="0">
                <a:solidFill>
                  <a:srgbClr val="F5EFE3"/>
                </a:solidFill>
                <a:latin typeface="JetBrains Mono Medium"/>
                <a:ea typeface="JetBrains Mono Medium"/>
                <a:cs typeface="JetBrains Mono Medium"/>
              </a:rPr>
              <a:t> decide</a:t>
            </a:r>
          </a:p>
          <a:p>
            <a:pPr algn="l">
              <a:lnSpc>
                <a:spcPts val="1650"/>
              </a:lnSpc>
              <a:spcBef>
                <a:spcPts val="0"/>
              </a:spcBef>
              <a:spcAft>
                <a:spcPts val="0"/>
              </a:spcAft>
            </a:pPr>
            <a:endParaRPr sz="1100" b="0" i="0">
              <a:solidFill>
                <a:srgbClr val="F5EFE3"/>
              </a:solidFill>
              <a:latin typeface="JetBrains Mono Medium"/>
              <a:ea typeface="JetBrains Mono Medium"/>
              <a:cs typeface="JetBrains Mono Medium"/>
            </a:endParaRPr>
          </a:p>
          <a:p>
            <a:pPr algn="l">
              <a:lnSpc>
                <a:spcPts val="1650"/>
              </a:lnSpc>
              <a:spcBef>
                <a:spcPts val="0"/>
              </a:spcBef>
              <a:spcAft>
                <a:spcPts val="0"/>
              </a:spcAft>
            </a:pPr>
            <a:r>
              <a:rPr sz="1100" b="0" i="0">
                <a:solidFill>
                  <a:srgbClr val="A5A5A3"/>
                </a:solidFill>
                <a:latin typeface="JetBrains Mono"/>
                <a:ea typeface="JetBrains Mono"/>
                <a:cs typeface="JetBrains Mono"/>
              </a:rPr>
              <a:t>-- lake exe verificar → exit 1</a:t>
            </a:r>
          </a:p>
          <a:p>
            <a:pPr algn="l">
              <a:lnSpc>
                <a:spcPts val="1650"/>
              </a:lnSpc>
              <a:spcBef>
                <a:spcPts val="0"/>
              </a:spcBef>
              <a:spcAft>
                <a:spcPts val="0"/>
              </a:spcAft>
            </a:pPr>
            <a:r>
              <a:rPr sz="1100" b="0" i="0">
                <a:solidFill>
                  <a:srgbClr val="A5A5A3"/>
                </a:solidFill>
                <a:latin typeface="JetBrains Mono"/>
                <a:ea typeface="JetBrains Mono"/>
                <a:cs typeface="JetBrains Mono"/>
              </a:rPr>
              <a:t>-- I1 falla: 9 escenas, 26 eventos</a:t>
            </a:r>
          </a:p>
        </p:txBody>
      </p:sp>
      <p:sp>
        <p:nvSpPr>
          <p:cNvPr id="30" name="Rounded Rectangle 29"/>
          <p:cNvSpPr/>
          <p:nvPr/>
        </p:nvSpPr>
        <p:spPr>
          <a:xfrm>
            <a:off x="7181850" y="3314700"/>
            <a:ext cx="4400550" cy="1009650"/>
          </a:xfrm>
          <a:prstGeom prst="roundRect">
            <a:avLst>
              <a:gd name="adj" fmla="val 7547"/>
            </a:avLst>
          </a:prstGeom>
          <a:solidFill>
            <a:srgbClr val="EEE0C0"/>
          </a:solidFill>
          <a:ln w="9525">
            <a:solidFill>
              <a:srgbClr val="C9A34E"/>
            </a:solidFill>
          </a:ln>
        </p:spPr>
        <p:txBody>
          <a:bodyPr rtlCol="0" anchor="ctr"/>
          <a:lstStyle/>
          <a:p>
            <a:endParaRPr/>
          </a:p>
        </p:txBody>
      </p:sp>
      <p:sp>
        <p:nvSpPr>
          <p:cNvPr id="31" name="TextBox 30"/>
          <p:cNvSpPr txBox="1"/>
          <p:nvPr/>
        </p:nvSpPr>
        <p:spPr>
          <a:xfrm>
            <a:off x="7324725" y="3438525"/>
            <a:ext cx="4149014" cy="752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Cuando se generó, la cronología solo avisaba en el gate de Plotting y la novela se publicó. </a:t>
            </a:r>
            <a:r>
              <a:rPr sz="1100" b="0" i="0">
                <a:solidFill>
                  <a:srgbClr val="1C2433"/>
                </a:solidFill>
                <a:latin typeface="Inter SemiBold"/>
                <a:ea typeface="Inter SemiBold"/>
                <a:cs typeface="Inter SemiBold"/>
              </a:rPr>
              <a:t>Hoy Lean bloquea la publicación</a:t>
            </a:r>
            <a:r>
              <a:rPr sz="1100" b="0" i="0">
                <a:solidFill>
                  <a:srgbClr val="1C2433"/>
                </a:solidFill>
                <a:latin typeface="Inter"/>
                <a:ea typeface="Inter"/>
                <a:cs typeface="Inter"/>
              </a:rPr>
              <a:t>, y el canon usa una fecha de nacimiento de época para el personaje del homenajeado.</a:t>
            </a:r>
          </a:p>
        </p:txBody>
      </p:sp>
      <p:sp>
        <p:nvSpPr>
          <p:cNvPr id="32" name="Rounded Rectangle 31"/>
          <p:cNvSpPr/>
          <p:nvPr/>
        </p:nvSpPr>
        <p:spPr>
          <a:xfrm>
            <a:off x="609600" y="5067300"/>
            <a:ext cx="10972800" cy="590550"/>
          </a:xfrm>
          <a:prstGeom prst="roundRect">
            <a:avLst>
              <a:gd name="adj" fmla="val 12903"/>
            </a:avLst>
          </a:prstGeom>
          <a:solidFill>
            <a:srgbClr val="FBF8F1"/>
          </a:solidFill>
          <a:ln w="9525">
            <a:solidFill>
              <a:srgbClr val="B23A2B"/>
            </a:solidFill>
          </a:ln>
        </p:spPr>
        <p:txBody>
          <a:bodyPr rtlCol="0" anchor="ctr"/>
          <a:lstStyle/>
          <a:p>
            <a:endParaRPr/>
          </a:p>
        </p:txBody>
      </p:sp>
      <p:sp>
        <p:nvSpPr>
          <p:cNvPr id="33" name="TextBox 32"/>
          <p:cNvSpPr txBox="1"/>
          <p:nvPr/>
        </p:nvSpPr>
        <p:spPr>
          <a:xfrm>
            <a:off x="771525" y="5172075"/>
            <a:ext cx="10722369"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Y el límite: Lean solo es tan fiable como sus fechas. En el brief adversarial temporal, el arquitecto movió la muerte de Gravina de 1806 a 1809 y Lean validó contra la fecha inventada (RT-09). Mitigación propuesta: exigir que las fechas vitales de un personaje histórico salgan del corpus sellado.</a:t>
            </a:r>
          </a:p>
        </p:txBody>
      </p:sp>
      <p:pic>
        <p:nvPicPr>
          <p:cNvPr id="34" name="Picture 33" descr="r003.png"/>
          <p:cNvPicPr>
            <a:picLocks noChangeAspect="1"/>
          </p:cNvPicPr>
          <p:nvPr/>
        </p:nvPicPr>
        <p:blipFill>
          <a:blip r:embed="rId4"/>
          <a:stretch>
            <a:fillRect/>
          </a:stretch>
        </p:blipFill>
        <p:spPr>
          <a:xfrm>
            <a:off x="381000" y="6343650"/>
            <a:ext cx="11430000" cy="76200"/>
          </a:xfrm>
          <a:prstGeom prst="rect">
            <a:avLst/>
          </a:prstGeom>
        </p:spPr>
      </p:pic>
      <p:pic>
        <p:nvPicPr>
          <p:cNvPr id="35" name="Picture 34" descr="r004.png"/>
          <p:cNvPicPr>
            <a:picLocks noChangeAspect="1"/>
          </p:cNvPicPr>
          <p:nvPr/>
        </p:nvPicPr>
        <p:blipFill>
          <a:blip r:embed="rId5"/>
          <a:stretch>
            <a:fillRect/>
          </a:stretch>
        </p:blipFill>
        <p:spPr>
          <a:xfrm>
            <a:off x="381000" y="6505575"/>
            <a:ext cx="171450" cy="190500"/>
          </a:xfrm>
          <a:prstGeom prst="rect">
            <a:avLst/>
          </a:prstGeom>
        </p:spPr>
      </p:pic>
      <p:sp>
        <p:nvSpPr>
          <p:cNvPr id="36" name="TextBox 35"/>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37" name="TextBox 36"/>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8" name="TextBox 37"/>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39" name="TextBox 38"/>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14 / 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91023" y="323850"/>
            <a:ext cx="2190952"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VALIDACIÓN FORMAL · TLA+</a:t>
            </a:r>
          </a:p>
        </p:txBody>
      </p:sp>
      <p:sp>
        <p:nvSpPr>
          <p:cNvPr id="3" name="TextBox 2"/>
          <p:cNvSpPr txBox="1"/>
          <p:nvPr/>
        </p:nvSpPr>
        <p:spPr>
          <a:xfrm>
            <a:off x="609600" y="323850"/>
            <a:ext cx="95966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a:t>
            </a:r>
          </a:p>
        </p:txBody>
      </p:sp>
      <p:sp>
        <p:nvSpPr>
          <p:cNvPr id="4" name="Rectangle 3"/>
          <p:cNvSpPr/>
          <p:nvPr/>
        </p:nvSpPr>
        <p:spPr>
          <a:xfrm>
            <a:off x="1610023" y="395288"/>
            <a:ext cx="266700" cy="9525"/>
          </a:xfrm>
          <a:prstGeom prst="rect">
            <a:avLst/>
          </a:prstGeom>
          <a:noFill/>
          <a:ln>
            <a:noFill/>
          </a:ln>
        </p:spPr>
        <p:txBody>
          <a:bodyPr rtlCol="0" anchor="ctr"/>
          <a:lstStyle/>
          <a:p>
            <a:endParaRPr/>
          </a:p>
        </p:txBody>
      </p:sp>
      <p:cxnSp>
        <p:nvCxnSpPr>
          <p:cNvPr id="5" name="Connector 4"/>
          <p:cNvCxnSpPr/>
          <p:nvPr/>
        </p:nvCxnSpPr>
        <p:spPr>
          <a:xfrm>
            <a:off x="1610023" y="400050"/>
            <a:ext cx="266700" cy="0"/>
          </a:xfrm>
          <a:prstGeom prst="line">
            <a:avLst/>
          </a:prstGeom>
          <a:ln w="9525">
            <a:solidFill>
              <a:srgbClr val="C9A34E"/>
            </a:solidFill>
          </a:ln>
        </p:spPr>
      </p:cxnSp>
      <p:sp>
        <p:nvSpPr>
          <p:cNvPr id="6" name="TextBox 5"/>
          <p:cNvSpPr txBox="1"/>
          <p:nvPr/>
        </p:nvSpPr>
        <p:spPr>
          <a:xfrm>
            <a:off x="609600" y="561975"/>
            <a:ext cx="11048162" cy="752475"/>
          </a:xfrm>
          <a:prstGeom prst="rect">
            <a:avLst/>
          </a:prstGeom>
          <a:noFill/>
        </p:spPr>
        <p:txBody>
          <a:bodyPr wrap="square" lIns="0" tIns="0" rIns="0" bIns="0" anchor="t">
            <a:noAutofit/>
          </a:bodyPr>
          <a:lstStyle/>
          <a:p>
            <a:pPr algn="l">
              <a:lnSpc>
                <a:spcPts val="2925"/>
              </a:lnSpc>
              <a:spcBef>
                <a:spcPts val="0"/>
              </a:spcBef>
              <a:spcAft>
                <a:spcPts val="0"/>
              </a:spcAft>
            </a:pPr>
            <a:r>
              <a:rPr sz="2500" b="0" i="0" spc="-25">
                <a:solidFill>
                  <a:srgbClr val="1C2433"/>
                </a:solidFill>
                <a:latin typeface="Fraunces SemiBold"/>
                <a:ea typeface="Fraunces SemiBold"/>
                <a:cs typeface="Fraunces SemiBold"/>
              </a:rPr>
              <a:t>TLC agota todos los estados del harness sin violaciones, después de cazar tres errores de diseño</a:t>
            </a:r>
          </a:p>
        </p:txBody>
      </p:sp>
      <p:sp>
        <p:nvSpPr>
          <p:cNvPr id="7" name="Rounded Rectangle 6"/>
          <p:cNvSpPr/>
          <p:nvPr/>
        </p:nvSpPr>
        <p:spPr>
          <a:xfrm>
            <a:off x="609600" y="1428750"/>
            <a:ext cx="242739" cy="209550"/>
          </a:xfrm>
          <a:prstGeom prst="roundRect">
            <a:avLst>
              <a:gd name="adj" fmla="val 31818"/>
            </a:avLst>
          </a:prstGeom>
          <a:solidFill>
            <a:srgbClr val="DDE3D5"/>
          </a:solidFill>
          <a:ln w="9525">
            <a:solidFill>
              <a:srgbClr val="5E8C6A"/>
            </a:solidFill>
          </a:ln>
        </p:spPr>
        <p:txBody>
          <a:bodyPr rtlCol="0" anchor="ctr"/>
          <a:lstStyle/>
          <a:p>
            <a:endParaRPr/>
          </a:p>
        </p:txBody>
      </p:sp>
      <p:sp>
        <p:nvSpPr>
          <p:cNvPr id="8" name="TextBox 7"/>
          <p:cNvSpPr txBox="1"/>
          <p:nvPr/>
        </p:nvSpPr>
        <p:spPr>
          <a:xfrm>
            <a:off x="676275" y="1457325"/>
            <a:ext cx="15186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5E8C6A"/>
                </a:solidFill>
                <a:latin typeface="Inter SemiBold"/>
                <a:ea typeface="Inter SemiBold"/>
                <a:cs typeface="Inter SemiBold"/>
              </a:rPr>
              <a:t>✓</a:t>
            </a:r>
          </a:p>
        </p:txBody>
      </p:sp>
      <p:sp>
        <p:nvSpPr>
          <p:cNvPr id="9" name="TextBox 8"/>
          <p:cNvSpPr txBox="1"/>
          <p:nvPr/>
        </p:nvSpPr>
        <p:spPr>
          <a:xfrm>
            <a:off x="947589" y="1438275"/>
            <a:ext cx="4809387" cy="190500"/>
          </a:xfrm>
          <a:prstGeom prst="rect">
            <a:avLst/>
          </a:prstGeom>
          <a:noFill/>
        </p:spPr>
        <p:txBody>
          <a:bodyPr wrap="none" lIns="0" tIns="0" rIns="0" bIns="0" anchor="t">
            <a:noAutofit/>
          </a:bodyPr>
          <a:lstStyle/>
          <a:p>
            <a:pPr algn="l">
              <a:lnSpc>
                <a:spcPts val="1500"/>
              </a:lnSpc>
              <a:spcBef>
                <a:spcPts val="0"/>
              </a:spcBef>
              <a:spcAft>
                <a:spcPts val="0"/>
              </a:spcAft>
            </a:pPr>
            <a:r>
              <a:rPr sz="1100" b="1" i="0">
                <a:solidFill>
                  <a:srgbClr val="1C2433"/>
                </a:solidFill>
                <a:latin typeface="JetBrains Mono"/>
                <a:ea typeface="JetBrains Mono"/>
                <a:cs typeface="JetBrains Mono"/>
              </a:rPr>
              <a:t>NoPublishUnvalidated</a:t>
            </a:r>
            <a:r>
              <a:rPr sz="1150" b="0" i="0">
                <a:solidFill>
                  <a:srgbClr val="1C2433"/>
                </a:solidFill>
                <a:latin typeface="Inter"/>
                <a:ea typeface="Inter"/>
                <a:cs typeface="Inter"/>
              </a:rPr>
              <a:t> · nunca se publica un capítulo sin validar</a:t>
            </a:r>
          </a:p>
        </p:txBody>
      </p:sp>
      <p:sp>
        <p:nvSpPr>
          <p:cNvPr id="10" name="Rounded Rectangle 9"/>
          <p:cNvSpPr/>
          <p:nvPr/>
        </p:nvSpPr>
        <p:spPr>
          <a:xfrm>
            <a:off x="609600" y="1724025"/>
            <a:ext cx="242739" cy="209550"/>
          </a:xfrm>
          <a:prstGeom prst="roundRect">
            <a:avLst>
              <a:gd name="adj" fmla="val 31818"/>
            </a:avLst>
          </a:prstGeom>
          <a:solidFill>
            <a:srgbClr val="DDE3D5"/>
          </a:solidFill>
          <a:ln w="9525">
            <a:solidFill>
              <a:srgbClr val="5E8C6A"/>
            </a:solidFill>
          </a:ln>
        </p:spPr>
        <p:txBody>
          <a:bodyPr rtlCol="0" anchor="ctr"/>
          <a:lstStyle/>
          <a:p>
            <a:endParaRPr/>
          </a:p>
        </p:txBody>
      </p:sp>
      <p:sp>
        <p:nvSpPr>
          <p:cNvPr id="11" name="TextBox 10"/>
          <p:cNvSpPr txBox="1"/>
          <p:nvPr/>
        </p:nvSpPr>
        <p:spPr>
          <a:xfrm>
            <a:off x="676275" y="1752600"/>
            <a:ext cx="15186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5E8C6A"/>
                </a:solidFill>
                <a:latin typeface="Inter SemiBold"/>
                <a:ea typeface="Inter SemiBold"/>
                <a:cs typeface="Inter SemiBold"/>
              </a:rPr>
              <a:t>✓</a:t>
            </a:r>
          </a:p>
        </p:txBody>
      </p:sp>
      <p:sp>
        <p:nvSpPr>
          <p:cNvPr id="12" name="TextBox 11"/>
          <p:cNvSpPr txBox="1"/>
          <p:nvPr/>
        </p:nvSpPr>
        <p:spPr>
          <a:xfrm>
            <a:off x="947589" y="1733550"/>
            <a:ext cx="4687419" cy="190500"/>
          </a:xfrm>
          <a:prstGeom prst="rect">
            <a:avLst/>
          </a:prstGeom>
          <a:noFill/>
        </p:spPr>
        <p:txBody>
          <a:bodyPr wrap="none" lIns="0" tIns="0" rIns="0" bIns="0" anchor="t">
            <a:noAutofit/>
          </a:bodyPr>
          <a:lstStyle/>
          <a:p>
            <a:pPr algn="l">
              <a:lnSpc>
                <a:spcPts val="1500"/>
              </a:lnSpc>
              <a:spcBef>
                <a:spcPts val="0"/>
              </a:spcBef>
              <a:spcAft>
                <a:spcPts val="0"/>
              </a:spcAft>
            </a:pPr>
            <a:r>
              <a:rPr sz="1100" b="1" i="0">
                <a:solidFill>
                  <a:srgbClr val="1C2433"/>
                </a:solidFill>
                <a:latin typeface="JetBrains Mono"/>
                <a:ea typeface="JetBrains Mono"/>
                <a:cs typeface="JetBrains Mono"/>
              </a:rPr>
              <a:t>ResumeIsExactlyOnce</a:t>
            </a:r>
            <a:r>
              <a:rPr sz="1150" b="0" i="0">
                <a:solidFill>
                  <a:srgbClr val="1C2433"/>
                </a:solidFill>
                <a:latin typeface="Inter"/>
                <a:ea typeface="Inter"/>
                <a:cs typeface="Inter"/>
              </a:rPr>
              <a:t> · reanudar no duplica ni pierde capítulos</a:t>
            </a:r>
          </a:p>
        </p:txBody>
      </p:sp>
      <p:sp>
        <p:nvSpPr>
          <p:cNvPr id="13" name="Rounded Rectangle 12"/>
          <p:cNvSpPr/>
          <p:nvPr/>
        </p:nvSpPr>
        <p:spPr>
          <a:xfrm>
            <a:off x="609600" y="2019300"/>
            <a:ext cx="242739" cy="209550"/>
          </a:xfrm>
          <a:prstGeom prst="roundRect">
            <a:avLst>
              <a:gd name="adj" fmla="val 31818"/>
            </a:avLst>
          </a:prstGeom>
          <a:solidFill>
            <a:srgbClr val="DDE3D5"/>
          </a:solidFill>
          <a:ln w="9525">
            <a:solidFill>
              <a:srgbClr val="5E8C6A"/>
            </a:solidFill>
          </a:ln>
        </p:spPr>
        <p:txBody>
          <a:bodyPr rtlCol="0" anchor="ctr"/>
          <a:lstStyle/>
          <a:p>
            <a:endParaRPr/>
          </a:p>
        </p:txBody>
      </p:sp>
      <p:sp>
        <p:nvSpPr>
          <p:cNvPr id="14" name="TextBox 13"/>
          <p:cNvSpPr txBox="1"/>
          <p:nvPr/>
        </p:nvSpPr>
        <p:spPr>
          <a:xfrm>
            <a:off x="676275" y="2047875"/>
            <a:ext cx="15186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5E8C6A"/>
                </a:solidFill>
                <a:latin typeface="Inter SemiBold"/>
                <a:ea typeface="Inter SemiBold"/>
                <a:cs typeface="Inter SemiBold"/>
              </a:rPr>
              <a:t>✓</a:t>
            </a:r>
          </a:p>
        </p:txBody>
      </p:sp>
      <p:sp>
        <p:nvSpPr>
          <p:cNvPr id="15" name="TextBox 14"/>
          <p:cNvSpPr txBox="1"/>
          <p:nvPr/>
        </p:nvSpPr>
        <p:spPr>
          <a:xfrm>
            <a:off x="947589" y="2028825"/>
            <a:ext cx="4115348" cy="190500"/>
          </a:xfrm>
          <a:prstGeom prst="rect">
            <a:avLst/>
          </a:prstGeom>
          <a:noFill/>
        </p:spPr>
        <p:txBody>
          <a:bodyPr wrap="none" lIns="0" tIns="0" rIns="0" bIns="0" anchor="t">
            <a:noAutofit/>
          </a:bodyPr>
          <a:lstStyle/>
          <a:p>
            <a:pPr algn="l">
              <a:lnSpc>
                <a:spcPts val="1500"/>
              </a:lnSpc>
              <a:spcBef>
                <a:spcPts val="0"/>
              </a:spcBef>
              <a:spcAft>
                <a:spcPts val="0"/>
              </a:spcAft>
            </a:pPr>
            <a:r>
              <a:rPr sz="1100" b="1" i="0">
                <a:solidFill>
                  <a:srgbClr val="1C2433"/>
                </a:solidFill>
                <a:latin typeface="JetBrains Mono"/>
                <a:ea typeface="JetBrains Mono"/>
                <a:cs typeface="JetBrains Mono"/>
              </a:rPr>
              <a:t>RetriesBounded</a:t>
            </a:r>
            <a:r>
              <a:rPr sz="1150" b="0" i="0">
                <a:solidFill>
                  <a:srgbClr val="1C2433"/>
                </a:solidFill>
                <a:latin typeface="Inter"/>
                <a:ea typeface="Inter"/>
                <a:cs typeface="Inter"/>
              </a:rPr>
              <a:t> · los reintentos nunca superan el límite</a:t>
            </a:r>
          </a:p>
        </p:txBody>
      </p:sp>
      <p:sp>
        <p:nvSpPr>
          <p:cNvPr id="16" name="Rounded Rectangle 15"/>
          <p:cNvSpPr/>
          <p:nvPr/>
        </p:nvSpPr>
        <p:spPr>
          <a:xfrm>
            <a:off x="609600" y="2314575"/>
            <a:ext cx="242739" cy="209550"/>
          </a:xfrm>
          <a:prstGeom prst="roundRect">
            <a:avLst>
              <a:gd name="adj" fmla="val 31818"/>
            </a:avLst>
          </a:prstGeom>
          <a:solidFill>
            <a:srgbClr val="DDE3D5"/>
          </a:solidFill>
          <a:ln w="9525">
            <a:solidFill>
              <a:srgbClr val="5E8C6A"/>
            </a:solidFill>
          </a:ln>
        </p:spPr>
        <p:txBody>
          <a:bodyPr rtlCol="0" anchor="ctr"/>
          <a:lstStyle/>
          <a:p>
            <a:endParaRPr/>
          </a:p>
        </p:txBody>
      </p:sp>
      <p:sp>
        <p:nvSpPr>
          <p:cNvPr id="17" name="TextBox 16"/>
          <p:cNvSpPr txBox="1"/>
          <p:nvPr/>
        </p:nvSpPr>
        <p:spPr>
          <a:xfrm>
            <a:off x="676275" y="2343150"/>
            <a:ext cx="15186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5E8C6A"/>
                </a:solidFill>
                <a:latin typeface="Inter SemiBold"/>
                <a:ea typeface="Inter SemiBold"/>
                <a:cs typeface="Inter SemiBold"/>
              </a:rPr>
              <a:t>✓</a:t>
            </a:r>
          </a:p>
        </p:txBody>
      </p:sp>
      <p:sp>
        <p:nvSpPr>
          <p:cNvPr id="18" name="TextBox 17"/>
          <p:cNvSpPr txBox="1"/>
          <p:nvPr/>
        </p:nvSpPr>
        <p:spPr>
          <a:xfrm>
            <a:off x="947589" y="2324100"/>
            <a:ext cx="4875324" cy="190500"/>
          </a:xfrm>
          <a:prstGeom prst="rect">
            <a:avLst/>
          </a:prstGeom>
          <a:noFill/>
        </p:spPr>
        <p:txBody>
          <a:bodyPr wrap="none" lIns="0" tIns="0" rIns="0" bIns="0" anchor="t">
            <a:noAutofit/>
          </a:bodyPr>
          <a:lstStyle/>
          <a:p>
            <a:pPr algn="l">
              <a:lnSpc>
                <a:spcPts val="1500"/>
              </a:lnSpc>
              <a:spcBef>
                <a:spcPts val="0"/>
              </a:spcBef>
              <a:spcAft>
                <a:spcPts val="0"/>
              </a:spcAft>
            </a:pPr>
            <a:r>
              <a:rPr sz="1100" b="1" i="0">
                <a:solidFill>
                  <a:srgbClr val="1C2433"/>
                </a:solidFill>
                <a:latin typeface="JetBrains Mono"/>
                <a:ea typeface="JetBrains Mono"/>
                <a:cs typeface="JetBrains Mono"/>
              </a:rPr>
              <a:t>CorpusSelladoNoSeToca</a:t>
            </a:r>
            <a:r>
              <a:rPr sz="1150" b="0" i="0">
                <a:solidFill>
                  <a:srgbClr val="1C2433"/>
                </a:solidFill>
                <a:latin typeface="Inter"/>
                <a:ea typeface="Inter"/>
                <a:cs typeface="Inter"/>
              </a:rPr>
              <a:t> · tras el sello, nadie escribe en el corpus</a:t>
            </a:r>
          </a:p>
        </p:txBody>
      </p:sp>
      <p:sp>
        <p:nvSpPr>
          <p:cNvPr id="19" name="Rounded Rectangle 18"/>
          <p:cNvSpPr/>
          <p:nvPr/>
        </p:nvSpPr>
        <p:spPr>
          <a:xfrm>
            <a:off x="609600" y="2609850"/>
            <a:ext cx="242739" cy="209550"/>
          </a:xfrm>
          <a:prstGeom prst="roundRect">
            <a:avLst>
              <a:gd name="adj" fmla="val 31818"/>
            </a:avLst>
          </a:prstGeom>
          <a:solidFill>
            <a:srgbClr val="DDE3D5"/>
          </a:solidFill>
          <a:ln w="9525">
            <a:solidFill>
              <a:srgbClr val="5E8C6A"/>
            </a:solidFill>
          </a:ln>
        </p:spPr>
        <p:txBody>
          <a:bodyPr rtlCol="0" anchor="ctr"/>
          <a:lstStyle/>
          <a:p>
            <a:endParaRPr/>
          </a:p>
        </p:txBody>
      </p:sp>
      <p:sp>
        <p:nvSpPr>
          <p:cNvPr id="20" name="TextBox 19"/>
          <p:cNvSpPr txBox="1"/>
          <p:nvPr/>
        </p:nvSpPr>
        <p:spPr>
          <a:xfrm>
            <a:off x="676275" y="2638425"/>
            <a:ext cx="15186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5E8C6A"/>
                </a:solidFill>
                <a:latin typeface="Inter SemiBold"/>
                <a:ea typeface="Inter SemiBold"/>
                <a:cs typeface="Inter SemiBold"/>
              </a:rPr>
              <a:t>✓</a:t>
            </a:r>
          </a:p>
        </p:txBody>
      </p:sp>
      <p:sp>
        <p:nvSpPr>
          <p:cNvPr id="21" name="TextBox 20"/>
          <p:cNvSpPr txBox="1"/>
          <p:nvPr/>
        </p:nvSpPr>
        <p:spPr>
          <a:xfrm>
            <a:off x="947589" y="2619375"/>
            <a:ext cx="4541306" cy="190500"/>
          </a:xfrm>
          <a:prstGeom prst="rect">
            <a:avLst/>
          </a:prstGeom>
          <a:noFill/>
        </p:spPr>
        <p:txBody>
          <a:bodyPr wrap="none" lIns="0" tIns="0" rIns="0" bIns="0" anchor="t">
            <a:noAutofit/>
          </a:bodyPr>
          <a:lstStyle/>
          <a:p>
            <a:pPr algn="l">
              <a:lnSpc>
                <a:spcPts val="1500"/>
              </a:lnSpc>
              <a:spcBef>
                <a:spcPts val="0"/>
              </a:spcBef>
              <a:spcAft>
                <a:spcPts val="0"/>
              </a:spcAft>
            </a:pPr>
            <a:r>
              <a:rPr sz="1100" b="1" i="0">
                <a:solidFill>
                  <a:srgbClr val="1C2433"/>
                </a:solidFill>
                <a:latin typeface="JetBrains Mono"/>
                <a:ea typeface="JetBrains Mono"/>
                <a:cs typeface="JetBrains Mono"/>
              </a:rPr>
              <a:t>PreviousVersionPreserved</a:t>
            </a:r>
            <a:r>
              <a:rPr sz="1150" b="0" i="0">
                <a:solidFill>
                  <a:srgbClr val="1C2433"/>
                </a:solidFill>
                <a:latin typeface="Inter"/>
                <a:ea typeface="Inter"/>
                <a:cs typeface="Inter"/>
              </a:rPr>
              <a:t> · la versión anterior se conserva</a:t>
            </a:r>
          </a:p>
        </p:txBody>
      </p:sp>
      <p:sp>
        <p:nvSpPr>
          <p:cNvPr id="22" name="Rounded Rectangle 21"/>
          <p:cNvSpPr/>
          <p:nvPr/>
        </p:nvSpPr>
        <p:spPr>
          <a:xfrm>
            <a:off x="609600" y="2905125"/>
            <a:ext cx="242739" cy="209550"/>
          </a:xfrm>
          <a:prstGeom prst="roundRect">
            <a:avLst>
              <a:gd name="adj" fmla="val 31818"/>
            </a:avLst>
          </a:prstGeom>
          <a:solidFill>
            <a:srgbClr val="DDE3D5"/>
          </a:solidFill>
          <a:ln w="9525">
            <a:solidFill>
              <a:srgbClr val="5E8C6A"/>
            </a:solidFill>
          </a:ln>
        </p:spPr>
        <p:txBody>
          <a:bodyPr rtlCol="0" anchor="ctr"/>
          <a:lstStyle/>
          <a:p>
            <a:endParaRPr/>
          </a:p>
        </p:txBody>
      </p:sp>
      <p:sp>
        <p:nvSpPr>
          <p:cNvPr id="23" name="TextBox 22"/>
          <p:cNvSpPr txBox="1"/>
          <p:nvPr/>
        </p:nvSpPr>
        <p:spPr>
          <a:xfrm>
            <a:off x="676275" y="2933700"/>
            <a:ext cx="15186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5E8C6A"/>
                </a:solidFill>
                <a:latin typeface="Inter SemiBold"/>
                <a:ea typeface="Inter SemiBold"/>
                <a:cs typeface="Inter SemiBold"/>
              </a:rPr>
              <a:t>✓</a:t>
            </a:r>
          </a:p>
        </p:txBody>
      </p:sp>
      <p:sp>
        <p:nvSpPr>
          <p:cNvPr id="24" name="TextBox 23"/>
          <p:cNvSpPr txBox="1"/>
          <p:nvPr/>
        </p:nvSpPr>
        <p:spPr>
          <a:xfrm>
            <a:off x="947589" y="2914650"/>
            <a:ext cx="4505087" cy="190500"/>
          </a:xfrm>
          <a:prstGeom prst="rect">
            <a:avLst/>
          </a:prstGeom>
          <a:noFill/>
        </p:spPr>
        <p:txBody>
          <a:bodyPr wrap="none" lIns="0" tIns="0" rIns="0" bIns="0" anchor="t">
            <a:noAutofit/>
          </a:bodyPr>
          <a:lstStyle/>
          <a:p>
            <a:pPr algn="l">
              <a:lnSpc>
                <a:spcPts val="1500"/>
              </a:lnSpc>
              <a:spcBef>
                <a:spcPts val="0"/>
              </a:spcBef>
              <a:spcAft>
                <a:spcPts val="0"/>
              </a:spcAft>
            </a:pPr>
            <a:r>
              <a:rPr sz="1100" b="1" i="0">
                <a:solidFill>
                  <a:srgbClr val="1C2433"/>
                </a:solidFill>
                <a:latin typeface="JetBrains Mono"/>
                <a:ea typeface="JetBrains Mono"/>
                <a:cs typeface="JetBrains Mono"/>
              </a:rPr>
              <a:t>Termina</a:t>
            </a:r>
            <a:r>
              <a:rPr sz="1150" b="0" i="0">
                <a:solidFill>
                  <a:srgbClr val="1C2433"/>
                </a:solidFill>
                <a:latin typeface="Inter"/>
                <a:ea typeface="Inter"/>
                <a:cs typeface="Inter"/>
              </a:rPr>
              <a:t> (liveness) · toda generación publica o para con error</a:t>
            </a:r>
          </a:p>
        </p:txBody>
      </p:sp>
      <p:sp>
        <p:nvSpPr>
          <p:cNvPr id="25" name="TextBox 24"/>
          <p:cNvSpPr txBox="1"/>
          <p:nvPr/>
        </p:nvSpPr>
        <p:spPr>
          <a:xfrm>
            <a:off x="609600" y="3209925"/>
            <a:ext cx="5470922" cy="161925"/>
          </a:xfrm>
          <a:prstGeom prst="rect">
            <a:avLst/>
          </a:prstGeom>
          <a:noFill/>
        </p:spPr>
        <p:txBody>
          <a:bodyPr wrap="none" lIns="0" tIns="0" rIns="0" bIns="0" anchor="t">
            <a:noAutofit/>
          </a:bodyPr>
          <a:lstStyle/>
          <a:p>
            <a:pPr algn="l">
              <a:lnSpc>
                <a:spcPts val="1425"/>
              </a:lnSpc>
              <a:spcBef>
                <a:spcPts val="0"/>
              </a:spcBef>
              <a:spcAft>
                <a:spcPts val="0"/>
              </a:spcAft>
            </a:pPr>
            <a:r>
              <a:rPr sz="1050" b="0" i="0">
                <a:solidFill>
                  <a:srgbClr val="7D7869"/>
                </a:solidFill>
                <a:latin typeface="Inter"/>
                <a:ea typeface="Inter"/>
                <a:cs typeface="Inter"/>
              </a:rPr>
              <a:t>Modelo: 5 capítulos · 2 reintentos · 1 caída · 1 reintento manual · 1 cambio del lector.</a:t>
            </a:r>
          </a:p>
        </p:txBody>
      </p:sp>
      <p:sp>
        <p:nvSpPr>
          <p:cNvPr id="26" name="TextBox 25"/>
          <p:cNvSpPr txBox="1"/>
          <p:nvPr/>
        </p:nvSpPr>
        <p:spPr>
          <a:xfrm>
            <a:off x="609600" y="3467100"/>
            <a:ext cx="1321237" cy="466725"/>
          </a:xfrm>
          <a:prstGeom prst="rect">
            <a:avLst/>
          </a:prstGeom>
          <a:noFill/>
        </p:spPr>
        <p:txBody>
          <a:bodyPr wrap="none" lIns="0" tIns="0" rIns="0" bIns="0" anchor="t">
            <a:noAutofit/>
          </a:bodyPr>
          <a:lstStyle/>
          <a:p>
            <a:pPr algn="l">
              <a:lnSpc>
                <a:spcPts val="3300"/>
              </a:lnSpc>
              <a:spcBef>
                <a:spcPts val="0"/>
              </a:spcBef>
              <a:spcAft>
                <a:spcPts val="0"/>
              </a:spcAft>
            </a:pPr>
            <a:r>
              <a:rPr sz="3000" b="0" i="0">
                <a:solidFill>
                  <a:srgbClr val="9A7A2E"/>
                </a:solidFill>
                <a:latin typeface="Fraunces SemiBold"/>
                <a:ea typeface="Fraunces SemiBold"/>
                <a:cs typeface="Fraunces SemiBold"/>
              </a:rPr>
              <a:t>12.650</a:t>
            </a:r>
          </a:p>
        </p:txBody>
      </p:sp>
      <p:sp>
        <p:nvSpPr>
          <p:cNvPr id="27" name="TextBox 26"/>
          <p:cNvSpPr txBox="1"/>
          <p:nvPr/>
        </p:nvSpPr>
        <p:spPr>
          <a:xfrm>
            <a:off x="609600" y="3914775"/>
            <a:ext cx="1362408" cy="161925"/>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7D7869"/>
                </a:solidFill>
                <a:latin typeface="Inter"/>
                <a:ea typeface="Inter"/>
                <a:cs typeface="Inter"/>
              </a:rPr>
              <a:t>estados · interactivo</a:t>
            </a:r>
          </a:p>
        </p:txBody>
      </p:sp>
      <p:sp>
        <p:nvSpPr>
          <p:cNvPr id="28" name="TextBox 27"/>
          <p:cNvSpPr txBox="1"/>
          <p:nvPr/>
        </p:nvSpPr>
        <p:spPr>
          <a:xfrm>
            <a:off x="2130623" y="3467100"/>
            <a:ext cx="1121104" cy="466725"/>
          </a:xfrm>
          <a:prstGeom prst="rect">
            <a:avLst/>
          </a:prstGeom>
          <a:noFill/>
        </p:spPr>
        <p:txBody>
          <a:bodyPr wrap="none" lIns="0" tIns="0" rIns="0" bIns="0" anchor="t">
            <a:noAutofit/>
          </a:bodyPr>
          <a:lstStyle/>
          <a:p>
            <a:pPr algn="l">
              <a:lnSpc>
                <a:spcPts val="3300"/>
              </a:lnSpc>
              <a:spcBef>
                <a:spcPts val="0"/>
              </a:spcBef>
              <a:spcAft>
                <a:spcPts val="0"/>
              </a:spcAft>
            </a:pPr>
            <a:r>
              <a:rPr sz="3000" b="0" i="0">
                <a:solidFill>
                  <a:srgbClr val="9A7A2E"/>
                </a:solidFill>
                <a:latin typeface="Fraunces SemiBold"/>
                <a:ea typeface="Fraunces SemiBold"/>
                <a:cs typeface="Fraunces SemiBold"/>
              </a:rPr>
              <a:t>4.425</a:t>
            </a:r>
          </a:p>
        </p:txBody>
      </p:sp>
      <p:sp>
        <p:nvSpPr>
          <p:cNvPr id="29" name="TextBox 28"/>
          <p:cNvSpPr txBox="1"/>
          <p:nvPr/>
        </p:nvSpPr>
        <p:spPr>
          <a:xfrm>
            <a:off x="2130623" y="3914775"/>
            <a:ext cx="1044797" cy="161925"/>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7D7869"/>
                </a:solidFill>
                <a:latin typeface="Inter"/>
                <a:ea typeface="Inter"/>
                <a:cs typeface="Inter"/>
              </a:rPr>
              <a:t>estados · batch</a:t>
            </a:r>
          </a:p>
        </p:txBody>
      </p:sp>
      <p:sp>
        <p:nvSpPr>
          <p:cNvPr id="30" name="TextBox 29"/>
          <p:cNvSpPr txBox="1"/>
          <p:nvPr/>
        </p:nvSpPr>
        <p:spPr>
          <a:xfrm>
            <a:off x="3419624" y="3467100"/>
            <a:ext cx="305562" cy="466725"/>
          </a:xfrm>
          <a:prstGeom prst="rect">
            <a:avLst/>
          </a:prstGeom>
          <a:noFill/>
        </p:spPr>
        <p:txBody>
          <a:bodyPr wrap="none" lIns="0" tIns="0" rIns="0" bIns="0" anchor="t">
            <a:noAutofit/>
          </a:bodyPr>
          <a:lstStyle/>
          <a:p>
            <a:pPr algn="l">
              <a:lnSpc>
                <a:spcPts val="3300"/>
              </a:lnSpc>
              <a:spcBef>
                <a:spcPts val="0"/>
              </a:spcBef>
              <a:spcAft>
                <a:spcPts val="0"/>
              </a:spcAft>
            </a:pPr>
            <a:r>
              <a:rPr sz="3000" b="0" i="0">
                <a:solidFill>
                  <a:srgbClr val="9A7A2E"/>
                </a:solidFill>
                <a:latin typeface="Fraunces SemiBold"/>
                <a:ea typeface="Fraunces SemiBold"/>
                <a:cs typeface="Fraunces SemiBold"/>
              </a:rPr>
              <a:t>0</a:t>
            </a:r>
          </a:p>
        </p:txBody>
      </p:sp>
      <p:sp>
        <p:nvSpPr>
          <p:cNvPr id="31" name="TextBox 30"/>
          <p:cNvSpPr txBox="1"/>
          <p:nvPr/>
        </p:nvSpPr>
        <p:spPr>
          <a:xfrm>
            <a:off x="3419624" y="3914775"/>
            <a:ext cx="776252" cy="161925"/>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7D7869"/>
                </a:solidFill>
                <a:latin typeface="Inter"/>
                <a:ea typeface="Inter"/>
                <a:cs typeface="Inter"/>
              </a:rPr>
              <a:t>violaciones</a:t>
            </a:r>
          </a:p>
        </p:txBody>
      </p:sp>
      <p:sp>
        <p:nvSpPr>
          <p:cNvPr id="32" name="TextBox 31"/>
          <p:cNvSpPr txBox="1"/>
          <p:nvPr/>
        </p:nvSpPr>
        <p:spPr>
          <a:xfrm>
            <a:off x="609600" y="4191000"/>
            <a:ext cx="6142101" cy="352425"/>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7D7869"/>
                </a:solidFill>
                <a:latin typeface="Inter"/>
                <a:ea typeface="Inter"/>
                <a:cs typeface="Inter"/>
              </a:rPr>
              <a:t>Control de vacuidad: con weak fairness en vez de strong, TLC viola </a:t>
            </a:r>
            <a:r>
              <a:rPr sz="950" b="0" i="0">
                <a:solidFill>
                  <a:srgbClr val="7D7869"/>
                </a:solidFill>
                <a:latin typeface="JetBrains Mono Medium"/>
                <a:ea typeface="JetBrains Mono Medium"/>
                <a:cs typeface="JetBrains Mono Medium"/>
              </a:rPr>
              <a:t>Termina</a:t>
            </a:r>
            <a:r>
              <a:rPr sz="1050" b="0" i="0">
                <a:solidFill>
                  <a:srgbClr val="7D7869"/>
                </a:solidFill>
                <a:latin typeface="Inter"/>
                <a:ea typeface="Inter"/>
                <a:cs typeface="Inter"/>
              </a:rPr>
              <a:t>; la comprobación no es vacía.</a:t>
            </a:r>
          </a:p>
        </p:txBody>
      </p:sp>
      <p:sp>
        <p:nvSpPr>
          <p:cNvPr id="33" name="TextBox 32"/>
          <p:cNvSpPr txBox="1"/>
          <p:nvPr/>
        </p:nvSpPr>
        <p:spPr>
          <a:xfrm>
            <a:off x="7086600" y="1428750"/>
            <a:ext cx="4254341"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B23A2B"/>
                </a:solidFill>
                <a:latin typeface="Inter SemiBold"/>
                <a:ea typeface="Inter SemiBold"/>
                <a:cs typeface="Inter SemiBold"/>
              </a:rPr>
              <a:t>TRES CONTRAEJEMPLOS QUE CAMBIARON EL DISEÑO</a:t>
            </a:r>
          </a:p>
        </p:txBody>
      </p:sp>
      <p:sp>
        <p:nvSpPr>
          <p:cNvPr id="34" name="Rounded Rectangle 33"/>
          <p:cNvSpPr/>
          <p:nvPr/>
        </p:nvSpPr>
        <p:spPr>
          <a:xfrm>
            <a:off x="7086600" y="1657350"/>
            <a:ext cx="4495800" cy="819150"/>
          </a:xfrm>
          <a:prstGeom prst="roundRect">
            <a:avLst>
              <a:gd name="adj" fmla="val 9302"/>
            </a:avLst>
          </a:prstGeom>
          <a:solidFill>
            <a:srgbClr val="FBF8F1"/>
          </a:solidFill>
          <a:ln w="9525">
            <a:solidFill>
              <a:srgbClr val="B23A2B"/>
            </a:solidFill>
          </a:ln>
        </p:spPr>
        <p:txBody>
          <a:bodyPr rtlCol="0" anchor="ctr"/>
          <a:lstStyle/>
          <a:p>
            <a:endParaRPr/>
          </a:p>
        </p:txBody>
      </p:sp>
      <p:sp>
        <p:nvSpPr>
          <p:cNvPr id="35" name="TextBox 34"/>
          <p:cNvSpPr txBox="1"/>
          <p:nvPr/>
        </p:nvSpPr>
        <p:spPr>
          <a:xfrm>
            <a:off x="7229475" y="1771650"/>
            <a:ext cx="2110776"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98">
                <a:solidFill>
                  <a:srgbClr val="B23A2B"/>
                </a:solidFill>
                <a:latin typeface="Inter SemiBold"/>
                <a:ea typeface="Inter SemiBold"/>
                <a:cs typeface="Inter SemiBold"/>
              </a:rPr>
              <a:t>1 · RESUMEISEXACTLYONCE</a:t>
            </a:r>
          </a:p>
        </p:txBody>
      </p:sp>
      <p:sp>
        <p:nvSpPr>
          <p:cNvPr id="36" name="TextBox 35"/>
          <p:cNvSpPr txBox="1"/>
          <p:nvPr/>
        </p:nvSpPr>
        <p:spPr>
          <a:xfrm>
            <a:off x="7229475" y="1971675"/>
            <a:ext cx="4244835" cy="381000"/>
          </a:xfrm>
          <a:prstGeom prst="rect">
            <a:avLst/>
          </a:prstGeom>
          <a:noFill/>
        </p:spPr>
        <p:txBody>
          <a:bodyPr wrap="square" lIns="0" tIns="0" rIns="0" bIns="0" anchor="t">
            <a:noAutofit/>
          </a:bodyPr>
          <a:lstStyle/>
          <a:p>
            <a:pPr algn="l">
              <a:lnSpc>
                <a:spcPts val="1575"/>
              </a:lnSpc>
              <a:spcBef>
                <a:spcPts val="0"/>
              </a:spcBef>
              <a:spcAft>
                <a:spcPts val="0"/>
              </a:spcAft>
            </a:pPr>
            <a:r>
              <a:rPr sz="1150" b="0" i="0">
                <a:solidFill>
                  <a:srgbClr val="1C2433"/>
                </a:solidFill>
                <a:latin typeface="Inter"/>
                <a:ea typeface="Inter"/>
                <a:cs typeface="Inter"/>
              </a:rPr>
              <a:t>Rehacer el gate de Writing se trataba como pasada inicial y duplicaba capítulos. </a:t>
            </a:r>
            <a:r>
              <a:rPr sz="1150" b="0" i="0">
                <a:solidFill>
                  <a:srgbClr val="1C2433"/>
                </a:solidFill>
                <a:latin typeface="Inter SemiBold"/>
                <a:ea typeface="Inter SemiBold"/>
                <a:cs typeface="Inter SemiBold"/>
              </a:rPr>
              <a:t>Cambio:</a:t>
            </a:r>
            <a:r>
              <a:rPr sz="1150" b="0" i="0">
                <a:solidFill>
                  <a:srgbClr val="1C2433"/>
                </a:solidFill>
                <a:latin typeface="Inter"/>
                <a:ea typeface="Inter"/>
                <a:cs typeface="Inter"/>
              </a:rPr>
              <a:t> acción </a:t>
            </a:r>
            <a:r>
              <a:rPr sz="1050" b="0" i="0">
                <a:solidFill>
                  <a:srgbClr val="1C2433"/>
                </a:solidFill>
                <a:latin typeface="JetBrains Mono Medium"/>
                <a:ea typeface="JetBrains Mono Medium"/>
                <a:cs typeface="JetBrains Mono Medium"/>
              </a:rPr>
              <a:t>RehacerWriting</a:t>
            </a:r>
            <a:r>
              <a:rPr sz="1150" b="0" i="0">
                <a:solidFill>
                  <a:srgbClr val="1C2433"/>
                </a:solidFill>
                <a:latin typeface="Inter"/>
                <a:ea typeface="Inter"/>
                <a:cs typeface="Inter"/>
              </a:rPr>
              <a:t>.</a:t>
            </a:r>
          </a:p>
        </p:txBody>
      </p:sp>
      <p:sp>
        <p:nvSpPr>
          <p:cNvPr id="37" name="Rounded Rectangle 36"/>
          <p:cNvSpPr/>
          <p:nvPr/>
        </p:nvSpPr>
        <p:spPr>
          <a:xfrm>
            <a:off x="7086600" y="2590800"/>
            <a:ext cx="4495800" cy="819150"/>
          </a:xfrm>
          <a:prstGeom prst="roundRect">
            <a:avLst>
              <a:gd name="adj" fmla="val 9302"/>
            </a:avLst>
          </a:prstGeom>
          <a:solidFill>
            <a:srgbClr val="FBF8F1"/>
          </a:solidFill>
          <a:ln w="9525">
            <a:solidFill>
              <a:srgbClr val="B23A2B"/>
            </a:solidFill>
          </a:ln>
        </p:spPr>
        <p:txBody>
          <a:bodyPr rtlCol="0" anchor="ctr"/>
          <a:lstStyle/>
          <a:p>
            <a:endParaRPr/>
          </a:p>
        </p:txBody>
      </p:sp>
      <p:sp>
        <p:nvSpPr>
          <p:cNvPr id="38" name="TextBox 37"/>
          <p:cNvSpPr txBox="1"/>
          <p:nvPr/>
        </p:nvSpPr>
        <p:spPr>
          <a:xfrm>
            <a:off x="7229475" y="2705100"/>
            <a:ext cx="95889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98">
                <a:solidFill>
                  <a:srgbClr val="B23A2B"/>
                </a:solidFill>
                <a:latin typeface="Inter SemiBold"/>
                <a:ea typeface="Inter SemiBold"/>
                <a:cs typeface="Inter SemiBold"/>
              </a:rPr>
              <a:t>2 · TERMINA</a:t>
            </a:r>
          </a:p>
        </p:txBody>
      </p:sp>
      <p:sp>
        <p:nvSpPr>
          <p:cNvPr id="39" name="TextBox 38"/>
          <p:cNvSpPr txBox="1"/>
          <p:nvPr/>
        </p:nvSpPr>
        <p:spPr>
          <a:xfrm>
            <a:off x="7229475" y="2905125"/>
            <a:ext cx="4244835" cy="381000"/>
          </a:xfrm>
          <a:prstGeom prst="rect">
            <a:avLst/>
          </a:prstGeom>
          <a:noFill/>
        </p:spPr>
        <p:txBody>
          <a:bodyPr wrap="square" lIns="0" tIns="0" rIns="0" bIns="0" anchor="t">
            <a:noAutofit/>
          </a:bodyPr>
          <a:lstStyle/>
          <a:p>
            <a:pPr algn="l">
              <a:lnSpc>
                <a:spcPts val="1575"/>
              </a:lnSpc>
              <a:spcBef>
                <a:spcPts val="0"/>
              </a:spcBef>
              <a:spcAft>
                <a:spcPts val="0"/>
              </a:spcAft>
            </a:pPr>
            <a:r>
              <a:rPr sz="1150" b="0" i="0">
                <a:solidFill>
                  <a:srgbClr val="1C2433"/>
                </a:solidFill>
                <a:latin typeface="Inter"/>
                <a:ea typeface="Inter"/>
                <a:cs typeface="Inter"/>
              </a:rPr>
              <a:t>El juez podía rechazar para siempre: bucle infinito. </a:t>
            </a:r>
            <a:r>
              <a:rPr sz="1150" b="0" i="0">
                <a:solidFill>
                  <a:srgbClr val="1C2433"/>
                </a:solidFill>
                <a:latin typeface="Inter SemiBold"/>
                <a:ea typeface="Inter SemiBold"/>
                <a:cs typeface="Inter SemiBold"/>
              </a:rPr>
              <a:t>Cambio:</a:t>
            </a:r>
            <a:r>
              <a:rPr sz="1150" b="0" i="0">
                <a:solidFill>
                  <a:srgbClr val="1C2433"/>
                </a:solidFill>
                <a:latin typeface="Inter"/>
                <a:ea typeface="Inter"/>
                <a:cs typeface="Inter"/>
              </a:rPr>
              <a:t> tope de 2 rechazos y arista a </a:t>
            </a:r>
            <a:r>
              <a:rPr sz="1050" b="0" i="0">
                <a:solidFill>
                  <a:srgbClr val="1C2433"/>
                </a:solidFill>
                <a:latin typeface="JetBrains Mono Medium"/>
                <a:ea typeface="JetBrains Mono Medium"/>
                <a:cs typeface="JetBrains Mono Medium"/>
              </a:rPr>
              <a:t>Fail</a:t>
            </a:r>
            <a:r>
              <a:rPr sz="1150" b="0" i="0">
                <a:solidFill>
                  <a:srgbClr val="1C2433"/>
                </a:solidFill>
                <a:latin typeface="Inter"/>
                <a:ea typeface="Inter"/>
                <a:cs typeface="Inter"/>
              </a:rPr>
              <a:t>.</a:t>
            </a:r>
          </a:p>
        </p:txBody>
      </p:sp>
      <p:sp>
        <p:nvSpPr>
          <p:cNvPr id="40" name="Rounded Rectangle 39"/>
          <p:cNvSpPr/>
          <p:nvPr/>
        </p:nvSpPr>
        <p:spPr>
          <a:xfrm>
            <a:off x="7086600" y="3524250"/>
            <a:ext cx="4495800" cy="819150"/>
          </a:xfrm>
          <a:prstGeom prst="roundRect">
            <a:avLst>
              <a:gd name="adj" fmla="val 9302"/>
            </a:avLst>
          </a:prstGeom>
          <a:solidFill>
            <a:srgbClr val="FBF8F1"/>
          </a:solidFill>
          <a:ln w="9525">
            <a:solidFill>
              <a:srgbClr val="B23A2B"/>
            </a:solidFill>
          </a:ln>
        </p:spPr>
        <p:txBody>
          <a:bodyPr rtlCol="0" anchor="ctr"/>
          <a:lstStyle/>
          <a:p>
            <a:endParaRPr/>
          </a:p>
        </p:txBody>
      </p:sp>
      <p:sp>
        <p:nvSpPr>
          <p:cNvPr id="41" name="TextBox 40"/>
          <p:cNvSpPr txBox="1"/>
          <p:nvPr/>
        </p:nvSpPr>
        <p:spPr>
          <a:xfrm>
            <a:off x="7229475" y="3638550"/>
            <a:ext cx="960596"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98">
                <a:solidFill>
                  <a:srgbClr val="B23A2B"/>
                </a:solidFill>
                <a:latin typeface="Inter SemiBold"/>
                <a:ea typeface="Inter SemiBold"/>
                <a:cs typeface="Inter SemiBold"/>
              </a:rPr>
              <a:t>3 · TERMINA</a:t>
            </a:r>
          </a:p>
        </p:txBody>
      </p:sp>
      <p:sp>
        <p:nvSpPr>
          <p:cNvPr id="42" name="TextBox 41"/>
          <p:cNvSpPr txBox="1"/>
          <p:nvPr/>
        </p:nvSpPr>
        <p:spPr>
          <a:xfrm>
            <a:off x="7229475" y="3838575"/>
            <a:ext cx="4244835" cy="381000"/>
          </a:xfrm>
          <a:prstGeom prst="rect">
            <a:avLst/>
          </a:prstGeom>
          <a:noFill/>
        </p:spPr>
        <p:txBody>
          <a:bodyPr wrap="square" lIns="0" tIns="0" rIns="0" bIns="0" anchor="t">
            <a:noAutofit/>
          </a:bodyPr>
          <a:lstStyle/>
          <a:p>
            <a:pPr algn="l">
              <a:lnSpc>
                <a:spcPts val="1575"/>
              </a:lnSpc>
              <a:spcBef>
                <a:spcPts val="0"/>
              </a:spcBef>
              <a:spcAft>
                <a:spcPts val="0"/>
              </a:spcAft>
            </a:pPr>
            <a:r>
              <a:rPr sz="1150" b="0" i="0">
                <a:solidFill>
                  <a:srgbClr val="1C2433"/>
                </a:solidFill>
                <a:latin typeface="Inter"/>
                <a:ea typeface="Inter"/>
                <a:cs typeface="Inter"/>
              </a:rPr>
              <a:t>Weak fairness no bastaba: el autor podía rehacer eternamente. </a:t>
            </a:r>
            <a:r>
              <a:rPr sz="1150" b="0" i="0">
                <a:solidFill>
                  <a:srgbClr val="1C2433"/>
                </a:solidFill>
                <a:latin typeface="Inter SemiBold"/>
                <a:ea typeface="Inter SemiBold"/>
                <a:cs typeface="Inter SemiBold"/>
              </a:rPr>
              <a:t>Cambio:</a:t>
            </a:r>
            <a:r>
              <a:rPr sz="1150" b="0" i="0">
                <a:solidFill>
                  <a:srgbClr val="1C2433"/>
                </a:solidFill>
                <a:latin typeface="Inter"/>
                <a:ea typeface="Inter"/>
                <a:cs typeface="Inter"/>
              </a:rPr>
              <a:t> strong fairness en la especificación.</a:t>
            </a:r>
          </a:p>
        </p:txBody>
      </p:sp>
      <p:sp>
        <p:nvSpPr>
          <p:cNvPr id="43" name="TextBox 42"/>
          <p:cNvSpPr txBox="1"/>
          <p:nvPr/>
        </p:nvSpPr>
        <p:spPr>
          <a:xfrm>
            <a:off x="609600" y="4981575"/>
            <a:ext cx="8671179" cy="171450"/>
          </a:xfrm>
          <a:prstGeom prst="rect">
            <a:avLst/>
          </a:prstGeom>
          <a:noFill/>
        </p:spPr>
        <p:txBody>
          <a:bodyPr wrap="none" lIns="0" tIns="0" rIns="0" bIns="0" anchor="t">
            <a:noAutofit/>
          </a:bodyPr>
          <a:lstStyle/>
          <a:p>
            <a:pPr algn="l">
              <a:lnSpc>
                <a:spcPts val="1425"/>
              </a:lnSpc>
              <a:spcBef>
                <a:spcPts val="0"/>
              </a:spcBef>
              <a:spcAft>
                <a:spcPts val="0"/>
              </a:spcAft>
            </a:pPr>
            <a:r>
              <a:rPr sz="1050" b="0" i="0">
                <a:solidFill>
                  <a:srgbClr val="7D7869"/>
                </a:solidFill>
                <a:latin typeface="Inter"/>
                <a:ea typeface="Inter"/>
                <a:cs typeface="Inter"/>
              </a:rPr>
              <a:t>Los nodos de LangGraph y las acciones TLA+ se llaman igual; un test compara las aristas del </a:t>
            </a:r>
            <a:r>
              <a:rPr sz="950" b="0" i="0">
                <a:solidFill>
                  <a:srgbClr val="7D7869"/>
                </a:solidFill>
                <a:latin typeface="JetBrains Mono Medium"/>
                <a:ea typeface="JetBrains Mono Medium"/>
                <a:cs typeface="JetBrains Mono Medium"/>
              </a:rPr>
              <a:t>StateGraph</a:t>
            </a:r>
            <a:r>
              <a:rPr sz="1050" b="0" i="0">
                <a:solidFill>
                  <a:srgbClr val="7D7869"/>
                </a:solidFill>
                <a:latin typeface="Inter"/>
                <a:ea typeface="Inter"/>
                <a:cs typeface="Inter"/>
              </a:rPr>
              <a:t> con la definición </a:t>
            </a:r>
            <a:r>
              <a:rPr sz="950" b="0" i="0">
                <a:solidFill>
                  <a:srgbClr val="7D7869"/>
                </a:solidFill>
                <a:latin typeface="JetBrains Mono Medium"/>
                <a:ea typeface="JetBrains Mono Medium"/>
                <a:cs typeface="JetBrains Mono Medium"/>
              </a:rPr>
              <a:t>Aristas</a:t>
            </a:r>
            <a:r>
              <a:rPr sz="1050" b="0" i="0">
                <a:solidFill>
                  <a:srgbClr val="7D7869"/>
                </a:solidFill>
                <a:latin typeface="Inter"/>
                <a:ea typeface="Inter"/>
                <a:cs typeface="Inter"/>
              </a:rPr>
              <a:t>.</a:t>
            </a:r>
          </a:p>
        </p:txBody>
      </p:sp>
      <p:pic>
        <p:nvPicPr>
          <p:cNvPr id="44" name="Picture 43" descr="r003.png"/>
          <p:cNvPicPr>
            <a:picLocks noChangeAspect="1"/>
          </p:cNvPicPr>
          <p:nvPr/>
        </p:nvPicPr>
        <p:blipFill>
          <a:blip r:embed="rId3"/>
          <a:stretch>
            <a:fillRect/>
          </a:stretch>
        </p:blipFill>
        <p:spPr>
          <a:xfrm>
            <a:off x="381000" y="6343650"/>
            <a:ext cx="11430000" cy="76200"/>
          </a:xfrm>
          <a:prstGeom prst="rect">
            <a:avLst/>
          </a:prstGeom>
        </p:spPr>
      </p:pic>
      <p:pic>
        <p:nvPicPr>
          <p:cNvPr id="45" name="Picture 44" descr="r004.png"/>
          <p:cNvPicPr>
            <a:picLocks noChangeAspect="1"/>
          </p:cNvPicPr>
          <p:nvPr/>
        </p:nvPicPr>
        <p:blipFill>
          <a:blip r:embed="rId4"/>
          <a:stretch>
            <a:fillRect/>
          </a:stretch>
        </p:blipFill>
        <p:spPr>
          <a:xfrm>
            <a:off x="381000" y="6505575"/>
            <a:ext cx="171450" cy="190500"/>
          </a:xfrm>
          <a:prstGeom prst="rect">
            <a:avLst/>
          </a:prstGeom>
        </p:spPr>
      </p:pic>
      <p:sp>
        <p:nvSpPr>
          <p:cNvPr id="46" name="TextBox 45"/>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47" name="TextBox 46"/>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48" name="TextBox 47"/>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49" name="TextBox 48"/>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15 / 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1991023" y="323850"/>
            <a:ext cx="134677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OBSERVABILIDAD</a:t>
            </a:r>
          </a:p>
        </p:txBody>
      </p:sp>
      <p:sp>
        <p:nvSpPr>
          <p:cNvPr id="3" name="TextBox 2"/>
          <p:cNvSpPr txBox="1"/>
          <p:nvPr/>
        </p:nvSpPr>
        <p:spPr>
          <a:xfrm>
            <a:off x="609600" y="323850"/>
            <a:ext cx="95966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a:t>
            </a:r>
          </a:p>
        </p:txBody>
      </p:sp>
      <p:sp>
        <p:nvSpPr>
          <p:cNvPr id="4" name="Rectangle 3"/>
          <p:cNvSpPr/>
          <p:nvPr/>
        </p:nvSpPr>
        <p:spPr>
          <a:xfrm>
            <a:off x="1610023" y="395288"/>
            <a:ext cx="266700" cy="9525"/>
          </a:xfrm>
          <a:prstGeom prst="rect">
            <a:avLst/>
          </a:prstGeom>
          <a:noFill/>
          <a:ln>
            <a:noFill/>
          </a:ln>
        </p:spPr>
        <p:txBody>
          <a:bodyPr rtlCol="0" anchor="ctr"/>
          <a:lstStyle/>
          <a:p>
            <a:endParaRPr/>
          </a:p>
        </p:txBody>
      </p:sp>
      <p:cxnSp>
        <p:nvCxnSpPr>
          <p:cNvPr id="5" name="Connector 4"/>
          <p:cNvCxnSpPr/>
          <p:nvPr/>
        </p:nvCxnSpPr>
        <p:spPr>
          <a:xfrm>
            <a:off x="1610023"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Cada novela es una sesión en Langfuse: tokens, coste y latencia por llamada</a:t>
            </a:r>
          </a:p>
        </p:txBody>
      </p:sp>
      <p:sp>
        <p:nvSpPr>
          <p:cNvPr id="7" name="Rounded Rectangle 6"/>
          <p:cNvSpPr/>
          <p:nvPr/>
        </p:nvSpPr>
        <p:spPr>
          <a:xfrm>
            <a:off x="609600" y="1524000"/>
            <a:ext cx="6572250" cy="3371850"/>
          </a:xfrm>
          <a:prstGeom prst="roundRect">
            <a:avLst>
              <a:gd name="adj" fmla="val 2259"/>
            </a:avLst>
          </a:prstGeom>
          <a:solidFill>
            <a:srgbClr val="171717"/>
          </a:solidFill>
          <a:ln w="9525">
            <a:solidFill>
              <a:srgbClr val="1C2433"/>
            </a:solidFill>
          </a:ln>
        </p:spPr>
        <p:txBody>
          <a:bodyPr rtlCol="0" anchor="ctr"/>
          <a:lstStyle/>
          <a:p>
            <a:endParaRPr/>
          </a:p>
        </p:txBody>
      </p:sp>
      <p:pic>
        <p:nvPicPr>
          <p:cNvPr id="8" name="Picture 7" descr="langfuse-sesion-recorte.png"/>
          <p:cNvPicPr>
            <a:picLocks noChangeAspect="1"/>
          </p:cNvPicPr>
          <p:nvPr/>
        </p:nvPicPr>
        <p:blipFill>
          <a:blip r:embed="rId3"/>
          <a:srcRect r="220"/>
          <a:stretch>
            <a:fillRect/>
          </a:stretch>
        </p:blipFill>
        <p:spPr>
          <a:xfrm>
            <a:off x="619125" y="1533525"/>
            <a:ext cx="6572250" cy="3371850"/>
          </a:xfrm>
          <a:prstGeom prst="rect">
            <a:avLst/>
          </a:prstGeom>
        </p:spPr>
      </p:pic>
      <p:sp>
        <p:nvSpPr>
          <p:cNvPr id="9" name="Rounded Rectangle 8"/>
          <p:cNvSpPr/>
          <p:nvPr/>
        </p:nvSpPr>
        <p:spPr>
          <a:xfrm>
            <a:off x="609600" y="4972050"/>
            <a:ext cx="3980408" cy="247650"/>
          </a:xfrm>
          <a:prstGeom prst="roundRect">
            <a:avLst>
              <a:gd name="adj" fmla="val 26923"/>
            </a:avLst>
          </a:prstGeom>
          <a:solidFill>
            <a:srgbClr val="EEE0C0"/>
          </a:solidFill>
          <a:ln w="9525">
            <a:solidFill>
              <a:srgbClr val="C9A34E"/>
            </a:solidFill>
          </a:ln>
        </p:spPr>
        <p:txBody>
          <a:bodyPr rtlCol="0" anchor="ctr"/>
          <a:lstStyle/>
          <a:p>
            <a:endParaRPr/>
          </a:p>
        </p:txBody>
      </p:sp>
      <p:sp>
        <p:nvSpPr>
          <p:cNvPr id="10" name="TextBox 9"/>
          <p:cNvSpPr txBox="1"/>
          <p:nvPr/>
        </p:nvSpPr>
        <p:spPr>
          <a:xfrm>
            <a:off x="695325" y="5010150"/>
            <a:ext cx="3999417" cy="161925"/>
          </a:xfrm>
          <a:prstGeom prst="rect">
            <a:avLst/>
          </a:prstGeom>
          <a:noFill/>
        </p:spPr>
        <p:txBody>
          <a:bodyPr wrap="none" lIns="0" tIns="0" rIns="0" bIns="0" anchor="t">
            <a:noAutofit/>
          </a:bodyPr>
          <a:lstStyle/>
          <a:p>
            <a:pPr algn="l">
              <a:lnSpc>
                <a:spcPts val="1200"/>
              </a:lnSpc>
              <a:spcBef>
                <a:spcPts val="0"/>
              </a:spcBef>
              <a:spcAft>
                <a:spcPts val="0"/>
              </a:spcAft>
            </a:pPr>
            <a:r>
              <a:rPr sz="1050" b="0" i="0">
                <a:solidFill>
                  <a:srgbClr val="1C2433"/>
                </a:solidFill>
                <a:latin typeface="Inter SemiBold"/>
                <a:ea typeface="Inter SemiBold"/>
                <a:cs typeface="Inter SemiBold"/>
              </a:rPr>
              <a:t>Traza de una novela completa de 10 capítulos (Cádiz, 1805)</a:t>
            </a:r>
          </a:p>
        </p:txBody>
      </p:sp>
      <p:sp>
        <p:nvSpPr>
          <p:cNvPr id="11" name="Rounded Rectangle 10"/>
          <p:cNvSpPr/>
          <p:nvPr/>
        </p:nvSpPr>
        <p:spPr>
          <a:xfrm>
            <a:off x="7524750" y="1524000"/>
            <a:ext cx="247650" cy="247650"/>
          </a:xfrm>
          <a:prstGeom prst="roundRect">
            <a:avLst>
              <a:gd name="adj" fmla="val 50000"/>
            </a:avLst>
          </a:prstGeom>
          <a:solidFill>
            <a:srgbClr val="C9A34E"/>
          </a:solidFill>
          <a:ln>
            <a:noFill/>
          </a:ln>
        </p:spPr>
        <p:txBody>
          <a:bodyPr rtlCol="0" anchor="ctr"/>
          <a:lstStyle/>
          <a:p>
            <a:endParaRPr/>
          </a:p>
        </p:txBody>
      </p:sp>
      <p:sp>
        <p:nvSpPr>
          <p:cNvPr id="12" name="TextBox 11"/>
          <p:cNvSpPr txBox="1"/>
          <p:nvPr/>
        </p:nvSpPr>
        <p:spPr>
          <a:xfrm>
            <a:off x="7587889" y="156210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1</a:t>
            </a:r>
          </a:p>
        </p:txBody>
      </p:sp>
      <p:sp>
        <p:nvSpPr>
          <p:cNvPr id="13" name="TextBox 12"/>
          <p:cNvSpPr txBox="1"/>
          <p:nvPr/>
        </p:nvSpPr>
        <p:spPr>
          <a:xfrm>
            <a:off x="7886700" y="1524000"/>
            <a:ext cx="3727399"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coste 3,621496 $, idéntico al registrado por fase en la base</a:t>
            </a:r>
          </a:p>
        </p:txBody>
      </p:sp>
      <p:sp>
        <p:nvSpPr>
          <p:cNvPr id="14" name="Rounded Rectangle 13"/>
          <p:cNvSpPr/>
          <p:nvPr/>
        </p:nvSpPr>
        <p:spPr>
          <a:xfrm>
            <a:off x="7524750" y="2057400"/>
            <a:ext cx="247650" cy="247650"/>
          </a:xfrm>
          <a:prstGeom prst="roundRect">
            <a:avLst>
              <a:gd name="adj" fmla="val 50000"/>
            </a:avLst>
          </a:prstGeom>
          <a:solidFill>
            <a:srgbClr val="C9A34E"/>
          </a:solidFill>
          <a:ln>
            <a:noFill/>
          </a:ln>
        </p:spPr>
        <p:txBody>
          <a:bodyPr rtlCol="0" anchor="ctr"/>
          <a:lstStyle/>
          <a:p>
            <a:endParaRPr/>
          </a:p>
        </p:txBody>
      </p:sp>
      <p:sp>
        <p:nvSpPr>
          <p:cNvPr id="15" name="TextBox 14"/>
          <p:cNvSpPr txBox="1"/>
          <p:nvPr/>
        </p:nvSpPr>
        <p:spPr>
          <a:xfrm>
            <a:off x="7587889" y="209550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2</a:t>
            </a:r>
          </a:p>
        </p:txBody>
      </p:sp>
      <p:sp>
        <p:nvSpPr>
          <p:cNvPr id="16" name="TextBox 15"/>
          <p:cNvSpPr txBox="1"/>
          <p:nvPr/>
        </p:nvSpPr>
        <p:spPr>
          <a:xfrm>
            <a:off x="7886700" y="2057400"/>
            <a:ext cx="2210145"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1.048.287 tokens · 1 h 06 min</a:t>
            </a:r>
          </a:p>
        </p:txBody>
      </p:sp>
      <p:sp>
        <p:nvSpPr>
          <p:cNvPr id="17" name="Rounded Rectangle 16"/>
          <p:cNvSpPr/>
          <p:nvPr/>
        </p:nvSpPr>
        <p:spPr>
          <a:xfrm>
            <a:off x="7524750" y="2438400"/>
            <a:ext cx="247650" cy="247650"/>
          </a:xfrm>
          <a:prstGeom prst="roundRect">
            <a:avLst>
              <a:gd name="adj" fmla="val 50000"/>
            </a:avLst>
          </a:prstGeom>
          <a:solidFill>
            <a:srgbClr val="C9A34E"/>
          </a:solidFill>
          <a:ln>
            <a:noFill/>
          </a:ln>
        </p:spPr>
        <p:txBody>
          <a:bodyPr rtlCol="0" anchor="ctr"/>
          <a:lstStyle/>
          <a:p>
            <a:endParaRPr/>
          </a:p>
        </p:txBody>
      </p:sp>
      <p:sp>
        <p:nvSpPr>
          <p:cNvPr id="18" name="TextBox 17"/>
          <p:cNvSpPr txBox="1"/>
          <p:nvPr/>
        </p:nvSpPr>
        <p:spPr>
          <a:xfrm>
            <a:off x="7587889" y="247650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3</a:t>
            </a:r>
          </a:p>
        </p:txBody>
      </p:sp>
      <p:sp>
        <p:nvSpPr>
          <p:cNvPr id="19" name="TextBox 18"/>
          <p:cNvSpPr txBox="1"/>
          <p:nvPr/>
        </p:nvSpPr>
        <p:spPr>
          <a:xfrm>
            <a:off x="7886700" y="2438400"/>
            <a:ext cx="3727399" cy="590550"/>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un span por rol, con sus herramientas: WebSearch, WebFetch y las tools del arquitecto con schema (edad_en_fecha)</a:t>
            </a:r>
          </a:p>
        </p:txBody>
      </p:sp>
      <p:sp>
        <p:nvSpPr>
          <p:cNvPr id="20" name="Rounded Rectangle 19"/>
          <p:cNvSpPr/>
          <p:nvPr/>
        </p:nvSpPr>
        <p:spPr>
          <a:xfrm>
            <a:off x="7524750" y="3171825"/>
            <a:ext cx="247650" cy="247650"/>
          </a:xfrm>
          <a:prstGeom prst="roundRect">
            <a:avLst>
              <a:gd name="adj" fmla="val 50000"/>
            </a:avLst>
          </a:prstGeom>
          <a:solidFill>
            <a:srgbClr val="C9A34E"/>
          </a:solidFill>
          <a:ln>
            <a:noFill/>
          </a:ln>
        </p:spPr>
        <p:txBody>
          <a:bodyPr rtlCol="0" anchor="ctr"/>
          <a:lstStyle/>
          <a:p>
            <a:endParaRPr/>
          </a:p>
        </p:txBody>
      </p:sp>
      <p:sp>
        <p:nvSpPr>
          <p:cNvPr id="21" name="TextBox 20"/>
          <p:cNvSpPr txBox="1"/>
          <p:nvPr/>
        </p:nvSpPr>
        <p:spPr>
          <a:xfrm>
            <a:off x="7587889" y="320992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4</a:t>
            </a:r>
          </a:p>
        </p:txBody>
      </p:sp>
      <p:sp>
        <p:nvSpPr>
          <p:cNvPr id="22" name="TextBox 21"/>
          <p:cNvSpPr txBox="1"/>
          <p:nvPr/>
        </p:nvSpPr>
        <p:spPr>
          <a:xfrm>
            <a:off x="7886700" y="3171825"/>
            <a:ext cx="3727399" cy="390525"/>
          </a:xfrm>
          <a:prstGeom prst="rect">
            <a:avLst/>
          </a:prstGeom>
          <a:noFill/>
        </p:spPr>
        <p:txBody>
          <a:bodyPr wrap="squar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scores de todos los validadores, juez incluido: 7,25 · 7,63 · 7,38 · 7,13</a:t>
            </a:r>
          </a:p>
        </p:txBody>
      </p:sp>
      <p:sp>
        <p:nvSpPr>
          <p:cNvPr id="23" name="Rounded Rectangle 22"/>
          <p:cNvSpPr/>
          <p:nvPr/>
        </p:nvSpPr>
        <p:spPr>
          <a:xfrm>
            <a:off x="7524750" y="3705225"/>
            <a:ext cx="247650" cy="247650"/>
          </a:xfrm>
          <a:prstGeom prst="roundRect">
            <a:avLst>
              <a:gd name="adj" fmla="val 50000"/>
            </a:avLst>
          </a:prstGeom>
          <a:solidFill>
            <a:srgbClr val="C9A34E"/>
          </a:solidFill>
          <a:ln>
            <a:noFill/>
          </a:ln>
        </p:spPr>
        <p:txBody>
          <a:bodyPr rtlCol="0" anchor="ctr"/>
          <a:lstStyle/>
          <a:p>
            <a:endParaRPr/>
          </a:p>
        </p:txBody>
      </p:sp>
      <p:sp>
        <p:nvSpPr>
          <p:cNvPr id="24" name="TextBox 23"/>
          <p:cNvSpPr txBox="1"/>
          <p:nvPr/>
        </p:nvSpPr>
        <p:spPr>
          <a:xfrm>
            <a:off x="7587889" y="374332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5</a:t>
            </a:r>
          </a:p>
        </p:txBody>
      </p:sp>
      <p:sp>
        <p:nvSpPr>
          <p:cNvPr id="25" name="TextBox 24"/>
          <p:cNvSpPr txBox="1"/>
          <p:nvPr/>
        </p:nvSpPr>
        <p:spPr>
          <a:xfrm>
            <a:off x="7886700" y="3705225"/>
            <a:ext cx="3602093"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prompt_nombre y prompt_version en cada span</a:t>
            </a:r>
          </a:p>
        </p:txBody>
      </p:sp>
      <p:sp>
        <p:nvSpPr>
          <p:cNvPr id="26" name="TextBox 25"/>
          <p:cNvSpPr txBox="1"/>
          <p:nvPr/>
        </p:nvSpPr>
        <p:spPr>
          <a:xfrm>
            <a:off x="7524750" y="4086225"/>
            <a:ext cx="4091521" cy="314325"/>
          </a:xfrm>
          <a:prstGeom prst="rect">
            <a:avLst/>
          </a:prstGeom>
          <a:noFill/>
        </p:spPr>
        <p:txBody>
          <a:bodyPr wrap="squar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Es la novela con texto ajeno en los capítulos 6 y 7 (RT-08): se usa aquí solo como traza, no como novela de ejemplo.</a:t>
            </a:r>
          </a:p>
        </p:txBody>
      </p:sp>
      <p:sp>
        <p:nvSpPr>
          <p:cNvPr id="27" name="TextBox 26"/>
          <p:cNvSpPr txBox="1"/>
          <p:nvPr/>
        </p:nvSpPr>
        <p:spPr>
          <a:xfrm>
            <a:off x="609600" y="5372100"/>
            <a:ext cx="607085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COSTE POR FASE DE ESA NOVELA · CÁDIZ, 1803–1806 (EVAL-01) · FASE_RUN</a:t>
            </a:r>
          </a:p>
        </p:txBody>
      </p:sp>
      <p:sp>
        <p:nvSpPr>
          <p:cNvPr id="28" name="Rectangle 27"/>
          <p:cNvSpPr/>
          <p:nvPr/>
        </p:nvSpPr>
        <p:spPr>
          <a:xfrm>
            <a:off x="609600" y="5581650"/>
            <a:ext cx="138708" cy="247650"/>
          </a:xfrm>
          <a:prstGeom prst="rect">
            <a:avLst/>
          </a:prstGeom>
          <a:solidFill>
            <a:srgbClr val="C9A34E"/>
          </a:solidFill>
          <a:ln>
            <a:noFill/>
          </a:ln>
        </p:spPr>
        <p:txBody>
          <a:bodyPr rtlCol="0" anchor="ctr"/>
          <a:lstStyle/>
          <a:p>
            <a:endParaRPr/>
          </a:p>
        </p:txBody>
      </p:sp>
      <p:sp>
        <p:nvSpPr>
          <p:cNvPr id="29" name="Rectangle 28"/>
          <p:cNvSpPr/>
          <p:nvPr/>
        </p:nvSpPr>
        <p:spPr>
          <a:xfrm>
            <a:off x="748308" y="5581650"/>
            <a:ext cx="817364" cy="247650"/>
          </a:xfrm>
          <a:prstGeom prst="rect">
            <a:avLst/>
          </a:prstGeom>
          <a:solidFill>
            <a:srgbClr val="7D7869"/>
          </a:solidFill>
          <a:ln>
            <a:noFill/>
          </a:ln>
        </p:spPr>
        <p:txBody>
          <a:bodyPr rtlCol="0" anchor="ctr"/>
          <a:lstStyle/>
          <a:p>
            <a:endParaRPr/>
          </a:p>
        </p:txBody>
      </p:sp>
      <p:sp>
        <p:nvSpPr>
          <p:cNvPr id="30" name="Rectangle 29"/>
          <p:cNvSpPr/>
          <p:nvPr/>
        </p:nvSpPr>
        <p:spPr>
          <a:xfrm>
            <a:off x="1565672" y="5581650"/>
            <a:ext cx="2458641" cy="247650"/>
          </a:xfrm>
          <a:prstGeom prst="rect">
            <a:avLst/>
          </a:prstGeom>
          <a:solidFill>
            <a:srgbClr val="1C2433"/>
          </a:solidFill>
          <a:ln>
            <a:noFill/>
          </a:ln>
        </p:spPr>
        <p:txBody>
          <a:bodyPr rtlCol="0" anchor="ctr"/>
          <a:lstStyle/>
          <a:p>
            <a:endParaRPr/>
          </a:p>
        </p:txBody>
      </p:sp>
      <p:sp>
        <p:nvSpPr>
          <p:cNvPr id="31" name="Rectangle 30"/>
          <p:cNvSpPr/>
          <p:nvPr/>
        </p:nvSpPr>
        <p:spPr>
          <a:xfrm>
            <a:off x="4024312" y="5581650"/>
            <a:ext cx="5487442" cy="247650"/>
          </a:xfrm>
          <a:prstGeom prst="rect">
            <a:avLst/>
          </a:prstGeom>
          <a:solidFill>
            <a:srgbClr val="5E8C6A"/>
          </a:solidFill>
          <a:ln>
            <a:noFill/>
          </a:ln>
        </p:spPr>
        <p:txBody>
          <a:bodyPr rtlCol="0" anchor="ctr"/>
          <a:lstStyle/>
          <a:p>
            <a:endParaRPr/>
          </a:p>
        </p:txBody>
      </p:sp>
      <p:sp>
        <p:nvSpPr>
          <p:cNvPr id="32" name="Rectangle 31"/>
          <p:cNvSpPr/>
          <p:nvPr/>
        </p:nvSpPr>
        <p:spPr>
          <a:xfrm>
            <a:off x="9511754" y="5581650"/>
            <a:ext cx="2070199" cy="247650"/>
          </a:xfrm>
          <a:prstGeom prst="rect">
            <a:avLst/>
          </a:prstGeom>
          <a:solidFill>
            <a:srgbClr val="B9B3A3"/>
          </a:solidFill>
          <a:ln>
            <a:noFill/>
          </a:ln>
        </p:spPr>
        <p:txBody>
          <a:bodyPr rtlCol="0" anchor="ctr"/>
          <a:lstStyle/>
          <a:p>
            <a:endParaRPr/>
          </a:p>
        </p:txBody>
      </p:sp>
      <p:sp>
        <p:nvSpPr>
          <p:cNvPr id="33" name="TextBox 32"/>
          <p:cNvSpPr txBox="1"/>
          <p:nvPr/>
        </p:nvSpPr>
        <p:spPr>
          <a:xfrm>
            <a:off x="800100" y="5924550"/>
            <a:ext cx="463439"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a:ea typeface="Inter"/>
                <a:cs typeface="Inter"/>
              </a:rPr>
              <a:t>Intake</a:t>
            </a:r>
          </a:p>
        </p:txBody>
      </p:sp>
      <p:sp>
        <p:nvSpPr>
          <p:cNvPr id="34" name="Rounded Rectangle 33"/>
          <p:cNvSpPr/>
          <p:nvPr/>
        </p:nvSpPr>
        <p:spPr>
          <a:xfrm>
            <a:off x="609600" y="5953125"/>
            <a:ext cx="123825" cy="123825"/>
          </a:xfrm>
          <a:prstGeom prst="roundRect">
            <a:avLst>
              <a:gd name="adj" fmla="val 23076"/>
            </a:avLst>
          </a:prstGeom>
          <a:solidFill>
            <a:srgbClr val="C9A34E"/>
          </a:solidFill>
          <a:ln>
            <a:noFill/>
          </a:ln>
        </p:spPr>
        <p:txBody>
          <a:bodyPr rtlCol="0" anchor="ctr"/>
          <a:lstStyle/>
          <a:p>
            <a:endParaRPr/>
          </a:p>
        </p:txBody>
      </p:sp>
      <p:sp>
        <p:nvSpPr>
          <p:cNvPr id="35" name="TextBox 34"/>
          <p:cNvSpPr txBox="1"/>
          <p:nvPr/>
        </p:nvSpPr>
        <p:spPr>
          <a:xfrm>
            <a:off x="1275755" y="5915025"/>
            <a:ext cx="573024" cy="190500"/>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JetBrains Mono Medium"/>
                <a:ea typeface="JetBrains Mono Medium"/>
                <a:cs typeface="JetBrains Mono Medium"/>
              </a:rPr>
              <a:t>0,05 $</a:t>
            </a:r>
          </a:p>
        </p:txBody>
      </p:sp>
      <p:sp>
        <p:nvSpPr>
          <p:cNvPr id="36" name="TextBox 35"/>
          <p:cNvSpPr txBox="1"/>
          <p:nvPr/>
        </p:nvSpPr>
        <p:spPr>
          <a:xfrm>
            <a:off x="2190155" y="5924550"/>
            <a:ext cx="929950"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a:ea typeface="Inter"/>
                <a:cs typeface="Inter"/>
              </a:rPr>
              <a:t>Investigation</a:t>
            </a:r>
          </a:p>
        </p:txBody>
      </p:sp>
      <p:sp>
        <p:nvSpPr>
          <p:cNvPr id="37" name="Rounded Rectangle 36"/>
          <p:cNvSpPr/>
          <p:nvPr/>
        </p:nvSpPr>
        <p:spPr>
          <a:xfrm>
            <a:off x="1999655" y="5953125"/>
            <a:ext cx="123825" cy="123825"/>
          </a:xfrm>
          <a:prstGeom prst="roundRect">
            <a:avLst>
              <a:gd name="adj" fmla="val 23076"/>
            </a:avLst>
          </a:prstGeom>
          <a:solidFill>
            <a:srgbClr val="7D7869"/>
          </a:solidFill>
          <a:ln>
            <a:noFill/>
          </a:ln>
        </p:spPr>
        <p:txBody>
          <a:bodyPr rtlCol="0" anchor="ctr"/>
          <a:lstStyle/>
          <a:p>
            <a:endParaRPr/>
          </a:p>
        </p:txBody>
      </p:sp>
      <p:sp>
        <p:nvSpPr>
          <p:cNvPr id="38" name="TextBox 37"/>
          <p:cNvSpPr txBox="1"/>
          <p:nvPr/>
        </p:nvSpPr>
        <p:spPr>
          <a:xfrm>
            <a:off x="3114377" y="5915025"/>
            <a:ext cx="573024" cy="190500"/>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JetBrains Mono Medium"/>
                <a:ea typeface="JetBrains Mono Medium"/>
                <a:cs typeface="JetBrains Mono Medium"/>
              </a:rPr>
              <a:t>0,27 $</a:t>
            </a:r>
          </a:p>
        </p:txBody>
      </p:sp>
      <p:sp>
        <p:nvSpPr>
          <p:cNvPr id="39" name="TextBox 38"/>
          <p:cNvSpPr txBox="1"/>
          <p:nvPr/>
        </p:nvSpPr>
        <p:spPr>
          <a:xfrm>
            <a:off x="4028777" y="5924550"/>
            <a:ext cx="570238"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a:ea typeface="Inter"/>
                <a:cs typeface="Inter"/>
              </a:rPr>
              <a:t>Plotting</a:t>
            </a:r>
          </a:p>
        </p:txBody>
      </p:sp>
      <p:sp>
        <p:nvSpPr>
          <p:cNvPr id="40" name="Rounded Rectangle 39"/>
          <p:cNvSpPr/>
          <p:nvPr/>
        </p:nvSpPr>
        <p:spPr>
          <a:xfrm>
            <a:off x="3838277" y="5953125"/>
            <a:ext cx="123825" cy="123825"/>
          </a:xfrm>
          <a:prstGeom prst="roundRect">
            <a:avLst>
              <a:gd name="adj" fmla="val 23076"/>
            </a:avLst>
          </a:prstGeom>
          <a:solidFill>
            <a:srgbClr val="1C2433"/>
          </a:solidFill>
          <a:ln>
            <a:noFill/>
          </a:ln>
        </p:spPr>
        <p:txBody>
          <a:bodyPr rtlCol="0" anchor="ctr"/>
          <a:lstStyle/>
          <a:p>
            <a:endParaRPr/>
          </a:p>
        </p:txBody>
      </p:sp>
      <p:sp>
        <p:nvSpPr>
          <p:cNvPr id="41" name="TextBox 40"/>
          <p:cNvSpPr txBox="1"/>
          <p:nvPr/>
        </p:nvSpPr>
        <p:spPr>
          <a:xfrm>
            <a:off x="4607123" y="5915025"/>
            <a:ext cx="573024" cy="190500"/>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JetBrains Mono Medium"/>
                <a:ea typeface="JetBrains Mono Medium"/>
                <a:cs typeface="JetBrains Mono Medium"/>
              </a:rPr>
              <a:t>0,81 $</a:t>
            </a:r>
          </a:p>
        </p:txBody>
      </p:sp>
      <p:sp>
        <p:nvSpPr>
          <p:cNvPr id="42" name="TextBox 41"/>
          <p:cNvSpPr txBox="1"/>
          <p:nvPr/>
        </p:nvSpPr>
        <p:spPr>
          <a:xfrm>
            <a:off x="5521523" y="5924550"/>
            <a:ext cx="536341"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a:ea typeface="Inter"/>
                <a:cs typeface="Inter"/>
              </a:rPr>
              <a:t>Writing</a:t>
            </a:r>
          </a:p>
        </p:txBody>
      </p:sp>
      <p:sp>
        <p:nvSpPr>
          <p:cNvPr id="43" name="Rounded Rectangle 42"/>
          <p:cNvSpPr/>
          <p:nvPr/>
        </p:nvSpPr>
        <p:spPr>
          <a:xfrm>
            <a:off x="5331023" y="5953125"/>
            <a:ext cx="123825" cy="123825"/>
          </a:xfrm>
          <a:prstGeom prst="roundRect">
            <a:avLst>
              <a:gd name="adj" fmla="val 23076"/>
            </a:avLst>
          </a:prstGeom>
          <a:solidFill>
            <a:srgbClr val="5E8C6A"/>
          </a:solidFill>
          <a:ln>
            <a:noFill/>
          </a:ln>
        </p:spPr>
        <p:txBody>
          <a:bodyPr rtlCol="0" anchor="ctr"/>
          <a:lstStyle/>
          <a:p>
            <a:endParaRPr/>
          </a:p>
        </p:txBody>
      </p:sp>
      <p:sp>
        <p:nvSpPr>
          <p:cNvPr id="44" name="TextBox 43"/>
          <p:cNvSpPr txBox="1"/>
          <p:nvPr/>
        </p:nvSpPr>
        <p:spPr>
          <a:xfrm>
            <a:off x="6067276" y="5915025"/>
            <a:ext cx="573024" cy="190500"/>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JetBrains Mono Medium"/>
                <a:ea typeface="JetBrains Mono Medium"/>
                <a:cs typeface="JetBrains Mono Medium"/>
              </a:rPr>
              <a:t>1,81 $</a:t>
            </a:r>
          </a:p>
        </p:txBody>
      </p:sp>
      <p:sp>
        <p:nvSpPr>
          <p:cNvPr id="45" name="TextBox 44"/>
          <p:cNvSpPr txBox="1"/>
          <p:nvPr/>
        </p:nvSpPr>
        <p:spPr>
          <a:xfrm>
            <a:off x="6981676" y="5924550"/>
            <a:ext cx="815102"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a:ea typeface="Inter"/>
                <a:cs typeface="Inter"/>
              </a:rPr>
              <a:t>Publication</a:t>
            </a:r>
          </a:p>
        </p:txBody>
      </p:sp>
      <p:sp>
        <p:nvSpPr>
          <p:cNvPr id="46" name="Rounded Rectangle 45"/>
          <p:cNvSpPr/>
          <p:nvPr/>
        </p:nvSpPr>
        <p:spPr>
          <a:xfrm>
            <a:off x="6791176" y="5953125"/>
            <a:ext cx="123825" cy="123825"/>
          </a:xfrm>
          <a:prstGeom prst="roundRect">
            <a:avLst>
              <a:gd name="adj" fmla="val 23076"/>
            </a:avLst>
          </a:prstGeom>
          <a:solidFill>
            <a:srgbClr val="B9B3A3"/>
          </a:solidFill>
          <a:ln>
            <a:noFill/>
          </a:ln>
        </p:spPr>
        <p:txBody>
          <a:bodyPr rtlCol="0" anchor="ctr"/>
          <a:lstStyle/>
          <a:p>
            <a:endParaRPr/>
          </a:p>
        </p:txBody>
      </p:sp>
      <p:sp>
        <p:nvSpPr>
          <p:cNvPr id="47" name="TextBox 46"/>
          <p:cNvSpPr txBox="1"/>
          <p:nvPr/>
        </p:nvSpPr>
        <p:spPr>
          <a:xfrm>
            <a:off x="7795468" y="5915025"/>
            <a:ext cx="573024" cy="190500"/>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JetBrains Mono Medium"/>
                <a:ea typeface="JetBrains Mono Medium"/>
                <a:cs typeface="JetBrains Mono Medium"/>
              </a:rPr>
              <a:t>0,68 $</a:t>
            </a:r>
          </a:p>
        </p:txBody>
      </p:sp>
      <p:sp>
        <p:nvSpPr>
          <p:cNvPr id="48" name="TextBox 47"/>
          <p:cNvSpPr txBox="1"/>
          <p:nvPr/>
        </p:nvSpPr>
        <p:spPr>
          <a:xfrm>
            <a:off x="8519368" y="5924550"/>
            <a:ext cx="136541"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a:ea typeface="Inter"/>
                <a:cs typeface="Inter"/>
              </a:rPr>
              <a:t>=</a:t>
            </a:r>
          </a:p>
        </p:txBody>
      </p:sp>
      <p:sp>
        <p:nvSpPr>
          <p:cNvPr id="49" name="TextBox 48"/>
          <p:cNvSpPr txBox="1"/>
          <p:nvPr/>
        </p:nvSpPr>
        <p:spPr>
          <a:xfrm>
            <a:off x="8680698" y="5915025"/>
            <a:ext cx="573024" cy="190500"/>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JetBrains Mono Medium"/>
                <a:ea typeface="JetBrains Mono Medium"/>
                <a:cs typeface="JetBrains Mono Medium"/>
              </a:rPr>
              <a:t>3,62 $</a:t>
            </a:r>
          </a:p>
        </p:txBody>
      </p:sp>
      <p:pic>
        <p:nvPicPr>
          <p:cNvPr id="50" name="Picture 49" descr="r003.png"/>
          <p:cNvPicPr>
            <a:picLocks noChangeAspect="1"/>
          </p:cNvPicPr>
          <p:nvPr/>
        </p:nvPicPr>
        <p:blipFill>
          <a:blip r:embed="rId4"/>
          <a:stretch>
            <a:fillRect/>
          </a:stretch>
        </p:blipFill>
        <p:spPr>
          <a:xfrm>
            <a:off x="381000" y="6343650"/>
            <a:ext cx="11430000" cy="76200"/>
          </a:xfrm>
          <a:prstGeom prst="rect">
            <a:avLst/>
          </a:prstGeom>
        </p:spPr>
      </p:pic>
      <p:pic>
        <p:nvPicPr>
          <p:cNvPr id="51" name="Picture 50" descr="r004.png"/>
          <p:cNvPicPr>
            <a:picLocks noChangeAspect="1"/>
          </p:cNvPicPr>
          <p:nvPr/>
        </p:nvPicPr>
        <p:blipFill>
          <a:blip r:embed="rId5"/>
          <a:stretch>
            <a:fillRect/>
          </a:stretch>
        </p:blipFill>
        <p:spPr>
          <a:xfrm>
            <a:off x="381000" y="6505575"/>
            <a:ext cx="171450" cy="190500"/>
          </a:xfrm>
          <a:prstGeom prst="rect">
            <a:avLst/>
          </a:prstGeom>
        </p:spPr>
      </p:pic>
      <p:sp>
        <p:nvSpPr>
          <p:cNvPr id="52" name="TextBox 51"/>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53" name="TextBox 52"/>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54" name="TextBox 53"/>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55" name="TextBox 54"/>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16 /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40731" y="323850"/>
            <a:ext cx="1008888"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GUARDRAILS</a:t>
            </a:r>
          </a:p>
        </p:txBody>
      </p:sp>
      <p:sp>
        <p:nvSpPr>
          <p:cNvPr id="3" name="TextBox 2"/>
          <p:cNvSpPr txBox="1"/>
          <p:nvPr/>
        </p:nvSpPr>
        <p:spPr>
          <a:xfrm>
            <a:off x="609600" y="323850"/>
            <a:ext cx="101136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VI</a:t>
            </a:r>
          </a:p>
        </p:txBody>
      </p:sp>
      <p:sp>
        <p:nvSpPr>
          <p:cNvPr id="4" name="Rectangle 3"/>
          <p:cNvSpPr/>
          <p:nvPr/>
        </p:nvSpPr>
        <p:spPr>
          <a:xfrm>
            <a:off x="1659731" y="395288"/>
            <a:ext cx="266700" cy="9525"/>
          </a:xfrm>
          <a:prstGeom prst="rect">
            <a:avLst/>
          </a:prstGeom>
          <a:noFill/>
          <a:ln>
            <a:noFill/>
          </a:ln>
        </p:spPr>
        <p:txBody>
          <a:bodyPr rtlCol="0" anchor="ctr"/>
          <a:lstStyle/>
          <a:p>
            <a:endParaRPr/>
          </a:p>
        </p:txBody>
      </p:sp>
      <p:cxnSp>
        <p:nvCxnSpPr>
          <p:cNvPr id="5" name="Connector 4"/>
          <p:cNvCxnSpPr/>
          <p:nvPr/>
        </p:nvCxnSpPr>
        <p:spPr>
          <a:xfrm>
            <a:off x="1659731" y="400050"/>
            <a:ext cx="266700" cy="0"/>
          </a:xfrm>
          <a:prstGeom prst="line">
            <a:avLst/>
          </a:prstGeom>
          <a:ln w="9525">
            <a:solidFill>
              <a:srgbClr val="C9A34E"/>
            </a:solidFill>
          </a:ln>
        </p:spPr>
      </p:cxnSp>
      <p:sp>
        <p:nvSpPr>
          <p:cNvPr id="6" name="TextBox 5"/>
          <p:cNvSpPr txBox="1"/>
          <p:nvPr/>
        </p:nvSpPr>
        <p:spPr>
          <a:xfrm>
            <a:off x="609600" y="561975"/>
            <a:ext cx="11048162" cy="752475"/>
          </a:xfrm>
          <a:prstGeom prst="rect">
            <a:avLst/>
          </a:prstGeom>
          <a:noFill/>
        </p:spPr>
        <p:txBody>
          <a:bodyPr wrap="square" lIns="0" tIns="0" rIns="0" bIns="0" anchor="t">
            <a:noAutofit/>
          </a:bodyPr>
          <a:lstStyle/>
          <a:p>
            <a:pPr algn="l">
              <a:lnSpc>
                <a:spcPts val="2925"/>
              </a:lnSpc>
              <a:spcBef>
                <a:spcPts val="0"/>
              </a:spcBef>
              <a:spcAft>
                <a:spcPts val="0"/>
              </a:spcAft>
            </a:pPr>
            <a:r>
              <a:rPr sz="2500" b="0" i="0" spc="-25">
                <a:solidFill>
                  <a:srgbClr val="1C2433"/>
                </a:solidFill>
                <a:latin typeface="Fraunces SemiBold"/>
                <a:ea typeface="Fraunces SemiBold"/>
                <a:cs typeface="Fraunces SemiBold"/>
              </a:rPr>
              <a:t>Lo que no debe aparecer no aparece y queda registrado, incluso cuando el guardrail se pasa de estricto</a:t>
            </a:r>
          </a:p>
        </p:txBody>
      </p:sp>
      <p:sp>
        <p:nvSpPr>
          <p:cNvPr id="7" name="Rounded Rectangle 6"/>
          <p:cNvSpPr/>
          <p:nvPr/>
        </p:nvSpPr>
        <p:spPr>
          <a:xfrm>
            <a:off x="609600" y="1428750"/>
            <a:ext cx="247650" cy="247650"/>
          </a:xfrm>
          <a:prstGeom prst="roundRect">
            <a:avLst>
              <a:gd name="adj" fmla="val 50000"/>
            </a:avLst>
          </a:prstGeom>
          <a:solidFill>
            <a:srgbClr val="C9A34E"/>
          </a:solidFill>
          <a:ln>
            <a:noFill/>
          </a:ln>
        </p:spPr>
        <p:txBody>
          <a:bodyPr rtlCol="0" anchor="ctr"/>
          <a:lstStyle/>
          <a:p>
            <a:endParaRPr/>
          </a:p>
        </p:txBody>
      </p:sp>
      <p:sp>
        <p:nvSpPr>
          <p:cNvPr id="8" name="TextBox 7"/>
          <p:cNvSpPr txBox="1"/>
          <p:nvPr/>
        </p:nvSpPr>
        <p:spPr>
          <a:xfrm>
            <a:off x="672739" y="1466850"/>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1</a:t>
            </a:r>
          </a:p>
        </p:txBody>
      </p:sp>
      <p:sp>
        <p:nvSpPr>
          <p:cNvPr id="9" name="TextBox 8"/>
          <p:cNvSpPr txBox="1"/>
          <p:nvPr/>
        </p:nvSpPr>
        <p:spPr>
          <a:xfrm>
            <a:off x="990600" y="1438275"/>
            <a:ext cx="6103772" cy="476250"/>
          </a:xfrm>
          <a:prstGeom prst="rect">
            <a:avLst/>
          </a:prstGeom>
          <a:noFill/>
        </p:spPr>
        <p:txBody>
          <a:bodyPr wrap="square" lIns="0" tIns="0" rIns="0" bIns="0" anchor="t">
            <a:noAutofit/>
          </a:bodyPr>
          <a:lstStyle/>
          <a:p>
            <a:pPr algn="l">
              <a:lnSpc>
                <a:spcPts val="1950"/>
              </a:lnSpc>
              <a:spcBef>
                <a:spcPts val="0"/>
              </a:spcBef>
              <a:spcAft>
                <a:spcPts val="0"/>
              </a:spcAft>
            </a:pPr>
            <a:r>
              <a:rPr sz="1400" b="0" i="1">
                <a:solidFill>
                  <a:srgbClr val="1C2433"/>
                </a:solidFill>
                <a:latin typeface="Fraunces Medium"/>
                <a:ea typeface="Fraunces Medium"/>
                <a:cs typeface="Fraunces Medium"/>
              </a:rPr>
              <a:t>«…no dejaría oro a sus herederos, sino el </a:t>
            </a:r>
            <a:r>
              <a:rPr sz="1400" b="0" i="1" u="sng">
                <a:solidFill>
                  <a:srgbClr val="B23A2B"/>
                </a:solidFill>
                <a:latin typeface="Fraunces Medium"/>
                <a:ea typeface="Fraunces Medium"/>
                <a:cs typeface="Fraunces Medium"/>
              </a:rPr>
              <a:t>tesoro</a:t>
            </a:r>
            <a:r>
              <a:rPr sz="1400" b="0" i="1">
                <a:solidFill>
                  <a:srgbClr val="1C2433"/>
                </a:solidFill>
                <a:latin typeface="Fraunces Medium"/>
                <a:ea typeface="Fraunces Medium"/>
                <a:cs typeface="Fraunces Medium"/>
              </a:rPr>
              <a:t> que permanecería eternamente…»</a:t>
            </a:r>
          </a:p>
        </p:txBody>
      </p:sp>
      <p:sp>
        <p:nvSpPr>
          <p:cNvPr id="10" name="TextBox 9"/>
          <p:cNvSpPr txBox="1"/>
          <p:nvPr/>
        </p:nvSpPr>
        <p:spPr>
          <a:xfrm>
            <a:off x="990600" y="1962150"/>
            <a:ext cx="4415778"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7D7869"/>
                </a:solidFill>
                <a:latin typeface="Inter"/>
                <a:ea typeface="Inter"/>
                <a:cs typeface="Inter"/>
              </a:rPr>
              <a:t>Capítulo 2, intento 1 · </a:t>
            </a:r>
            <a:r>
              <a:rPr sz="1100" b="0" i="0">
                <a:solidFill>
                  <a:srgbClr val="7D7869"/>
                </a:solidFill>
                <a:latin typeface="JetBrains Mono Medium"/>
                <a:ea typeface="JetBrains Mono Medium"/>
                <a:cs typeface="JetBrains Mono Medium"/>
              </a:rPr>
              <a:t>guardrail_prohibidas</a:t>
            </a:r>
            <a:r>
              <a:rPr sz="1200" b="0" i="0">
                <a:solidFill>
                  <a:srgbClr val="7D7869"/>
                </a:solidFill>
                <a:latin typeface="Inter"/>
                <a:ea typeface="Inter"/>
                <a:cs typeface="Inter"/>
              </a:rPr>
              <a:t> · nivel novela</a:t>
            </a:r>
          </a:p>
        </p:txBody>
      </p:sp>
      <p:sp>
        <p:nvSpPr>
          <p:cNvPr id="11" name="Rounded Rectangle 10"/>
          <p:cNvSpPr/>
          <p:nvPr/>
        </p:nvSpPr>
        <p:spPr>
          <a:xfrm>
            <a:off x="609600" y="2276475"/>
            <a:ext cx="247650" cy="247650"/>
          </a:xfrm>
          <a:prstGeom prst="roundRect">
            <a:avLst>
              <a:gd name="adj" fmla="val 50000"/>
            </a:avLst>
          </a:prstGeom>
          <a:solidFill>
            <a:srgbClr val="C9A34E"/>
          </a:solidFill>
          <a:ln>
            <a:noFill/>
          </a:ln>
        </p:spPr>
        <p:txBody>
          <a:bodyPr rtlCol="0" anchor="ctr"/>
          <a:lstStyle/>
          <a:p>
            <a:endParaRPr/>
          </a:p>
        </p:txBody>
      </p:sp>
      <p:sp>
        <p:nvSpPr>
          <p:cNvPr id="12" name="TextBox 11"/>
          <p:cNvSpPr txBox="1"/>
          <p:nvPr/>
        </p:nvSpPr>
        <p:spPr>
          <a:xfrm>
            <a:off x="672739" y="231457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2</a:t>
            </a:r>
          </a:p>
        </p:txBody>
      </p:sp>
      <p:sp>
        <p:nvSpPr>
          <p:cNvPr id="13" name="TextBox 12"/>
          <p:cNvSpPr txBox="1"/>
          <p:nvPr/>
        </p:nvSpPr>
        <p:spPr>
          <a:xfrm>
            <a:off x="990600" y="2295525"/>
            <a:ext cx="3300889" cy="190500"/>
          </a:xfrm>
          <a:prstGeom prst="rect">
            <a:avLst/>
          </a:prstGeom>
          <a:noFill/>
        </p:spPr>
        <p:txBody>
          <a:bodyPr wrap="none" lIns="0" tIns="0" rIns="0" bIns="0" anchor="t">
            <a:noAutofit/>
          </a:bodyPr>
          <a:lstStyle/>
          <a:p>
            <a:pPr algn="l">
              <a:lnSpc>
                <a:spcPts val="1575"/>
              </a:lnSpc>
              <a:spcBef>
                <a:spcPts val="0"/>
              </a:spcBef>
              <a:spcAft>
                <a:spcPts val="0"/>
              </a:spcAft>
            </a:pPr>
            <a:r>
              <a:rPr sz="1200" b="0" i="0">
                <a:solidFill>
                  <a:srgbClr val="1C2433"/>
                </a:solidFill>
                <a:latin typeface="Inter"/>
                <a:ea typeface="Inter"/>
                <a:cs typeface="Inter"/>
              </a:rPr>
              <a:t>El capítulo vuelve al editor con la incidencia</a:t>
            </a:r>
          </a:p>
        </p:txBody>
      </p:sp>
      <p:sp>
        <p:nvSpPr>
          <p:cNvPr id="14" name="Rounded Rectangle 13"/>
          <p:cNvSpPr/>
          <p:nvPr/>
        </p:nvSpPr>
        <p:spPr>
          <a:xfrm>
            <a:off x="609600" y="2638425"/>
            <a:ext cx="247650" cy="247650"/>
          </a:xfrm>
          <a:prstGeom prst="roundRect">
            <a:avLst>
              <a:gd name="adj" fmla="val 50000"/>
            </a:avLst>
          </a:prstGeom>
          <a:solidFill>
            <a:srgbClr val="C9A34E"/>
          </a:solidFill>
          <a:ln>
            <a:noFill/>
          </a:ln>
        </p:spPr>
        <p:txBody>
          <a:bodyPr rtlCol="0" anchor="ctr"/>
          <a:lstStyle/>
          <a:p>
            <a:endParaRPr/>
          </a:p>
        </p:txBody>
      </p:sp>
      <p:sp>
        <p:nvSpPr>
          <p:cNvPr id="15" name="TextBox 14"/>
          <p:cNvSpPr txBox="1"/>
          <p:nvPr/>
        </p:nvSpPr>
        <p:spPr>
          <a:xfrm>
            <a:off x="672739" y="267652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3</a:t>
            </a:r>
          </a:p>
        </p:txBody>
      </p:sp>
      <p:sp>
        <p:nvSpPr>
          <p:cNvPr id="16" name="Rounded Rectangle 15"/>
          <p:cNvSpPr/>
          <p:nvPr/>
        </p:nvSpPr>
        <p:spPr>
          <a:xfrm>
            <a:off x="990600" y="2638425"/>
            <a:ext cx="3152477" cy="285750"/>
          </a:xfrm>
          <a:prstGeom prst="roundRect">
            <a:avLst>
              <a:gd name="adj" fmla="val 23333"/>
            </a:avLst>
          </a:prstGeom>
          <a:solidFill>
            <a:srgbClr val="DDE3D5"/>
          </a:solidFill>
          <a:ln w="9525">
            <a:solidFill>
              <a:srgbClr val="5E8C6A"/>
            </a:solidFill>
          </a:ln>
        </p:spPr>
        <p:txBody>
          <a:bodyPr rtlCol="0" anchor="ctr"/>
          <a:lstStyle/>
          <a:p>
            <a:endParaRPr/>
          </a:p>
        </p:txBody>
      </p:sp>
      <p:sp>
        <p:nvSpPr>
          <p:cNvPr id="17" name="TextBox 16"/>
          <p:cNvSpPr txBox="1"/>
          <p:nvPr/>
        </p:nvSpPr>
        <p:spPr>
          <a:xfrm>
            <a:off x="1095375" y="2686050"/>
            <a:ext cx="3098744" cy="190500"/>
          </a:xfrm>
          <a:prstGeom prst="rect">
            <a:avLst/>
          </a:prstGeom>
          <a:noFill/>
        </p:spPr>
        <p:txBody>
          <a:bodyPr wrap="none" lIns="0" tIns="0" rIns="0" bIns="0" anchor="t">
            <a:noAutofit/>
          </a:bodyPr>
          <a:lstStyle/>
          <a:p>
            <a:pPr algn="l">
              <a:lnSpc>
                <a:spcPts val="1350"/>
              </a:lnSpc>
              <a:spcBef>
                <a:spcPts val="0"/>
              </a:spcBef>
              <a:spcAft>
                <a:spcPts val="0"/>
              </a:spcAft>
            </a:pPr>
            <a:r>
              <a:rPr sz="1200" b="0" i="0">
                <a:solidFill>
                  <a:srgbClr val="5E8C6A"/>
                </a:solidFill>
                <a:latin typeface="Inter SemiBold"/>
                <a:ea typeface="Inter SemiBold"/>
                <a:cs typeface="Inter SemiBold"/>
              </a:rPr>
              <a:t>✓</a:t>
            </a:r>
            <a:r>
              <a:rPr sz="1200" b="0" i="0">
                <a:solidFill>
                  <a:srgbClr val="1C2433"/>
                </a:solidFill>
                <a:latin typeface="Inter SemiBold"/>
                <a:ea typeface="Inter SemiBold"/>
                <a:cs typeface="Inter SemiBold"/>
              </a:rPr>
              <a:t> El intento siguiente sale sin el término</a:t>
            </a:r>
          </a:p>
        </p:txBody>
      </p:sp>
      <p:sp>
        <p:nvSpPr>
          <p:cNvPr id="18" name="Rounded Rectangle 17"/>
          <p:cNvSpPr/>
          <p:nvPr/>
        </p:nvSpPr>
        <p:spPr>
          <a:xfrm>
            <a:off x="609600" y="3038475"/>
            <a:ext cx="6438900" cy="1543050"/>
          </a:xfrm>
          <a:prstGeom prst="roundRect">
            <a:avLst>
              <a:gd name="adj" fmla="val 4938"/>
            </a:avLst>
          </a:prstGeom>
          <a:noFill/>
          <a:ln w="9525">
            <a:solidFill>
              <a:srgbClr val="B23A2B"/>
            </a:solidFill>
          </a:ln>
        </p:spPr>
        <p:txBody>
          <a:bodyPr rtlCol="0" anchor="ctr"/>
          <a:lstStyle/>
          <a:p>
            <a:endParaRPr/>
          </a:p>
        </p:txBody>
      </p:sp>
      <p:sp>
        <p:nvSpPr>
          <p:cNvPr id="19" name="TextBox 18"/>
          <p:cNvSpPr txBox="1"/>
          <p:nvPr/>
        </p:nvSpPr>
        <p:spPr>
          <a:xfrm>
            <a:off x="771525" y="3152775"/>
            <a:ext cx="3178457" cy="219075"/>
          </a:xfrm>
          <a:prstGeom prst="rect">
            <a:avLst/>
          </a:prstGeom>
          <a:noFill/>
        </p:spPr>
        <p:txBody>
          <a:bodyPr wrap="none" lIns="0" tIns="0" rIns="0" bIns="0" anchor="t">
            <a:noAutofit/>
          </a:bodyPr>
          <a:lstStyle/>
          <a:p>
            <a:pPr algn="l">
              <a:lnSpc>
                <a:spcPts val="1650"/>
              </a:lnSpc>
              <a:spcBef>
                <a:spcPts val="0"/>
              </a:spcBef>
              <a:spcAft>
                <a:spcPts val="0"/>
              </a:spcAft>
            </a:pPr>
            <a:r>
              <a:rPr sz="1350" b="0" i="0">
                <a:solidFill>
                  <a:srgbClr val="B23A2B"/>
                </a:solidFill>
                <a:latin typeface="Fraunces SemiBold"/>
                <a:ea typeface="Fraunces SemiBold"/>
                <a:cs typeface="Fraunces SemiBold"/>
              </a:rPr>
              <a:t>Lo que encontró el red-team (RT-07)</a:t>
            </a:r>
          </a:p>
        </p:txBody>
      </p:sp>
      <p:sp>
        <p:nvSpPr>
          <p:cNvPr id="20" name="TextBox 19"/>
          <p:cNvSpPr txBox="1"/>
          <p:nvPr/>
        </p:nvSpPr>
        <p:spPr>
          <a:xfrm>
            <a:off x="771525" y="3448050"/>
            <a:ext cx="6161265" cy="5619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De 4 rechazos reales, 1 era la palabra. Los otros 3 eran raíces dentro de otras palabras: «res</a:t>
            </a:r>
            <a:r>
              <a:rPr sz="1100" b="0" i="0">
                <a:solidFill>
                  <a:srgbClr val="1C2433"/>
                </a:solidFill>
                <a:latin typeface="Inter SemiBold"/>
                <a:ea typeface="Inter SemiBold"/>
                <a:cs typeface="Inter SemiBold"/>
              </a:rPr>
              <a:t>pirat</a:t>
            </a:r>
            <a:r>
              <a:rPr sz="1100" b="0" i="0">
                <a:solidFill>
                  <a:srgbClr val="1C2433"/>
                </a:solidFill>
                <a:latin typeface="Inter"/>
                <a:ea typeface="Inter"/>
                <a:cs typeface="Inter"/>
              </a:rPr>
              <a:t>orio» por «pirata», «</a:t>
            </a:r>
            <a:r>
              <a:rPr sz="1100" b="0" i="0">
                <a:solidFill>
                  <a:srgbClr val="1C2433"/>
                </a:solidFill>
                <a:latin typeface="Inter SemiBold"/>
                <a:ea typeface="Inter SemiBold"/>
                <a:cs typeface="Inter SemiBold"/>
              </a:rPr>
              <a:t>despid</a:t>
            </a:r>
            <a:r>
              <a:rPr sz="1100" b="0" i="0">
                <a:solidFill>
                  <a:srgbClr val="1C2433"/>
                </a:solidFill>
                <a:latin typeface="Inter"/>
                <a:ea typeface="Inter"/>
                <a:cs typeface="Inter"/>
              </a:rPr>
              <a:t>iéndose» por «despido», «</a:t>
            </a:r>
            <a:r>
              <a:rPr sz="1100" b="0" i="0">
                <a:solidFill>
                  <a:srgbClr val="1C2433"/>
                </a:solidFill>
                <a:latin typeface="Inter SemiBold"/>
                <a:ea typeface="Inter SemiBold"/>
                <a:cs typeface="Inter SemiBold"/>
              </a:rPr>
              <a:t>suspens</a:t>
            </a:r>
            <a:r>
              <a:rPr sz="1100" b="0" i="0">
                <a:solidFill>
                  <a:srgbClr val="1C2433"/>
                </a:solidFill>
                <a:latin typeface="Inter"/>
                <a:ea typeface="Inter"/>
                <a:cs typeface="Inter"/>
              </a:rPr>
              <a:t>ión» por «suspenso». Uno detuvo una novela.</a:t>
            </a:r>
          </a:p>
        </p:txBody>
      </p:sp>
      <p:sp>
        <p:nvSpPr>
          <p:cNvPr id="21" name="TextBox 20"/>
          <p:cNvSpPr txBox="1"/>
          <p:nvPr/>
        </p:nvSpPr>
        <p:spPr>
          <a:xfrm>
            <a:off x="771525" y="4105275"/>
            <a:ext cx="6161265" cy="342900"/>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7D7869"/>
                </a:solidFill>
                <a:latin typeface="Inter"/>
                <a:ea typeface="Inter"/>
                <a:cs typeface="Inter"/>
              </a:rPr>
              <a:t>Mitigación propuesta: que el aviso nombre la palabra que saltó y que la coincidencia por raíz avise en vez de bloquear.</a:t>
            </a:r>
          </a:p>
        </p:txBody>
      </p:sp>
      <p:sp>
        <p:nvSpPr>
          <p:cNvPr id="22" name="Rounded Rectangle 21"/>
          <p:cNvSpPr/>
          <p:nvPr/>
        </p:nvSpPr>
        <p:spPr>
          <a:xfrm>
            <a:off x="7391400" y="1428750"/>
            <a:ext cx="4191000" cy="1047750"/>
          </a:xfrm>
          <a:prstGeom prst="roundRect">
            <a:avLst>
              <a:gd name="adj" fmla="val 7272"/>
            </a:avLst>
          </a:prstGeom>
          <a:solidFill>
            <a:srgbClr val="FBF8F1"/>
          </a:solidFill>
          <a:ln w="9525">
            <a:solidFill>
              <a:srgbClr val="D9D2C3"/>
            </a:solidFill>
          </a:ln>
        </p:spPr>
        <p:txBody>
          <a:bodyPr rtlCol="0" anchor="ctr"/>
          <a:lstStyle/>
          <a:p>
            <a:endParaRPr/>
          </a:p>
        </p:txBody>
      </p:sp>
      <p:sp>
        <p:nvSpPr>
          <p:cNvPr id="23" name="TextBox 22"/>
          <p:cNvSpPr txBox="1"/>
          <p:nvPr/>
        </p:nvSpPr>
        <p:spPr>
          <a:xfrm>
            <a:off x="7534275" y="1552575"/>
            <a:ext cx="137092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Datos personales</a:t>
            </a:r>
          </a:p>
        </p:txBody>
      </p:sp>
      <p:sp>
        <p:nvSpPr>
          <p:cNvPr id="24" name="TextBox 23"/>
          <p:cNvSpPr txBox="1"/>
          <p:nvPr/>
        </p:nvSpPr>
        <p:spPr>
          <a:xfrm>
            <a:off x="7534275" y="1781175"/>
            <a:ext cx="3938206" cy="5619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El único rol con internet nunca recibe el nombre, la fecha ni los recuerdos del homenajeado: regla Semgrep y guarda de PII sobre cada prompt.</a:t>
            </a:r>
          </a:p>
        </p:txBody>
      </p:sp>
      <p:sp>
        <p:nvSpPr>
          <p:cNvPr id="25" name="Rounded Rectangle 24"/>
          <p:cNvSpPr/>
          <p:nvPr/>
        </p:nvSpPr>
        <p:spPr>
          <a:xfrm>
            <a:off x="7391400" y="2590800"/>
            <a:ext cx="4191000" cy="857250"/>
          </a:xfrm>
          <a:prstGeom prst="roundRect">
            <a:avLst>
              <a:gd name="adj" fmla="val 8888"/>
            </a:avLst>
          </a:prstGeom>
          <a:solidFill>
            <a:srgbClr val="FBF8F1"/>
          </a:solidFill>
          <a:ln w="9525">
            <a:solidFill>
              <a:srgbClr val="D9D2C3"/>
            </a:solidFill>
          </a:ln>
        </p:spPr>
        <p:txBody>
          <a:bodyPr rtlCol="0" anchor="ctr"/>
          <a:lstStyle/>
          <a:p>
            <a:endParaRPr/>
          </a:p>
        </p:txBody>
      </p:sp>
      <p:sp>
        <p:nvSpPr>
          <p:cNvPr id="26" name="TextBox 25"/>
          <p:cNvSpPr txBox="1"/>
          <p:nvPr/>
        </p:nvSpPr>
        <p:spPr>
          <a:xfrm>
            <a:off x="7534275" y="2714625"/>
            <a:ext cx="697468"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Injection</a:t>
            </a:r>
          </a:p>
        </p:txBody>
      </p:sp>
      <p:sp>
        <p:nvSpPr>
          <p:cNvPr id="27" name="TextBox 26"/>
          <p:cNvSpPr txBox="1"/>
          <p:nvPr/>
        </p:nvSpPr>
        <p:spPr>
          <a:xfrm>
            <a:off x="7534275" y="2943225"/>
            <a:ext cx="393820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Una carta con 5 órdenes inyectadas: 0 llegaron al texto. Al writer solo llegan filas tipadas.</a:t>
            </a:r>
          </a:p>
        </p:txBody>
      </p:sp>
      <p:sp>
        <p:nvSpPr>
          <p:cNvPr id="28" name="Rounded Rectangle 27"/>
          <p:cNvSpPr/>
          <p:nvPr/>
        </p:nvSpPr>
        <p:spPr>
          <a:xfrm>
            <a:off x="7391400" y="3562350"/>
            <a:ext cx="4191000" cy="857250"/>
          </a:xfrm>
          <a:prstGeom prst="roundRect">
            <a:avLst>
              <a:gd name="adj" fmla="val 8888"/>
            </a:avLst>
          </a:prstGeom>
          <a:solidFill>
            <a:srgbClr val="FBF8F1"/>
          </a:solidFill>
          <a:ln w="9525">
            <a:solidFill>
              <a:srgbClr val="D9D2C3"/>
            </a:solidFill>
          </a:ln>
        </p:spPr>
        <p:txBody>
          <a:bodyPr rtlCol="0" anchor="ctr"/>
          <a:lstStyle/>
          <a:p>
            <a:endParaRPr/>
          </a:p>
        </p:txBody>
      </p:sp>
      <p:sp>
        <p:nvSpPr>
          <p:cNvPr id="29" name="TextBox 28"/>
          <p:cNvSpPr txBox="1"/>
          <p:nvPr/>
        </p:nvSpPr>
        <p:spPr>
          <a:xfrm>
            <a:off x="7534275" y="3686175"/>
            <a:ext cx="723936"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Audit log</a:t>
            </a:r>
          </a:p>
        </p:txBody>
      </p:sp>
      <p:sp>
        <p:nvSpPr>
          <p:cNvPr id="30" name="TextBox 29"/>
          <p:cNvSpPr txBox="1"/>
          <p:nvPr/>
        </p:nvSpPr>
        <p:spPr>
          <a:xfrm>
            <a:off x="7534275" y="3914775"/>
            <a:ext cx="3938206" cy="371475"/>
          </a:xfrm>
          <a:prstGeom prst="rect">
            <a:avLst/>
          </a:prstGeom>
          <a:noFill/>
        </p:spPr>
        <p:txBody>
          <a:bodyPr wrap="square" lIns="0" tIns="0" rIns="0" bIns="0" anchor="t">
            <a:noAutofit/>
          </a:bodyPr>
          <a:lstStyle/>
          <a:p>
            <a:pPr algn="l">
              <a:lnSpc>
                <a:spcPts val="1500"/>
              </a:lnSpc>
              <a:spcBef>
                <a:spcPts val="0"/>
              </a:spcBef>
              <a:spcAft>
                <a:spcPts val="0"/>
              </a:spcAft>
            </a:pPr>
            <a:r>
              <a:rPr sz="1100" b="0" i="0">
                <a:solidFill>
                  <a:srgbClr val="1C2433"/>
                </a:solidFill>
                <a:latin typeface="Inter"/>
                <a:ea typeface="Inter"/>
                <a:cs typeface="Inter"/>
              </a:rPr>
              <a:t>Cada decisión de policy, de gate y cada edición humana, con actor, momento, antes y después.</a:t>
            </a:r>
          </a:p>
        </p:txBody>
      </p:sp>
      <p:sp>
        <p:nvSpPr>
          <p:cNvPr id="31" name="TextBox 30"/>
          <p:cNvSpPr txBox="1"/>
          <p:nvPr/>
        </p:nvSpPr>
        <p:spPr>
          <a:xfrm>
            <a:off x="609600" y="5210175"/>
            <a:ext cx="8144458" cy="161925"/>
          </a:xfrm>
          <a:prstGeom prst="rect">
            <a:avLst/>
          </a:prstGeom>
          <a:noFill/>
        </p:spPr>
        <p:txBody>
          <a:bodyPr wrap="none" lIns="0" tIns="0" rIns="0" bIns="0" anchor="t">
            <a:noAutofit/>
          </a:bodyPr>
          <a:lstStyle/>
          <a:p>
            <a:pPr algn="l">
              <a:lnSpc>
                <a:spcPts val="1425"/>
              </a:lnSpc>
              <a:spcBef>
                <a:spcPts val="0"/>
              </a:spcBef>
              <a:spcAft>
                <a:spcPts val="0"/>
              </a:spcAft>
            </a:pPr>
            <a:r>
              <a:rPr sz="1050" b="0" i="0">
                <a:solidFill>
                  <a:srgbClr val="7D7869"/>
                </a:solidFill>
                <a:latin typeface="Inter"/>
                <a:ea typeface="Inter"/>
                <a:cs typeface="Inter"/>
              </a:rPr>
              <a:t>Niveles de la lista: global · novela · destinatario, guardados en SQLite. Normaliza mayúsculas, acentos, plurales y derivados.</a:t>
            </a:r>
          </a:p>
        </p:txBody>
      </p:sp>
      <p:pic>
        <p:nvPicPr>
          <p:cNvPr id="32" name="Picture 31" descr="r003.png"/>
          <p:cNvPicPr>
            <a:picLocks noChangeAspect="1"/>
          </p:cNvPicPr>
          <p:nvPr/>
        </p:nvPicPr>
        <p:blipFill>
          <a:blip r:embed="rId3"/>
          <a:stretch>
            <a:fillRect/>
          </a:stretch>
        </p:blipFill>
        <p:spPr>
          <a:xfrm>
            <a:off x="381000" y="6343650"/>
            <a:ext cx="11430000" cy="76200"/>
          </a:xfrm>
          <a:prstGeom prst="rect">
            <a:avLst/>
          </a:prstGeom>
        </p:spPr>
      </p:pic>
      <p:pic>
        <p:nvPicPr>
          <p:cNvPr id="33" name="Picture 32" descr="r004.png"/>
          <p:cNvPicPr>
            <a:picLocks noChangeAspect="1"/>
          </p:cNvPicPr>
          <p:nvPr/>
        </p:nvPicPr>
        <p:blipFill>
          <a:blip r:embed="rId4"/>
          <a:stretch>
            <a:fillRect/>
          </a:stretch>
        </p:blipFill>
        <p:spPr>
          <a:xfrm>
            <a:off x="381000" y="6505575"/>
            <a:ext cx="171450" cy="190500"/>
          </a:xfrm>
          <a:prstGeom prst="rect">
            <a:avLst/>
          </a:prstGeom>
        </p:spPr>
      </p:pic>
      <p:sp>
        <p:nvSpPr>
          <p:cNvPr id="34" name="TextBox 33"/>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35" name="TextBox 34"/>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6" name="TextBox 35"/>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37" name="TextBox 36"/>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17 /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90291" y="323850"/>
            <a:ext cx="1918537"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PROPUESTA ECONÓMICA</a:t>
            </a:r>
          </a:p>
        </p:txBody>
      </p:sp>
      <p:sp>
        <p:nvSpPr>
          <p:cNvPr id="3" name="TextBox 2"/>
          <p:cNvSpPr txBox="1"/>
          <p:nvPr/>
        </p:nvSpPr>
        <p:spPr>
          <a:xfrm>
            <a:off x="609600" y="323850"/>
            <a:ext cx="1062907"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VII</a:t>
            </a:r>
          </a:p>
        </p:txBody>
      </p:sp>
      <p:sp>
        <p:nvSpPr>
          <p:cNvPr id="4" name="Rectangle 3"/>
          <p:cNvSpPr/>
          <p:nvPr/>
        </p:nvSpPr>
        <p:spPr>
          <a:xfrm>
            <a:off x="1709291" y="395288"/>
            <a:ext cx="266700" cy="9525"/>
          </a:xfrm>
          <a:prstGeom prst="rect">
            <a:avLst/>
          </a:prstGeom>
          <a:noFill/>
          <a:ln>
            <a:noFill/>
          </a:ln>
        </p:spPr>
        <p:txBody>
          <a:bodyPr rtlCol="0" anchor="ctr"/>
          <a:lstStyle/>
          <a:p>
            <a:endParaRPr/>
          </a:p>
        </p:txBody>
      </p:sp>
      <p:cxnSp>
        <p:nvCxnSpPr>
          <p:cNvPr id="5" name="Connector 4"/>
          <p:cNvCxnSpPr/>
          <p:nvPr/>
        </p:nvCxnSpPr>
        <p:spPr>
          <a:xfrm>
            <a:off x="1709291" y="400050"/>
            <a:ext cx="266700" cy="0"/>
          </a:xfrm>
          <a:prstGeom prst="line">
            <a:avLst/>
          </a:prstGeom>
          <a:ln w="9525">
            <a:solidFill>
              <a:srgbClr val="C9A34E"/>
            </a:solidFill>
          </a:ln>
        </p:spPr>
      </p:cxnSp>
      <p:sp>
        <p:nvSpPr>
          <p:cNvPr id="6" name="TextBox 5"/>
          <p:cNvSpPr txBox="1"/>
          <p:nvPr/>
        </p:nvSpPr>
        <p:spPr>
          <a:xfrm>
            <a:off x="609600" y="561975"/>
            <a:ext cx="10589073"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Cada novela cuesta 13,90 € y se vende a 59 €: margen del 71,5 %</a:t>
            </a:r>
          </a:p>
        </p:txBody>
      </p:sp>
      <p:sp>
        <p:nvSpPr>
          <p:cNvPr id="7" name="TextBox 6"/>
          <p:cNvSpPr txBox="1"/>
          <p:nvPr/>
        </p:nvSpPr>
        <p:spPr>
          <a:xfrm>
            <a:off x="609600" y="1257300"/>
            <a:ext cx="5376815"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COSTE UNITARIO POR NOVELA · 10 CAPÍTULOS · 300 NOVELAS/MES</a:t>
            </a:r>
          </a:p>
        </p:txBody>
      </p:sp>
      <p:sp>
        <p:nvSpPr>
          <p:cNvPr id="8" name="Rectangle 7"/>
          <p:cNvSpPr/>
          <p:nvPr/>
        </p:nvSpPr>
        <p:spPr>
          <a:xfrm>
            <a:off x="609600" y="1485900"/>
            <a:ext cx="5166122" cy="414338"/>
          </a:xfrm>
          <a:prstGeom prst="rect">
            <a:avLst/>
          </a:prstGeom>
          <a:noFill/>
          <a:ln>
            <a:noFill/>
          </a:ln>
        </p:spPr>
        <p:txBody>
          <a:bodyPr rtlCol="0" anchor="ctr"/>
          <a:lstStyle/>
          <a:p>
            <a:endParaRPr/>
          </a:p>
        </p:txBody>
      </p:sp>
      <p:cxnSp>
        <p:nvCxnSpPr>
          <p:cNvPr id="9" name="Connector 8"/>
          <p:cNvCxnSpPr/>
          <p:nvPr/>
        </p:nvCxnSpPr>
        <p:spPr>
          <a:xfrm>
            <a:off x="609600" y="1895475"/>
            <a:ext cx="5166122" cy="0"/>
          </a:xfrm>
          <a:prstGeom prst="line">
            <a:avLst/>
          </a:prstGeom>
          <a:ln w="9525">
            <a:solidFill>
              <a:srgbClr val="D9D2C3"/>
            </a:solidFill>
          </a:ln>
        </p:spPr>
      </p:cxnSp>
      <p:sp>
        <p:nvSpPr>
          <p:cNvPr id="10" name="TextBox 9"/>
          <p:cNvSpPr txBox="1"/>
          <p:nvPr/>
        </p:nvSpPr>
        <p:spPr>
          <a:xfrm>
            <a:off x="723900" y="1590675"/>
            <a:ext cx="2184916" cy="190500"/>
          </a:xfrm>
          <a:prstGeom prst="rect">
            <a:avLst/>
          </a:prstGeom>
          <a:noFill/>
        </p:spPr>
        <p:txBody>
          <a:bodyPr wrap="none" lIns="0" tIns="0" rIns="0" bIns="0" anchor="t">
            <a:noAutofit/>
          </a:bodyPr>
          <a:lstStyle/>
          <a:p>
            <a:pPr algn="l">
              <a:lnSpc>
                <a:spcPts val="1650"/>
              </a:lnSpc>
              <a:spcBef>
                <a:spcPts val="0"/>
              </a:spcBef>
              <a:spcAft>
                <a:spcPts val="0"/>
              </a:spcAft>
            </a:pPr>
            <a:r>
              <a:rPr sz="1300" b="0" i="0">
                <a:solidFill>
                  <a:srgbClr val="1C2433"/>
                </a:solidFill>
                <a:latin typeface="Inter"/>
                <a:ea typeface="Inter"/>
                <a:cs typeface="Inter"/>
              </a:rPr>
              <a:t>Tokens (Haiku 4.5) </a:t>
            </a:r>
            <a:r>
              <a:rPr sz="1100" b="0" i="0">
                <a:solidFill>
                  <a:srgbClr val="7D7869"/>
                </a:solidFill>
                <a:latin typeface="Inter"/>
                <a:ea typeface="Inter"/>
                <a:cs typeface="Inter"/>
              </a:rPr>
              <a:t>· medido</a:t>
            </a:r>
          </a:p>
        </p:txBody>
      </p:sp>
      <p:sp>
        <p:nvSpPr>
          <p:cNvPr id="11" name="Rectangle 10"/>
          <p:cNvSpPr/>
          <p:nvPr/>
        </p:nvSpPr>
        <p:spPr>
          <a:xfrm>
            <a:off x="5775722" y="1485900"/>
            <a:ext cx="1120378" cy="414338"/>
          </a:xfrm>
          <a:prstGeom prst="rect">
            <a:avLst/>
          </a:prstGeom>
          <a:noFill/>
          <a:ln>
            <a:noFill/>
          </a:ln>
        </p:spPr>
        <p:txBody>
          <a:bodyPr rtlCol="0" anchor="ctr"/>
          <a:lstStyle/>
          <a:p>
            <a:endParaRPr/>
          </a:p>
        </p:txBody>
      </p:sp>
      <p:cxnSp>
        <p:nvCxnSpPr>
          <p:cNvPr id="12" name="Connector 11"/>
          <p:cNvCxnSpPr/>
          <p:nvPr/>
        </p:nvCxnSpPr>
        <p:spPr>
          <a:xfrm>
            <a:off x="5775722" y="1895475"/>
            <a:ext cx="1120378" cy="0"/>
          </a:xfrm>
          <a:prstGeom prst="line">
            <a:avLst/>
          </a:prstGeom>
          <a:ln w="9525">
            <a:solidFill>
              <a:srgbClr val="D9D2C3"/>
            </a:solidFill>
          </a:ln>
        </p:spPr>
      </p:cxnSp>
      <p:sp>
        <p:nvSpPr>
          <p:cNvPr id="13" name="TextBox 12"/>
          <p:cNvSpPr txBox="1"/>
          <p:nvPr/>
        </p:nvSpPr>
        <p:spPr>
          <a:xfrm>
            <a:off x="6101667" y="1576388"/>
            <a:ext cx="680133" cy="219075"/>
          </a:xfrm>
          <a:prstGeom prst="rect">
            <a:avLst/>
          </a:prstGeom>
          <a:noFill/>
        </p:spPr>
        <p:txBody>
          <a:bodyPr wrap="none" lIns="0" tIns="0" rIns="0" bIns="0" anchor="t">
            <a:noAutofit/>
          </a:bodyPr>
          <a:lstStyle/>
          <a:p>
            <a:pPr algn="r">
              <a:lnSpc>
                <a:spcPts val="1650"/>
              </a:lnSpc>
              <a:spcBef>
                <a:spcPts val="0"/>
              </a:spcBef>
              <a:spcAft>
                <a:spcPts val="0"/>
              </a:spcAft>
            </a:pPr>
            <a:r>
              <a:rPr sz="1350" b="0" i="0">
                <a:solidFill>
                  <a:srgbClr val="1C2433"/>
                </a:solidFill>
                <a:latin typeface="JetBrains Mono Medium"/>
                <a:ea typeface="JetBrains Mono Medium"/>
                <a:cs typeface="JetBrains Mono Medium"/>
              </a:rPr>
              <a:t>2,77 €</a:t>
            </a:r>
          </a:p>
        </p:txBody>
      </p:sp>
      <p:sp>
        <p:nvSpPr>
          <p:cNvPr id="14" name="Rectangle 13"/>
          <p:cNvSpPr/>
          <p:nvPr/>
        </p:nvSpPr>
        <p:spPr>
          <a:xfrm>
            <a:off x="609600" y="1900238"/>
            <a:ext cx="5166122" cy="419100"/>
          </a:xfrm>
          <a:prstGeom prst="rect">
            <a:avLst/>
          </a:prstGeom>
          <a:noFill/>
          <a:ln>
            <a:noFill/>
          </a:ln>
        </p:spPr>
        <p:txBody>
          <a:bodyPr rtlCol="0" anchor="ctr"/>
          <a:lstStyle/>
          <a:p>
            <a:endParaRPr/>
          </a:p>
        </p:txBody>
      </p:sp>
      <p:cxnSp>
        <p:nvCxnSpPr>
          <p:cNvPr id="15" name="Connector 14"/>
          <p:cNvCxnSpPr/>
          <p:nvPr/>
        </p:nvCxnSpPr>
        <p:spPr>
          <a:xfrm>
            <a:off x="609600" y="2314575"/>
            <a:ext cx="5166122" cy="0"/>
          </a:xfrm>
          <a:prstGeom prst="line">
            <a:avLst/>
          </a:prstGeom>
          <a:ln w="9525">
            <a:solidFill>
              <a:srgbClr val="D9D2C3"/>
            </a:solidFill>
          </a:ln>
        </p:spPr>
      </p:cxnSp>
      <p:sp>
        <p:nvSpPr>
          <p:cNvPr id="16" name="TextBox 15"/>
          <p:cNvSpPr txBox="1"/>
          <p:nvPr/>
        </p:nvSpPr>
        <p:spPr>
          <a:xfrm>
            <a:off x="723900" y="2009775"/>
            <a:ext cx="3328595" cy="190500"/>
          </a:xfrm>
          <a:prstGeom prst="rect">
            <a:avLst/>
          </a:prstGeom>
          <a:noFill/>
        </p:spPr>
        <p:txBody>
          <a:bodyPr wrap="none" lIns="0" tIns="0" rIns="0" bIns="0" anchor="t">
            <a:noAutofit/>
          </a:bodyPr>
          <a:lstStyle/>
          <a:p>
            <a:pPr algn="l">
              <a:lnSpc>
                <a:spcPts val="1650"/>
              </a:lnSpc>
              <a:spcBef>
                <a:spcPts val="0"/>
              </a:spcBef>
              <a:spcAft>
                <a:spcPts val="0"/>
              </a:spcAft>
            </a:pPr>
            <a:r>
              <a:rPr sz="1300" b="0" i="0">
                <a:solidFill>
                  <a:srgbClr val="1C2433"/>
                </a:solidFill>
                <a:latin typeface="Inter"/>
                <a:ea typeface="Inter"/>
                <a:cs typeface="Inter"/>
              </a:rPr>
              <a:t>Revisiones del lector </a:t>
            </a:r>
            <a:r>
              <a:rPr sz="1100" b="0" i="0">
                <a:solidFill>
                  <a:srgbClr val="7D7869"/>
                </a:solidFill>
                <a:latin typeface="Inter"/>
                <a:ea typeface="Inter"/>
                <a:cs typeface="Inter"/>
              </a:rPr>
              <a:t>· 1,5 de media × 0,54 €</a:t>
            </a:r>
          </a:p>
        </p:txBody>
      </p:sp>
      <p:sp>
        <p:nvSpPr>
          <p:cNvPr id="17" name="Rectangle 16"/>
          <p:cNvSpPr/>
          <p:nvPr/>
        </p:nvSpPr>
        <p:spPr>
          <a:xfrm>
            <a:off x="5775722" y="1900238"/>
            <a:ext cx="1120378" cy="419100"/>
          </a:xfrm>
          <a:prstGeom prst="rect">
            <a:avLst/>
          </a:prstGeom>
          <a:noFill/>
          <a:ln>
            <a:noFill/>
          </a:ln>
        </p:spPr>
        <p:txBody>
          <a:bodyPr rtlCol="0" anchor="ctr"/>
          <a:lstStyle/>
          <a:p>
            <a:endParaRPr/>
          </a:p>
        </p:txBody>
      </p:sp>
      <p:cxnSp>
        <p:nvCxnSpPr>
          <p:cNvPr id="18" name="Connector 17"/>
          <p:cNvCxnSpPr/>
          <p:nvPr/>
        </p:nvCxnSpPr>
        <p:spPr>
          <a:xfrm>
            <a:off x="5775722" y="2314575"/>
            <a:ext cx="1120378" cy="0"/>
          </a:xfrm>
          <a:prstGeom prst="line">
            <a:avLst/>
          </a:prstGeom>
          <a:ln w="9525">
            <a:solidFill>
              <a:srgbClr val="D9D2C3"/>
            </a:solidFill>
          </a:ln>
        </p:spPr>
      </p:cxnSp>
      <p:sp>
        <p:nvSpPr>
          <p:cNvPr id="19" name="TextBox 18"/>
          <p:cNvSpPr txBox="1"/>
          <p:nvPr/>
        </p:nvSpPr>
        <p:spPr>
          <a:xfrm>
            <a:off x="6101667" y="1995488"/>
            <a:ext cx="680133" cy="219075"/>
          </a:xfrm>
          <a:prstGeom prst="rect">
            <a:avLst/>
          </a:prstGeom>
          <a:noFill/>
        </p:spPr>
        <p:txBody>
          <a:bodyPr wrap="none" lIns="0" tIns="0" rIns="0" bIns="0" anchor="t">
            <a:noAutofit/>
          </a:bodyPr>
          <a:lstStyle/>
          <a:p>
            <a:pPr algn="r">
              <a:lnSpc>
                <a:spcPts val="1650"/>
              </a:lnSpc>
              <a:spcBef>
                <a:spcPts val="0"/>
              </a:spcBef>
              <a:spcAft>
                <a:spcPts val="0"/>
              </a:spcAft>
            </a:pPr>
            <a:r>
              <a:rPr sz="1350" b="0" i="0">
                <a:solidFill>
                  <a:srgbClr val="1C2433"/>
                </a:solidFill>
                <a:latin typeface="JetBrains Mono Medium"/>
                <a:ea typeface="JetBrains Mono Medium"/>
                <a:cs typeface="JetBrains Mono Medium"/>
              </a:rPr>
              <a:t>0,81 €</a:t>
            </a:r>
          </a:p>
        </p:txBody>
      </p:sp>
      <p:sp>
        <p:nvSpPr>
          <p:cNvPr id="20" name="Rectangle 19"/>
          <p:cNvSpPr/>
          <p:nvPr/>
        </p:nvSpPr>
        <p:spPr>
          <a:xfrm>
            <a:off x="609600" y="2319338"/>
            <a:ext cx="5166122" cy="419100"/>
          </a:xfrm>
          <a:prstGeom prst="rect">
            <a:avLst/>
          </a:prstGeom>
          <a:noFill/>
          <a:ln>
            <a:noFill/>
          </a:ln>
        </p:spPr>
        <p:txBody>
          <a:bodyPr rtlCol="0" anchor="ctr"/>
          <a:lstStyle/>
          <a:p>
            <a:endParaRPr/>
          </a:p>
        </p:txBody>
      </p:sp>
      <p:cxnSp>
        <p:nvCxnSpPr>
          <p:cNvPr id="21" name="Connector 20"/>
          <p:cNvCxnSpPr/>
          <p:nvPr/>
        </p:nvCxnSpPr>
        <p:spPr>
          <a:xfrm>
            <a:off x="609600" y="2733675"/>
            <a:ext cx="5166122" cy="0"/>
          </a:xfrm>
          <a:prstGeom prst="line">
            <a:avLst/>
          </a:prstGeom>
          <a:ln w="9525">
            <a:solidFill>
              <a:srgbClr val="D9D2C3"/>
            </a:solidFill>
          </a:ln>
        </p:spPr>
      </p:cxnSp>
      <p:sp>
        <p:nvSpPr>
          <p:cNvPr id="22" name="TextBox 21"/>
          <p:cNvSpPr txBox="1"/>
          <p:nvPr/>
        </p:nvSpPr>
        <p:spPr>
          <a:xfrm>
            <a:off x="723900" y="2428875"/>
            <a:ext cx="3653016" cy="190500"/>
          </a:xfrm>
          <a:prstGeom prst="rect">
            <a:avLst/>
          </a:prstGeom>
          <a:noFill/>
        </p:spPr>
        <p:txBody>
          <a:bodyPr wrap="none" lIns="0" tIns="0" rIns="0" bIns="0" anchor="t">
            <a:noAutofit/>
          </a:bodyPr>
          <a:lstStyle/>
          <a:p>
            <a:pPr algn="l">
              <a:lnSpc>
                <a:spcPts val="1650"/>
              </a:lnSpc>
              <a:spcBef>
                <a:spcPts val="0"/>
              </a:spcBef>
              <a:spcAft>
                <a:spcPts val="0"/>
              </a:spcAft>
            </a:pPr>
            <a:r>
              <a:rPr sz="1300" b="0" i="0">
                <a:solidFill>
                  <a:srgbClr val="1C2433"/>
                </a:solidFill>
                <a:latin typeface="Inter"/>
                <a:ea typeface="Inter"/>
                <a:cs typeface="Inter"/>
              </a:rPr>
              <a:t>Supervisión editorial de gates </a:t>
            </a:r>
            <a:r>
              <a:rPr sz="1100" b="0" i="0">
                <a:solidFill>
                  <a:srgbClr val="7D7869"/>
                </a:solidFill>
                <a:latin typeface="Inter"/>
                <a:ea typeface="Inter"/>
                <a:cs typeface="Inter"/>
              </a:rPr>
              <a:t>· 20 min × 25 €/h</a:t>
            </a:r>
          </a:p>
        </p:txBody>
      </p:sp>
      <p:sp>
        <p:nvSpPr>
          <p:cNvPr id="23" name="Rectangle 22"/>
          <p:cNvSpPr/>
          <p:nvPr/>
        </p:nvSpPr>
        <p:spPr>
          <a:xfrm>
            <a:off x="5775722" y="2319338"/>
            <a:ext cx="1120378" cy="419100"/>
          </a:xfrm>
          <a:prstGeom prst="rect">
            <a:avLst/>
          </a:prstGeom>
          <a:noFill/>
          <a:ln>
            <a:noFill/>
          </a:ln>
        </p:spPr>
        <p:txBody>
          <a:bodyPr rtlCol="0" anchor="ctr"/>
          <a:lstStyle/>
          <a:p>
            <a:endParaRPr/>
          </a:p>
        </p:txBody>
      </p:sp>
      <p:cxnSp>
        <p:nvCxnSpPr>
          <p:cNvPr id="24" name="Connector 23"/>
          <p:cNvCxnSpPr/>
          <p:nvPr/>
        </p:nvCxnSpPr>
        <p:spPr>
          <a:xfrm>
            <a:off x="5775722" y="2733675"/>
            <a:ext cx="1120378" cy="0"/>
          </a:xfrm>
          <a:prstGeom prst="line">
            <a:avLst/>
          </a:prstGeom>
          <a:ln w="9525">
            <a:solidFill>
              <a:srgbClr val="D9D2C3"/>
            </a:solidFill>
          </a:ln>
        </p:spPr>
      </p:cxnSp>
      <p:sp>
        <p:nvSpPr>
          <p:cNvPr id="25" name="TextBox 24"/>
          <p:cNvSpPr txBox="1"/>
          <p:nvPr/>
        </p:nvSpPr>
        <p:spPr>
          <a:xfrm>
            <a:off x="6101667" y="2414588"/>
            <a:ext cx="680133" cy="219075"/>
          </a:xfrm>
          <a:prstGeom prst="rect">
            <a:avLst/>
          </a:prstGeom>
          <a:noFill/>
        </p:spPr>
        <p:txBody>
          <a:bodyPr wrap="none" lIns="0" tIns="0" rIns="0" bIns="0" anchor="t">
            <a:noAutofit/>
          </a:bodyPr>
          <a:lstStyle/>
          <a:p>
            <a:pPr algn="r">
              <a:lnSpc>
                <a:spcPts val="1650"/>
              </a:lnSpc>
              <a:spcBef>
                <a:spcPts val="0"/>
              </a:spcBef>
              <a:spcAft>
                <a:spcPts val="0"/>
              </a:spcAft>
            </a:pPr>
            <a:r>
              <a:rPr sz="1350" b="0" i="0">
                <a:solidFill>
                  <a:srgbClr val="1C2433"/>
                </a:solidFill>
                <a:latin typeface="JetBrains Mono Medium"/>
                <a:ea typeface="JetBrains Mono Medium"/>
                <a:cs typeface="JetBrains Mono Medium"/>
              </a:rPr>
              <a:t>8,35 €</a:t>
            </a:r>
          </a:p>
        </p:txBody>
      </p:sp>
      <p:sp>
        <p:nvSpPr>
          <p:cNvPr id="26" name="Rectangle 25"/>
          <p:cNvSpPr/>
          <p:nvPr/>
        </p:nvSpPr>
        <p:spPr>
          <a:xfrm>
            <a:off x="609600" y="2738438"/>
            <a:ext cx="5166122" cy="419100"/>
          </a:xfrm>
          <a:prstGeom prst="rect">
            <a:avLst/>
          </a:prstGeom>
          <a:noFill/>
          <a:ln>
            <a:noFill/>
          </a:ln>
        </p:spPr>
        <p:txBody>
          <a:bodyPr rtlCol="0" anchor="ctr"/>
          <a:lstStyle/>
          <a:p>
            <a:endParaRPr/>
          </a:p>
        </p:txBody>
      </p:sp>
      <p:cxnSp>
        <p:nvCxnSpPr>
          <p:cNvPr id="27" name="Connector 26"/>
          <p:cNvCxnSpPr/>
          <p:nvPr/>
        </p:nvCxnSpPr>
        <p:spPr>
          <a:xfrm>
            <a:off x="609600" y="3152775"/>
            <a:ext cx="5166122" cy="0"/>
          </a:xfrm>
          <a:prstGeom prst="line">
            <a:avLst/>
          </a:prstGeom>
          <a:ln w="9525">
            <a:solidFill>
              <a:srgbClr val="D9D2C3"/>
            </a:solidFill>
          </a:ln>
        </p:spPr>
      </p:cxnSp>
      <p:sp>
        <p:nvSpPr>
          <p:cNvPr id="28" name="TextBox 27"/>
          <p:cNvSpPr txBox="1"/>
          <p:nvPr/>
        </p:nvSpPr>
        <p:spPr>
          <a:xfrm>
            <a:off x="723900" y="2847975"/>
            <a:ext cx="4542234" cy="190500"/>
          </a:xfrm>
          <a:prstGeom prst="rect">
            <a:avLst/>
          </a:prstGeom>
          <a:noFill/>
        </p:spPr>
        <p:txBody>
          <a:bodyPr wrap="none" lIns="0" tIns="0" rIns="0" bIns="0" anchor="t">
            <a:noAutofit/>
          </a:bodyPr>
          <a:lstStyle/>
          <a:p>
            <a:pPr algn="l">
              <a:lnSpc>
                <a:spcPts val="1650"/>
              </a:lnSpc>
              <a:spcBef>
                <a:spcPts val="0"/>
              </a:spcBef>
              <a:spcAft>
                <a:spcPts val="0"/>
              </a:spcAft>
            </a:pPr>
            <a:r>
              <a:rPr sz="1300" b="0" i="0">
                <a:solidFill>
                  <a:srgbClr val="1C2433"/>
                </a:solidFill>
                <a:latin typeface="Inter"/>
                <a:ea typeface="Inter"/>
                <a:cs typeface="Inter"/>
              </a:rPr>
              <a:t>Infraestructura y mantenimiento </a:t>
            </a:r>
            <a:r>
              <a:rPr sz="1100" b="0" i="0">
                <a:solidFill>
                  <a:srgbClr val="7D7869"/>
                </a:solidFill>
                <a:latin typeface="Inter"/>
                <a:ea typeface="Inter"/>
                <a:cs typeface="Inter"/>
              </a:rPr>
              <a:t>· (70 € + 520 €/mes) ÷ 300</a:t>
            </a:r>
          </a:p>
        </p:txBody>
      </p:sp>
      <p:sp>
        <p:nvSpPr>
          <p:cNvPr id="29" name="Rectangle 28"/>
          <p:cNvSpPr/>
          <p:nvPr/>
        </p:nvSpPr>
        <p:spPr>
          <a:xfrm>
            <a:off x="5775722" y="2738438"/>
            <a:ext cx="1120378" cy="419100"/>
          </a:xfrm>
          <a:prstGeom prst="rect">
            <a:avLst/>
          </a:prstGeom>
          <a:noFill/>
          <a:ln>
            <a:noFill/>
          </a:ln>
        </p:spPr>
        <p:txBody>
          <a:bodyPr rtlCol="0" anchor="ctr"/>
          <a:lstStyle/>
          <a:p>
            <a:endParaRPr/>
          </a:p>
        </p:txBody>
      </p:sp>
      <p:cxnSp>
        <p:nvCxnSpPr>
          <p:cNvPr id="30" name="Connector 29"/>
          <p:cNvCxnSpPr/>
          <p:nvPr/>
        </p:nvCxnSpPr>
        <p:spPr>
          <a:xfrm>
            <a:off x="5775722" y="3152775"/>
            <a:ext cx="1120378" cy="0"/>
          </a:xfrm>
          <a:prstGeom prst="line">
            <a:avLst/>
          </a:prstGeom>
          <a:ln w="9525">
            <a:solidFill>
              <a:srgbClr val="D9D2C3"/>
            </a:solidFill>
          </a:ln>
        </p:spPr>
      </p:cxnSp>
      <p:sp>
        <p:nvSpPr>
          <p:cNvPr id="31" name="TextBox 30"/>
          <p:cNvSpPr txBox="1"/>
          <p:nvPr/>
        </p:nvSpPr>
        <p:spPr>
          <a:xfrm>
            <a:off x="6101667" y="2833688"/>
            <a:ext cx="680133" cy="219075"/>
          </a:xfrm>
          <a:prstGeom prst="rect">
            <a:avLst/>
          </a:prstGeom>
          <a:noFill/>
        </p:spPr>
        <p:txBody>
          <a:bodyPr wrap="none" lIns="0" tIns="0" rIns="0" bIns="0" anchor="t">
            <a:noAutofit/>
          </a:bodyPr>
          <a:lstStyle/>
          <a:p>
            <a:pPr algn="r">
              <a:lnSpc>
                <a:spcPts val="1650"/>
              </a:lnSpc>
              <a:spcBef>
                <a:spcPts val="0"/>
              </a:spcBef>
              <a:spcAft>
                <a:spcPts val="0"/>
              </a:spcAft>
            </a:pPr>
            <a:r>
              <a:rPr sz="1350" b="0" i="0">
                <a:solidFill>
                  <a:srgbClr val="1C2433"/>
                </a:solidFill>
                <a:latin typeface="JetBrains Mono Medium"/>
                <a:ea typeface="JetBrains Mono Medium"/>
                <a:cs typeface="JetBrains Mono Medium"/>
              </a:rPr>
              <a:t>1,97 €</a:t>
            </a:r>
          </a:p>
        </p:txBody>
      </p:sp>
      <p:sp>
        <p:nvSpPr>
          <p:cNvPr id="32" name="Rectangle 31"/>
          <p:cNvSpPr/>
          <p:nvPr/>
        </p:nvSpPr>
        <p:spPr>
          <a:xfrm>
            <a:off x="609600" y="3157538"/>
            <a:ext cx="5166122" cy="404812"/>
          </a:xfrm>
          <a:prstGeom prst="rect">
            <a:avLst/>
          </a:prstGeom>
          <a:solidFill>
            <a:srgbClr val="1C2433"/>
          </a:solidFill>
          <a:ln>
            <a:noFill/>
          </a:ln>
        </p:spPr>
        <p:txBody>
          <a:bodyPr rtlCol="0" anchor="ctr"/>
          <a:lstStyle/>
          <a:p>
            <a:endParaRPr/>
          </a:p>
        </p:txBody>
      </p:sp>
      <p:sp>
        <p:nvSpPr>
          <p:cNvPr id="33" name="TextBox 32"/>
          <p:cNvSpPr txBox="1"/>
          <p:nvPr/>
        </p:nvSpPr>
        <p:spPr>
          <a:xfrm>
            <a:off x="723900" y="3248025"/>
            <a:ext cx="486966" cy="219075"/>
          </a:xfrm>
          <a:prstGeom prst="rect">
            <a:avLst/>
          </a:prstGeom>
          <a:noFill/>
        </p:spPr>
        <p:txBody>
          <a:bodyPr wrap="none" lIns="0" tIns="0" rIns="0" bIns="0" anchor="t">
            <a:noAutofit/>
          </a:bodyPr>
          <a:lstStyle/>
          <a:p>
            <a:pPr algn="l">
              <a:lnSpc>
                <a:spcPts val="1650"/>
              </a:lnSpc>
              <a:spcBef>
                <a:spcPts val="0"/>
              </a:spcBef>
              <a:spcAft>
                <a:spcPts val="0"/>
              </a:spcAft>
            </a:pPr>
            <a:r>
              <a:rPr sz="1400" b="0" i="0">
                <a:solidFill>
                  <a:srgbClr val="F5EFE3"/>
                </a:solidFill>
                <a:latin typeface="Inter SemiBold"/>
                <a:ea typeface="Inter SemiBold"/>
                <a:cs typeface="Inter SemiBold"/>
              </a:rPr>
              <a:t>Total</a:t>
            </a:r>
          </a:p>
        </p:txBody>
      </p:sp>
      <p:sp>
        <p:nvSpPr>
          <p:cNvPr id="34" name="Rectangle 33"/>
          <p:cNvSpPr/>
          <p:nvPr/>
        </p:nvSpPr>
        <p:spPr>
          <a:xfrm>
            <a:off x="5775722" y="3157538"/>
            <a:ext cx="1120378" cy="404812"/>
          </a:xfrm>
          <a:prstGeom prst="rect">
            <a:avLst/>
          </a:prstGeom>
          <a:solidFill>
            <a:srgbClr val="1C2433"/>
          </a:solidFill>
          <a:ln>
            <a:noFill/>
          </a:ln>
        </p:spPr>
        <p:txBody>
          <a:bodyPr rtlCol="0" anchor="ctr"/>
          <a:lstStyle/>
          <a:p>
            <a:endParaRPr/>
          </a:p>
        </p:txBody>
      </p:sp>
      <p:sp>
        <p:nvSpPr>
          <p:cNvPr id="35" name="TextBox 34"/>
          <p:cNvSpPr txBox="1"/>
          <p:nvPr/>
        </p:nvSpPr>
        <p:spPr>
          <a:xfrm>
            <a:off x="5953077" y="3238500"/>
            <a:ext cx="828723" cy="238125"/>
          </a:xfrm>
          <a:prstGeom prst="rect">
            <a:avLst/>
          </a:prstGeom>
          <a:noFill/>
        </p:spPr>
        <p:txBody>
          <a:bodyPr wrap="none" lIns="0" tIns="0" rIns="0" bIns="0" anchor="t">
            <a:noAutofit/>
          </a:bodyPr>
          <a:lstStyle/>
          <a:p>
            <a:pPr algn="r">
              <a:lnSpc>
                <a:spcPts val="1650"/>
              </a:lnSpc>
              <a:spcBef>
                <a:spcPts val="0"/>
              </a:spcBef>
              <a:spcAft>
                <a:spcPts val="0"/>
              </a:spcAft>
            </a:pPr>
            <a:r>
              <a:rPr sz="1400" b="1" i="0">
                <a:solidFill>
                  <a:srgbClr val="F5EFE3"/>
                </a:solidFill>
                <a:latin typeface="JetBrains Mono"/>
                <a:ea typeface="JetBrains Mono"/>
                <a:cs typeface="JetBrains Mono"/>
              </a:rPr>
              <a:t>13,90 €</a:t>
            </a:r>
          </a:p>
        </p:txBody>
      </p:sp>
      <p:sp>
        <p:nvSpPr>
          <p:cNvPr id="36" name="TextBox 35"/>
          <p:cNvSpPr txBox="1"/>
          <p:nvPr/>
        </p:nvSpPr>
        <p:spPr>
          <a:xfrm>
            <a:off x="7467600" y="1257300"/>
            <a:ext cx="1508677"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PRECIO Y MARGEN</a:t>
            </a:r>
          </a:p>
        </p:txBody>
      </p:sp>
      <p:sp>
        <p:nvSpPr>
          <p:cNvPr id="37" name="TextBox 36"/>
          <p:cNvSpPr txBox="1"/>
          <p:nvPr/>
        </p:nvSpPr>
        <p:spPr>
          <a:xfrm>
            <a:off x="7467600" y="1428750"/>
            <a:ext cx="1560528" cy="838200"/>
          </a:xfrm>
          <a:prstGeom prst="rect">
            <a:avLst/>
          </a:prstGeom>
          <a:noFill/>
        </p:spPr>
        <p:txBody>
          <a:bodyPr wrap="none" lIns="0" tIns="0" rIns="0" bIns="0" anchor="t">
            <a:noAutofit/>
          </a:bodyPr>
          <a:lstStyle/>
          <a:p>
            <a:pPr algn="l">
              <a:lnSpc>
                <a:spcPts val="5700"/>
              </a:lnSpc>
              <a:spcBef>
                <a:spcPts val="0"/>
              </a:spcBef>
              <a:spcAft>
                <a:spcPts val="0"/>
              </a:spcAft>
            </a:pPr>
            <a:r>
              <a:rPr sz="5400" b="0" i="0">
                <a:solidFill>
                  <a:srgbClr val="9A7A2E"/>
                </a:solidFill>
                <a:latin typeface="Fraunces SemiBold"/>
                <a:ea typeface="Fraunces SemiBold"/>
                <a:cs typeface="Fraunces SemiBold"/>
              </a:rPr>
              <a:t>59 €</a:t>
            </a:r>
          </a:p>
        </p:txBody>
      </p:sp>
      <p:sp>
        <p:nvSpPr>
          <p:cNvPr id="38" name="TextBox 37"/>
          <p:cNvSpPr txBox="1"/>
          <p:nvPr/>
        </p:nvSpPr>
        <p:spPr>
          <a:xfrm>
            <a:off x="7467600" y="2247900"/>
            <a:ext cx="3733812"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7D7869"/>
                </a:solidFill>
                <a:latin typeface="Inter"/>
                <a:ea typeface="Inter"/>
                <a:cs typeface="Inter"/>
              </a:rPr>
              <a:t>PVP con IVA · 48,76 € sin IVA · 3 revisiones incluidas</a:t>
            </a:r>
          </a:p>
        </p:txBody>
      </p:sp>
      <p:sp>
        <p:nvSpPr>
          <p:cNvPr id="39" name="TextBox 38"/>
          <p:cNvSpPr txBox="1"/>
          <p:nvPr/>
        </p:nvSpPr>
        <p:spPr>
          <a:xfrm>
            <a:off x="7467600" y="2590800"/>
            <a:ext cx="2631150" cy="838200"/>
          </a:xfrm>
          <a:prstGeom prst="rect">
            <a:avLst/>
          </a:prstGeom>
          <a:noFill/>
        </p:spPr>
        <p:txBody>
          <a:bodyPr wrap="none" lIns="0" tIns="0" rIns="0" bIns="0" anchor="t">
            <a:noAutofit/>
          </a:bodyPr>
          <a:lstStyle/>
          <a:p>
            <a:pPr algn="l">
              <a:lnSpc>
                <a:spcPts val="5700"/>
              </a:lnSpc>
              <a:spcBef>
                <a:spcPts val="0"/>
              </a:spcBef>
              <a:spcAft>
                <a:spcPts val="0"/>
              </a:spcAft>
            </a:pPr>
            <a:r>
              <a:rPr sz="5400" b="0" i="0">
                <a:solidFill>
                  <a:srgbClr val="5E8C6A"/>
                </a:solidFill>
                <a:latin typeface="Fraunces SemiBold"/>
                <a:ea typeface="Fraunces SemiBold"/>
                <a:cs typeface="Fraunces SemiBold"/>
              </a:rPr>
              <a:t>34,86 €</a:t>
            </a:r>
          </a:p>
        </p:txBody>
      </p:sp>
      <p:sp>
        <p:nvSpPr>
          <p:cNvPr id="40" name="TextBox 39"/>
          <p:cNvSpPr txBox="1"/>
          <p:nvPr/>
        </p:nvSpPr>
        <p:spPr>
          <a:xfrm>
            <a:off x="7467600" y="3409950"/>
            <a:ext cx="1962340"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7D7869"/>
                </a:solidFill>
                <a:latin typeface="Inter"/>
                <a:ea typeface="Inter"/>
                <a:cs typeface="Inter"/>
              </a:rPr>
              <a:t>margen por novela (71,5 %)</a:t>
            </a:r>
          </a:p>
        </p:txBody>
      </p:sp>
      <p:sp>
        <p:nvSpPr>
          <p:cNvPr id="41" name="TextBox 40"/>
          <p:cNvSpPr txBox="1"/>
          <p:nvPr/>
        </p:nvSpPr>
        <p:spPr>
          <a:xfrm>
            <a:off x="609600" y="3819525"/>
            <a:ext cx="11048162" cy="895350"/>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1C2433"/>
                </a:solidFill>
                <a:latin typeface="Inter SemiBold"/>
                <a:ea typeface="Inter SemiBold"/>
                <a:cs typeface="Inter SemiBold"/>
              </a:rPr>
              <a:t>Tokens medidos</a:t>
            </a:r>
            <a:r>
              <a:rPr sz="1050" b="0" i="0">
                <a:solidFill>
                  <a:srgbClr val="7D7869"/>
                </a:solidFill>
                <a:latin typeface="Inter"/>
                <a:ea typeface="Inter"/>
                <a:cs typeface="Inter"/>
              </a:rPr>
              <a:t> (</a:t>
            </a:r>
            <a:r>
              <a:rPr sz="950" b="0" i="0">
                <a:solidFill>
                  <a:srgbClr val="7D7869"/>
                </a:solidFill>
                <a:latin typeface="JetBrains Mono Medium"/>
                <a:ea typeface="JetBrains Mono Medium"/>
                <a:cs typeface="JetBrains Mono Medium"/>
              </a:rPr>
              <a:t>total_cost_usd</a:t>
            </a:r>
            <a:r>
              <a:rPr sz="1050" b="0" i="0">
                <a:solidFill>
                  <a:srgbClr val="7D7869"/>
                </a:solidFill>
                <a:latin typeface="Inter"/>
                <a:ea typeface="Inter"/>
                <a:cs typeface="Inter"/>
              </a:rPr>
              <a:t> del Agent SDK, sumado por fase en </a:t>
            </a:r>
            <a:r>
              <a:rPr sz="950" b="0" i="0">
                <a:solidFill>
                  <a:srgbClr val="7D7869"/>
                </a:solidFill>
                <a:latin typeface="JetBrains Mono Medium"/>
                <a:ea typeface="JetBrains Mono Medium"/>
                <a:cs typeface="JetBrains Mono Medium"/>
              </a:rPr>
              <a:t>fase_run</a:t>
            </a:r>
            <a:r>
              <a:rPr sz="1050" b="0" i="0">
                <a:solidFill>
                  <a:srgbClr val="7D7869"/>
                </a:solidFill>
                <a:latin typeface="Inter"/>
                <a:ea typeface="Inter"/>
                <a:cs typeface="Inter"/>
              </a:rPr>
              <a:t>) en tres novelas de diez capítulos: Cádiz 1803–06 3,62 $ (publicada; texto ajeno en dos capítulos, RT-08) · Santiago 1180–88 2,31 $ · Madrid 1787–89 3,32 $ (hasta su primer intento de publicación). Media 3,08 $ ≈ 2,77 € (1 $ ≈ 0,90 €). Con las cinco novelas de diez capítulos ya publicadas (Madrid 1787–89 terminó en 3,68 $, Barcelona 2,99 $, Valencia 2,76 $), la media es 3,07 $: confirma la cifra. Langfuse registra el mismo coste que el arnés: 1,7172 $ en los dos en la novela de prueba (It-39) y 3,621496 $ en la de Cádiz. </a:t>
            </a:r>
            <a:r>
              <a:rPr sz="1050" b="0" i="0">
                <a:solidFill>
                  <a:srgbClr val="1C2433"/>
                </a:solidFill>
                <a:latin typeface="Inter SemiBold"/>
                <a:ea typeface="Inter SemiBold"/>
                <a:cs typeface="Inter SemiBold"/>
              </a:rPr>
              <a:t>Revisión medida</a:t>
            </a:r>
            <a:r>
              <a:rPr sz="1050" b="0" i="0">
                <a:solidFill>
                  <a:srgbClr val="7D7869"/>
                </a:solidFill>
                <a:latin typeface="Inter"/>
                <a:ea typeface="Inter"/>
                <a:cs typeface="Inter"/>
              </a:rPr>
              <a:t> en una rama de la novela de Cádiz, 1805: 0,60 $ ≈ 0,54 €, 10 min (la de Madrid, 1858, costó 0,94 $). Supervisión, infraestructura y tarifa son estimaciones.</a:t>
            </a:r>
          </a:p>
        </p:txBody>
      </p:sp>
      <p:sp>
        <p:nvSpPr>
          <p:cNvPr id="42" name="Rounded Rectangle 41"/>
          <p:cNvSpPr/>
          <p:nvPr/>
        </p:nvSpPr>
        <p:spPr>
          <a:xfrm>
            <a:off x="609600" y="4800600"/>
            <a:ext cx="10972800" cy="460028"/>
          </a:xfrm>
          <a:prstGeom prst="roundRect">
            <a:avLst>
              <a:gd name="adj" fmla="val 16564"/>
            </a:avLst>
          </a:prstGeom>
          <a:solidFill>
            <a:srgbClr val="1C2433"/>
          </a:solidFill>
          <a:ln>
            <a:noFill/>
          </a:ln>
        </p:spPr>
        <p:txBody>
          <a:bodyPr rtlCol="0" anchor="ctr"/>
          <a:lstStyle/>
          <a:p>
            <a:endParaRPr/>
          </a:p>
        </p:txBody>
      </p:sp>
      <p:sp>
        <p:nvSpPr>
          <p:cNvPr id="43" name="TextBox 42"/>
          <p:cNvSpPr txBox="1"/>
          <p:nvPr/>
        </p:nvSpPr>
        <p:spPr>
          <a:xfrm>
            <a:off x="781050" y="4924425"/>
            <a:ext cx="8242744" cy="200025"/>
          </a:xfrm>
          <a:prstGeom prst="rect">
            <a:avLst/>
          </a:prstGeom>
          <a:noFill/>
        </p:spPr>
        <p:txBody>
          <a:bodyPr wrap="none" lIns="0" tIns="0" rIns="0" bIns="0" anchor="t">
            <a:noAutofit/>
          </a:bodyPr>
          <a:lstStyle/>
          <a:p>
            <a:pPr algn="l">
              <a:lnSpc>
                <a:spcPts val="1822"/>
              </a:lnSpc>
              <a:spcBef>
                <a:spcPts val="0"/>
              </a:spcBef>
              <a:spcAft>
                <a:spcPts val="0"/>
              </a:spcAft>
            </a:pPr>
            <a:r>
              <a:rPr sz="1350" b="0" i="0">
                <a:solidFill>
                  <a:srgbClr val="F5EFE3"/>
                </a:solidFill>
                <a:latin typeface="Inter"/>
                <a:ea typeface="Inter"/>
                <a:cs typeface="Inter"/>
              </a:rPr>
              <a:t>El coste dominante no son los tokens: </a:t>
            </a:r>
            <a:r>
              <a:rPr sz="1350" b="0" i="0">
                <a:solidFill>
                  <a:srgbClr val="C9A34E"/>
                </a:solidFill>
                <a:latin typeface="Inter SemiBold"/>
                <a:ea typeface="Inter SemiBold"/>
                <a:cs typeface="Inter SemiBold"/>
              </a:rPr>
              <a:t>es la supervisión humana de los gates</a:t>
            </a:r>
            <a:r>
              <a:rPr sz="1350" b="0" i="0">
                <a:solidFill>
                  <a:srgbClr val="F5EFE3"/>
                </a:solidFill>
                <a:latin typeface="Inter"/>
                <a:ea typeface="Inter"/>
                <a:cs typeface="Inter"/>
              </a:rPr>
              <a:t> (8,35 € de 13,90 €).</a:t>
            </a:r>
          </a:p>
        </p:txBody>
      </p:sp>
      <p:pic>
        <p:nvPicPr>
          <p:cNvPr id="44" name="Picture 43" descr="r003.png"/>
          <p:cNvPicPr>
            <a:picLocks noChangeAspect="1"/>
          </p:cNvPicPr>
          <p:nvPr/>
        </p:nvPicPr>
        <p:blipFill>
          <a:blip r:embed="rId3"/>
          <a:stretch>
            <a:fillRect/>
          </a:stretch>
        </p:blipFill>
        <p:spPr>
          <a:xfrm>
            <a:off x="381000" y="6343650"/>
            <a:ext cx="11430000" cy="76200"/>
          </a:xfrm>
          <a:prstGeom prst="rect">
            <a:avLst/>
          </a:prstGeom>
        </p:spPr>
      </p:pic>
      <p:pic>
        <p:nvPicPr>
          <p:cNvPr id="45" name="Picture 44" descr="r053.png"/>
          <p:cNvPicPr>
            <a:picLocks noChangeAspect="1"/>
          </p:cNvPicPr>
          <p:nvPr/>
        </p:nvPicPr>
        <p:blipFill>
          <a:blip r:embed="rId4"/>
          <a:stretch>
            <a:fillRect/>
          </a:stretch>
        </p:blipFill>
        <p:spPr>
          <a:xfrm>
            <a:off x="381000" y="6505575"/>
            <a:ext cx="171450" cy="190500"/>
          </a:xfrm>
          <a:prstGeom prst="rect">
            <a:avLst/>
          </a:prstGeom>
        </p:spPr>
      </p:pic>
      <p:sp>
        <p:nvSpPr>
          <p:cNvPr id="46" name="TextBox 45"/>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47" name="TextBox 46"/>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48" name="TextBox 47"/>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49" name="TextBox 48"/>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18 / 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090291" y="323850"/>
            <a:ext cx="1918537"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PROPUESTA ECONÓMICA</a:t>
            </a:r>
          </a:p>
        </p:txBody>
      </p:sp>
      <p:sp>
        <p:nvSpPr>
          <p:cNvPr id="3" name="TextBox 2"/>
          <p:cNvSpPr txBox="1"/>
          <p:nvPr/>
        </p:nvSpPr>
        <p:spPr>
          <a:xfrm>
            <a:off x="609600" y="323850"/>
            <a:ext cx="1062907"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VII</a:t>
            </a:r>
          </a:p>
        </p:txBody>
      </p:sp>
      <p:sp>
        <p:nvSpPr>
          <p:cNvPr id="4" name="Rectangle 3"/>
          <p:cNvSpPr/>
          <p:nvPr/>
        </p:nvSpPr>
        <p:spPr>
          <a:xfrm>
            <a:off x="1709291" y="395288"/>
            <a:ext cx="266700" cy="9525"/>
          </a:xfrm>
          <a:prstGeom prst="rect">
            <a:avLst/>
          </a:prstGeom>
          <a:noFill/>
          <a:ln>
            <a:noFill/>
          </a:ln>
        </p:spPr>
        <p:txBody>
          <a:bodyPr rtlCol="0" anchor="ctr"/>
          <a:lstStyle/>
          <a:p>
            <a:endParaRPr/>
          </a:p>
        </p:txBody>
      </p:sp>
      <p:cxnSp>
        <p:nvCxnSpPr>
          <p:cNvPr id="5" name="Connector 4"/>
          <p:cNvCxnSpPr/>
          <p:nvPr/>
        </p:nvCxnSpPr>
        <p:spPr>
          <a:xfrm>
            <a:off x="1709291" y="400050"/>
            <a:ext cx="266700" cy="0"/>
          </a:xfrm>
          <a:prstGeom prst="line">
            <a:avLst/>
          </a:prstGeom>
          <a:ln w="9525">
            <a:solidFill>
              <a:srgbClr val="C9A34E"/>
            </a:solidFill>
          </a:ln>
        </p:spPr>
      </p:cxnSp>
      <p:sp>
        <p:nvSpPr>
          <p:cNvPr id="6" name="TextBox 5"/>
          <p:cNvSpPr txBox="1"/>
          <p:nvPr/>
        </p:nvSpPr>
        <p:spPr>
          <a:xfrm>
            <a:off x="609600" y="561975"/>
            <a:ext cx="11048162" cy="819150"/>
          </a:xfrm>
          <a:prstGeom prst="rect">
            <a:avLst/>
          </a:prstGeom>
          <a:noFill/>
        </p:spPr>
        <p:txBody>
          <a:bodyPr wrap="squar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El margen aguanta una subida del 50 % en tokens; lo que hay que proteger son las revisiones</a:t>
            </a:r>
          </a:p>
        </p:txBody>
      </p:sp>
      <p:sp>
        <p:nvSpPr>
          <p:cNvPr id="7" name="TextBox 6"/>
          <p:cNvSpPr txBox="1"/>
          <p:nvPr/>
        </p:nvSpPr>
        <p:spPr>
          <a:xfrm>
            <a:off x="609600" y="1524000"/>
            <a:ext cx="3160038"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COSTE DEL PROYECTO DE DESARROLLO</a:t>
            </a:r>
          </a:p>
        </p:txBody>
      </p:sp>
      <p:sp>
        <p:nvSpPr>
          <p:cNvPr id="8" name="Rectangle 7"/>
          <p:cNvSpPr/>
          <p:nvPr/>
        </p:nvSpPr>
        <p:spPr>
          <a:xfrm>
            <a:off x="609600" y="1752600"/>
            <a:ext cx="3716238" cy="300038"/>
          </a:xfrm>
          <a:prstGeom prst="rect">
            <a:avLst/>
          </a:prstGeom>
          <a:noFill/>
          <a:ln>
            <a:noFill/>
          </a:ln>
        </p:spPr>
        <p:txBody>
          <a:bodyPr rtlCol="0" anchor="ctr"/>
          <a:lstStyle/>
          <a:p>
            <a:endParaRPr/>
          </a:p>
        </p:txBody>
      </p:sp>
      <p:cxnSp>
        <p:nvCxnSpPr>
          <p:cNvPr id="9" name="Connector 8"/>
          <p:cNvCxnSpPr/>
          <p:nvPr/>
        </p:nvCxnSpPr>
        <p:spPr>
          <a:xfrm>
            <a:off x="609600" y="2047875"/>
            <a:ext cx="3716238" cy="0"/>
          </a:xfrm>
          <a:prstGeom prst="line">
            <a:avLst/>
          </a:prstGeom>
          <a:ln w="9525">
            <a:solidFill>
              <a:srgbClr val="D9D2C3"/>
            </a:solidFill>
          </a:ln>
        </p:spPr>
      </p:cxnSp>
      <p:sp>
        <p:nvSpPr>
          <p:cNvPr id="10" name="TextBox 9"/>
          <p:cNvSpPr txBox="1"/>
          <p:nvPr/>
        </p:nvSpPr>
        <p:spPr>
          <a:xfrm>
            <a:off x="704850" y="1809750"/>
            <a:ext cx="2745379"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Diseño</a:t>
            </a:r>
            <a:r>
              <a:rPr sz="1100" b="0" i="0">
                <a:solidFill>
                  <a:srgbClr val="1C2433"/>
                </a:solidFill>
                <a:latin typeface="Inter"/>
                <a:ea typeface="Inter"/>
                <a:cs typeface="Inter"/>
              </a:rPr>
              <a:t> </a:t>
            </a:r>
            <a:r>
              <a:rPr sz="1050" b="0" i="0">
                <a:solidFill>
                  <a:srgbClr val="7D7869"/>
                </a:solidFill>
                <a:latin typeface="Inter"/>
                <a:ea typeface="Inter"/>
                <a:cs typeface="Inter"/>
              </a:rPr>
              <a:t>· arquitectura, specs, TLA+, Lean</a:t>
            </a:r>
          </a:p>
        </p:txBody>
      </p:sp>
      <p:sp>
        <p:nvSpPr>
          <p:cNvPr id="11" name="Rectangle 10"/>
          <p:cNvSpPr/>
          <p:nvPr/>
        </p:nvSpPr>
        <p:spPr>
          <a:xfrm>
            <a:off x="4325838" y="1752600"/>
            <a:ext cx="1617762" cy="300038"/>
          </a:xfrm>
          <a:prstGeom prst="rect">
            <a:avLst/>
          </a:prstGeom>
          <a:noFill/>
          <a:ln>
            <a:noFill/>
          </a:ln>
        </p:spPr>
        <p:txBody>
          <a:bodyPr rtlCol="0" anchor="ctr"/>
          <a:lstStyle/>
          <a:p>
            <a:endParaRPr/>
          </a:p>
        </p:txBody>
      </p:sp>
      <p:cxnSp>
        <p:nvCxnSpPr>
          <p:cNvPr id="12" name="Connector 11"/>
          <p:cNvCxnSpPr/>
          <p:nvPr/>
        </p:nvCxnSpPr>
        <p:spPr>
          <a:xfrm>
            <a:off x="4325838" y="2047875"/>
            <a:ext cx="1617762" cy="0"/>
          </a:xfrm>
          <a:prstGeom prst="line">
            <a:avLst/>
          </a:prstGeom>
          <a:ln w="9525">
            <a:solidFill>
              <a:srgbClr val="D9D2C3"/>
            </a:solidFill>
          </a:ln>
        </p:spPr>
      </p:cxnSp>
      <p:sp>
        <p:nvSpPr>
          <p:cNvPr id="13" name="TextBox 12"/>
          <p:cNvSpPr txBox="1"/>
          <p:nvPr/>
        </p:nvSpPr>
        <p:spPr>
          <a:xfrm>
            <a:off x="5453634" y="1800225"/>
            <a:ext cx="394716" cy="190500"/>
          </a:xfrm>
          <a:prstGeom prst="rect">
            <a:avLst/>
          </a:prstGeom>
          <a:noFill/>
        </p:spPr>
        <p:txBody>
          <a:bodyPr wrap="none" lIns="0" tIns="0" rIns="0" bIns="0" anchor="t">
            <a:noAutofit/>
          </a:bodyPr>
          <a:lstStyle/>
          <a:p>
            <a:pPr algn="r">
              <a:lnSpc>
                <a:spcPts val="1425"/>
              </a:lnSpc>
              <a:spcBef>
                <a:spcPts val="0"/>
              </a:spcBef>
              <a:spcAft>
                <a:spcPts val="0"/>
              </a:spcAft>
            </a:pPr>
            <a:r>
              <a:rPr sz="1100" b="0" i="0">
                <a:solidFill>
                  <a:srgbClr val="1C2433"/>
                </a:solidFill>
                <a:latin typeface="JetBrains Mono Medium"/>
                <a:ea typeface="JetBrains Mono Medium"/>
                <a:cs typeface="JetBrains Mono Medium"/>
              </a:rPr>
              <a:t>90 h</a:t>
            </a:r>
          </a:p>
        </p:txBody>
      </p:sp>
      <p:sp>
        <p:nvSpPr>
          <p:cNvPr id="14" name="Rectangle 13"/>
          <p:cNvSpPr/>
          <p:nvPr/>
        </p:nvSpPr>
        <p:spPr>
          <a:xfrm>
            <a:off x="609600" y="2052638"/>
            <a:ext cx="3716238" cy="304800"/>
          </a:xfrm>
          <a:prstGeom prst="rect">
            <a:avLst/>
          </a:prstGeom>
          <a:noFill/>
          <a:ln>
            <a:noFill/>
          </a:ln>
        </p:spPr>
        <p:txBody>
          <a:bodyPr rtlCol="0" anchor="ctr"/>
          <a:lstStyle/>
          <a:p>
            <a:endParaRPr/>
          </a:p>
        </p:txBody>
      </p:sp>
      <p:cxnSp>
        <p:nvCxnSpPr>
          <p:cNvPr id="15" name="Connector 14"/>
          <p:cNvCxnSpPr/>
          <p:nvPr/>
        </p:nvCxnSpPr>
        <p:spPr>
          <a:xfrm>
            <a:off x="609600" y="2352675"/>
            <a:ext cx="3716238" cy="0"/>
          </a:xfrm>
          <a:prstGeom prst="line">
            <a:avLst/>
          </a:prstGeom>
          <a:ln w="9525">
            <a:solidFill>
              <a:srgbClr val="D9D2C3"/>
            </a:solidFill>
          </a:ln>
        </p:spPr>
      </p:cxnSp>
      <p:sp>
        <p:nvSpPr>
          <p:cNvPr id="16" name="TextBox 15"/>
          <p:cNvSpPr txBox="1"/>
          <p:nvPr/>
        </p:nvSpPr>
        <p:spPr>
          <a:xfrm>
            <a:off x="704850" y="2114550"/>
            <a:ext cx="3135892"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Desarrollo</a:t>
            </a:r>
            <a:r>
              <a:rPr sz="1100" b="0" i="0">
                <a:solidFill>
                  <a:srgbClr val="1C2433"/>
                </a:solidFill>
                <a:latin typeface="Inter"/>
                <a:ea typeface="Inter"/>
                <a:cs typeface="Inter"/>
              </a:rPr>
              <a:t> </a:t>
            </a:r>
            <a:r>
              <a:rPr sz="1050" b="0" i="0">
                <a:solidFill>
                  <a:srgbClr val="7D7869"/>
                </a:solidFill>
                <a:latin typeface="Inter"/>
                <a:ea typeface="Inter"/>
                <a:cs typeface="Inter"/>
              </a:rPr>
              <a:t>· harness, 9 roles, validadores, web</a:t>
            </a:r>
          </a:p>
        </p:txBody>
      </p:sp>
      <p:sp>
        <p:nvSpPr>
          <p:cNvPr id="17" name="Rectangle 16"/>
          <p:cNvSpPr/>
          <p:nvPr/>
        </p:nvSpPr>
        <p:spPr>
          <a:xfrm>
            <a:off x="4325838" y="2052638"/>
            <a:ext cx="1617762" cy="304800"/>
          </a:xfrm>
          <a:prstGeom prst="rect">
            <a:avLst/>
          </a:prstGeom>
          <a:noFill/>
          <a:ln>
            <a:noFill/>
          </a:ln>
        </p:spPr>
        <p:txBody>
          <a:bodyPr rtlCol="0" anchor="ctr"/>
          <a:lstStyle/>
          <a:p>
            <a:endParaRPr/>
          </a:p>
        </p:txBody>
      </p:sp>
      <p:cxnSp>
        <p:nvCxnSpPr>
          <p:cNvPr id="18" name="Connector 17"/>
          <p:cNvCxnSpPr/>
          <p:nvPr/>
        </p:nvCxnSpPr>
        <p:spPr>
          <a:xfrm>
            <a:off x="4325838" y="2352675"/>
            <a:ext cx="1617762" cy="0"/>
          </a:xfrm>
          <a:prstGeom prst="line">
            <a:avLst/>
          </a:prstGeom>
          <a:ln w="9525">
            <a:solidFill>
              <a:srgbClr val="D9D2C3"/>
            </a:solidFill>
          </a:ln>
        </p:spPr>
      </p:cxnSp>
      <p:sp>
        <p:nvSpPr>
          <p:cNvPr id="19" name="TextBox 18"/>
          <p:cNvSpPr txBox="1"/>
          <p:nvPr/>
        </p:nvSpPr>
        <p:spPr>
          <a:xfrm>
            <a:off x="5364480" y="2105025"/>
            <a:ext cx="483870" cy="190500"/>
          </a:xfrm>
          <a:prstGeom prst="rect">
            <a:avLst/>
          </a:prstGeom>
          <a:noFill/>
        </p:spPr>
        <p:txBody>
          <a:bodyPr wrap="none" lIns="0" tIns="0" rIns="0" bIns="0" anchor="t">
            <a:noAutofit/>
          </a:bodyPr>
          <a:lstStyle/>
          <a:p>
            <a:pPr algn="r">
              <a:lnSpc>
                <a:spcPts val="1425"/>
              </a:lnSpc>
              <a:spcBef>
                <a:spcPts val="0"/>
              </a:spcBef>
              <a:spcAft>
                <a:spcPts val="0"/>
              </a:spcAft>
            </a:pPr>
            <a:r>
              <a:rPr sz="1100" b="0" i="0">
                <a:solidFill>
                  <a:srgbClr val="1C2433"/>
                </a:solidFill>
                <a:latin typeface="JetBrains Mono Medium"/>
                <a:ea typeface="JetBrains Mono Medium"/>
                <a:cs typeface="JetBrains Mono Medium"/>
              </a:rPr>
              <a:t>220 h</a:t>
            </a:r>
          </a:p>
        </p:txBody>
      </p:sp>
      <p:sp>
        <p:nvSpPr>
          <p:cNvPr id="20" name="Rectangle 19"/>
          <p:cNvSpPr/>
          <p:nvPr/>
        </p:nvSpPr>
        <p:spPr>
          <a:xfrm>
            <a:off x="609600" y="2357438"/>
            <a:ext cx="3716238" cy="304800"/>
          </a:xfrm>
          <a:prstGeom prst="rect">
            <a:avLst/>
          </a:prstGeom>
          <a:noFill/>
          <a:ln>
            <a:noFill/>
          </a:ln>
        </p:spPr>
        <p:txBody>
          <a:bodyPr rtlCol="0" anchor="ctr"/>
          <a:lstStyle/>
          <a:p>
            <a:endParaRPr/>
          </a:p>
        </p:txBody>
      </p:sp>
      <p:cxnSp>
        <p:nvCxnSpPr>
          <p:cNvPr id="21" name="Connector 20"/>
          <p:cNvCxnSpPr/>
          <p:nvPr/>
        </p:nvCxnSpPr>
        <p:spPr>
          <a:xfrm>
            <a:off x="609600" y="2657475"/>
            <a:ext cx="3716238" cy="0"/>
          </a:xfrm>
          <a:prstGeom prst="line">
            <a:avLst/>
          </a:prstGeom>
          <a:ln w="9525">
            <a:solidFill>
              <a:srgbClr val="D9D2C3"/>
            </a:solidFill>
          </a:ln>
        </p:spPr>
      </p:cxnSp>
      <p:sp>
        <p:nvSpPr>
          <p:cNvPr id="22" name="TextBox 21"/>
          <p:cNvSpPr txBox="1"/>
          <p:nvPr/>
        </p:nvSpPr>
        <p:spPr>
          <a:xfrm>
            <a:off x="704850" y="2419350"/>
            <a:ext cx="3572220"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Validación</a:t>
            </a:r>
            <a:r>
              <a:rPr sz="1100" b="0" i="0">
                <a:solidFill>
                  <a:srgbClr val="1C2433"/>
                </a:solidFill>
                <a:latin typeface="Inter"/>
                <a:ea typeface="Inter"/>
                <a:cs typeface="Inter"/>
              </a:rPr>
              <a:t> </a:t>
            </a:r>
            <a:r>
              <a:rPr sz="1050" b="0" i="0">
                <a:solidFill>
                  <a:srgbClr val="7D7869"/>
                </a:solidFill>
                <a:latin typeface="Inter"/>
                <a:ea typeface="Inter"/>
                <a:cs typeface="Inter"/>
              </a:rPr>
              <a:t>· evals, revisión humana, red-team, tuning</a:t>
            </a:r>
          </a:p>
        </p:txBody>
      </p:sp>
      <p:sp>
        <p:nvSpPr>
          <p:cNvPr id="23" name="Rectangle 22"/>
          <p:cNvSpPr/>
          <p:nvPr/>
        </p:nvSpPr>
        <p:spPr>
          <a:xfrm>
            <a:off x="4325838" y="2357438"/>
            <a:ext cx="1617762" cy="304800"/>
          </a:xfrm>
          <a:prstGeom prst="rect">
            <a:avLst/>
          </a:prstGeom>
          <a:noFill/>
          <a:ln>
            <a:noFill/>
          </a:ln>
        </p:spPr>
        <p:txBody>
          <a:bodyPr rtlCol="0" anchor="ctr"/>
          <a:lstStyle/>
          <a:p>
            <a:endParaRPr/>
          </a:p>
        </p:txBody>
      </p:sp>
      <p:cxnSp>
        <p:nvCxnSpPr>
          <p:cNvPr id="24" name="Connector 23"/>
          <p:cNvCxnSpPr/>
          <p:nvPr/>
        </p:nvCxnSpPr>
        <p:spPr>
          <a:xfrm>
            <a:off x="4325838" y="2657475"/>
            <a:ext cx="1617762" cy="0"/>
          </a:xfrm>
          <a:prstGeom prst="line">
            <a:avLst/>
          </a:prstGeom>
          <a:ln w="9525">
            <a:solidFill>
              <a:srgbClr val="D9D2C3"/>
            </a:solidFill>
          </a:ln>
        </p:spPr>
      </p:cxnSp>
      <p:sp>
        <p:nvSpPr>
          <p:cNvPr id="25" name="TextBox 24"/>
          <p:cNvSpPr txBox="1"/>
          <p:nvPr/>
        </p:nvSpPr>
        <p:spPr>
          <a:xfrm>
            <a:off x="5453634" y="2409825"/>
            <a:ext cx="394716" cy="190500"/>
          </a:xfrm>
          <a:prstGeom prst="rect">
            <a:avLst/>
          </a:prstGeom>
          <a:noFill/>
        </p:spPr>
        <p:txBody>
          <a:bodyPr wrap="none" lIns="0" tIns="0" rIns="0" bIns="0" anchor="t">
            <a:noAutofit/>
          </a:bodyPr>
          <a:lstStyle/>
          <a:p>
            <a:pPr algn="r">
              <a:lnSpc>
                <a:spcPts val="1425"/>
              </a:lnSpc>
              <a:spcBef>
                <a:spcPts val="0"/>
              </a:spcBef>
              <a:spcAft>
                <a:spcPts val="0"/>
              </a:spcAft>
            </a:pPr>
            <a:r>
              <a:rPr sz="1100" b="0" i="0">
                <a:solidFill>
                  <a:srgbClr val="1C2433"/>
                </a:solidFill>
                <a:latin typeface="JetBrains Mono Medium"/>
                <a:ea typeface="JetBrains Mono Medium"/>
                <a:cs typeface="JetBrains Mono Medium"/>
              </a:rPr>
              <a:t>70 h</a:t>
            </a:r>
          </a:p>
        </p:txBody>
      </p:sp>
      <p:sp>
        <p:nvSpPr>
          <p:cNvPr id="26" name="Rectangle 25"/>
          <p:cNvSpPr/>
          <p:nvPr/>
        </p:nvSpPr>
        <p:spPr>
          <a:xfrm>
            <a:off x="609600" y="2662238"/>
            <a:ext cx="3716238" cy="304800"/>
          </a:xfrm>
          <a:prstGeom prst="rect">
            <a:avLst/>
          </a:prstGeom>
          <a:noFill/>
          <a:ln>
            <a:noFill/>
          </a:ln>
        </p:spPr>
        <p:txBody>
          <a:bodyPr rtlCol="0" anchor="ctr"/>
          <a:lstStyle/>
          <a:p>
            <a:endParaRPr/>
          </a:p>
        </p:txBody>
      </p:sp>
      <p:cxnSp>
        <p:nvCxnSpPr>
          <p:cNvPr id="27" name="Connector 26"/>
          <p:cNvCxnSpPr/>
          <p:nvPr/>
        </p:nvCxnSpPr>
        <p:spPr>
          <a:xfrm>
            <a:off x="609600" y="2962275"/>
            <a:ext cx="3716238" cy="0"/>
          </a:xfrm>
          <a:prstGeom prst="line">
            <a:avLst/>
          </a:prstGeom>
          <a:ln w="9525">
            <a:solidFill>
              <a:srgbClr val="D9D2C3"/>
            </a:solidFill>
          </a:ln>
        </p:spPr>
      </p:cxnSp>
      <p:sp>
        <p:nvSpPr>
          <p:cNvPr id="28" name="TextBox 27"/>
          <p:cNvSpPr txBox="1"/>
          <p:nvPr/>
        </p:nvSpPr>
        <p:spPr>
          <a:xfrm>
            <a:off x="704850" y="2724150"/>
            <a:ext cx="3447312"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1C2433"/>
                </a:solidFill>
                <a:latin typeface="Inter SemiBold"/>
                <a:ea typeface="Inter SemiBold"/>
                <a:cs typeface="Inter SemiBold"/>
              </a:rPr>
              <a:t>Despliegue</a:t>
            </a:r>
            <a:r>
              <a:rPr sz="1100" b="0" i="0">
                <a:solidFill>
                  <a:srgbClr val="1C2433"/>
                </a:solidFill>
                <a:latin typeface="Inter"/>
                <a:ea typeface="Inter"/>
                <a:cs typeface="Inter"/>
              </a:rPr>
              <a:t> </a:t>
            </a:r>
            <a:r>
              <a:rPr sz="1050" b="0" i="0">
                <a:solidFill>
                  <a:srgbClr val="7D7869"/>
                </a:solidFill>
                <a:latin typeface="Inter"/>
                <a:ea typeface="Inter"/>
                <a:cs typeface="Inter"/>
              </a:rPr>
              <a:t>· API propia, infra, Langfuse, formación</a:t>
            </a:r>
          </a:p>
        </p:txBody>
      </p:sp>
      <p:sp>
        <p:nvSpPr>
          <p:cNvPr id="29" name="Rectangle 28"/>
          <p:cNvSpPr/>
          <p:nvPr/>
        </p:nvSpPr>
        <p:spPr>
          <a:xfrm>
            <a:off x="4325838" y="2662238"/>
            <a:ext cx="1617762" cy="304800"/>
          </a:xfrm>
          <a:prstGeom prst="rect">
            <a:avLst/>
          </a:prstGeom>
          <a:noFill/>
          <a:ln>
            <a:noFill/>
          </a:ln>
        </p:spPr>
        <p:txBody>
          <a:bodyPr rtlCol="0" anchor="ctr"/>
          <a:lstStyle/>
          <a:p>
            <a:endParaRPr/>
          </a:p>
        </p:txBody>
      </p:sp>
      <p:cxnSp>
        <p:nvCxnSpPr>
          <p:cNvPr id="30" name="Connector 29"/>
          <p:cNvCxnSpPr/>
          <p:nvPr/>
        </p:nvCxnSpPr>
        <p:spPr>
          <a:xfrm>
            <a:off x="4325838" y="2962275"/>
            <a:ext cx="1617762" cy="0"/>
          </a:xfrm>
          <a:prstGeom prst="line">
            <a:avLst/>
          </a:prstGeom>
          <a:ln w="9525">
            <a:solidFill>
              <a:srgbClr val="D9D2C3"/>
            </a:solidFill>
          </a:ln>
        </p:spPr>
      </p:cxnSp>
      <p:sp>
        <p:nvSpPr>
          <p:cNvPr id="31" name="TextBox 30"/>
          <p:cNvSpPr txBox="1"/>
          <p:nvPr/>
        </p:nvSpPr>
        <p:spPr>
          <a:xfrm>
            <a:off x="5453634" y="2714625"/>
            <a:ext cx="394716" cy="190500"/>
          </a:xfrm>
          <a:prstGeom prst="rect">
            <a:avLst/>
          </a:prstGeom>
          <a:noFill/>
        </p:spPr>
        <p:txBody>
          <a:bodyPr wrap="none" lIns="0" tIns="0" rIns="0" bIns="0" anchor="t">
            <a:noAutofit/>
          </a:bodyPr>
          <a:lstStyle/>
          <a:p>
            <a:pPr algn="r">
              <a:lnSpc>
                <a:spcPts val="1425"/>
              </a:lnSpc>
              <a:spcBef>
                <a:spcPts val="0"/>
              </a:spcBef>
              <a:spcAft>
                <a:spcPts val="0"/>
              </a:spcAft>
            </a:pPr>
            <a:r>
              <a:rPr sz="1100" b="0" i="0">
                <a:solidFill>
                  <a:srgbClr val="1C2433"/>
                </a:solidFill>
                <a:latin typeface="JetBrains Mono Medium"/>
                <a:ea typeface="JetBrains Mono Medium"/>
                <a:cs typeface="JetBrains Mono Medium"/>
              </a:rPr>
              <a:t>40 h</a:t>
            </a:r>
          </a:p>
        </p:txBody>
      </p:sp>
      <p:sp>
        <p:nvSpPr>
          <p:cNvPr id="32" name="Rectangle 31"/>
          <p:cNvSpPr/>
          <p:nvPr/>
        </p:nvSpPr>
        <p:spPr>
          <a:xfrm>
            <a:off x="609600" y="2967038"/>
            <a:ext cx="3716238" cy="300038"/>
          </a:xfrm>
          <a:prstGeom prst="rect">
            <a:avLst/>
          </a:prstGeom>
          <a:solidFill>
            <a:srgbClr val="1C2433"/>
          </a:solidFill>
          <a:ln>
            <a:noFill/>
          </a:ln>
        </p:spPr>
        <p:txBody>
          <a:bodyPr rtlCol="0" anchor="ctr"/>
          <a:lstStyle/>
          <a:p>
            <a:endParaRPr/>
          </a:p>
        </p:txBody>
      </p:sp>
      <p:sp>
        <p:nvSpPr>
          <p:cNvPr id="33" name="TextBox 32"/>
          <p:cNvSpPr txBox="1"/>
          <p:nvPr/>
        </p:nvSpPr>
        <p:spPr>
          <a:xfrm>
            <a:off x="704850" y="3028950"/>
            <a:ext cx="986445"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F5EFE3"/>
                </a:solidFill>
                <a:latin typeface="Inter SemiBold"/>
                <a:ea typeface="Inter SemiBold"/>
                <a:cs typeface="Inter SemiBold"/>
              </a:rPr>
              <a:t>Total · 65 €/h</a:t>
            </a:r>
          </a:p>
        </p:txBody>
      </p:sp>
      <p:sp>
        <p:nvSpPr>
          <p:cNvPr id="34" name="Rectangle 33"/>
          <p:cNvSpPr/>
          <p:nvPr/>
        </p:nvSpPr>
        <p:spPr>
          <a:xfrm>
            <a:off x="4325838" y="2967038"/>
            <a:ext cx="1617762" cy="300038"/>
          </a:xfrm>
          <a:prstGeom prst="rect">
            <a:avLst/>
          </a:prstGeom>
          <a:solidFill>
            <a:srgbClr val="1C2433"/>
          </a:solidFill>
          <a:ln>
            <a:noFill/>
          </a:ln>
        </p:spPr>
        <p:txBody>
          <a:bodyPr rtlCol="0" anchor="ctr"/>
          <a:lstStyle/>
          <a:p>
            <a:endParaRPr/>
          </a:p>
        </p:txBody>
      </p:sp>
      <p:sp>
        <p:nvSpPr>
          <p:cNvPr id="35" name="TextBox 34"/>
          <p:cNvSpPr txBox="1"/>
          <p:nvPr/>
        </p:nvSpPr>
        <p:spPr>
          <a:xfrm>
            <a:off x="4383786" y="3019425"/>
            <a:ext cx="1464564" cy="190500"/>
          </a:xfrm>
          <a:prstGeom prst="rect">
            <a:avLst/>
          </a:prstGeom>
          <a:noFill/>
        </p:spPr>
        <p:txBody>
          <a:bodyPr wrap="none" lIns="0" tIns="0" rIns="0" bIns="0" anchor="t">
            <a:noAutofit/>
          </a:bodyPr>
          <a:lstStyle/>
          <a:p>
            <a:pPr algn="r">
              <a:lnSpc>
                <a:spcPts val="1425"/>
              </a:lnSpc>
              <a:spcBef>
                <a:spcPts val="0"/>
              </a:spcBef>
              <a:spcAft>
                <a:spcPts val="0"/>
              </a:spcAft>
            </a:pPr>
            <a:r>
              <a:rPr sz="1100" b="1" i="0">
                <a:solidFill>
                  <a:srgbClr val="F5EFE3"/>
                </a:solidFill>
                <a:latin typeface="JetBrains Mono"/>
                <a:ea typeface="JetBrains Mono"/>
                <a:cs typeface="JetBrains Mono"/>
              </a:rPr>
              <a:t>420 h · 27.300 €</a:t>
            </a:r>
          </a:p>
        </p:txBody>
      </p:sp>
      <p:sp>
        <p:nvSpPr>
          <p:cNvPr id="36" name="TextBox 35"/>
          <p:cNvSpPr txBox="1"/>
          <p:nvPr/>
        </p:nvSpPr>
        <p:spPr>
          <a:xfrm>
            <a:off x="6515100" y="1524000"/>
            <a:ext cx="3781639"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ESCENARIOS DE VOLUMEN · MARGEN MENSUAL</a:t>
            </a:r>
          </a:p>
        </p:txBody>
      </p:sp>
      <p:sp>
        <p:nvSpPr>
          <p:cNvPr id="37" name="TextBox 36"/>
          <p:cNvSpPr txBox="1"/>
          <p:nvPr/>
        </p:nvSpPr>
        <p:spPr>
          <a:xfrm>
            <a:off x="6909346" y="2981325"/>
            <a:ext cx="703814" cy="200025"/>
          </a:xfrm>
          <a:prstGeom prst="rect">
            <a:avLst/>
          </a:prstGeom>
          <a:noFill/>
        </p:spPr>
        <p:txBody>
          <a:bodyPr wrap="none" lIns="0" tIns="0" rIns="0" bIns="0" anchor="t">
            <a:noAutofit/>
          </a:bodyPr>
          <a:lstStyle/>
          <a:p>
            <a:pPr algn="l">
              <a:lnSpc>
                <a:spcPts val="1500"/>
              </a:lnSpc>
              <a:spcBef>
                <a:spcPts val="0"/>
              </a:spcBef>
              <a:spcAft>
                <a:spcPts val="0"/>
              </a:spcAft>
            </a:pPr>
            <a:r>
              <a:rPr sz="1200" b="1" i="0">
                <a:solidFill>
                  <a:srgbClr val="1C2433"/>
                </a:solidFill>
                <a:latin typeface="JetBrains Mono"/>
                <a:ea typeface="JetBrains Mono"/>
                <a:cs typeface="JetBrains Mono"/>
              </a:rPr>
              <a:t>1.251 €</a:t>
            </a:r>
          </a:p>
        </p:txBody>
      </p:sp>
      <p:sp>
        <p:nvSpPr>
          <p:cNvPr id="38" name="Rounded Rectangle 37"/>
          <p:cNvSpPr/>
          <p:nvPr/>
        </p:nvSpPr>
        <p:spPr>
          <a:xfrm>
            <a:off x="6867525" y="3219450"/>
            <a:ext cx="723900" cy="57150"/>
          </a:xfrm>
          <a:prstGeom prst="roundRect">
            <a:avLst>
              <a:gd name="adj" fmla="val 50000"/>
            </a:avLst>
          </a:prstGeom>
          <a:solidFill>
            <a:srgbClr val="5E8C6A"/>
          </a:solidFill>
          <a:ln>
            <a:noFill/>
          </a:ln>
        </p:spPr>
        <p:txBody>
          <a:bodyPr rtlCol="0" anchor="ctr"/>
          <a:lstStyle/>
          <a:p>
            <a:endParaRPr/>
          </a:p>
        </p:txBody>
      </p:sp>
      <p:sp>
        <p:nvSpPr>
          <p:cNvPr id="39" name="TextBox 38"/>
          <p:cNvSpPr txBox="1"/>
          <p:nvPr/>
        </p:nvSpPr>
        <p:spPr>
          <a:xfrm>
            <a:off x="6748462" y="3333750"/>
            <a:ext cx="103860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1C2433"/>
                </a:solidFill>
                <a:latin typeface="Inter"/>
                <a:ea typeface="Inter"/>
                <a:cs typeface="Inter"/>
              </a:rPr>
              <a:t>50 novelas/mes</a:t>
            </a:r>
          </a:p>
        </p:txBody>
      </p:sp>
      <p:sp>
        <p:nvSpPr>
          <p:cNvPr id="40" name="TextBox 39"/>
          <p:cNvSpPr txBox="1"/>
          <p:nvPr/>
        </p:nvSpPr>
        <p:spPr>
          <a:xfrm>
            <a:off x="7069336" y="3486150"/>
            <a:ext cx="371034" cy="171450"/>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5E8C6A"/>
                </a:solidFill>
                <a:latin typeface="JetBrains Mono Medium"/>
                <a:ea typeface="JetBrains Mono Medium"/>
                <a:cs typeface="JetBrains Mono Medium"/>
              </a:rPr>
              <a:t>51 %</a:t>
            </a:r>
          </a:p>
        </p:txBody>
      </p:sp>
      <p:sp>
        <p:nvSpPr>
          <p:cNvPr id="41" name="TextBox 40"/>
          <p:cNvSpPr txBox="1"/>
          <p:nvPr/>
        </p:nvSpPr>
        <p:spPr>
          <a:xfrm>
            <a:off x="8463855" y="2752725"/>
            <a:ext cx="799005" cy="200025"/>
          </a:xfrm>
          <a:prstGeom prst="rect">
            <a:avLst/>
          </a:prstGeom>
          <a:noFill/>
        </p:spPr>
        <p:txBody>
          <a:bodyPr wrap="none" lIns="0" tIns="0" rIns="0" bIns="0" anchor="t">
            <a:noAutofit/>
          </a:bodyPr>
          <a:lstStyle/>
          <a:p>
            <a:pPr algn="l">
              <a:lnSpc>
                <a:spcPts val="1500"/>
              </a:lnSpc>
              <a:spcBef>
                <a:spcPts val="0"/>
              </a:spcBef>
              <a:spcAft>
                <a:spcPts val="0"/>
              </a:spcAft>
            </a:pPr>
            <a:r>
              <a:rPr sz="1200" b="1" i="0">
                <a:solidFill>
                  <a:srgbClr val="1C2433"/>
                </a:solidFill>
                <a:latin typeface="JetBrains Mono"/>
                <a:ea typeface="JetBrains Mono"/>
                <a:cs typeface="JetBrains Mono"/>
              </a:rPr>
              <a:t>10.459 €</a:t>
            </a:r>
          </a:p>
        </p:txBody>
      </p:sp>
      <p:sp>
        <p:nvSpPr>
          <p:cNvPr id="42" name="Rounded Rectangle 41"/>
          <p:cNvSpPr/>
          <p:nvPr/>
        </p:nvSpPr>
        <p:spPr>
          <a:xfrm>
            <a:off x="8467725" y="2990850"/>
            <a:ext cx="723900" cy="285750"/>
          </a:xfrm>
          <a:prstGeom prst="roundRect">
            <a:avLst>
              <a:gd name="adj" fmla="val 13333"/>
            </a:avLst>
          </a:prstGeom>
          <a:solidFill>
            <a:srgbClr val="5E8C6A"/>
          </a:solidFill>
          <a:ln>
            <a:noFill/>
          </a:ln>
        </p:spPr>
        <p:txBody>
          <a:bodyPr rtlCol="0" anchor="ctr"/>
          <a:lstStyle/>
          <a:p>
            <a:endParaRPr/>
          </a:p>
        </p:txBody>
      </p:sp>
      <p:sp>
        <p:nvSpPr>
          <p:cNvPr id="43" name="TextBox 42"/>
          <p:cNvSpPr txBox="1"/>
          <p:nvPr/>
        </p:nvSpPr>
        <p:spPr>
          <a:xfrm>
            <a:off x="8306544" y="3333750"/>
            <a:ext cx="1126212"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1C2433"/>
                </a:solidFill>
                <a:latin typeface="Inter"/>
                <a:ea typeface="Inter"/>
                <a:cs typeface="Inter"/>
              </a:rPr>
              <a:t>300 novelas/mes</a:t>
            </a:r>
          </a:p>
        </p:txBody>
      </p:sp>
      <p:sp>
        <p:nvSpPr>
          <p:cNvPr id="44" name="TextBox 43"/>
          <p:cNvSpPr txBox="1"/>
          <p:nvPr/>
        </p:nvSpPr>
        <p:spPr>
          <a:xfrm>
            <a:off x="8589615" y="3486150"/>
            <a:ext cx="537424" cy="171450"/>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5E8C6A"/>
                </a:solidFill>
                <a:latin typeface="JetBrains Mono Medium"/>
                <a:ea typeface="JetBrains Mono Medium"/>
                <a:cs typeface="JetBrains Mono Medium"/>
              </a:rPr>
              <a:t>71,5 %</a:t>
            </a:r>
          </a:p>
        </p:txBody>
      </p:sp>
      <p:sp>
        <p:nvSpPr>
          <p:cNvPr id="45" name="TextBox 44"/>
          <p:cNvSpPr txBox="1"/>
          <p:nvPr/>
        </p:nvSpPr>
        <p:spPr>
          <a:xfrm>
            <a:off x="10064055" y="2047875"/>
            <a:ext cx="799005" cy="200025"/>
          </a:xfrm>
          <a:prstGeom prst="rect">
            <a:avLst/>
          </a:prstGeom>
          <a:noFill/>
        </p:spPr>
        <p:txBody>
          <a:bodyPr wrap="none" lIns="0" tIns="0" rIns="0" bIns="0" anchor="t">
            <a:noAutofit/>
          </a:bodyPr>
          <a:lstStyle/>
          <a:p>
            <a:pPr algn="l">
              <a:lnSpc>
                <a:spcPts val="1500"/>
              </a:lnSpc>
              <a:spcBef>
                <a:spcPts val="0"/>
              </a:spcBef>
              <a:spcAft>
                <a:spcPts val="0"/>
              </a:spcAft>
            </a:pPr>
            <a:r>
              <a:rPr sz="1200" b="1" i="0">
                <a:solidFill>
                  <a:srgbClr val="1C2433"/>
                </a:solidFill>
                <a:latin typeface="JetBrains Mono"/>
                <a:ea typeface="JetBrains Mono"/>
                <a:cs typeface="JetBrains Mono"/>
              </a:rPr>
              <a:t>36.110 €</a:t>
            </a:r>
          </a:p>
        </p:txBody>
      </p:sp>
      <p:sp>
        <p:nvSpPr>
          <p:cNvPr id="46" name="Rounded Rectangle 45"/>
          <p:cNvSpPr/>
          <p:nvPr/>
        </p:nvSpPr>
        <p:spPr>
          <a:xfrm>
            <a:off x="10067925" y="2286000"/>
            <a:ext cx="723900" cy="990600"/>
          </a:xfrm>
          <a:prstGeom prst="roundRect">
            <a:avLst>
              <a:gd name="adj" fmla="val 5263"/>
            </a:avLst>
          </a:prstGeom>
          <a:solidFill>
            <a:srgbClr val="5E8C6A"/>
          </a:solidFill>
          <a:ln>
            <a:noFill/>
          </a:ln>
        </p:spPr>
        <p:txBody>
          <a:bodyPr rtlCol="0" anchor="ctr"/>
          <a:lstStyle/>
          <a:p>
            <a:endParaRPr/>
          </a:p>
        </p:txBody>
      </p:sp>
      <p:sp>
        <p:nvSpPr>
          <p:cNvPr id="47" name="TextBox 46"/>
          <p:cNvSpPr txBox="1"/>
          <p:nvPr/>
        </p:nvSpPr>
        <p:spPr>
          <a:xfrm>
            <a:off x="9862840" y="3333750"/>
            <a:ext cx="1217533"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1C2433"/>
                </a:solidFill>
                <a:latin typeface="Inter"/>
                <a:ea typeface="Inter"/>
                <a:cs typeface="Inter"/>
              </a:rPr>
              <a:t>1.000 novelas/mes</a:t>
            </a:r>
          </a:p>
        </p:txBody>
      </p:sp>
      <p:sp>
        <p:nvSpPr>
          <p:cNvPr id="48" name="TextBox 47"/>
          <p:cNvSpPr txBox="1"/>
          <p:nvPr/>
        </p:nvSpPr>
        <p:spPr>
          <a:xfrm>
            <a:off x="10269736" y="3486150"/>
            <a:ext cx="371034" cy="171450"/>
          </a:xfrm>
          <a:prstGeom prst="rect">
            <a:avLst/>
          </a:prstGeom>
          <a:noFill/>
        </p:spPr>
        <p:txBody>
          <a:bodyPr wrap="none" lIns="0" tIns="0" rIns="0" bIns="0" anchor="t">
            <a:noAutofit/>
          </a:bodyPr>
          <a:lstStyle/>
          <a:p>
            <a:pPr algn="l">
              <a:lnSpc>
                <a:spcPts val="1275"/>
              </a:lnSpc>
              <a:spcBef>
                <a:spcPts val="0"/>
              </a:spcBef>
              <a:spcAft>
                <a:spcPts val="0"/>
              </a:spcAft>
            </a:pPr>
            <a:r>
              <a:rPr sz="1050" b="0" i="0">
                <a:solidFill>
                  <a:srgbClr val="5E8C6A"/>
                </a:solidFill>
                <a:latin typeface="JetBrains Mono Medium"/>
                <a:ea typeface="JetBrains Mono Medium"/>
                <a:cs typeface="JetBrains Mono Medium"/>
              </a:rPr>
              <a:t>74 %</a:t>
            </a:r>
          </a:p>
        </p:txBody>
      </p:sp>
      <p:sp>
        <p:nvSpPr>
          <p:cNvPr id="49" name="TextBox 48"/>
          <p:cNvSpPr txBox="1"/>
          <p:nvPr/>
        </p:nvSpPr>
        <p:spPr>
          <a:xfrm>
            <a:off x="6515100" y="3695700"/>
            <a:ext cx="5197114"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7D7869"/>
                </a:solidFill>
                <a:latin typeface="Inter"/>
                <a:ea typeface="Inter"/>
                <a:cs typeface="Inter"/>
              </a:rPr>
              <a:t>Ingreso 48,76 €/novela · variable 11,93 €/novela · fijo 590 €/mes (720 € a 1.000/mes)</a:t>
            </a:r>
          </a:p>
        </p:txBody>
      </p:sp>
      <p:sp>
        <p:nvSpPr>
          <p:cNvPr id="50" name="TextBox 49"/>
          <p:cNvSpPr txBox="1"/>
          <p:nvPr/>
        </p:nvSpPr>
        <p:spPr>
          <a:xfrm>
            <a:off x="609600" y="4381500"/>
            <a:ext cx="4689741"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SENSIBILIDAD · 300 NOVELAS/MES · MARGEN POR NOVELA</a:t>
            </a:r>
          </a:p>
        </p:txBody>
      </p:sp>
      <p:sp>
        <p:nvSpPr>
          <p:cNvPr id="51" name="TextBox 50"/>
          <p:cNvSpPr txBox="1"/>
          <p:nvPr/>
        </p:nvSpPr>
        <p:spPr>
          <a:xfrm>
            <a:off x="609600" y="4610100"/>
            <a:ext cx="1005638" cy="180975"/>
          </a:xfrm>
          <a:prstGeom prst="rect">
            <a:avLst/>
          </a:prstGeom>
          <a:noFill/>
        </p:spPr>
        <p:txBody>
          <a:bodyPr wrap="none" lIns="0" tIns="0" rIns="0" bIns="0" anchor="t">
            <a:noAutofit/>
          </a:bodyPr>
          <a:lstStyle/>
          <a:p>
            <a:pPr algn="l">
              <a:lnSpc>
                <a:spcPts val="1500"/>
              </a:lnSpc>
              <a:spcBef>
                <a:spcPts val="0"/>
              </a:spcBef>
              <a:spcAft>
                <a:spcPts val="0"/>
              </a:spcAft>
            </a:pPr>
            <a:r>
              <a:rPr sz="1150" b="0" i="0">
                <a:solidFill>
                  <a:srgbClr val="1C2433"/>
                </a:solidFill>
                <a:latin typeface="Inter SemiBold"/>
                <a:ea typeface="Inter SemiBold"/>
                <a:cs typeface="Inter SemiBold"/>
              </a:rPr>
              <a:t>Margen base</a:t>
            </a:r>
          </a:p>
        </p:txBody>
      </p:sp>
      <p:sp>
        <p:nvSpPr>
          <p:cNvPr id="52" name="Rectangle 51"/>
          <p:cNvSpPr/>
          <p:nvPr/>
        </p:nvSpPr>
        <p:spPr>
          <a:xfrm>
            <a:off x="3600450" y="4610100"/>
            <a:ext cx="4953000" cy="190500"/>
          </a:xfrm>
          <a:prstGeom prst="rect">
            <a:avLst/>
          </a:prstGeom>
          <a:solidFill>
            <a:srgbClr val="5E8C6A"/>
          </a:solidFill>
          <a:ln>
            <a:noFill/>
          </a:ln>
        </p:spPr>
        <p:txBody>
          <a:bodyPr rtlCol="0" anchor="ctr"/>
          <a:lstStyle/>
          <a:p>
            <a:endParaRPr/>
          </a:p>
        </p:txBody>
      </p:sp>
      <p:sp>
        <p:nvSpPr>
          <p:cNvPr id="53" name="TextBox 52"/>
          <p:cNvSpPr txBox="1"/>
          <p:nvPr/>
        </p:nvSpPr>
        <p:spPr>
          <a:xfrm>
            <a:off x="8686800" y="4610100"/>
            <a:ext cx="662178" cy="190500"/>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JetBrains Mono Medium"/>
                <a:ea typeface="JetBrains Mono Medium"/>
                <a:cs typeface="JetBrains Mono Medium"/>
              </a:rPr>
              <a:t>34,86 €</a:t>
            </a:r>
          </a:p>
        </p:txBody>
      </p:sp>
      <p:sp>
        <p:nvSpPr>
          <p:cNvPr id="54" name="TextBox 53"/>
          <p:cNvSpPr txBox="1"/>
          <p:nvPr/>
        </p:nvSpPr>
        <p:spPr>
          <a:xfrm>
            <a:off x="609600" y="4876800"/>
            <a:ext cx="1086124" cy="180975"/>
          </a:xfrm>
          <a:prstGeom prst="rect">
            <a:avLst/>
          </a:prstGeom>
          <a:noFill/>
        </p:spPr>
        <p:txBody>
          <a:bodyPr wrap="none" lIns="0" tIns="0" rIns="0" bIns="0" anchor="t">
            <a:noAutofit/>
          </a:bodyPr>
          <a:lstStyle/>
          <a:p>
            <a:pPr algn="l">
              <a:lnSpc>
                <a:spcPts val="1500"/>
              </a:lnSpc>
              <a:spcBef>
                <a:spcPts val="0"/>
              </a:spcBef>
              <a:spcAft>
                <a:spcPts val="0"/>
              </a:spcAft>
            </a:pPr>
            <a:r>
              <a:rPr sz="1150" b="0" i="0">
                <a:solidFill>
                  <a:srgbClr val="1C2433"/>
                </a:solidFill>
                <a:latin typeface="Inter"/>
                <a:ea typeface="Inter"/>
                <a:cs typeface="Inter"/>
              </a:rPr>
              <a:t>Tokens +50 %</a:t>
            </a:r>
          </a:p>
        </p:txBody>
      </p:sp>
      <p:sp>
        <p:nvSpPr>
          <p:cNvPr id="55" name="Rectangle 54"/>
          <p:cNvSpPr/>
          <p:nvPr/>
        </p:nvSpPr>
        <p:spPr>
          <a:xfrm>
            <a:off x="3600450" y="4876800"/>
            <a:ext cx="4695825" cy="190500"/>
          </a:xfrm>
          <a:prstGeom prst="rect">
            <a:avLst/>
          </a:prstGeom>
          <a:solidFill>
            <a:srgbClr val="5E8C6A"/>
          </a:solidFill>
          <a:ln>
            <a:noFill/>
          </a:ln>
        </p:spPr>
        <p:txBody>
          <a:bodyPr rtlCol="0" anchor="ctr"/>
          <a:lstStyle/>
          <a:p>
            <a:endParaRPr/>
          </a:p>
        </p:txBody>
      </p:sp>
      <p:sp>
        <p:nvSpPr>
          <p:cNvPr id="56" name="Rectangle 55"/>
          <p:cNvSpPr/>
          <p:nvPr/>
        </p:nvSpPr>
        <p:spPr>
          <a:xfrm>
            <a:off x="8296275" y="4876800"/>
            <a:ext cx="257175" cy="190500"/>
          </a:xfrm>
          <a:prstGeom prst="rect">
            <a:avLst/>
          </a:prstGeom>
          <a:solidFill>
            <a:srgbClr val="C9A34E"/>
          </a:solidFill>
          <a:ln>
            <a:noFill/>
          </a:ln>
        </p:spPr>
        <p:txBody>
          <a:bodyPr rtlCol="0" anchor="ctr"/>
          <a:lstStyle/>
          <a:p>
            <a:endParaRPr/>
          </a:p>
        </p:txBody>
      </p:sp>
      <p:sp>
        <p:nvSpPr>
          <p:cNvPr id="57" name="TextBox 56"/>
          <p:cNvSpPr txBox="1"/>
          <p:nvPr/>
        </p:nvSpPr>
        <p:spPr>
          <a:xfrm>
            <a:off x="8686800" y="4876800"/>
            <a:ext cx="1464564" cy="190500"/>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JetBrains Mono Medium"/>
                <a:ea typeface="JetBrains Mono Medium"/>
                <a:cs typeface="JetBrains Mono Medium"/>
              </a:rPr>
              <a:t>33,07 € </a:t>
            </a:r>
            <a:r>
              <a:rPr sz="1100" b="1" i="0">
                <a:solidFill>
                  <a:srgbClr val="C9A34E"/>
                </a:solidFill>
                <a:latin typeface="JetBrains Mono"/>
                <a:ea typeface="JetBrains Mono"/>
                <a:cs typeface="JetBrains Mono"/>
              </a:rPr>
              <a:t>(−5,1 %)</a:t>
            </a:r>
          </a:p>
        </p:txBody>
      </p:sp>
      <p:sp>
        <p:nvSpPr>
          <p:cNvPr id="58" name="TextBox 57"/>
          <p:cNvSpPr txBox="1"/>
          <p:nvPr/>
        </p:nvSpPr>
        <p:spPr>
          <a:xfrm>
            <a:off x="609600" y="5143500"/>
            <a:ext cx="2707148" cy="180975"/>
          </a:xfrm>
          <a:prstGeom prst="rect">
            <a:avLst/>
          </a:prstGeom>
          <a:noFill/>
        </p:spPr>
        <p:txBody>
          <a:bodyPr wrap="none" lIns="0" tIns="0" rIns="0" bIns="0" anchor="t">
            <a:noAutofit/>
          </a:bodyPr>
          <a:lstStyle/>
          <a:p>
            <a:pPr algn="l">
              <a:lnSpc>
                <a:spcPts val="1500"/>
              </a:lnSpc>
              <a:spcBef>
                <a:spcPts val="0"/>
              </a:spcBef>
              <a:spcAft>
                <a:spcPts val="0"/>
              </a:spcAft>
            </a:pPr>
            <a:r>
              <a:rPr sz="1150" b="0" i="0">
                <a:solidFill>
                  <a:srgbClr val="1C2433"/>
                </a:solidFill>
                <a:latin typeface="Inter"/>
                <a:ea typeface="Inter"/>
                <a:cs typeface="Inter"/>
              </a:rPr>
              <a:t>6 revisiones por novela en vez de 1,5</a:t>
            </a:r>
          </a:p>
        </p:txBody>
      </p:sp>
      <p:sp>
        <p:nvSpPr>
          <p:cNvPr id="59" name="Rectangle 58"/>
          <p:cNvSpPr/>
          <p:nvPr/>
        </p:nvSpPr>
        <p:spPr>
          <a:xfrm>
            <a:off x="3600450" y="5143500"/>
            <a:ext cx="3276600" cy="190500"/>
          </a:xfrm>
          <a:prstGeom prst="rect">
            <a:avLst/>
          </a:prstGeom>
          <a:solidFill>
            <a:srgbClr val="5E8C6A"/>
          </a:solidFill>
          <a:ln>
            <a:noFill/>
          </a:ln>
        </p:spPr>
        <p:txBody>
          <a:bodyPr rtlCol="0" anchor="ctr"/>
          <a:lstStyle/>
          <a:p>
            <a:endParaRPr/>
          </a:p>
        </p:txBody>
      </p:sp>
      <p:sp>
        <p:nvSpPr>
          <p:cNvPr id="60" name="Rectangle 59"/>
          <p:cNvSpPr/>
          <p:nvPr/>
        </p:nvSpPr>
        <p:spPr>
          <a:xfrm>
            <a:off x="6877050" y="5143500"/>
            <a:ext cx="1676400" cy="190500"/>
          </a:xfrm>
          <a:prstGeom prst="rect">
            <a:avLst/>
          </a:prstGeom>
          <a:solidFill>
            <a:srgbClr val="B23A2B"/>
          </a:solidFill>
          <a:ln>
            <a:noFill/>
          </a:ln>
        </p:spPr>
        <p:txBody>
          <a:bodyPr rtlCol="0" anchor="ctr"/>
          <a:lstStyle/>
          <a:p>
            <a:endParaRPr/>
          </a:p>
        </p:txBody>
      </p:sp>
      <p:sp>
        <p:nvSpPr>
          <p:cNvPr id="61" name="TextBox 60"/>
          <p:cNvSpPr txBox="1"/>
          <p:nvPr/>
        </p:nvSpPr>
        <p:spPr>
          <a:xfrm>
            <a:off x="8686800" y="5143500"/>
            <a:ext cx="1553718" cy="190500"/>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1C2433"/>
                </a:solidFill>
                <a:latin typeface="JetBrains Mono Medium"/>
                <a:ea typeface="JetBrains Mono Medium"/>
                <a:cs typeface="JetBrains Mono Medium"/>
              </a:rPr>
              <a:t>23,07 € </a:t>
            </a:r>
            <a:r>
              <a:rPr sz="1100" b="1" i="0">
                <a:solidFill>
                  <a:srgbClr val="B23A2B"/>
                </a:solidFill>
                <a:latin typeface="JetBrains Mono"/>
                <a:ea typeface="JetBrains Mono"/>
                <a:cs typeface="JetBrains Mono"/>
              </a:rPr>
              <a:t>(−33,8 %)</a:t>
            </a:r>
          </a:p>
        </p:txBody>
      </p:sp>
      <p:sp>
        <p:nvSpPr>
          <p:cNvPr id="62" name="TextBox 61"/>
          <p:cNvSpPr txBox="1"/>
          <p:nvPr/>
        </p:nvSpPr>
        <p:spPr>
          <a:xfrm>
            <a:off x="3600450" y="5419725"/>
            <a:ext cx="5145881" cy="161925"/>
          </a:xfrm>
          <a:prstGeom prst="rect">
            <a:avLst/>
          </a:prstGeom>
          <a:noFill/>
        </p:spPr>
        <p:txBody>
          <a:bodyPr wrap="none" lIns="0" tIns="0" rIns="0" bIns="0" anchor="t">
            <a:noAutofit/>
          </a:bodyPr>
          <a:lstStyle/>
          <a:p>
            <a:pPr algn="l">
              <a:lnSpc>
                <a:spcPts val="1425"/>
              </a:lnSpc>
              <a:spcBef>
                <a:spcPts val="0"/>
              </a:spcBef>
              <a:spcAft>
                <a:spcPts val="0"/>
              </a:spcAft>
            </a:pPr>
            <a:r>
              <a:rPr sz="1050" b="0" i="0">
                <a:solidFill>
                  <a:srgbClr val="1C2433"/>
                </a:solidFill>
                <a:latin typeface="Inter SemiBold"/>
                <a:ea typeface="Inter SemiBold"/>
                <a:cs typeface="Inter SemiBold"/>
              </a:rPr>
              <a:t>Mitigación:</a:t>
            </a:r>
            <a:r>
              <a:rPr sz="1050" b="0" i="0">
                <a:solidFill>
                  <a:srgbClr val="1C2433"/>
                </a:solidFill>
                <a:latin typeface="Inter"/>
                <a:ea typeface="Inter"/>
                <a:cs typeface="Inter"/>
              </a:rPr>
              <a:t> Desde la 4.ª revisión, 4,90 € cada una: el margen vuelve a ≈ 35 €.</a:t>
            </a:r>
          </a:p>
        </p:txBody>
      </p:sp>
      <p:pic>
        <p:nvPicPr>
          <p:cNvPr id="63" name="Picture 62" descr="r003.png"/>
          <p:cNvPicPr>
            <a:picLocks noChangeAspect="1"/>
          </p:cNvPicPr>
          <p:nvPr/>
        </p:nvPicPr>
        <p:blipFill>
          <a:blip r:embed="rId3"/>
          <a:stretch>
            <a:fillRect/>
          </a:stretch>
        </p:blipFill>
        <p:spPr>
          <a:xfrm>
            <a:off x="381000" y="6343650"/>
            <a:ext cx="11430000" cy="76200"/>
          </a:xfrm>
          <a:prstGeom prst="rect">
            <a:avLst/>
          </a:prstGeom>
        </p:spPr>
      </p:pic>
      <p:pic>
        <p:nvPicPr>
          <p:cNvPr id="64" name="Picture 63" descr="r004.png"/>
          <p:cNvPicPr>
            <a:picLocks noChangeAspect="1"/>
          </p:cNvPicPr>
          <p:nvPr/>
        </p:nvPicPr>
        <p:blipFill>
          <a:blip r:embed="rId4"/>
          <a:stretch>
            <a:fillRect/>
          </a:stretch>
        </p:blipFill>
        <p:spPr>
          <a:xfrm>
            <a:off x="381000" y="6505575"/>
            <a:ext cx="171450" cy="190500"/>
          </a:xfrm>
          <a:prstGeom prst="rect">
            <a:avLst/>
          </a:prstGeom>
        </p:spPr>
      </p:pic>
      <p:sp>
        <p:nvSpPr>
          <p:cNvPr id="65" name="TextBox 64"/>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66" name="TextBox 65"/>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67" name="TextBox 66"/>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68" name="TextBox 67"/>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19 / 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C2433"/>
        </a:solidFill>
        <a:effectLst/>
      </p:bgPr>
    </p:bg>
    <p:spTree>
      <p:nvGrpSpPr>
        <p:cNvPr id="1" name=""/>
        <p:cNvGrpSpPr/>
        <p:nvPr/>
      </p:nvGrpSpPr>
      <p:grpSpPr>
        <a:xfrm>
          <a:off x="0" y="0"/>
          <a:ext cx="0" cy="0"/>
          <a:chOff x="0" y="0"/>
          <a:chExt cx="0" cy="0"/>
        </a:xfrm>
      </p:grpSpPr>
      <p:sp>
        <p:nvSpPr>
          <p:cNvPr id="2" name="TextBox 1"/>
          <p:cNvSpPr txBox="1"/>
          <p:nvPr/>
        </p:nvSpPr>
        <p:spPr>
          <a:xfrm>
            <a:off x="2140000" y="323850"/>
            <a:ext cx="481239"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A5A5A3"/>
                </a:solidFill>
                <a:latin typeface="Inter SemiBold"/>
                <a:ea typeface="Inter SemiBold"/>
                <a:cs typeface="Inter SemiBold"/>
              </a:rPr>
              <a:t>DEMO</a:t>
            </a:r>
          </a:p>
        </p:txBody>
      </p:sp>
      <p:sp>
        <p:nvSpPr>
          <p:cNvPr id="3" name="TextBox 2"/>
          <p:cNvSpPr txBox="1"/>
          <p:nvPr/>
        </p:nvSpPr>
        <p:spPr>
          <a:xfrm>
            <a:off x="609600" y="323850"/>
            <a:ext cx="111460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C9A34E"/>
                </a:solidFill>
                <a:latin typeface="Inter SemiBold"/>
                <a:ea typeface="Inter SemiBold"/>
                <a:cs typeface="Inter SemiBold"/>
              </a:rPr>
              <a:t>CAPÍTULO VIII</a:t>
            </a:r>
          </a:p>
        </p:txBody>
      </p:sp>
      <p:sp>
        <p:nvSpPr>
          <p:cNvPr id="4" name="Rectangle 3"/>
          <p:cNvSpPr/>
          <p:nvPr/>
        </p:nvSpPr>
        <p:spPr>
          <a:xfrm>
            <a:off x="1759000" y="395288"/>
            <a:ext cx="266700" cy="9525"/>
          </a:xfrm>
          <a:prstGeom prst="rect">
            <a:avLst/>
          </a:prstGeom>
          <a:noFill/>
          <a:ln>
            <a:noFill/>
          </a:ln>
        </p:spPr>
        <p:txBody>
          <a:bodyPr rtlCol="0" anchor="ctr"/>
          <a:lstStyle/>
          <a:p>
            <a:endParaRPr/>
          </a:p>
        </p:txBody>
      </p:sp>
      <p:cxnSp>
        <p:nvCxnSpPr>
          <p:cNvPr id="5" name="Connector 4"/>
          <p:cNvCxnSpPr/>
          <p:nvPr/>
        </p:nvCxnSpPr>
        <p:spPr>
          <a:xfrm>
            <a:off x="1759000" y="400050"/>
            <a:ext cx="266700" cy="0"/>
          </a:xfrm>
          <a:prstGeom prst="line">
            <a:avLst/>
          </a:prstGeom>
          <a:ln w="9525">
            <a:solidFill>
              <a:srgbClr val="C9A34E"/>
            </a:solidFill>
          </a:ln>
        </p:spPr>
      </p:cxnSp>
      <p:sp>
        <p:nvSpPr>
          <p:cNvPr id="6" name="TextBox 5"/>
          <p:cNvSpPr txBox="1"/>
          <p:nvPr/>
        </p:nvSpPr>
        <p:spPr>
          <a:xfrm>
            <a:off x="609600" y="561975"/>
            <a:ext cx="11445633"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F5EFE3"/>
                </a:solidFill>
                <a:latin typeface="Fraunces SemiBold"/>
                <a:ea typeface="Fraunces SemiBold"/>
                <a:cs typeface="Fraunces SemiBold"/>
              </a:rPr>
              <a:t>El lector cambia un dato; solo se reescriben los capítulos que lo usan</a:t>
            </a:r>
          </a:p>
        </p:txBody>
      </p:sp>
      <p:sp>
        <p:nvSpPr>
          <p:cNvPr id="7" name="Rounded Rectangle 6"/>
          <p:cNvSpPr/>
          <p:nvPr/>
        </p:nvSpPr>
        <p:spPr>
          <a:xfrm>
            <a:off x="609600" y="1257300"/>
            <a:ext cx="2019300" cy="1181100"/>
          </a:xfrm>
          <a:prstGeom prst="roundRect">
            <a:avLst>
              <a:gd name="adj" fmla="val 6451"/>
            </a:avLst>
          </a:prstGeom>
          <a:solidFill>
            <a:srgbClr val="2A3344"/>
          </a:solidFill>
          <a:ln w="9525">
            <a:solidFill>
              <a:srgbClr val="4A5366"/>
            </a:solidFill>
          </a:ln>
        </p:spPr>
        <p:txBody>
          <a:bodyPr rtlCol="0" anchor="ctr"/>
          <a:lstStyle/>
          <a:p>
            <a:endParaRPr/>
          </a:p>
        </p:txBody>
      </p:sp>
      <p:sp>
        <p:nvSpPr>
          <p:cNvPr id="8" name="TextBox 7"/>
          <p:cNvSpPr txBox="1"/>
          <p:nvPr/>
        </p:nvSpPr>
        <p:spPr>
          <a:xfrm>
            <a:off x="733425" y="1352550"/>
            <a:ext cx="810768"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C9A34E"/>
                </a:solidFill>
                <a:latin typeface="JetBrains Mono"/>
                <a:ea typeface="JetBrains Mono"/>
                <a:cs typeface="JetBrains Mono"/>
              </a:rPr>
              <a:t>1 · LECTOR</a:t>
            </a:r>
          </a:p>
        </p:txBody>
      </p:sp>
      <p:sp>
        <p:nvSpPr>
          <p:cNvPr id="9" name="TextBox 8"/>
          <p:cNvSpPr txBox="1"/>
          <p:nvPr/>
        </p:nvSpPr>
        <p:spPr>
          <a:xfrm>
            <a:off x="733425" y="1552575"/>
            <a:ext cx="1791805" cy="361950"/>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F5EFE3"/>
                </a:solidFill>
                <a:latin typeface="Inter"/>
                <a:ea typeface="Inter"/>
                <a:cs typeface="Inter"/>
              </a:rPr>
              <a:t>Selecciona «Cayetano» y pide el cambio</a:t>
            </a:r>
          </a:p>
        </p:txBody>
      </p:sp>
      <p:sp>
        <p:nvSpPr>
          <p:cNvPr id="10" name="TextBox 9"/>
          <p:cNvSpPr txBox="1"/>
          <p:nvPr/>
        </p:nvSpPr>
        <p:spPr>
          <a:xfrm>
            <a:off x="733425" y="1971675"/>
            <a:ext cx="1791805" cy="323850"/>
          </a:xfrm>
          <a:prstGeom prst="rect">
            <a:avLst/>
          </a:prstGeom>
          <a:noFill/>
        </p:spPr>
        <p:txBody>
          <a:bodyPr wrap="square" lIns="0" tIns="0" rIns="0" bIns="0" anchor="t">
            <a:noAutofit/>
          </a:bodyPr>
          <a:lstStyle/>
          <a:p>
            <a:pPr algn="l">
              <a:lnSpc>
                <a:spcPts val="1275"/>
              </a:lnSpc>
              <a:spcBef>
                <a:spcPts val="0"/>
              </a:spcBef>
              <a:spcAft>
                <a:spcPts val="0"/>
              </a:spcAft>
            </a:pPr>
            <a:r>
              <a:rPr sz="950" b="0" i="0">
                <a:solidFill>
                  <a:srgbClr val="C9A34E"/>
                </a:solidFill>
                <a:latin typeface="JetBrains Mono Medium"/>
                <a:ea typeface="JetBrains Mono Medium"/>
                <a:cs typeface="JetBrains Mono Medium"/>
              </a:rPr>
              <a:t>«no se llama Cayetano, se llama Amancio»</a:t>
            </a:r>
          </a:p>
        </p:txBody>
      </p:sp>
      <p:sp>
        <p:nvSpPr>
          <p:cNvPr id="11" name="Rounded Rectangle 10"/>
          <p:cNvSpPr/>
          <p:nvPr/>
        </p:nvSpPr>
        <p:spPr>
          <a:xfrm>
            <a:off x="2847975" y="1257300"/>
            <a:ext cx="2019300" cy="1181100"/>
          </a:xfrm>
          <a:prstGeom prst="roundRect">
            <a:avLst>
              <a:gd name="adj" fmla="val 6451"/>
            </a:avLst>
          </a:prstGeom>
          <a:solidFill>
            <a:srgbClr val="2A3344"/>
          </a:solidFill>
          <a:ln w="9525">
            <a:solidFill>
              <a:srgbClr val="4A5366"/>
            </a:solidFill>
          </a:ln>
        </p:spPr>
        <p:txBody>
          <a:bodyPr rtlCol="0" anchor="ctr"/>
          <a:lstStyle/>
          <a:p>
            <a:endParaRPr/>
          </a:p>
        </p:txBody>
      </p:sp>
      <p:sp>
        <p:nvSpPr>
          <p:cNvPr id="12" name="TextBox 11"/>
          <p:cNvSpPr txBox="1"/>
          <p:nvPr/>
        </p:nvSpPr>
        <p:spPr>
          <a:xfrm>
            <a:off x="2971800" y="1352550"/>
            <a:ext cx="1197102"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C9A34E"/>
                </a:solidFill>
                <a:latin typeface="JetBrains Mono"/>
                <a:ea typeface="JetBrains Mono"/>
                <a:cs typeface="JetBrains Mono"/>
              </a:rPr>
              <a:t>2 · STORY BIBLE</a:t>
            </a:r>
          </a:p>
        </p:txBody>
      </p:sp>
      <p:sp>
        <p:nvSpPr>
          <p:cNvPr id="13" name="TextBox 12"/>
          <p:cNvSpPr txBox="1"/>
          <p:nvPr/>
        </p:nvSpPr>
        <p:spPr>
          <a:xfrm>
            <a:off x="2971800" y="1552575"/>
            <a:ext cx="1791805" cy="361950"/>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F5EFE3"/>
                </a:solidFill>
                <a:latin typeface="Inter"/>
                <a:ea typeface="Inter"/>
                <a:cs typeface="Inter"/>
              </a:rPr>
              <a:t>Candidatos con su coste; se elige el personaje</a:t>
            </a:r>
          </a:p>
        </p:txBody>
      </p:sp>
      <p:sp>
        <p:nvSpPr>
          <p:cNvPr id="14" name="TextBox 13"/>
          <p:cNvSpPr txBox="1"/>
          <p:nvPr/>
        </p:nvSpPr>
        <p:spPr>
          <a:xfrm>
            <a:off x="2971800" y="1971675"/>
            <a:ext cx="1791805" cy="323850"/>
          </a:xfrm>
          <a:prstGeom prst="rect">
            <a:avLst/>
          </a:prstGeom>
          <a:noFill/>
        </p:spPr>
        <p:txBody>
          <a:bodyPr wrap="square" lIns="0" tIns="0" rIns="0" bIns="0" anchor="t">
            <a:noAutofit/>
          </a:bodyPr>
          <a:lstStyle/>
          <a:p>
            <a:pPr algn="l">
              <a:lnSpc>
                <a:spcPts val="1275"/>
              </a:lnSpc>
              <a:spcBef>
                <a:spcPts val="0"/>
              </a:spcBef>
              <a:spcAft>
                <a:spcPts val="0"/>
              </a:spcAft>
            </a:pPr>
            <a:r>
              <a:rPr sz="950" b="0" i="0">
                <a:solidFill>
                  <a:srgbClr val="C9A34E"/>
                </a:solidFill>
                <a:latin typeface="JetBrains Mono Medium"/>
                <a:ea typeface="JetBrains Mono Medium"/>
                <a:cs typeface="JetBrains Mono Medium"/>
              </a:rPr>
              <a:t>regenerar 1, 2, 4 y 5 · revisar 3</a:t>
            </a:r>
          </a:p>
        </p:txBody>
      </p:sp>
      <p:sp>
        <p:nvSpPr>
          <p:cNvPr id="15" name="Rounded Rectangle 14"/>
          <p:cNvSpPr/>
          <p:nvPr/>
        </p:nvSpPr>
        <p:spPr>
          <a:xfrm>
            <a:off x="5086350" y="1257300"/>
            <a:ext cx="2019300" cy="1181100"/>
          </a:xfrm>
          <a:prstGeom prst="roundRect">
            <a:avLst>
              <a:gd name="adj" fmla="val 6451"/>
            </a:avLst>
          </a:prstGeom>
          <a:solidFill>
            <a:srgbClr val="2A3344"/>
          </a:solidFill>
          <a:ln w="9525">
            <a:solidFill>
              <a:srgbClr val="4A5366"/>
            </a:solidFill>
          </a:ln>
        </p:spPr>
        <p:txBody>
          <a:bodyPr rtlCol="0" anchor="ctr"/>
          <a:lstStyle/>
          <a:p>
            <a:endParaRPr/>
          </a:p>
        </p:txBody>
      </p:sp>
      <p:sp>
        <p:nvSpPr>
          <p:cNvPr id="16" name="TextBox 15"/>
          <p:cNvSpPr txBox="1"/>
          <p:nvPr/>
        </p:nvSpPr>
        <p:spPr>
          <a:xfrm>
            <a:off x="5210175" y="1352550"/>
            <a:ext cx="656296"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C9A34E"/>
                </a:solidFill>
                <a:latin typeface="JetBrains Mono"/>
                <a:ea typeface="JetBrains Mono"/>
                <a:cs typeface="JetBrains Mono"/>
              </a:rPr>
              <a:t>3 · GATE</a:t>
            </a:r>
          </a:p>
        </p:txBody>
      </p:sp>
      <p:sp>
        <p:nvSpPr>
          <p:cNvPr id="17" name="TextBox 16"/>
          <p:cNvSpPr txBox="1"/>
          <p:nvPr/>
        </p:nvSpPr>
        <p:spPr>
          <a:xfrm>
            <a:off x="5210175" y="1552575"/>
            <a:ext cx="1791805" cy="361950"/>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F5EFE3"/>
                </a:solidFill>
                <a:latin typeface="Inter"/>
                <a:ea typeface="Inter"/>
                <a:cs typeface="Inter"/>
              </a:rPr>
              <a:t>El Autor confirma fila y valor nuevo</a:t>
            </a:r>
          </a:p>
        </p:txBody>
      </p:sp>
      <p:sp>
        <p:nvSpPr>
          <p:cNvPr id="18" name="TextBox 17"/>
          <p:cNvSpPr txBox="1"/>
          <p:nvPr/>
        </p:nvSpPr>
        <p:spPr>
          <a:xfrm>
            <a:off x="5210175" y="1971675"/>
            <a:ext cx="1791805" cy="323850"/>
          </a:xfrm>
          <a:prstGeom prst="rect">
            <a:avLst/>
          </a:prstGeom>
          <a:noFill/>
        </p:spPr>
        <p:txBody>
          <a:bodyPr wrap="square" lIns="0" tIns="0" rIns="0" bIns="0" anchor="t">
            <a:noAutofit/>
          </a:bodyPr>
          <a:lstStyle/>
          <a:p>
            <a:pPr algn="l">
              <a:lnSpc>
                <a:spcPts val="1275"/>
              </a:lnSpc>
              <a:spcBef>
                <a:spcPts val="0"/>
              </a:spcBef>
              <a:spcAft>
                <a:spcPts val="0"/>
              </a:spcAft>
            </a:pPr>
            <a:r>
              <a:rPr sz="950" b="0" i="0">
                <a:solidFill>
                  <a:srgbClr val="C9A34E"/>
                </a:solidFill>
                <a:latin typeface="JetBrains Mono Medium"/>
                <a:ea typeface="JetBrains Mono Medium"/>
                <a:cs typeface="JetBrains Mono Medium"/>
              </a:rPr>
              <a:t>personaje:4 nombre=Amancio</a:t>
            </a:r>
          </a:p>
        </p:txBody>
      </p:sp>
      <p:sp>
        <p:nvSpPr>
          <p:cNvPr id="19" name="Rounded Rectangle 18"/>
          <p:cNvSpPr/>
          <p:nvPr/>
        </p:nvSpPr>
        <p:spPr>
          <a:xfrm>
            <a:off x="7324725" y="1257300"/>
            <a:ext cx="2019300" cy="1181100"/>
          </a:xfrm>
          <a:prstGeom prst="roundRect">
            <a:avLst>
              <a:gd name="adj" fmla="val 6451"/>
            </a:avLst>
          </a:prstGeom>
          <a:solidFill>
            <a:srgbClr val="2A3344"/>
          </a:solidFill>
          <a:ln w="9525">
            <a:solidFill>
              <a:srgbClr val="4A5366"/>
            </a:solidFill>
          </a:ln>
        </p:spPr>
        <p:txBody>
          <a:bodyPr rtlCol="0" anchor="ctr"/>
          <a:lstStyle/>
          <a:p>
            <a:endParaRPr/>
          </a:p>
        </p:txBody>
      </p:sp>
      <p:sp>
        <p:nvSpPr>
          <p:cNvPr id="20" name="TextBox 19"/>
          <p:cNvSpPr txBox="1"/>
          <p:nvPr/>
        </p:nvSpPr>
        <p:spPr>
          <a:xfrm>
            <a:off x="7448550" y="1352550"/>
            <a:ext cx="1274493"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C9A34E"/>
                </a:solidFill>
                <a:latin typeface="JetBrains Mono"/>
                <a:ea typeface="JetBrains Mono"/>
                <a:cs typeface="JetBrains Mono"/>
              </a:rPr>
              <a:t>4 · REGENERATION</a:t>
            </a:r>
          </a:p>
        </p:txBody>
      </p:sp>
      <p:sp>
        <p:nvSpPr>
          <p:cNvPr id="21" name="TextBox 20"/>
          <p:cNvSpPr txBox="1"/>
          <p:nvPr/>
        </p:nvSpPr>
        <p:spPr>
          <a:xfrm>
            <a:off x="7448550" y="1552575"/>
            <a:ext cx="1791805" cy="542925"/>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F5EFE3"/>
                </a:solidFill>
                <a:latin typeface="Inter"/>
                <a:ea typeface="Inter"/>
                <a:cs typeface="Inter"/>
              </a:rPr>
              <a:t>El valor retirado se propaga a 7 celdas de escaleta y canon</a:t>
            </a:r>
          </a:p>
        </p:txBody>
      </p:sp>
      <p:sp>
        <p:nvSpPr>
          <p:cNvPr id="22" name="Rounded Rectangle 21"/>
          <p:cNvSpPr/>
          <p:nvPr/>
        </p:nvSpPr>
        <p:spPr>
          <a:xfrm>
            <a:off x="9563100" y="1257300"/>
            <a:ext cx="2019300" cy="1181100"/>
          </a:xfrm>
          <a:prstGeom prst="roundRect">
            <a:avLst>
              <a:gd name="adj" fmla="val 6451"/>
            </a:avLst>
          </a:prstGeom>
          <a:solidFill>
            <a:srgbClr val="2A3344"/>
          </a:solidFill>
          <a:ln w="9525">
            <a:solidFill>
              <a:srgbClr val="4A5366"/>
            </a:solidFill>
          </a:ln>
        </p:spPr>
        <p:txBody>
          <a:bodyPr rtlCol="0" anchor="ctr"/>
          <a:lstStyle/>
          <a:p>
            <a:endParaRPr/>
          </a:p>
        </p:txBody>
      </p:sp>
      <p:sp>
        <p:nvSpPr>
          <p:cNvPr id="23" name="TextBox 22"/>
          <p:cNvSpPr txBox="1"/>
          <p:nvPr/>
        </p:nvSpPr>
        <p:spPr>
          <a:xfrm>
            <a:off x="9686925" y="1352550"/>
            <a:ext cx="1197102" cy="161925"/>
          </a:xfrm>
          <a:prstGeom prst="rect">
            <a:avLst/>
          </a:prstGeom>
          <a:noFill/>
        </p:spPr>
        <p:txBody>
          <a:bodyPr wrap="none" lIns="0" tIns="0" rIns="0" bIns="0" anchor="t">
            <a:noAutofit/>
          </a:bodyPr>
          <a:lstStyle/>
          <a:p>
            <a:pPr algn="l">
              <a:lnSpc>
                <a:spcPts val="1200"/>
              </a:lnSpc>
              <a:spcBef>
                <a:spcPts val="0"/>
              </a:spcBef>
              <a:spcAft>
                <a:spcPts val="0"/>
              </a:spcAft>
            </a:pPr>
            <a:r>
              <a:rPr sz="1000" b="1" i="0">
                <a:solidFill>
                  <a:srgbClr val="C9A34E"/>
                </a:solidFill>
                <a:latin typeface="JetBrains Mono"/>
                <a:ea typeface="JetBrains Mono"/>
                <a:cs typeface="JetBrains Mono"/>
              </a:rPr>
              <a:t>5 · PUBLICATION</a:t>
            </a:r>
          </a:p>
        </p:txBody>
      </p:sp>
      <p:sp>
        <p:nvSpPr>
          <p:cNvPr id="24" name="TextBox 23"/>
          <p:cNvSpPr txBox="1"/>
          <p:nvPr/>
        </p:nvSpPr>
        <p:spPr>
          <a:xfrm>
            <a:off x="9686925" y="1552575"/>
            <a:ext cx="1791805" cy="361950"/>
          </a:xfrm>
          <a:prstGeom prst="rect">
            <a:avLst/>
          </a:prstGeom>
          <a:noFill/>
        </p:spPr>
        <p:txBody>
          <a:bodyPr wrap="square" lIns="0" tIns="0" rIns="0" bIns="0" anchor="t">
            <a:noAutofit/>
          </a:bodyPr>
          <a:lstStyle/>
          <a:p>
            <a:pPr algn="l">
              <a:lnSpc>
                <a:spcPts val="1425"/>
              </a:lnSpc>
              <a:spcBef>
                <a:spcPts val="0"/>
              </a:spcBef>
              <a:spcAft>
                <a:spcPts val="0"/>
              </a:spcAft>
            </a:pPr>
            <a:r>
              <a:rPr sz="1100" b="0" i="0">
                <a:solidFill>
                  <a:srgbClr val="F5EFE3"/>
                </a:solidFill>
                <a:latin typeface="Inter"/>
                <a:ea typeface="Inter"/>
                <a:cs typeface="Inter"/>
              </a:rPr>
              <a:t>Versión 3 publicada; la 1 y la 2, intactas</a:t>
            </a:r>
          </a:p>
        </p:txBody>
      </p:sp>
      <p:sp>
        <p:nvSpPr>
          <p:cNvPr id="25" name="TextBox 24"/>
          <p:cNvSpPr txBox="1"/>
          <p:nvPr/>
        </p:nvSpPr>
        <p:spPr>
          <a:xfrm>
            <a:off x="9686925" y="1971675"/>
            <a:ext cx="1858173" cy="161925"/>
          </a:xfrm>
          <a:prstGeom prst="rect">
            <a:avLst/>
          </a:prstGeom>
          <a:noFill/>
        </p:spPr>
        <p:txBody>
          <a:bodyPr wrap="none" lIns="0" tIns="0" rIns="0" bIns="0" anchor="t">
            <a:noAutofit/>
          </a:bodyPr>
          <a:lstStyle/>
          <a:p>
            <a:pPr algn="l">
              <a:lnSpc>
                <a:spcPts val="1275"/>
              </a:lnSpc>
              <a:spcBef>
                <a:spcPts val="0"/>
              </a:spcBef>
              <a:spcAft>
                <a:spcPts val="0"/>
              </a:spcAft>
            </a:pPr>
            <a:r>
              <a:rPr sz="950" b="0" i="0">
                <a:solidFill>
                  <a:srgbClr val="C9A34E"/>
                </a:solidFill>
                <a:latin typeface="JetBrains Mono Medium"/>
                <a:ea typeface="JetBrains Mono Medium"/>
                <a:cs typeface="JetBrains Mono Medium"/>
              </a:rPr>
              <a:t>Lean ✓ · render_visual ✓</a:t>
            </a:r>
          </a:p>
        </p:txBody>
      </p:sp>
      <p:sp>
        <p:nvSpPr>
          <p:cNvPr id="26" name="Rounded Rectangle 25"/>
          <p:cNvSpPr/>
          <p:nvPr/>
        </p:nvSpPr>
        <p:spPr>
          <a:xfrm>
            <a:off x="609600" y="2609850"/>
            <a:ext cx="3143250" cy="1981200"/>
          </a:xfrm>
          <a:prstGeom prst="roundRect">
            <a:avLst>
              <a:gd name="adj" fmla="val 3846"/>
            </a:avLst>
          </a:prstGeom>
          <a:solidFill>
            <a:srgbClr val="FAF7F0"/>
          </a:solidFill>
          <a:ln w="9525">
            <a:solidFill>
              <a:srgbClr val="4A5366"/>
            </a:solidFill>
          </a:ln>
        </p:spPr>
        <p:txBody>
          <a:bodyPr rtlCol="0" anchor="ctr"/>
          <a:lstStyle/>
          <a:p>
            <a:endParaRPr/>
          </a:p>
        </p:txBody>
      </p:sp>
      <p:pic>
        <p:nvPicPr>
          <p:cNvPr id="27" name="Picture 26" descr="lozoya-v3-indice.png"/>
          <p:cNvPicPr>
            <a:picLocks noChangeAspect="1"/>
          </p:cNvPicPr>
          <p:nvPr/>
        </p:nvPicPr>
        <p:blipFill>
          <a:blip r:embed="rId3"/>
          <a:srcRect b="47"/>
          <a:stretch>
            <a:fillRect/>
          </a:stretch>
        </p:blipFill>
        <p:spPr>
          <a:xfrm>
            <a:off x="619125" y="2619375"/>
            <a:ext cx="3124200" cy="1962150"/>
          </a:xfrm>
          <a:prstGeom prst="rect">
            <a:avLst/>
          </a:prstGeom>
        </p:spPr>
      </p:pic>
      <p:sp>
        <p:nvSpPr>
          <p:cNvPr id="28" name="TextBox 27"/>
          <p:cNvSpPr txBox="1"/>
          <p:nvPr/>
        </p:nvSpPr>
        <p:spPr>
          <a:xfrm>
            <a:off x="609600" y="4629150"/>
            <a:ext cx="3171634" cy="304800"/>
          </a:xfrm>
          <a:prstGeom prst="rect">
            <a:avLst/>
          </a:prstGeom>
          <a:noFill/>
        </p:spPr>
        <p:txBody>
          <a:bodyPr wrap="square" lIns="0" tIns="0" rIns="0" bIns="0" anchor="t">
            <a:noAutofit/>
          </a:bodyPr>
          <a:lstStyle/>
          <a:p>
            <a:pPr algn="l">
              <a:lnSpc>
                <a:spcPts val="1200"/>
              </a:lnSpc>
              <a:spcBef>
                <a:spcPts val="0"/>
              </a:spcBef>
              <a:spcAft>
                <a:spcPts val="0"/>
              </a:spcAft>
            </a:pPr>
            <a:r>
              <a:rPr sz="1000" b="0" i="0">
                <a:solidFill>
                  <a:srgbClr val="A5A5A3"/>
                </a:solidFill>
                <a:latin typeface="Inter"/>
                <a:ea typeface="Inter"/>
                <a:cs typeface="Inter"/>
              </a:rPr>
              <a:t>Índice web de la versión 3, con los capítulos cambiados marcados</a:t>
            </a:r>
          </a:p>
        </p:txBody>
      </p:sp>
      <p:sp>
        <p:nvSpPr>
          <p:cNvPr id="29" name="Rounded Rectangle 28"/>
          <p:cNvSpPr/>
          <p:nvPr/>
        </p:nvSpPr>
        <p:spPr>
          <a:xfrm>
            <a:off x="3905250" y="2609850"/>
            <a:ext cx="2381250" cy="1981200"/>
          </a:xfrm>
          <a:prstGeom prst="roundRect">
            <a:avLst>
              <a:gd name="adj" fmla="val 3846"/>
            </a:avLst>
          </a:prstGeom>
          <a:solidFill>
            <a:srgbClr val="FAF7F0"/>
          </a:solidFill>
          <a:ln w="9525">
            <a:solidFill>
              <a:srgbClr val="4A5366"/>
            </a:solidFill>
          </a:ln>
        </p:spPr>
        <p:txBody>
          <a:bodyPr rtlCol="0" anchor="ctr"/>
          <a:lstStyle/>
          <a:p>
            <a:endParaRPr/>
          </a:p>
        </p:txBody>
      </p:sp>
      <p:pic>
        <p:nvPicPr>
          <p:cNvPr id="30" name="Picture 29" descr="lozoya-versiones.png"/>
          <p:cNvPicPr>
            <a:picLocks noChangeAspect="1"/>
          </p:cNvPicPr>
          <p:nvPr/>
        </p:nvPicPr>
        <p:blipFill>
          <a:blip r:embed="rId4"/>
          <a:srcRect b="9163"/>
          <a:stretch>
            <a:fillRect/>
          </a:stretch>
        </p:blipFill>
        <p:spPr>
          <a:xfrm>
            <a:off x="3914775" y="2619375"/>
            <a:ext cx="2362200" cy="1962150"/>
          </a:xfrm>
          <a:prstGeom prst="rect">
            <a:avLst/>
          </a:prstGeom>
        </p:spPr>
      </p:pic>
      <p:sp>
        <p:nvSpPr>
          <p:cNvPr id="31" name="TextBox 30"/>
          <p:cNvSpPr txBox="1"/>
          <p:nvPr/>
        </p:nvSpPr>
        <p:spPr>
          <a:xfrm>
            <a:off x="3905250" y="4629150"/>
            <a:ext cx="1662684"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a:solidFill>
                  <a:srgbClr val="A5A5A3"/>
                </a:solidFill>
                <a:latin typeface="Inter"/>
                <a:ea typeface="Inter"/>
                <a:cs typeface="Inter"/>
              </a:rPr>
              <a:t>Historial: versiones 1, 2 y 3</a:t>
            </a:r>
          </a:p>
        </p:txBody>
      </p:sp>
      <p:sp>
        <p:nvSpPr>
          <p:cNvPr id="32" name="Rectangle 31"/>
          <p:cNvSpPr/>
          <p:nvPr/>
        </p:nvSpPr>
        <p:spPr>
          <a:xfrm>
            <a:off x="6515100" y="2609850"/>
            <a:ext cx="449759" cy="204788"/>
          </a:xfrm>
          <a:prstGeom prst="rect">
            <a:avLst/>
          </a:prstGeom>
          <a:noFill/>
          <a:ln>
            <a:noFill/>
          </a:ln>
        </p:spPr>
        <p:txBody>
          <a:bodyPr rtlCol="0" anchor="ctr"/>
          <a:lstStyle/>
          <a:p>
            <a:endParaRPr/>
          </a:p>
        </p:txBody>
      </p:sp>
      <p:cxnSp>
        <p:nvCxnSpPr>
          <p:cNvPr id="33" name="Connector 32"/>
          <p:cNvCxnSpPr/>
          <p:nvPr/>
        </p:nvCxnSpPr>
        <p:spPr>
          <a:xfrm>
            <a:off x="6515100" y="2809875"/>
            <a:ext cx="449759" cy="0"/>
          </a:xfrm>
          <a:prstGeom prst="line">
            <a:avLst/>
          </a:prstGeom>
          <a:ln w="9525">
            <a:solidFill>
              <a:srgbClr val="4A5366"/>
            </a:solidFill>
          </a:ln>
        </p:spPr>
      </p:cxnSp>
      <p:sp>
        <p:nvSpPr>
          <p:cNvPr id="34" name="TextBox 33"/>
          <p:cNvSpPr txBox="1"/>
          <p:nvPr/>
        </p:nvSpPr>
        <p:spPr>
          <a:xfrm>
            <a:off x="6554385" y="2638425"/>
            <a:ext cx="371189" cy="142875"/>
          </a:xfrm>
          <a:prstGeom prst="rect">
            <a:avLst/>
          </a:prstGeom>
          <a:noFill/>
        </p:spPr>
        <p:txBody>
          <a:bodyPr wrap="none" lIns="0" tIns="0" rIns="0" bIns="0" anchor="t">
            <a:noAutofit/>
          </a:bodyPr>
          <a:lstStyle/>
          <a:p>
            <a:pPr algn="ctr">
              <a:lnSpc>
                <a:spcPts val="1125"/>
              </a:lnSpc>
              <a:spcBef>
                <a:spcPts val="0"/>
              </a:spcBef>
              <a:spcAft>
                <a:spcPts val="0"/>
              </a:spcAft>
            </a:pPr>
            <a:r>
              <a:rPr sz="950" b="0" i="0" spc="75">
                <a:solidFill>
                  <a:srgbClr val="A5A5A3"/>
                </a:solidFill>
                <a:latin typeface="Inter SemiBold"/>
                <a:ea typeface="Inter SemiBold"/>
                <a:cs typeface="Inter SemiBold"/>
              </a:rPr>
              <a:t>CAP.</a:t>
            </a:r>
          </a:p>
        </p:txBody>
      </p:sp>
      <p:sp>
        <p:nvSpPr>
          <p:cNvPr id="35" name="Rectangle 34"/>
          <p:cNvSpPr/>
          <p:nvPr/>
        </p:nvSpPr>
        <p:spPr>
          <a:xfrm>
            <a:off x="6964859" y="2609850"/>
            <a:ext cx="532358" cy="204788"/>
          </a:xfrm>
          <a:prstGeom prst="rect">
            <a:avLst/>
          </a:prstGeom>
          <a:noFill/>
          <a:ln>
            <a:noFill/>
          </a:ln>
        </p:spPr>
        <p:txBody>
          <a:bodyPr rtlCol="0" anchor="ctr"/>
          <a:lstStyle/>
          <a:p>
            <a:endParaRPr/>
          </a:p>
        </p:txBody>
      </p:sp>
      <p:cxnSp>
        <p:nvCxnSpPr>
          <p:cNvPr id="36" name="Connector 35"/>
          <p:cNvCxnSpPr/>
          <p:nvPr/>
        </p:nvCxnSpPr>
        <p:spPr>
          <a:xfrm>
            <a:off x="6964859" y="2809875"/>
            <a:ext cx="532358" cy="0"/>
          </a:xfrm>
          <a:prstGeom prst="line">
            <a:avLst/>
          </a:prstGeom>
          <a:ln w="9525">
            <a:solidFill>
              <a:srgbClr val="4A5366"/>
            </a:solidFill>
          </a:ln>
        </p:spPr>
      </p:cxnSp>
      <p:sp>
        <p:nvSpPr>
          <p:cNvPr id="37" name="TextBox 36"/>
          <p:cNvSpPr txBox="1"/>
          <p:nvPr/>
        </p:nvSpPr>
        <p:spPr>
          <a:xfrm>
            <a:off x="7118422" y="2638425"/>
            <a:ext cx="225231" cy="142875"/>
          </a:xfrm>
          <a:prstGeom prst="rect">
            <a:avLst/>
          </a:prstGeom>
          <a:noFill/>
        </p:spPr>
        <p:txBody>
          <a:bodyPr wrap="none" lIns="0" tIns="0" rIns="0" bIns="0" anchor="t">
            <a:noAutofit/>
          </a:bodyPr>
          <a:lstStyle/>
          <a:p>
            <a:pPr algn="ctr">
              <a:lnSpc>
                <a:spcPts val="1125"/>
              </a:lnSpc>
              <a:spcBef>
                <a:spcPts val="0"/>
              </a:spcBef>
              <a:spcAft>
                <a:spcPts val="0"/>
              </a:spcAft>
            </a:pPr>
            <a:r>
              <a:rPr sz="950" b="0" i="0" spc="75">
                <a:solidFill>
                  <a:srgbClr val="A5A5A3"/>
                </a:solidFill>
                <a:latin typeface="Inter SemiBold"/>
                <a:ea typeface="Inter SemiBold"/>
                <a:cs typeface="Inter SemiBold"/>
              </a:rPr>
              <a:t>V2</a:t>
            </a:r>
          </a:p>
        </p:txBody>
      </p:sp>
      <p:sp>
        <p:nvSpPr>
          <p:cNvPr id="38" name="Rectangle 37"/>
          <p:cNvSpPr/>
          <p:nvPr/>
        </p:nvSpPr>
        <p:spPr>
          <a:xfrm>
            <a:off x="7497217" y="2609850"/>
            <a:ext cx="660499" cy="204788"/>
          </a:xfrm>
          <a:prstGeom prst="rect">
            <a:avLst/>
          </a:prstGeom>
          <a:noFill/>
          <a:ln>
            <a:noFill/>
          </a:ln>
        </p:spPr>
        <p:txBody>
          <a:bodyPr rtlCol="0" anchor="ctr"/>
          <a:lstStyle/>
          <a:p>
            <a:endParaRPr/>
          </a:p>
        </p:txBody>
      </p:sp>
      <p:cxnSp>
        <p:nvCxnSpPr>
          <p:cNvPr id="39" name="Connector 38"/>
          <p:cNvCxnSpPr/>
          <p:nvPr/>
        </p:nvCxnSpPr>
        <p:spPr>
          <a:xfrm>
            <a:off x="7497217" y="2809875"/>
            <a:ext cx="660499" cy="0"/>
          </a:xfrm>
          <a:prstGeom prst="line">
            <a:avLst/>
          </a:prstGeom>
          <a:ln w="9525">
            <a:solidFill>
              <a:srgbClr val="4A5366"/>
            </a:solidFill>
          </a:ln>
        </p:spPr>
      </p:cxnSp>
      <p:sp>
        <p:nvSpPr>
          <p:cNvPr id="40" name="TextBox 39"/>
          <p:cNvSpPr txBox="1"/>
          <p:nvPr/>
        </p:nvSpPr>
        <p:spPr>
          <a:xfrm>
            <a:off x="7714000" y="2638425"/>
            <a:ext cx="226933" cy="142875"/>
          </a:xfrm>
          <a:prstGeom prst="rect">
            <a:avLst/>
          </a:prstGeom>
          <a:noFill/>
        </p:spPr>
        <p:txBody>
          <a:bodyPr wrap="none" lIns="0" tIns="0" rIns="0" bIns="0" anchor="t">
            <a:noAutofit/>
          </a:bodyPr>
          <a:lstStyle/>
          <a:p>
            <a:pPr algn="ctr">
              <a:lnSpc>
                <a:spcPts val="1125"/>
              </a:lnSpc>
              <a:spcBef>
                <a:spcPts val="0"/>
              </a:spcBef>
              <a:spcAft>
                <a:spcPts val="0"/>
              </a:spcAft>
            </a:pPr>
            <a:r>
              <a:rPr sz="950" b="0" i="0" spc="75">
                <a:solidFill>
                  <a:srgbClr val="A5A5A3"/>
                </a:solidFill>
                <a:latin typeface="Inter SemiBold"/>
                <a:ea typeface="Inter SemiBold"/>
                <a:cs typeface="Inter SemiBold"/>
              </a:rPr>
              <a:t>V3</a:t>
            </a:r>
          </a:p>
        </p:txBody>
      </p:sp>
      <p:sp>
        <p:nvSpPr>
          <p:cNvPr id="41" name="Rectangle 40"/>
          <p:cNvSpPr/>
          <p:nvPr/>
        </p:nvSpPr>
        <p:spPr>
          <a:xfrm>
            <a:off x="8157716" y="2609850"/>
            <a:ext cx="1367284" cy="204788"/>
          </a:xfrm>
          <a:prstGeom prst="rect">
            <a:avLst/>
          </a:prstGeom>
          <a:noFill/>
          <a:ln>
            <a:noFill/>
          </a:ln>
        </p:spPr>
        <p:txBody>
          <a:bodyPr rtlCol="0" anchor="ctr"/>
          <a:lstStyle/>
          <a:p>
            <a:endParaRPr/>
          </a:p>
        </p:txBody>
      </p:sp>
      <p:cxnSp>
        <p:nvCxnSpPr>
          <p:cNvPr id="42" name="Connector 41"/>
          <p:cNvCxnSpPr/>
          <p:nvPr/>
        </p:nvCxnSpPr>
        <p:spPr>
          <a:xfrm>
            <a:off x="8157716" y="2809875"/>
            <a:ext cx="1367284" cy="0"/>
          </a:xfrm>
          <a:prstGeom prst="line">
            <a:avLst/>
          </a:prstGeom>
          <a:ln w="9525">
            <a:solidFill>
              <a:srgbClr val="4A5366"/>
            </a:solidFill>
          </a:ln>
        </p:spPr>
      </p:cxnSp>
      <p:sp>
        <p:nvSpPr>
          <p:cNvPr id="43" name="TextBox 42"/>
          <p:cNvSpPr txBox="1"/>
          <p:nvPr/>
        </p:nvSpPr>
        <p:spPr>
          <a:xfrm>
            <a:off x="8214866" y="2638425"/>
            <a:ext cx="744831" cy="142875"/>
          </a:xfrm>
          <a:prstGeom prst="rect">
            <a:avLst/>
          </a:prstGeom>
          <a:noFill/>
        </p:spPr>
        <p:txBody>
          <a:bodyPr wrap="none" lIns="0" tIns="0" rIns="0" bIns="0" anchor="t">
            <a:noAutofit/>
          </a:bodyPr>
          <a:lstStyle/>
          <a:p>
            <a:pPr algn="l">
              <a:lnSpc>
                <a:spcPts val="1125"/>
              </a:lnSpc>
              <a:spcBef>
                <a:spcPts val="0"/>
              </a:spcBef>
              <a:spcAft>
                <a:spcPts val="0"/>
              </a:spcAft>
            </a:pPr>
            <a:r>
              <a:rPr sz="950" b="0" i="0" spc="75">
                <a:solidFill>
                  <a:srgbClr val="A5A5A3"/>
                </a:solidFill>
                <a:latin typeface="Inter SemiBold"/>
                <a:ea typeface="Inter SemiBold"/>
                <a:cs typeface="Inter SemiBold"/>
              </a:rPr>
              <a:t>QUÉ PASÓ</a:t>
            </a:r>
          </a:p>
        </p:txBody>
      </p:sp>
      <p:sp>
        <p:nvSpPr>
          <p:cNvPr id="44" name="Rectangle 43"/>
          <p:cNvSpPr/>
          <p:nvPr/>
        </p:nvSpPr>
        <p:spPr>
          <a:xfrm>
            <a:off x="6515100" y="2814638"/>
            <a:ext cx="449759" cy="285750"/>
          </a:xfrm>
          <a:prstGeom prst="rect">
            <a:avLst/>
          </a:prstGeom>
          <a:noFill/>
          <a:ln>
            <a:noFill/>
          </a:ln>
        </p:spPr>
        <p:txBody>
          <a:bodyPr rtlCol="0" anchor="ctr"/>
          <a:lstStyle/>
          <a:p>
            <a:endParaRPr/>
          </a:p>
        </p:txBody>
      </p:sp>
      <p:cxnSp>
        <p:nvCxnSpPr>
          <p:cNvPr id="45" name="Connector 44"/>
          <p:cNvCxnSpPr/>
          <p:nvPr/>
        </p:nvCxnSpPr>
        <p:spPr>
          <a:xfrm>
            <a:off x="6515100" y="3095625"/>
            <a:ext cx="449759" cy="0"/>
          </a:xfrm>
          <a:prstGeom prst="line">
            <a:avLst/>
          </a:prstGeom>
          <a:ln w="9525">
            <a:solidFill>
              <a:srgbClr val="3A4356"/>
            </a:solidFill>
          </a:ln>
        </p:spPr>
      </p:cxnSp>
      <p:sp>
        <p:nvSpPr>
          <p:cNvPr id="46" name="TextBox 45"/>
          <p:cNvSpPr txBox="1"/>
          <p:nvPr/>
        </p:nvSpPr>
        <p:spPr>
          <a:xfrm>
            <a:off x="6679293" y="2867025"/>
            <a:ext cx="12137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1</a:t>
            </a:r>
          </a:p>
        </p:txBody>
      </p:sp>
      <p:sp>
        <p:nvSpPr>
          <p:cNvPr id="47" name="Rectangle 46"/>
          <p:cNvSpPr/>
          <p:nvPr/>
        </p:nvSpPr>
        <p:spPr>
          <a:xfrm>
            <a:off x="6964859" y="2814638"/>
            <a:ext cx="532358" cy="285750"/>
          </a:xfrm>
          <a:prstGeom prst="rect">
            <a:avLst/>
          </a:prstGeom>
          <a:noFill/>
          <a:ln>
            <a:noFill/>
          </a:ln>
        </p:spPr>
        <p:txBody>
          <a:bodyPr rtlCol="0" anchor="ctr"/>
          <a:lstStyle/>
          <a:p>
            <a:endParaRPr/>
          </a:p>
        </p:txBody>
      </p:sp>
      <p:cxnSp>
        <p:nvCxnSpPr>
          <p:cNvPr id="48" name="Connector 47"/>
          <p:cNvCxnSpPr/>
          <p:nvPr/>
        </p:nvCxnSpPr>
        <p:spPr>
          <a:xfrm>
            <a:off x="6964859" y="3095625"/>
            <a:ext cx="532358" cy="0"/>
          </a:xfrm>
          <a:prstGeom prst="line">
            <a:avLst/>
          </a:prstGeom>
          <a:ln w="9525">
            <a:solidFill>
              <a:srgbClr val="3A4356"/>
            </a:solidFill>
          </a:ln>
        </p:spPr>
      </p:cxnSp>
      <p:sp>
        <p:nvSpPr>
          <p:cNvPr id="49" name="TextBox 48"/>
          <p:cNvSpPr txBox="1"/>
          <p:nvPr/>
        </p:nvSpPr>
        <p:spPr>
          <a:xfrm>
            <a:off x="7045520" y="2867025"/>
            <a:ext cx="371034"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cv 8</a:t>
            </a:r>
          </a:p>
        </p:txBody>
      </p:sp>
      <p:sp>
        <p:nvSpPr>
          <p:cNvPr id="50" name="Rectangle 49"/>
          <p:cNvSpPr/>
          <p:nvPr/>
        </p:nvSpPr>
        <p:spPr>
          <a:xfrm>
            <a:off x="7497217" y="2814638"/>
            <a:ext cx="660499" cy="285750"/>
          </a:xfrm>
          <a:prstGeom prst="rect">
            <a:avLst/>
          </a:prstGeom>
          <a:noFill/>
          <a:ln>
            <a:noFill/>
          </a:ln>
        </p:spPr>
        <p:txBody>
          <a:bodyPr rtlCol="0" anchor="ctr"/>
          <a:lstStyle/>
          <a:p>
            <a:endParaRPr/>
          </a:p>
        </p:txBody>
      </p:sp>
      <p:cxnSp>
        <p:nvCxnSpPr>
          <p:cNvPr id="51" name="Connector 50"/>
          <p:cNvCxnSpPr/>
          <p:nvPr/>
        </p:nvCxnSpPr>
        <p:spPr>
          <a:xfrm>
            <a:off x="7497217" y="3095625"/>
            <a:ext cx="660499" cy="0"/>
          </a:xfrm>
          <a:prstGeom prst="line">
            <a:avLst/>
          </a:prstGeom>
          <a:ln w="9525">
            <a:solidFill>
              <a:srgbClr val="3A4356"/>
            </a:solidFill>
          </a:ln>
        </p:spPr>
      </p:cxnSp>
      <p:sp>
        <p:nvSpPr>
          <p:cNvPr id="52" name="Rounded Rectangle 51"/>
          <p:cNvSpPr/>
          <p:nvPr/>
        </p:nvSpPr>
        <p:spPr>
          <a:xfrm>
            <a:off x="7565529" y="2857500"/>
            <a:ext cx="523875" cy="200025"/>
          </a:xfrm>
          <a:prstGeom prst="roundRect">
            <a:avLst>
              <a:gd name="adj" fmla="val 33333"/>
            </a:avLst>
          </a:prstGeom>
          <a:solidFill>
            <a:srgbClr val="EDD9CC"/>
          </a:solidFill>
          <a:ln w="9525">
            <a:solidFill>
              <a:srgbClr val="B23A2B"/>
            </a:solidFill>
          </a:ln>
        </p:spPr>
        <p:txBody>
          <a:bodyPr rtlCol="0" anchor="ctr"/>
          <a:lstStyle/>
          <a:p>
            <a:endParaRPr/>
          </a:p>
        </p:txBody>
      </p:sp>
      <p:sp>
        <p:nvSpPr>
          <p:cNvPr id="53" name="TextBox 52"/>
          <p:cNvSpPr txBox="1"/>
          <p:nvPr/>
        </p:nvSpPr>
        <p:spPr>
          <a:xfrm>
            <a:off x="7615249" y="2876550"/>
            <a:ext cx="424434" cy="161925"/>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B23A2B"/>
                </a:solidFill>
                <a:latin typeface="JetBrains Mono Medium"/>
                <a:ea typeface="JetBrains Mono Medium"/>
                <a:cs typeface="JetBrains Mono Medium"/>
              </a:rPr>
              <a:t>cv 12</a:t>
            </a:r>
          </a:p>
        </p:txBody>
      </p:sp>
      <p:sp>
        <p:nvSpPr>
          <p:cNvPr id="54" name="Rectangle 53"/>
          <p:cNvSpPr/>
          <p:nvPr/>
        </p:nvSpPr>
        <p:spPr>
          <a:xfrm>
            <a:off x="8157716" y="2814638"/>
            <a:ext cx="1367284" cy="285750"/>
          </a:xfrm>
          <a:prstGeom prst="rect">
            <a:avLst/>
          </a:prstGeom>
          <a:noFill/>
          <a:ln>
            <a:noFill/>
          </a:ln>
        </p:spPr>
        <p:txBody>
          <a:bodyPr rtlCol="0" anchor="ctr"/>
          <a:lstStyle/>
          <a:p>
            <a:endParaRPr/>
          </a:p>
        </p:txBody>
      </p:sp>
      <p:cxnSp>
        <p:nvCxnSpPr>
          <p:cNvPr id="55" name="Connector 54"/>
          <p:cNvCxnSpPr/>
          <p:nvPr/>
        </p:nvCxnSpPr>
        <p:spPr>
          <a:xfrm>
            <a:off x="8157716" y="3095625"/>
            <a:ext cx="1367284" cy="0"/>
          </a:xfrm>
          <a:prstGeom prst="line">
            <a:avLst/>
          </a:prstGeom>
          <a:ln w="9525">
            <a:solidFill>
              <a:srgbClr val="3A4356"/>
            </a:solidFill>
          </a:ln>
        </p:spPr>
      </p:cxnSp>
      <p:sp>
        <p:nvSpPr>
          <p:cNvPr id="56" name="TextBox 55"/>
          <p:cNvSpPr txBox="1"/>
          <p:nvPr/>
        </p:nvSpPr>
        <p:spPr>
          <a:xfrm>
            <a:off x="8214866" y="2876550"/>
            <a:ext cx="52550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CFCCC6"/>
                </a:solidFill>
                <a:latin typeface="Inter"/>
                <a:ea typeface="Inter"/>
                <a:cs typeface="Inter"/>
              </a:rPr>
              <a:t>previsto</a:t>
            </a:r>
          </a:p>
        </p:txBody>
      </p:sp>
      <p:sp>
        <p:nvSpPr>
          <p:cNvPr id="57" name="Rectangle 56"/>
          <p:cNvSpPr/>
          <p:nvPr/>
        </p:nvSpPr>
        <p:spPr>
          <a:xfrm>
            <a:off x="6515100" y="3100388"/>
            <a:ext cx="449759" cy="285750"/>
          </a:xfrm>
          <a:prstGeom prst="rect">
            <a:avLst/>
          </a:prstGeom>
          <a:noFill/>
          <a:ln>
            <a:noFill/>
          </a:ln>
        </p:spPr>
        <p:txBody>
          <a:bodyPr rtlCol="0" anchor="ctr"/>
          <a:lstStyle/>
          <a:p>
            <a:endParaRPr/>
          </a:p>
        </p:txBody>
      </p:sp>
      <p:cxnSp>
        <p:nvCxnSpPr>
          <p:cNvPr id="58" name="Connector 57"/>
          <p:cNvCxnSpPr/>
          <p:nvPr/>
        </p:nvCxnSpPr>
        <p:spPr>
          <a:xfrm>
            <a:off x="6515100" y="3381375"/>
            <a:ext cx="449759" cy="0"/>
          </a:xfrm>
          <a:prstGeom prst="line">
            <a:avLst/>
          </a:prstGeom>
          <a:ln w="9525">
            <a:solidFill>
              <a:srgbClr val="3A4356"/>
            </a:solidFill>
          </a:ln>
        </p:spPr>
      </p:cxnSp>
      <p:sp>
        <p:nvSpPr>
          <p:cNvPr id="59" name="TextBox 58"/>
          <p:cNvSpPr txBox="1"/>
          <p:nvPr/>
        </p:nvSpPr>
        <p:spPr>
          <a:xfrm>
            <a:off x="6679293" y="3152775"/>
            <a:ext cx="12137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2</a:t>
            </a:r>
          </a:p>
        </p:txBody>
      </p:sp>
      <p:sp>
        <p:nvSpPr>
          <p:cNvPr id="60" name="Rectangle 59"/>
          <p:cNvSpPr/>
          <p:nvPr/>
        </p:nvSpPr>
        <p:spPr>
          <a:xfrm>
            <a:off x="6964859" y="3100388"/>
            <a:ext cx="532358" cy="285750"/>
          </a:xfrm>
          <a:prstGeom prst="rect">
            <a:avLst/>
          </a:prstGeom>
          <a:noFill/>
          <a:ln>
            <a:noFill/>
          </a:ln>
        </p:spPr>
        <p:txBody>
          <a:bodyPr rtlCol="0" anchor="ctr"/>
          <a:lstStyle/>
          <a:p>
            <a:endParaRPr/>
          </a:p>
        </p:txBody>
      </p:sp>
      <p:cxnSp>
        <p:nvCxnSpPr>
          <p:cNvPr id="61" name="Connector 60"/>
          <p:cNvCxnSpPr/>
          <p:nvPr/>
        </p:nvCxnSpPr>
        <p:spPr>
          <a:xfrm>
            <a:off x="6964859" y="3381375"/>
            <a:ext cx="532358" cy="0"/>
          </a:xfrm>
          <a:prstGeom prst="line">
            <a:avLst/>
          </a:prstGeom>
          <a:ln w="9525">
            <a:solidFill>
              <a:srgbClr val="3A4356"/>
            </a:solidFill>
          </a:ln>
        </p:spPr>
      </p:cxnSp>
      <p:sp>
        <p:nvSpPr>
          <p:cNvPr id="62" name="TextBox 61"/>
          <p:cNvSpPr txBox="1"/>
          <p:nvPr/>
        </p:nvSpPr>
        <p:spPr>
          <a:xfrm>
            <a:off x="7045520" y="3152775"/>
            <a:ext cx="371034"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cv 9</a:t>
            </a:r>
          </a:p>
        </p:txBody>
      </p:sp>
      <p:sp>
        <p:nvSpPr>
          <p:cNvPr id="63" name="Rectangle 62"/>
          <p:cNvSpPr/>
          <p:nvPr/>
        </p:nvSpPr>
        <p:spPr>
          <a:xfrm>
            <a:off x="7497217" y="3100388"/>
            <a:ext cx="660499" cy="285750"/>
          </a:xfrm>
          <a:prstGeom prst="rect">
            <a:avLst/>
          </a:prstGeom>
          <a:noFill/>
          <a:ln>
            <a:noFill/>
          </a:ln>
        </p:spPr>
        <p:txBody>
          <a:bodyPr rtlCol="0" anchor="ctr"/>
          <a:lstStyle/>
          <a:p>
            <a:endParaRPr/>
          </a:p>
        </p:txBody>
      </p:sp>
      <p:cxnSp>
        <p:nvCxnSpPr>
          <p:cNvPr id="64" name="Connector 63"/>
          <p:cNvCxnSpPr/>
          <p:nvPr/>
        </p:nvCxnSpPr>
        <p:spPr>
          <a:xfrm>
            <a:off x="7497217" y="3381375"/>
            <a:ext cx="660499" cy="0"/>
          </a:xfrm>
          <a:prstGeom prst="line">
            <a:avLst/>
          </a:prstGeom>
          <a:ln w="9525">
            <a:solidFill>
              <a:srgbClr val="3A4356"/>
            </a:solidFill>
          </a:ln>
        </p:spPr>
      </p:cxnSp>
      <p:sp>
        <p:nvSpPr>
          <p:cNvPr id="65" name="Rounded Rectangle 64"/>
          <p:cNvSpPr/>
          <p:nvPr/>
        </p:nvSpPr>
        <p:spPr>
          <a:xfrm>
            <a:off x="7565529" y="3143250"/>
            <a:ext cx="523875" cy="200025"/>
          </a:xfrm>
          <a:prstGeom prst="roundRect">
            <a:avLst>
              <a:gd name="adj" fmla="val 33333"/>
            </a:avLst>
          </a:prstGeom>
          <a:solidFill>
            <a:srgbClr val="EDD9CC"/>
          </a:solidFill>
          <a:ln w="9525">
            <a:solidFill>
              <a:srgbClr val="B23A2B"/>
            </a:solidFill>
          </a:ln>
        </p:spPr>
        <p:txBody>
          <a:bodyPr rtlCol="0" anchor="ctr"/>
          <a:lstStyle/>
          <a:p>
            <a:endParaRPr/>
          </a:p>
        </p:txBody>
      </p:sp>
      <p:sp>
        <p:nvSpPr>
          <p:cNvPr id="66" name="TextBox 65"/>
          <p:cNvSpPr txBox="1"/>
          <p:nvPr/>
        </p:nvSpPr>
        <p:spPr>
          <a:xfrm>
            <a:off x="7615249" y="3162300"/>
            <a:ext cx="424434" cy="161925"/>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B23A2B"/>
                </a:solidFill>
                <a:latin typeface="JetBrains Mono Medium"/>
                <a:ea typeface="JetBrains Mono Medium"/>
                <a:cs typeface="JetBrains Mono Medium"/>
              </a:rPr>
              <a:t>cv 13</a:t>
            </a:r>
          </a:p>
        </p:txBody>
      </p:sp>
      <p:sp>
        <p:nvSpPr>
          <p:cNvPr id="67" name="Rectangle 66"/>
          <p:cNvSpPr/>
          <p:nvPr/>
        </p:nvSpPr>
        <p:spPr>
          <a:xfrm>
            <a:off x="8157716" y="3100388"/>
            <a:ext cx="1367284" cy="285750"/>
          </a:xfrm>
          <a:prstGeom prst="rect">
            <a:avLst/>
          </a:prstGeom>
          <a:noFill/>
          <a:ln>
            <a:noFill/>
          </a:ln>
        </p:spPr>
        <p:txBody>
          <a:bodyPr rtlCol="0" anchor="ctr"/>
          <a:lstStyle/>
          <a:p>
            <a:endParaRPr/>
          </a:p>
        </p:txBody>
      </p:sp>
      <p:cxnSp>
        <p:nvCxnSpPr>
          <p:cNvPr id="68" name="Connector 67"/>
          <p:cNvCxnSpPr/>
          <p:nvPr/>
        </p:nvCxnSpPr>
        <p:spPr>
          <a:xfrm>
            <a:off x="8157716" y="3381375"/>
            <a:ext cx="1367284" cy="0"/>
          </a:xfrm>
          <a:prstGeom prst="line">
            <a:avLst/>
          </a:prstGeom>
          <a:ln w="9525">
            <a:solidFill>
              <a:srgbClr val="3A4356"/>
            </a:solidFill>
          </a:ln>
        </p:spPr>
      </p:cxnSp>
      <p:sp>
        <p:nvSpPr>
          <p:cNvPr id="69" name="TextBox 68"/>
          <p:cNvSpPr txBox="1"/>
          <p:nvPr/>
        </p:nvSpPr>
        <p:spPr>
          <a:xfrm>
            <a:off x="8214866" y="3162300"/>
            <a:ext cx="52550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CFCCC6"/>
                </a:solidFill>
                <a:latin typeface="Inter"/>
                <a:ea typeface="Inter"/>
                <a:cs typeface="Inter"/>
              </a:rPr>
              <a:t>previsto</a:t>
            </a:r>
          </a:p>
        </p:txBody>
      </p:sp>
      <p:sp>
        <p:nvSpPr>
          <p:cNvPr id="70" name="Rectangle 69"/>
          <p:cNvSpPr/>
          <p:nvPr/>
        </p:nvSpPr>
        <p:spPr>
          <a:xfrm>
            <a:off x="6515100" y="3386138"/>
            <a:ext cx="449759" cy="285750"/>
          </a:xfrm>
          <a:prstGeom prst="rect">
            <a:avLst/>
          </a:prstGeom>
          <a:noFill/>
          <a:ln>
            <a:noFill/>
          </a:ln>
        </p:spPr>
        <p:txBody>
          <a:bodyPr rtlCol="0" anchor="ctr"/>
          <a:lstStyle/>
          <a:p>
            <a:endParaRPr/>
          </a:p>
        </p:txBody>
      </p:sp>
      <p:cxnSp>
        <p:nvCxnSpPr>
          <p:cNvPr id="71" name="Connector 70"/>
          <p:cNvCxnSpPr/>
          <p:nvPr/>
        </p:nvCxnSpPr>
        <p:spPr>
          <a:xfrm>
            <a:off x="6515100" y="3667125"/>
            <a:ext cx="449759" cy="0"/>
          </a:xfrm>
          <a:prstGeom prst="line">
            <a:avLst/>
          </a:prstGeom>
          <a:ln w="9525">
            <a:solidFill>
              <a:srgbClr val="3A4356"/>
            </a:solidFill>
          </a:ln>
        </p:spPr>
      </p:cxnSp>
      <p:sp>
        <p:nvSpPr>
          <p:cNvPr id="72" name="TextBox 71"/>
          <p:cNvSpPr txBox="1"/>
          <p:nvPr/>
        </p:nvSpPr>
        <p:spPr>
          <a:xfrm>
            <a:off x="6679293" y="3438525"/>
            <a:ext cx="12137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3</a:t>
            </a:r>
          </a:p>
        </p:txBody>
      </p:sp>
      <p:sp>
        <p:nvSpPr>
          <p:cNvPr id="73" name="Rectangle 72"/>
          <p:cNvSpPr/>
          <p:nvPr/>
        </p:nvSpPr>
        <p:spPr>
          <a:xfrm>
            <a:off x="6964859" y="3386138"/>
            <a:ext cx="532358" cy="285750"/>
          </a:xfrm>
          <a:prstGeom prst="rect">
            <a:avLst/>
          </a:prstGeom>
          <a:noFill/>
          <a:ln>
            <a:noFill/>
          </a:ln>
        </p:spPr>
        <p:txBody>
          <a:bodyPr rtlCol="0" anchor="ctr"/>
          <a:lstStyle/>
          <a:p>
            <a:endParaRPr/>
          </a:p>
        </p:txBody>
      </p:sp>
      <p:cxnSp>
        <p:nvCxnSpPr>
          <p:cNvPr id="74" name="Connector 73"/>
          <p:cNvCxnSpPr/>
          <p:nvPr/>
        </p:nvCxnSpPr>
        <p:spPr>
          <a:xfrm>
            <a:off x="6964859" y="3667125"/>
            <a:ext cx="532358" cy="0"/>
          </a:xfrm>
          <a:prstGeom prst="line">
            <a:avLst/>
          </a:prstGeom>
          <a:ln w="9525">
            <a:solidFill>
              <a:srgbClr val="3A4356"/>
            </a:solidFill>
          </a:ln>
        </p:spPr>
      </p:cxnSp>
      <p:sp>
        <p:nvSpPr>
          <p:cNvPr id="75" name="TextBox 74"/>
          <p:cNvSpPr txBox="1"/>
          <p:nvPr/>
        </p:nvSpPr>
        <p:spPr>
          <a:xfrm>
            <a:off x="7045520" y="3438525"/>
            <a:ext cx="371034"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cv 4</a:t>
            </a:r>
          </a:p>
        </p:txBody>
      </p:sp>
      <p:sp>
        <p:nvSpPr>
          <p:cNvPr id="76" name="Rectangle 75"/>
          <p:cNvSpPr/>
          <p:nvPr/>
        </p:nvSpPr>
        <p:spPr>
          <a:xfrm>
            <a:off x="7497217" y="3386138"/>
            <a:ext cx="660499" cy="285750"/>
          </a:xfrm>
          <a:prstGeom prst="rect">
            <a:avLst/>
          </a:prstGeom>
          <a:noFill/>
          <a:ln>
            <a:noFill/>
          </a:ln>
        </p:spPr>
        <p:txBody>
          <a:bodyPr rtlCol="0" anchor="ctr"/>
          <a:lstStyle/>
          <a:p>
            <a:endParaRPr/>
          </a:p>
        </p:txBody>
      </p:sp>
      <p:cxnSp>
        <p:nvCxnSpPr>
          <p:cNvPr id="77" name="Connector 76"/>
          <p:cNvCxnSpPr/>
          <p:nvPr/>
        </p:nvCxnSpPr>
        <p:spPr>
          <a:xfrm>
            <a:off x="7497217" y="3667125"/>
            <a:ext cx="660499" cy="0"/>
          </a:xfrm>
          <a:prstGeom prst="line">
            <a:avLst/>
          </a:prstGeom>
          <a:ln w="9525">
            <a:solidFill>
              <a:srgbClr val="3A4356"/>
            </a:solidFill>
          </a:ln>
        </p:spPr>
      </p:cxnSp>
      <p:sp>
        <p:nvSpPr>
          <p:cNvPr id="78" name="Rounded Rectangle 77"/>
          <p:cNvSpPr/>
          <p:nvPr/>
        </p:nvSpPr>
        <p:spPr>
          <a:xfrm>
            <a:off x="7565529" y="3429000"/>
            <a:ext cx="523875" cy="200025"/>
          </a:xfrm>
          <a:prstGeom prst="roundRect">
            <a:avLst>
              <a:gd name="adj" fmla="val 33333"/>
            </a:avLst>
          </a:prstGeom>
          <a:solidFill>
            <a:srgbClr val="EEE0C0"/>
          </a:solidFill>
          <a:ln w="9525">
            <a:solidFill>
              <a:srgbClr val="C9A34E"/>
            </a:solidFill>
          </a:ln>
        </p:spPr>
        <p:txBody>
          <a:bodyPr rtlCol="0" anchor="ctr"/>
          <a:lstStyle/>
          <a:p>
            <a:endParaRPr/>
          </a:p>
        </p:txBody>
      </p:sp>
      <p:sp>
        <p:nvSpPr>
          <p:cNvPr id="79" name="TextBox 78"/>
          <p:cNvSpPr txBox="1"/>
          <p:nvPr/>
        </p:nvSpPr>
        <p:spPr>
          <a:xfrm>
            <a:off x="7615249" y="3448050"/>
            <a:ext cx="424434" cy="161925"/>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1C2433"/>
                </a:solidFill>
                <a:latin typeface="JetBrains Mono Medium"/>
                <a:ea typeface="JetBrains Mono Medium"/>
                <a:cs typeface="JetBrains Mono Medium"/>
              </a:rPr>
              <a:t>cv 15</a:t>
            </a:r>
          </a:p>
        </p:txBody>
      </p:sp>
      <p:sp>
        <p:nvSpPr>
          <p:cNvPr id="80" name="Rectangle 79"/>
          <p:cNvSpPr/>
          <p:nvPr/>
        </p:nvSpPr>
        <p:spPr>
          <a:xfrm>
            <a:off x="8157716" y="3386138"/>
            <a:ext cx="1367284" cy="285750"/>
          </a:xfrm>
          <a:prstGeom prst="rect">
            <a:avLst/>
          </a:prstGeom>
          <a:noFill/>
          <a:ln>
            <a:noFill/>
          </a:ln>
        </p:spPr>
        <p:txBody>
          <a:bodyPr rtlCol="0" anchor="ctr"/>
          <a:lstStyle/>
          <a:p>
            <a:endParaRPr/>
          </a:p>
        </p:txBody>
      </p:sp>
      <p:cxnSp>
        <p:nvCxnSpPr>
          <p:cNvPr id="81" name="Connector 80"/>
          <p:cNvCxnSpPr/>
          <p:nvPr/>
        </p:nvCxnSpPr>
        <p:spPr>
          <a:xfrm>
            <a:off x="8157716" y="3667125"/>
            <a:ext cx="1367284" cy="0"/>
          </a:xfrm>
          <a:prstGeom prst="line">
            <a:avLst/>
          </a:prstGeom>
          <a:ln w="9525">
            <a:solidFill>
              <a:srgbClr val="3A4356"/>
            </a:solidFill>
          </a:ln>
        </p:spPr>
      </p:cxnSp>
      <p:sp>
        <p:nvSpPr>
          <p:cNvPr id="82" name="TextBox 81"/>
          <p:cNvSpPr txBox="1"/>
          <p:nvPr/>
        </p:nvSpPr>
        <p:spPr>
          <a:xfrm>
            <a:off x="8214866" y="3448050"/>
            <a:ext cx="1292602"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CFCCC6"/>
                </a:solidFill>
                <a:latin typeface="Inter"/>
                <a:ea typeface="Inter"/>
                <a:cs typeface="Inter"/>
              </a:rPr>
              <a:t>reparado (1.274 pal.)</a:t>
            </a:r>
          </a:p>
        </p:txBody>
      </p:sp>
      <p:sp>
        <p:nvSpPr>
          <p:cNvPr id="83" name="Rectangle 82"/>
          <p:cNvSpPr/>
          <p:nvPr/>
        </p:nvSpPr>
        <p:spPr>
          <a:xfrm>
            <a:off x="6515100" y="3671888"/>
            <a:ext cx="449759" cy="285750"/>
          </a:xfrm>
          <a:prstGeom prst="rect">
            <a:avLst/>
          </a:prstGeom>
          <a:noFill/>
          <a:ln>
            <a:noFill/>
          </a:ln>
        </p:spPr>
        <p:txBody>
          <a:bodyPr rtlCol="0" anchor="ctr"/>
          <a:lstStyle/>
          <a:p>
            <a:endParaRPr/>
          </a:p>
        </p:txBody>
      </p:sp>
      <p:cxnSp>
        <p:nvCxnSpPr>
          <p:cNvPr id="84" name="Connector 83"/>
          <p:cNvCxnSpPr/>
          <p:nvPr/>
        </p:nvCxnSpPr>
        <p:spPr>
          <a:xfrm>
            <a:off x="6515100" y="3952875"/>
            <a:ext cx="449759" cy="0"/>
          </a:xfrm>
          <a:prstGeom prst="line">
            <a:avLst/>
          </a:prstGeom>
          <a:ln w="9525">
            <a:solidFill>
              <a:srgbClr val="3A4356"/>
            </a:solidFill>
          </a:ln>
        </p:spPr>
      </p:cxnSp>
      <p:sp>
        <p:nvSpPr>
          <p:cNvPr id="85" name="TextBox 84"/>
          <p:cNvSpPr txBox="1"/>
          <p:nvPr/>
        </p:nvSpPr>
        <p:spPr>
          <a:xfrm>
            <a:off x="6679293" y="3724275"/>
            <a:ext cx="12137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4</a:t>
            </a:r>
          </a:p>
        </p:txBody>
      </p:sp>
      <p:sp>
        <p:nvSpPr>
          <p:cNvPr id="86" name="Rectangle 85"/>
          <p:cNvSpPr/>
          <p:nvPr/>
        </p:nvSpPr>
        <p:spPr>
          <a:xfrm>
            <a:off x="6964859" y="3671888"/>
            <a:ext cx="532358" cy="285750"/>
          </a:xfrm>
          <a:prstGeom prst="rect">
            <a:avLst/>
          </a:prstGeom>
          <a:noFill/>
          <a:ln>
            <a:noFill/>
          </a:ln>
        </p:spPr>
        <p:txBody>
          <a:bodyPr rtlCol="0" anchor="ctr"/>
          <a:lstStyle/>
          <a:p>
            <a:endParaRPr/>
          </a:p>
        </p:txBody>
      </p:sp>
      <p:cxnSp>
        <p:nvCxnSpPr>
          <p:cNvPr id="87" name="Connector 86"/>
          <p:cNvCxnSpPr/>
          <p:nvPr/>
        </p:nvCxnSpPr>
        <p:spPr>
          <a:xfrm>
            <a:off x="6964859" y="3952875"/>
            <a:ext cx="532358" cy="0"/>
          </a:xfrm>
          <a:prstGeom prst="line">
            <a:avLst/>
          </a:prstGeom>
          <a:ln w="9525">
            <a:solidFill>
              <a:srgbClr val="3A4356"/>
            </a:solidFill>
          </a:ln>
        </p:spPr>
      </p:cxnSp>
      <p:sp>
        <p:nvSpPr>
          <p:cNvPr id="88" name="TextBox 87"/>
          <p:cNvSpPr txBox="1"/>
          <p:nvPr/>
        </p:nvSpPr>
        <p:spPr>
          <a:xfrm>
            <a:off x="7003887" y="3724275"/>
            <a:ext cx="45415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cv 10</a:t>
            </a:r>
          </a:p>
        </p:txBody>
      </p:sp>
      <p:sp>
        <p:nvSpPr>
          <p:cNvPr id="89" name="Rectangle 88"/>
          <p:cNvSpPr/>
          <p:nvPr/>
        </p:nvSpPr>
        <p:spPr>
          <a:xfrm>
            <a:off x="7497217" y="3671888"/>
            <a:ext cx="660499" cy="285750"/>
          </a:xfrm>
          <a:prstGeom prst="rect">
            <a:avLst/>
          </a:prstGeom>
          <a:noFill/>
          <a:ln>
            <a:noFill/>
          </a:ln>
        </p:spPr>
        <p:txBody>
          <a:bodyPr rtlCol="0" anchor="ctr"/>
          <a:lstStyle/>
          <a:p>
            <a:endParaRPr/>
          </a:p>
        </p:txBody>
      </p:sp>
      <p:cxnSp>
        <p:nvCxnSpPr>
          <p:cNvPr id="90" name="Connector 89"/>
          <p:cNvCxnSpPr/>
          <p:nvPr/>
        </p:nvCxnSpPr>
        <p:spPr>
          <a:xfrm>
            <a:off x="7497217" y="3952875"/>
            <a:ext cx="660499" cy="0"/>
          </a:xfrm>
          <a:prstGeom prst="line">
            <a:avLst/>
          </a:prstGeom>
          <a:ln w="9525">
            <a:solidFill>
              <a:srgbClr val="3A4356"/>
            </a:solidFill>
          </a:ln>
        </p:spPr>
      </p:cxnSp>
      <p:sp>
        <p:nvSpPr>
          <p:cNvPr id="91" name="Rounded Rectangle 90"/>
          <p:cNvSpPr/>
          <p:nvPr/>
        </p:nvSpPr>
        <p:spPr>
          <a:xfrm>
            <a:off x="7565529" y="3714750"/>
            <a:ext cx="523875" cy="200025"/>
          </a:xfrm>
          <a:prstGeom prst="roundRect">
            <a:avLst>
              <a:gd name="adj" fmla="val 33333"/>
            </a:avLst>
          </a:prstGeom>
          <a:solidFill>
            <a:srgbClr val="EDD9CC"/>
          </a:solidFill>
          <a:ln w="9525">
            <a:solidFill>
              <a:srgbClr val="B23A2B"/>
            </a:solidFill>
          </a:ln>
        </p:spPr>
        <p:txBody>
          <a:bodyPr rtlCol="0" anchor="ctr"/>
          <a:lstStyle/>
          <a:p>
            <a:endParaRPr/>
          </a:p>
        </p:txBody>
      </p:sp>
      <p:sp>
        <p:nvSpPr>
          <p:cNvPr id="92" name="TextBox 91"/>
          <p:cNvSpPr txBox="1"/>
          <p:nvPr/>
        </p:nvSpPr>
        <p:spPr>
          <a:xfrm>
            <a:off x="7615249" y="3733800"/>
            <a:ext cx="424434" cy="161925"/>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B23A2B"/>
                </a:solidFill>
                <a:latin typeface="JetBrains Mono Medium"/>
                <a:ea typeface="JetBrains Mono Medium"/>
                <a:cs typeface="JetBrains Mono Medium"/>
              </a:rPr>
              <a:t>cv 16</a:t>
            </a:r>
          </a:p>
        </p:txBody>
      </p:sp>
      <p:sp>
        <p:nvSpPr>
          <p:cNvPr id="93" name="Rectangle 92"/>
          <p:cNvSpPr/>
          <p:nvPr/>
        </p:nvSpPr>
        <p:spPr>
          <a:xfrm>
            <a:off x="8157716" y="3671888"/>
            <a:ext cx="1367284" cy="285750"/>
          </a:xfrm>
          <a:prstGeom prst="rect">
            <a:avLst/>
          </a:prstGeom>
          <a:noFill/>
          <a:ln>
            <a:noFill/>
          </a:ln>
        </p:spPr>
        <p:txBody>
          <a:bodyPr rtlCol="0" anchor="ctr"/>
          <a:lstStyle/>
          <a:p>
            <a:endParaRPr/>
          </a:p>
        </p:txBody>
      </p:sp>
      <p:cxnSp>
        <p:nvCxnSpPr>
          <p:cNvPr id="94" name="Connector 93"/>
          <p:cNvCxnSpPr/>
          <p:nvPr/>
        </p:nvCxnSpPr>
        <p:spPr>
          <a:xfrm>
            <a:off x="8157716" y="3952875"/>
            <a:ext cx="1367284" cy="0"/>
          </a:xfrm>
          <a:prstGeom prst="line">
            <a:avLst/>
          </a:prstGeom>
          <a:ln w="9525">
            <a:solidFill>
              <a:srgbClr val="3A4356"/>
            </a:solidFill>
          </a:ln>
        </p:spPr>
      </p:cxnSp>
      <p:sp>
        <p:nvSpPr>
          <p:cNvPr id="95" name="TextBox 94"/>
          <p:cNvSpPr txBox="1"/>
          <p:nvPr/>
        </p:nvSpPr>
        <p:spPr>
          <a:xfrm>
            <a:off x="8214866" y="3733800"/>
            <a:ext cx="52550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CFCCC6"/>
                </a:solidFill>
                <a:latin typeface="Inter"/>
                <a:ea typeface="Inter"/>
                <a:cs typeface="Inter"/>
              </a:rPr>
              <a:t>previsto</a:t>
            </a:r>
          </a:p>
        </p:txBody>
      </p:sp>
      <p:sp>
        <p:nvSpPr>
          <p:cNvPr id="96" name="Rectangle 95"/>
          <p:cNvSpPr/>
          <p:nvPr/>
        </p:nvSpPr>
        <p:spPr>
          <a:xfrm>
            <a:off x="6515100" y="3957638"/>
            <a:ext cx="449759" cy="285750"/>
          </a:xfrm>
          <a:prstGeom prst="rect">
            <a:avLst/>
          </a:prstGeom>
          <a:noFill/>
          <a:ln>
            <a:noFill/>
          </a:ln>
        </p:spPr>
        <p:txBody>
          <a:bodyPr rtlCol="0" anchor="ctr"/>
          <a:lstStyle/>
          <a:p>
            <a:endParaRPr/>
          </a:p>
        </p:txBody>
      </p:sp>
      <p:cxnSp>
        <p:nvCxnSpPr>
          <p:cNvPr id="97" name="Connector 96"/>
          <p:cNvCxnSpPr/>
          <p:nvPr/>
        </p:nvCxnSpPr>
        <p:spPr>
          <a:xfrm>
            <a:off x="6515100" y="4238625"/>
            <a:ext cx="449759" cy="0"/>
          </a:xfrm>
          <a:prstGeom prst="line">
            <a:avLst/>
          </a:prstGeom>
          <a:ln w="9525">
            <a:solidFill>
              <a:srgbClr val="3A4356"/>
            </a:solidFill>
          </a:ln>
        </p:spPr>
      </p:cxnSp>
      <p:sp>
        <p:nvSpPr>
          <p:cNvPr id="98" name="TextBox 97"/>
          <p:cNvSpPr txBox="1"/>
          <p:nvPr/>
        </p:nvSpPr>
        <p:spPr>
          <a:xfrm>
            <a:off x="6679293" y="4010025"/>
            <a:ext cx="12137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5</a:t>
            </a:r>
          </a:p>
        </p:txBody>
      </p:sp>
      <p:sp>
        <p:nvSpPr>
          <p:cNvPr id="99" name="Rectangle 98"/>
          <p:cNvSpPr/>
          <p:nvPr/>
        </p:nvSpPr>
        <p:spPr>
          <a:xfrm>
            <a:off x="6964859" y="3957638"/>
            <a:ext cx="532358" cy="285750"/>
          </a:xfrm>
          <a:prstGeom prst="rect">
            <a:avLst/>
          </a:prstGeom>
          <a:noFill/>
          <a:ln>
            <a:noFill/>
          </a:ln>
        </p:spPr>
        <p:txBody>
          <a:bodyPr rtlCol="0" anchor="ctr"/>
          <a:lstStyle/>
          <a:p>
            <a:endParaRPr/>
          </a:p>
        </p:txBody>
      </p:sp>
      <p:cxnSp>
        <p:nvCxnSpPr>
          <p:cNvPr id="100" name="Connector 99"/>
          <p:cNvCxnSpPr/>
          <p:nvPr/>
        </p:nvCxnSpPr>
        <p:spPr>
          <a:xfrm>
            <a:off x="6964859" y="4238625"/>
            <a:ext cx="532358" cy="0"/>
          </a:xfrm>
          <a:prstGeom prst="line">
            <a:avLst/>
          </a:prstGeom>
          <a:ln w="9525">
            <a:solidFill>
              <a:srgbClr val="3A4356"/>
            </a:solidFill>
          </a:ln>
        </p:spPr>
      </p:cxnSp>
      <p:sp>
        <p:nvSpPr>
          <p:cNvPr id="101" name="TextBox 100"/>
          <p:cNvSpPr txBox="1"/>
          <p:nvPr/>
        </p:nvSpPr>
        <p:spPr>
          <a:xfrm>
            <a:off x="7003887" y="4010025"/>
            <a:ext cx="454152" cy="171450"/>
          </a:xfrm>
          <a:prstGeom prst="rect">
            <a:avLst/>
          </a:prstGeom>
          <a:noFill/>
        </p:spPr>
        <p:txBody>
          <a:bodyPr wrap="none" lIns="0" tIns="0" rIns="0" bIns="0" anchor="t">
            <a:noAutofit/>
          </a:bodyPr>
          <a:lstStyle/>
          <a:p>
            <a:pPr algn="ctr">
              <a:lnSpc>
                <a:spcPts val="1275"/>
              </a:lnSpc>
              <a:spcBef>
                <a:spcPts val="0"/>
              </a:spcBef>
              <a:spcAft>
                <a:spcPts val="0"/>
              </a:spcAft>
            </a:pPr>
            <a:r>
              <a:rPr sz="1050" b="0" i="0">
                <a:solidFill>
                  <a:srgbClr val="F5EFE3"/>
                </a:solidFill>
                <a:latin typeface="JetBrains Mono Medium"/>
                <a:ea typeface="JetBrains Mono Medium"/>
                <a:cs typeface="JetBrains Mono Medium"/>
              </a:rPr>
              <a:t>cv 11</a:t>
            </a:r>
          </a:p>
        </p:txBody>
      </p:sp>
      <p:sp>
        <p:nvSpPr>
          <p:cNvPr id="102" name="Rectangle 101"/>
          <p:cNvSpPr/>
          <p:nvPr/>
        </p:nvSpPr>
        <p:spPr>
          <a:xfrm>
            <a:off x="7497217" y="3957638"/>
            <a:ext cx="660499" cy="285750"/>
          </a:xfrm>
          <a:prstGeom prst="rect">
            <a:avLst/>
          </a:prstGeom>
          <a:noFill/>
          <a:ln>
            <a:noFill/>
          </a:ln>
        </p:spPr>
        <p:txBody>
          <a:bodyPr rtlCol="0" anchor="ctr"/>
          <a:lstStyle/>
          <a:p>
            <a:endParaRPr/>
          </a:p>
        </p:txBody>
      </p:sp>
      <p:cxnSp>
        <p:nvCxnSpPr>
          <p:cNvPr id="103" name="Connector 102"/>
          <p:cNvCxnSpPr/>
          <p:nvPr/>
        </p:nvCxnSpPr>
        <p:spPr>
          <a:xfrm>
            <a:off x="7497217" y="4238625"/>
            <a:ext cx="660499" cy="0"/>
          </a:xfrm>
          <a:prstGeom prst="line">
            <a:avLst/>
          </a:prstGeom>
          <a:ln w="9525">
            <a:solidFill>
              <a:srgbClr val="3A4356"/>
            </a:solidFill>
          </a:ln>
        </p:spPr>
      </p:cxnSp>
      <p:sp>
        <p:nvSpPr>
          <p:cNvPr id="104" name="Rounded Rectangle 103"/>
          <p:cNvSpPr/>
          <p:nvPr/>
        </p:nvSpPr>
        <p:spPr>
          <a:xfrm>
            <a:off x="7565529" y="4000500"/>
            <a:ext cx="523875" cy="200025"/>
          </a:xfrm>
          <a:prstGeom prst="roundRect">
            <a:avLst>
              <a:gd name="adj" fmla="val 33333"/>
            </a:avLst>
          </a:prstGeom>
          <a:solidFill>
            <a:srgbClr val="EDD9CC"/>
          </a:solidFill>
          <a:ln w="9525">
            <a:solidFill>
              <a:srgbClr val="B23A2B"/>
            </a:solidFill>
          </a:ln>
        </p:spPr>
        <p:txBody>
          <a:bodyPr rtlCol="0" anchor="ctr"/>
          <a:lstStyle/>
          <a:p>
            <a:endParaRPr/>
          </a:p>
        </p:txBody>
      </p:sp>
      <p:sp>
        <p:nvSpPr>
          <p:cNvPr id="105" name="TextBox 104"/>
          <p:cNvSpPr txBox="1"/>
          <p:nvPr/>
        </p:nvSpPr>
        <p:spPr>
          <a:xfrm>
            <a:off x="7615249" y="4019550"/>
            <a:ext cx="424434" cy="161925"/>
          </a:xfrm>
          <a:prstGeom prst="rect">
            <a:avLst/>
          </a:prstGeom>
          <a:noFill/>
        </p:spPr>
        <p:txBody>
          <a:bodyPr wrap="none" lIns="0" tIns="0" rIns="0" bIns="0" anchor="t">
            <a:noAutofit/>
          </a:bodyPr>
          <a:lstStyle/>
          <a:p>
            <a:pPr algn="ctr">
              <a:lnSpc>
                <a:spcPts val="1125"/>
              </a:lnSpc>
              <a:spcBef>
                <a:spcPts val="0"/>
              </a:spcBef>
              <a:spcAft>
                <a:spcPts val="0"/>
              </a:spcAft>
            </a:pPr>
            <a:r>
              <a:rPr sz="1000" b="0" i="0">
                <a:solidFill>
                  <a:srgbClr val="B23A2B"/>
                </a:solidFill>
                <a:latin typeface="JetBrains Mono Medium"/>
                <a:ea typeface="JetBrains Mono Medium"/>
                <a:cs typeface="JetBrains Mono Medium"/>
              </a:rPr>
              <a:t>cv 18</a:t>
            </a:r>
          </a:p>
        </p:txBody>
      </p:sp>
      <p:sp>
        <p:nvSpPr>
          <p:cNvPr id="106" name="Rectangle 105"/>
          <p:cNvSpPr/>
          <p:nvPr/>
        </p:nvSpPr>
        <p:spPr>
          <a:xfrm>
            <a:off x="8157716" y="3957638"/>
            <a:ext cx="1367284" cy="285750"/>
          </a:xfrm>
          <a:prstGeom prst="rect">
            <a:avLst/>
          </a:prstGeom>
          <a:noFill/>
          <a:ln>
            <a:noFill/>
          </a:ln>
        </p:spPr>
        <p:txBody>
          <a:bodyPr rtlCol="0" anchor="ctr"/>
          <a:lstStyle/>
          <a:p>
            <a:endParaRPr/>
          </a:p>
        </p:txBody>
      </p:sp>
      <p:cxnSp>
        <p:nvCxnSpPr>
          <p:cNvPr id="107" name="Connector 106"/>
          <p:cNvCxnSpPr/>
          <p:nvPr/>
        </p:nvCxnSpPr>
        <p:spPr>
          <a:xfrm>
            <a:off x="8157716" y="4238625"/>
            <a:ext cx="1367284" cy="0"/>
          </a:xfrm>
          <a:prstGeom prst="line">
            <a:avLst/>
          </a:prstGeom>
          <a:ln w="9525">
            <a:solidFill>
              <a:srgbClr val="3A4356"/>
            </a:solidFill>
          </a:ln>
        </p:spPr>
      </p:cxnSp>
      <p:sp>
        <p:nvSpPr>
          <p:cNvPr id="108" name="TextBox 107"/>
          <p:cNvSpPr txBox="1"/>
          <p:nvPr/>
        </p:nvSpPr>
        <p:spPr>
          <a:xfrm>
            <a:off x="8214866" y="4019550"/>
            <a:ext cx="525506"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CFCCC6"/>
                </a:solidFill>
                <a:latin typeface="Inter"/>
                <a:ea typeface="Inter"/>
                <a:cs typeface="Inter"/>
              </a:rPr>
              <a:t>previsto</a:t>
            </a:r>
          </a:p>
        </p:txBody>
      </p:sp>
      <p:sp>
        <p:nvSpPr>
          <p:cNvPr id="109" name="TextBox 108"/>
          <p:cNvSpPr txBox="1"/>
          <p:nvPr/>
        </p:nvSpPr>
        <p:spPr>
          <a:xfrm>
            <a:off x="9715500" y="2581275"/>
            <a:ext cx="1357610" cy="514350"/>
          </a:xfrm>
          <a:prstGeom prst="rect">
            <a:avLst/>
          </a:prstGeom>
          <a:noFill/>
        </p:spPr>
        <p:txBody>
          <a:bodyPr wrap="none" lIns="0" tIns="0" rIns="0" bIns="0" anchor="t">
            <a:noAutofit/>
          </a:bodyPr>
          <a:lstStyle/>
          <a:p>
            <a:pPr algn="l">
              <a:lnSpc>
                <a:spcPts val="3600"/>
              </a:lnSpc>
              <a:spcBef>
                <a:spcPts val="0"/>
              </a:spcBef>
              <a:spcAft>
                <a:spcPts val="0"/>
              </a:spcAft>
            </a:pPr>
            <a:r>
              <a:rPr sz="3300" b="0" i="0">
                <a:solidFill>
                  <a:srgbClr val="C9A34E"/>
                </a:solidFill>
                <a:latin typeface="Fraunces SemiBold"/>
                <a:ea typeface="Fraunces SemiBold"/>
                <a:cs typeface="Fraunces SemiBold"/>
              </a:rPr>
              <a:t>0,94 $</a:t>
            </a:r>
          </a:p>
        </p:txBody>
      </p:sp>
      <p:sp>
        <p:nvSpPr>
          <p:cNvPr id="110" name="TextBox 109"/>
          <p:cNvSpPr txBox="1"/>
          <p:nvPr/>
        </p:nvSpPr>
        <p:spPr>
          <a:xfrm>
            <a:off x="9715500" y="3067050"/>
            <a:ext cx="1887626" cy="504825"/>
          </a:xfrm>
          <a:prstGeom prst="rect">
            <a:avLst/>
          </a:prstGeom>
          <a:noFill/>
        </p:spPr>
        <p:txBody>
          <a:bodyPr wrap="square" lIns="0" tIns="0" rIns="0" bIns="0" anchor="t">
            <a:noAutofit/>
          </a:bodyPr>
          <a:lstStyle/>
          <a:p>
            <a:pPr algn="l">
              <a:lnSpc>
                <a:spcPts val="1350"/>
              </a:lnSpc>
              <a:spcBef>
                <a:spcPts val="0"/>
              </a:spcBef>
              <a:spcAft>
                <a:spcPts val="0"/>
              </a:spcAft>
            </a:pPr>
            <a:r>
              <a:rPr sz="1050" b="0" i="0">
                <a:solidFill>
                  <a:srgbClr val="CFCCC6"/>
                </a:solidFill>
                <a:latin typeface="Inter"/>
                <a:ea typeface="Inter"/>
                <a:cs typeface="Inter"/>
              </a:rPr>
              <a:t>la revisión · regeneration 0,05 + writing 0,80 + publication 0,10</a:t>
            </a:r>
          </a:p>
        </p:txBody>
      </p:sp>
      <p:sp>
        <p:nvSpPr>
          <p:cNvPr id="111" name="TextBox 110"/>
          <p:cNvSpPr txBox="1"/>
          <p:nvPr/>
        </p:nvSpPr>
        <p:spPr>
          <a:xfrm>
            <a:off x="9715500" y="3648075"/>
            <a:ext cx="1484840" cy="514350"/>
          </a:xfrm>
          <a:prstGeom prst="rect">
            <a:avLst/>
          </a:prstGeom>
          <a:noFill/>
        </p:spPr>
        <p:txBody>
          <a:bodyPr wrap="none" lIns="0" tIns="0" rIns="0" bIns="0" anchor="t">
            <a:noAutofit/>
          </a:bodyPr>
          <a:lstStyle/>
          <a:p>
            <a:pPr algn="l">
              <a:lnSpc>
                <a:spcPts val="3600"/>
              </a:lnSpc>
              <a:spcBef>
                <a:spcPts val="0"/>
              </a:spcBef>
              <a:spcAft>
                <a:spcPts val="0"/>
              </a:spcAft>
            </a:pPr>
            <a:r>
              <a:rPr sz="3300" b="0" i="0">
                <a:solidFill>
                  <a:srgbClr val="C9A34E"/>
                </a:solidFill>
                <a:latin typeface="Fraunces SemiBold"/>
                <a:ea typeface="Fraunces SemiBold"/>
                <a:cs typeface="Fraunces SemiBold"/>
              </a:rPr>
              <a:t>36 min</a:t>
            </a:r>
          </a:p>
        </p:txBody>
      </p:sp>
      <p:sp>
        <p:nvSpPr>
          <p:cNvPr id="112" name="TextBox 111"/>
          <p:cNvSpPr txBox="1"/>
          <p:nvPr/>
        </p:nvSpPr>
        <p:spPr>
          <a:xfrm>
            <a:off x="9715500" y="4133850"/>
            <a:ext cx="1827216" cy="161925"/>
          </a:xfrm>
          <a:prstGeom prst="rect">
            <a:avLst/>
          </a:prstGeom>
          <a:noFill/>
        </p:spPr>
        <p:txBody>
          <a:bodyPr wrap="none" lIns="0" tIns="0" rIns="0" bIns="0" anchor="t">
            <a:noAutofit/>
          </a:bodyPr>
          <a:lstStyle/>
          <a:p>
            <a:pPr algn="l">
              <a:lnSpc>
                <a:spcPts val="1350"/>
              </a:lnSpc>
              <a:spcBef>
                <a:spcPts val="0"/>
              </a:spcBef>
              <a:spcAft>
                <a:spcPts val="0"/>
              </a:spcAft>
            </a:pPr>
            <a:r>
              <a:rPr sz="1050" b="0" i="0">
                <a:solidFill>
                  <a:srgbClr val="CFCCC6"/>
                </a:solidFill>
                <a:latin typeface="Inter"/>
                <a:ea typeface="Inter"/>
                <a:cs typeface="Inter"/>
              </a:rPr>
              <a:t>de la petición a la versión 3</a:t>
            </a:r>
          </a:p>
        </p:txBody>
      </p:sp>
      <p:sp>
        <p:nvSpPr>
          <p:cNvPr id="113" name="TextBox 112"/>
          <p:cNvSpPr txBox="1"/>
          <p:nvPr/>
        </p:nvSpPr>
        <p:spPr>
          <a:xfrm>
            <a:off x="609600" y="5057775"/>
            <a:ext cx="5758815" cy="342900"/>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CFCCC6"/>
                </a:solidFill>
                <a:latin typeface="Inter"/>
                <a:ea typeface="Inter"/>
                <a:cs typeface="Inter"/>
              </a:rPr>
              <a:t>Se previeron 1, 2, 4 y 5; al final se reescribieron los 5: el primer intento del </a:t>
            </a:r>
            <a:r>
              <a:rPr sz="1050" b="0" i="0">
                <a:solidFill>
                  <a:srgbClr val="F5EFE3"/>
                </a:solidFill>
                <a:latin typeface="Inter SemiBold"/>
                <a:ea typeface="Inter SemiBold"/>
                <a:cs typeface="Inter SemiBold"/>
              </a:rPr>
              <a:t>capítulo 3</a:t>
            </a:r>
            <a:r>
              <a:rPr sz="1050" b="0" i="0">
                <a:solidFill>
                  <a:srgbClr val="CFCCC6"/>
                </a:solidFill>
                <a:latin typeface="Inter"/>
                <a:ea typeface="Inter"/>
                <a:cs typeface="Inter"/>
              </a:rPr>
              <a:t> se pasó de longitud (1.274 palabras, máximo 1.250) y hubo que repararlo.</a:t>
            </a:r>
          </a:p>
        </p:txBody>
      </p:sp>
      <p:sp>
        <p:nvSpPr>
          <p:cNvPr id="114" name="TextBox 113"/>
          <p:cNvSpPr txBox="1"/>
          <p:nvPr/>
        </p:nvSpPr>
        <p:spPr>
          <a:xfrm>
            <a:off x="6515100" y="5038725"/>
            <a:ext cx="5107229" cy="523875"/>
          </a:xfrm>
          <a:prstGeom prst="rect">
            <a:avLst/>
          </a:prstGeom>
          <a:noFill/>
        </p:spPr>
        <p:txBody>
          <a:bodyPr wrap="square" lIns="0" tIns="0" rIns="0" bIns="0" anchor="t">
            <a:noAutofit/>
          </a:bodyPr>
          <a:lstStyle/>
          <a:p>
            <a:pPr algn="l">
              <a:lnSpc>
                <a:spcPts val="1425"/>
              </a:lnSpc>
              <a:spcBef>
                <a:spcPts val="0"/>
              </a:spcBef>
              <a:spcAft>
                <a:spcPts val="0"/>
              </a:spcAft>
            </a:pPr>
            <a:r>
              <a:rPr sz="1050" b="0" i="0">
                <a:solidFill>
                  <a:srgbClr val="F5EFE3"/>
                </a:solidFill>
                <a:latin typeface="Inter SemiBold"/>
                <a:ea typeface="Inter SemiBold"/>
                <a:cs typeface="Inter SemiBold"/>
              </a:rPr>
              <a:t>Con diez capítulos</a:t>
            </a:r>
            <a:r>
              <a:rPr sz="1050" b="0" i="0">
                <a:solidFill>
                  <a:srgbClr val="CFCCC6"/>
                </a:solidFill>
                <a:latin typeface="Inter"/>
                <a:ea typeface="Inter"/>
                <a:cs typeface="Inter"/>
              </a:rPr>
              <a:t> (Cádiz, 1805): un cambio de nombre reescribió 3 capítulos de 10 y reutilizó 7, por 0,60 $. </a:t>
            </a:r>
            <a:r>
              <a:rPr sz="1050" b="0" i="0">
                <a:solidFill>
                  <a:srgbClr val="A5A5A3"/>
                </a:solidFill>
                <a:latin typeface="Inter"/>
                <a:ea typeface="Inter"/>
                <a:cs typeface="Inter"/>
              </a:rPr>
              <a:t>Es una rama de la novela de Cádiz, 1803–1806, que tiene texto ajeno en los capítulos 6 y 7 (RT-08).</a:t>
            </a:r>
          </a:p>
        </p:txBody>
      </p:sp>
      <p:sp>
        <p:nvSpPr>
          <p:cNvPr id="115" name="Rounded Rectangle 114"/>
          <p:cNvSpPr/>
          <p:nvPr/>
        </p:nvSpPr>
        <p:spPr>
          <a:xfrm>
            <a:off x="6515100" y="5629275"/>
            <a:ext cx="285750" cy="209550"/>
          </a:xfrm>
          <a:prstGeom prst="roundRect">
            <a:avLst>
              <a:gd name="adj" fmla="val 18181"/>
            </a:avLst>
          </a:prstGeom>
          <a:solidFill>
            <a:srgbClr val="3A4356"/>
          </a:solidFill>
          <a:ln>
            <a:noFill/>
          </a:ln>
        </p:spPr>
        <p:txBody>
          <a:bodyPr rtlCol="0" anchor="ctr"/>
          <a:lstStyle/>
          <a:p>
            <a:endParaRPr/>
          </a:p>
        </p:txBody>
      </p:sp>
      <p:sp>
        <p:nvSpPr>
          <p:cNvPr id="116" name="TextBox 115"/>
          <p:cNvSpPr txBox="1"/>
          <p:nvPr/>
        </p:nvSpPr>
        <p:spPr>
          <a:xfrm>
            <a:off x="660317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CFCCC6"/>
                </a:solidFill>
                <a:latin typeface="JetBrains Mono"/>
                <a:ea typeface="JetBrains Mono"/>
                <a:cs typeface="JetBrains Mono"/>
              </a:rPr>
              <a:t>1</a:t>
            </a:r>
          </a:p>
        </p:txBody>
      </p:sp>
      <p:sp>
        <p:nvSpPr>
          <p:cNvPr id="117" name="Rounded Rectangle 116"/>
          <p:cNvSpPr/>
          <p:nvPr/>
        </p:nvSpPr>
        <p:spPr>
          <a:xfrm>
            <a:off x="6838950" y="5629275"/>
            <a:ext cx="285750" cy="209550"/>
          </a:xfrm>
          <a:prstGeom prst="roundRect">
            <a:avLst>
              <a:gd name="adj" fmla="val 18181"/>
            </a:avLst>
          </a:prstGeom>
          <a:solidFill>
            <a:srgbClr val="3A4356"/>
          </a:solidFill>
          <a:ln>
            <a:noFill/>
          </a:ln>
        </p:spPr>
        <p:txBody>
          <a:bodyPr rtlCol="0" anchor="ctr"/>
          <a:lstStyle/>
          <a:p>
            <a:endParaRPr/>
          </a:p>
        </p:txBody>
      </p:sp>
      <p:sp>
        <p:nvSpPr>
          <p:cNvPr id="118" name="TextBox 117"/>
          <p:cNvSpPr txBox="1"/>
          <p:nvPr/>
        </p:nvSpPr>
        <p:spPr>
          <a:xfrm>
            <a:off x="692702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CFCCC6"/>
                </a:solidFill>
                <a:latin typeface="JetBrains Mono"/>
                <a:ea typeface="JetBrains Mono"/>
                <a:cs typeface="JetBrains Mono"/>
              </a:rPr>
              <a:t>2</a:t>
            </a:r>
          </a:p>
        </p:txBody>
      </p:sp>
      <p:sp>
        <p:nvSpPr>
          <p:cNvPr id="119" name="Rounded Rectangle 118"/>
          <p:cNvSpPr/>
          <p:nvPr/>
        </p:nvSpPr>
        <p:spPr>
          <a:xfrm>
            <a:off x="7162800" y="5629275"/>
            <a:ext cx="285750" cy="209550"/>
          </a:xfrm>
          <a:prstGeom prst="roundRect">
            <a:avLst>
              <a:gd name="adj" fmla="val 18181"/>
            </a:avLst>
          </a:prstGeom>
          <a:solidFill>
            <a:srgbClr val="3A4356"/>
          </a:solidFill>
          <a:ln>
            <a:noFill/>
          </a:ln>
        </p:spPr>
        <p:txBody>
          <a:bodyPr rtlCol="0" anchor="ctr"/>
          <a:lstStyle/>
          <a:p>
            <a:endParaRPr/>
          </a:p>
        </p:txBody>
      </p:sp>
      <p:sp>
        <p:nvSpPr>
          <p:cNvPr id="120" name="TextBox 119"/>
          <p:cNvSpPr txBox="1"/>
          <p:nvPr/>
        </p:nvSpPr>
        <p:spPr>
          <a:xfrm>
            <a:off x="725087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CFCCC6"/>
                </a:solidFill>
                <a:latin typeface="JetBrains Mono"/>
                <a:ea typeface="JetBrains Mono"/>
                <a:cs typeface="JetBrains Mono"/>
              </a:rPr>
              <a:t>3</a:t>
            </a:r>
          </a:p>
        </p:txBody>
      </p:sp>
      <p:sp>
        <p:nvSpPr>
          <p:cNvPr id="121" name="Rounded Rectangle 120"/>
          <p:cNvSpPr/>
          <p:nvPr/>
        </p:nvSpPr>
        <p:spPr>
          <a:xfrm>
            <a:off x="7486650" y="5629275"/>
            <a:ext cx="285750" cy="209550"/>
          </a:xfrm>
          <a:prstGeom prst="roundRect">
            <a:avLst>
              <a:gd name="adj" fmla="val 18181"/>
            </a:avLst>
          </a:prstGeom>
          <a:solidFill>
            <a:srgbClr val="3A4356"/>
          </a:solidFill>
          <a:ln>
            <a:noFill/>
          </a:ln>
        </p:spPr>
        <p:txBody>
          <a:bodyPr rtlCol="0" anchor="ctr"/>
          <a:lstStyle/>
          <a:p>
            <a:endParaRPr/>
          </a:p>
        </p:txBody>
      </p:sp>
      <p:sp>
        <p:nvSpPr>
          <p:cNvPr id="122" name="TextBox 121"/>
          <p:cNvSpPr txBox="1"/>
          <p:nvPr/>
        </p:nvSpPr>
        <p:spPr>
          <a:xfrm>
            <a:off x="757472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CFCCC6"/>
                </a:solidFill>
                <a:latin typeface="JetBrains Mono"/>
                <a:ea typeface="JetBrains Mono"/>
                <a:cs typeface="JetBrains Mono"/>
              </a:rPr>
              <a:t>4</a:t>
            </a:r>
          </a:p>
        </p:txBody>
      </p:sp>
      <p:sp>
        <p:nvSpPr>
          <p:cNvPr id="123" name="Rounded Rectangle 122"/>
          <p:cNvSpPr/>
          <p:nvPr/>
        </p:nvSpPr>
        <p:spPr>
          <a:xfrm>
            <a:off x="7810500" y="5629275"/>
            <a:ext cx="285750" cy="209550"/>
          </a:xfrm>
          <a:prstGeom prst="roundRect">
            <a:avLst>
              <a:gd name="adj" fmla="val 18181"/>
            </a:avLst>
          </a:prstGeom>
          <a:solidFill>
            <a:srgbClr val="B23A2B"/>
          </a:solidFill>
          <a:ln>
            <a:noFill/>
          </a:ln>
        </p:spPr>
        <p:txBody>
          <a:bodyPr rtlCol="0" anchor="ctr"/>
          <a:lstStyle/>
          <a:p>
            <a:endParaRPr/>
          </a:p>
        </p:txBody>
      </p:sp>
      <p:sp>
        <p:nvSpPr>
          <p:cNvPr id="124" name="TextBox 123"/>
          <p:cNvSpPr txBox="1"/>
          <p:nvPr/>
        </p:nvSpPr>
        <p:spPr>
          <a:xfrm>
            <a:off x="789857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F5EFE3"/>
                </a:solidFill>
                <a:latin typeface="JetBrains Mono"/>
                <a:ea typeface="JetBrains Mono"/>
                <a:cs typeface="JetBrains Mono"/>
              </a:rPr>
              <a:t>5</a:t>
            </a:r>
          </a:p>
        </p:txBody>
      </p:sp>
      <p:sp>
        <p:nvSpPr>
          <p:cNvPr id="125" name="Rounded Rectangle 124"/>
          <p:cNvSpPr/>
          <p:nvPr/>
        </p:nvSpPr>
        <p:spPr>
          <a:xfrm>
            <a:off x="8134350" y="5629275"/>
            <a:ext cx="285750" cy="209550"/>
          </a:xfrm>
          <a:prstGeom prst="roundRect">
            <a:avLst>
              <a:gd name="adj" fmla="val 18181"/>
            </a:avLst>
          </a:prstGeom>
          <a:solidFill>
            <a:srgbClr val="B23A2B"/>
          </a:solidFill>
          <a:ln>
            <a:noFill/>
          </a:ln>
        </p:spPr>
        <p:txBody>
          <a:bodyPr rtlCol="0" anchor="ctr"/>
          <a:lstStyle/>
          <a:p>
            <a:endParaRPr/>
          </a:p>
        </p:txBody>
      </p:sp>
      <p:sp>
        <p:nvSpPr>
          <p:cNvPr id="126" name="TextBox 125"/>
          <p:cNvSpPr txBox="1"/>
          <p:nvPr/>
        </p:nvSpPr>
        <p:spPr>
          <a:xfrm>
            <a:off x="822242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F5EFE3"/>
                </a:solidFill>
                <a:latin typeface="JetBrains Mono"/>
                <a:ea typeface="JetBrains Mono"/>
                <a:cs typeface="JetBrains Mono"/>
              </a:rPr>
              <a:t>6</a:t>
            </a:r>
          </a:p>
        </p:txBody>
      </p:sp>
      <p:sp>
        <p:nvSpPr>
          <p:cNvPr id="127" name="Rounded Rectangle 126"/>
          <p:cNvSpPr/>
          <p:nvPr/>
        </p:nvSpPr>
        <p:spPr>
          <a:xfrm>
            <a:off x="8458200" y="5629275"/>
            <a:ext cx="285750" cy="209550"/>
          </a:xfrm>
          <a:prstGeom prst="roundRect">
            <a:avLst>
              <a:gd name="adj" fmla="val 18181"/>
            </a:avLst>
          </a:prstGeom>
          <a:solidFill>
            <a:srgbClr val="5E8C6A"/>
          </a:solidFill>
          <a:ln>
            <a:noFill/>
          </a:ln>
        </p:spPr>
        <p:txBody>
          <a:bodyPr rtlCol="0" anchor="ctr"/>
          <a:lstStyle/>
          <a:p>
            <a:endParaRPr/>
          </a:p>
        </p:txBody>
      </p:sp>
      <p:sp>
        <p:nvSpPr>
          <p:cNvPr id="128" name="TextBox 127"/>
          <p:cNvSpPr txBox="1"/>
          <p:nvPr/>
        </p:nvSpPr>
        <p:spPr>
          <a:xfrm>
            <a:off x="854627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F5EFE3"/>
                </a:solidFill>
                <a:latin typeface="JetBrains Mono"/>
                <a:ea typeface="JetBrains Mono"/>
                <a:cs typeface="JetBrains Mono"/>
              </a:rPr>
              <a:t>7</a:t>
            </a:r>
          </a:p>
        </p:txBody>
      </p:sp>
      <p:sp>
        <p:nvSpPr>
          <p:cNvPr id="129" name="Rounded Rectangle 128"/>
          <p:cNvSpPr/>
          <p:nvPr/>
        </p:nvSpPr>
        <p:spPr>
          <a:xfrm>
            <a:off x="8782050" y="5629275"/>
            <a:ext cx="285750" cy="209550"/>
          </a:xfrm>
          <a:prstGeom prst="roundRect">
            <a:avLst>
              <a:gd name="adj" fmla="val 18181"/>
            </a:avLst>
          </a:prstGeom>
          <a:solidFill>
            <a:srgbClr val="5E8C6A"/>
          </a:solidFill>
          <a:ln>
            <a:noFill/>
          </a:ln>
        </p:spPr>
        <p:txBody>
          <a:bodyPr rtlCol="0" anchor="ctr"/>
          <a:lstStyle/>
          <a:p>
            <a:endParaRPr/>
          </a:p>
        </p:txBody>
      </p:sp>
      <p:sp>
        <p:nvSpPr>
          <p:cNvPr id="130" name="TextBox 129"/>
          <p:cNvSpPr txBox="1"/>
          <p:nvPr/>
        </p:nvSpPr>
        <p:spPr>
          <a:xfrm>
            <a:off x="887012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F5EFE3"/>
                </a:solidFill>
                <a:latin typeface="JetBrains Mono"/>
                <a:ea typeface="JetBrains Mono"/>
                <a:cs typeface="JetBrains Mono"/>
              </a:rPr>
              <a:t>8</a:t>
            </a:r>
          </a:p>
        </p:txBody>
      </p:sp>
      <p:sp>
        <p:nvSpPr>
          <p:cNvPr id="131" name="Rounded Rectangle 130"/>
          <p:cNvSpPr/>
          <p:nvPr/>
        </p:nvSpPr>
        <p:spPr>
          <a:xfrm>
            <a:off x="9105900" y="5629275"/>
            <a:ext cx="285750" cy="209550"/>
          </a:xfrm>
          <a:prstGeom prst="roundRect">
            <a:avLst>
              <a:gd name="adj" fmla="val 18181"/>
            </a:avLst>
          </a:prstGeom>
          <a:solidFill>
            <a:srgbClr val="5E8C6A"/>
          </a:solidFill>
          <a:ln>
            <a:noFill/>
          </a:ln>
        </p:spPr>
        <p:txBody>
          <a:bodyPr rtlCol="0" anchor="ctr"/>
          <a:lstStyle/>
          <a:p>
            <a:endParaRPr/>
          </a:p>
        </p:txBody>
      </p:sp>
      <p:sp>
        <p:nvSpPr>
          <p:cNvPr id="132" name="TextBox 131"/>
          <p:cNvSpPr txBox="1"/>
          <p:nvPr/>
        </p:nvSpPr>
        <p:spPr>
          <a:xfrm>
            <a:off x="9193974" y="5657850"/>
            <a:ext cx="109454"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F5EFE3"/>
                </a:solidFill>
                <a:latin typeface="JetBrains Mono"/>
                <a:ea typeface="JetBrains Mono"/>
                <a:cs typeface="JetBrains Mono"/>
              </a:rPr>
              <a:t>9</a:t>
            </a:r>
          </a:p>
        </p:txBody>
      </p:sp>
      <p:sp>
        <p:nvSpPr>
          <p:cNvPr id="133" name="Rounded Rectangle 132"/>
          <p:cNvSpPr/>
          <p:nvPr/>
        </p:nvSpPr>
        <p:spPr>
          <a:xfrm>
            <a:off x="9429750" y="5629275"/>
            <a:ext cx="285750" cy="209550"/>
          </a:xfrm>
          <a:prstGeom prst="roundRect">
            <a:avLst>
              <a:gd name="adj" fmla="val 18181"/>
            </a:avLst>
          </a:prstGeom>
          <a:solidFill>
            <a:srgbClr val="B23A2B"/>
          </a:solidFill>
          <a:ln>
            <a:noFill/>
          </a:ln>
        </p:spPr>
        <p:txBody>
          <a:bodyPr rtlCol="0" anchor="ctr"/>
          <a:lstStyle/>
          <a:p>
            <a:endParaRPr/>
          </a:p>
        </p:txBody>
      </p:sp>
      <p:sp>
        <p:nvSpPr>
          <p:cNvPr id="134" name="TextBox 133"/>
          <p:cNvSpPr txBox="1"/>
          <p:nvPr/>
        </p:nvSpPr>
        <p:spPr>
          <a:xfrm>
            <a:off x="9482221" y="5657850"/>
            <a:ext cx="180808" cy="152400"/>
          </a:xfrm>
          <a:prstGeom prst="rect">
            <a:avLst/>
          </a:prstGeom>
          <a:noFill/>
        </p:spPr>
        <p:txBody>
          <a:bodyPr wrap="none" lIns="0" tIns="0" rIns="0" bIns="0" anchor="t">
            <a:noAutofit/>
          </a:bodyPr>
          <a:lstStyle/>
          <a:p>
            <a:pPr algn="ctr">
              <a:lnSpc>
                <a:spcPts val="1050"/>
              </a:lnSpc>
              <a:spcBef>
                <a:spcPts val="0"/>
              </a:spcBef>
              <a:spcAft>
                <a:spcPts val="0"/>
              </a:spcAft>
            </a:pPr>
            <a:r>
              <a:rPr sz="900" b="1" i="0">
                <a:solidFill>
                  <a:srgbClr val="F5EFE3"/>
                </a:solidFill>
                <a:latin typeface="JetBrains Mono"/>
                <a:ea typeface="JetBrains Mono"/>
                <a:cs typeface="JetBrains Mono"/>
              </a:rPr>
              <a:t>10</a:t>
            </a:r>
          </a:p>
        </p:txBody>
      </p:sp>
      <p:sp>
        <p:nvSpPr>
          <p:cNvPr id="135" name="TextBox 134"/>
          <p:cNvSpPr txBox="1"/>
          <p:nvPr/>
        </p:nvSpPr>
        <p:spPr>
          <a:xfrm>
            <a:off x="6515100" y="5886450"/>
            <a:ext cx="2953250" cy="152400"/>
          </a:xfrm>
          <a:prstGeom prst="rect">
            <a:avLst/>
          </a:prstGeom>
          <a:noFill/>
        </p:spPr>
        <p:txBody>
          <a:bodyPr wrap="none" lIns="0" tIns="0" rIns="0" bIns="0" anchor="t">
            <a:noAutofit/>
          </a:bodyPr>
          <a:lstStyle/>
          <a:p>
            <a:pPr algn="l">
              <a:lnSpc>
                <a:spcPts val="1275"/>
              </a:lnSpc>
              <a:spcBef>
                <a:spcPts val="0"/>
              </a:spcBef>
              <a:spcAft>
                <a:spcPts val="0"/>
              </a:spcAft>
            </a:pPr>
            <a:r>
              <a:rPr sz="1000" b="0" i="0">
                <a:solidFill>
                  <a:srgbClr val="E08A7C"/>
                </a:solidFill>
                <a:latin typeface="Inter SemiBold"/>
                <a:ea typeface="Inter SemiBold"/>
                <a:cs typeface="Inter SemiBold"/>
              </a:rPr>
              <a:t>■ nuevo</a:t>
            </a:r>
            <a:r>
              <a:rPr sz="1000" b="0" i="0">
                <a:solidFill>
                  <a:srgbClr val="CFCCC6"/>
                </a:solidFill>
                <a:latin typeface="Inter"/>
                <a:ea typeface="Inter"/>
                <a:cs typeface="Inter"/>
              </a:rPr>
              <a:t> · </a:t>
            </a:r>
            <a:r>
              <a:rPr sz="1000" b="0" i="0">
                <a:solidFill>
                  <a:srgbClr val="8FC09C"/>
                </a:solidFill>
                <a:latin typeface="Inter SemiBold"/>
                <a:ea typeface="Inter SemiBold"/>
                <a:cs typeface="Inter SemiBold"/>
              </a:rPr>
              <a:t>■ revalidado a coste cero</a:t>
            </a:r>
            <a:r>
              <a:rPr sz="1000" b="0" i="0">
                <a:solidFill>
                  <a:srgbClr val="CFCCC6"/>
                </a:solidFill>
                <a:latin typeface="Inter"/>
                <a:ea typeface="Inter"/>
                <a:cs typeface="Inter"/>
              </a:rPr>
              <a:t> · ■ intacto</a:t>
            </a:r>
          </a:p>
        </p:txBody>
      </p:sp>
      <p:pic>
        <p:nvPicPr>
          <p:cNvPr id="136" name="Picture 135" descr="r003.png"/>
          <p:cNvPicPr>
            <a:picLocks noChangeAspect="1"/>
          </p:cNvPicPr>
          <p:nvPr/>
        </p:nvPicPr>
        <p:blipFill>
          <a:blip r:embed="rId5"/>
          <a:stretch>
            <a:fillRect/>
          </a:stretch>
        </p:blipFill>
        <p:spPr>
          <a:xfrm>
            <a:off x="381000" y="6343650"/>
            <a:ext cx="11430000" cy="76200"/>
          </a:xfrm>
          <a:prstGeom prst="rect">
            <a:avLst/>
          </a:prstGeom>
        </p:spPr>
      </p:pic>
      <p:pic>
        <p:nvPicPr>
          <p:cNvPr id="137" name="Picture 136" descr="r057.png"/>
          <p:cNvPicPr>
            <a:picLocks noChangeAspect="1"/>
          </p:cNvPicPr>
          <p:nvPr/>
        </p:nvPicPr>
        <p:blipFill>
          <a:blip r:embed="rId6"/>
          <a:stretch>
            <a:fillRect/>
          </a:stretch>
        </p:blipFill>
        <p:spPr>
          <a:xfrm>
            <a:off x="381000" y="6505575"/>
            <a:ext cx="171450" cy="190500"/>
          </a:xfrm>
          <a:prstGeom prst="rect">
            <a:avLst/>
          </a:prstGeom>
        </p:spPr>
      </p:pic>
      <p:sp>
        <p:nvSpPr>
          <p:cNvPr id="138" name="TextBox 137"/>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F5EFE3"/>
                </a:solidFill>
                <a:latin typeface="Fraunces SemiBold"/>
                <a:ea typeface="Fraunces SemiBold"/>
                <a:cs typeface="Fraunces SemiBold"/>
              </a:rPr>
              <a:t>Qapítulo</a:t>
            </a:r>
          </a:p>
        </p:txBody>
      </p:sp>
      <p:sp>
        <p:nvSpPr>
          <p:cNvPr id="139" name="TextBox 138"/>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A5A5A3"/>
                </a:solidFill>
                <a:latin typeface="Inter"/>
                <a:ea typeface="Inter"/>
                <a:cs typeface="Inter"/>
              </a:rPr>
              <a:t>· una iniciativa de Qaracter</a:t>
            </a:r>
          </a:p>
        </p:txBody>
      </p:sp>
      <p:sp>
        <p:nvSpPr>
          <p:cNvPr id="140" name="TextBox 139"/>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A5A5A3"/>
                </a:solidFill>
                <a:latin typeface="Inter"/>
                <a:ea typeface="Inter"/>
                <a:cs typeface="Inter"/>
              </a:rPr>
              <a:t>Novela Relicario · Propuesta técnico-comercial para Relicario</a:t>
            </a:r>
          </a:p>
        </p:txBody>
      </p:sp>
      <p:sp>
        <p:nvSpPr>
          <p:cNvPr id="141" name="TextBox 140"/>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F5EFE3"/>
                </a:solidFill>
                <a:latin typeface="JetBrains Mono Medium"/>
                <a:ea typeface="JetBrains Mono Medium"/>
                <a:cs typeface="JetBrains Mono Medium"/>
              </a:rPr>
              <a:t>20 / 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140000" y="323850"/>
            <a:ext cx="85240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VERSIÓN 2</a:t>
            </a:r>
          </a:p>
        </p:txBody>
      </p:sp>
      <p:sp>
        <p:nvSpPr>
          <p:cNvPr id="3" name="TextBox 2"/>
          <p:cNvSpPr txBox="1"/>
          <p:nvPr/>
        </p:nvSpPr>
        <p:spPr>
          <a:xfrm>
            <a:off x="609600" y="323850"/>
            <a:ext cx="111460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VIII</a:t>
            </a:r>
          </a:p>
        </p:txBody>
      </p:sp>
      <p:sp>
        <p:nvSpPr>
          <p:cNvPr id="4" name="Rectangle 3"/>
          <p:cNvSpPr/>
          <p:nvPr/>
        </p:nvSpPr>
        <p:spPr>
          <a:xfrm>
            <a:off x="1759000" y="395288"/>
            <a:ext cx="266700" cy="9525"/>
          </a:xfrm>
          <a:prstGeom prst="rect">
            <a:avLst/>
          </a:prstGeom>
          <a:noFill/>
          <a:ln>
            <a:noFill/>
          </a:ln>
        </p:spPr>
        <p:txBody>
          <a:bodyPr rtlCol="0" anchor="ctr"/>
          <a:lstStyle/>
          <a:p>
            <a:endParaRPr/>
          </a:p>
        </p:txBody>
      </p:sp>
      <p:cxnSp>
        <p:nvCxnSpPr>
          <p:cNvPr id="5" name="Connector 4"/>
          <p:cNvCxnSpPr/>
          <p:nvPr/>
        </p:nvCxnSpPr>
        <p:spPr>
          <a:xfrm>
            <a:off x="1759000" y="400050"/>
            <a:ext cx="266700" cy="0"/>
          </a:xfrm>
          <a:prstGeom prst="line">
            <a:avLst/>
          </a:prstGeom>
          <a:ln w="9525">
            <a:solidFill>
              <a:srgbClr val="C9A34E"/>
            </a:solidFill>
          </a:ln>
        </p:spPr>
      </p:cxnSp>
      <p:sp>
        <p:nvSpPr>
          <p:cNvPr id="6" name="TextBox 5"/>
          <p:cNvSpPr txBox="1"/>
          <p:nvPr/>
        </p:nvSpPr>
        <p:spPr>
          <a:xfrm>
            <a:off x="609600" y="561975"/>
            <a:ext cx="11048162" cy="752475"/>
          </a:xfrm>
          <a:prstGeom prst="rect">
            <a:avLst/>
          </a:prstGeom>
          <a:noFill/>
        </p:spPr>
        <p:txBody>
          <a:bodyPr wrap="square" lIns="0" tIns="0" rIns="0" bIns="0" anchor="t">
            <a:noAutofit/>
          </a:bodyPr>
          <a:lstStyle/>
          <a:p>
            <a:pPr algn="l">
              <a:lnSpc>
                <a:spcPts val="2925"/>
              </a:lnSpc>
              <a:spcBef>
                <a:spcPts val="0"/>
              </a:spcBef>
              <a:spcAft>
                <a:spcPts val="0"/>
              </a:spcAft>
            </a:pPr>
            <a:r>
              <a:rPr sz="2500" b="0" i="0" spc="-25">
                <a:solidFill>
                  <a:srgbClr val="1C2433"/>
                </a:solidFill>
                <a:latin typeface="Fraunces SemiBold"/>
                <a:ea typeface="Fraunces SemiBold"/>
                <a:cs typeface="Fraunces SemiBold"/>
              </a:rPr>
              <a:t>De la prueba de concepto a la versión 2: críticos internos en lugar de gates humanos</a:t>
            </a:r>
          </a:p>
        </p:txBody>
      </p:sp>
      <p:sp>
        <p:nvSpPr>
          <p:cNvPr id="7" name="TextBox 6"/>
          <p:cNvSpPr txBox="1"/>
          <p:nvPr/>
        </p:nvSpPr>
        <p:spPr>
          <a:xfrm>
            <a:off x="609600" y="1428750"/>
            <a:ext cx="1041547"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QUÉ CAMBIA</a:t>
            </a:r>
          </a:p>
        </p:txBody>
      </p:sp>
      <p:sp>
        <p:nvSpPr>
          <p:cNvPr id="8" name="Rounded Rectangle 7"/>
          <p:cNvSpPr/>
          <p:nvPr/>
        </p:nvSpPr>
        <p:spPr>
          <a:xfrm>
            <a:off x="609600" y="1666875"/>
            <a:ext cx="247650" cy="247650"/>
          </a:xfrm>
          <a:prstGeom prst="roundRect">
            <a:avLst>
              <a:gd name="adj" fmla="val 50000"/>
            </a:avLst>
          </a:prstGeom>
          <a:solidFill>
            <a:srgbClr val="C9A34E"/>
          </a:solidFill>
          <a:ln>
            <a:noFill/>
          </a:ln>
        </p:spPr>
        <p:txBody>
          <a:bodyPr rtlCol="0" anchor="ctr"/>
          <a:lstStyle/>
          <a:p>
            <a:endParaRPr/>
          </a:p>
        </p:txBody>
      </p:sp>
      <p:sp>
        <p:nvSpPr>
          <p:cNvPr id="9" name="TextBox 8"/>
          <p:cNvSpPr txBox="1"/>
          <p:nvPr/>
        </p:nvSpPr>
        <p:spPr>
          <a:xfrm>
            <a:off x="672739" y="170497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a</a:t>
            </a:r>
          </a:p>
        </p:txBody>
      </p:sp>
      <p:sp>
        <p:nvSpPr>
          <p:cNvPr id="10" name="TextBox 9"/>
          <p:cNvSpPr txBox="1"/>
          <p:nvPr/>
        </p:nvSpPr>
        <p:spPr>
          <a:xfrm>
            <a:off x="971550" y="1666875"/>
            <a:ext cx="4149014" cy="609600"/>
          </a:xfrm>
          <a:prstGeom prst="rect">
            <a:avLst/>
          </a:prstGeom>
          <a:noFill/>
        </p:spPr>
        <p:txBody>
          <a:bodyPr wrap="square" lIns="0" tIns="0" rIns="0" bIns="0" anchor="t">
            <a:noAutofit/>
          </a:bodyPr>
          <a:lstStyle/>
          <a:p>
            <a:pPr algn="l">
              <a:lnSpc>
                <a:spcPts val="1650"/>
              </a:lnSpc>
              <a:spcBef>
                <a:spcPts val="0"/>
              </a:spcBef>
              <a:spcAft>
                <a:spcPts val="0"/>
              </a:spcAft>
            </a:pPr>
            <a:r>
              <a:rPr sz="1200" b="0" i="0">
                <a:solidFill>
                  <a:srgbClr val="1C2433"/>
                </a:solidFill>
                <a:latin typeface="Inter SemiBold"/>
                <a:ea typeface="Inter SemiBold"/>
                <a:cs typeface="Inter SemiBold"/>
              </a:rPr>
              <a:t>Investigación histórica:</a:t>
            </a:r>
            <a:r>
              <a:rPr sz="1200" b="0" i="0">
                <a:solidFill>
                  <a:srgbClr val="1C2433"/>
                </a:solidFill>
                <a:latin typeface="Inter"/>
                <a:ea typeface="Inter"/>
                <a:cs typeface="Inter"/>
              </a:rPr>
              <a:t> modo exhaustivo por defecto y un crítico que coteja las fechas vitales de los personajes históricos contra el corpus (cierra RT-09)</a:t>
            </a:r>
          </a:p>
        </p:txBody>
      </p:sp>
      <p:sp>
        <p:nvSpPr>
          <p:cNvPr id="11" name="Rounded Rectangle 10"/>
          <p:cNvSpPr/>
          <p:nvPr/>
        </p:nvSpPr>
        <p:spPr>
          <a:xfrm>
            <a:off x="609600" y="2409825"/>
            <a:ext cx="247650" cy="247650"/>
          </a:xfrm>
          <a:prstGeom prst="roundRect">
            <a:avLst>
              <a:gd name="adj" fmla="val 50000"/>
            </a:avLst>
          </a:prstGeom>
          <a:solidFill>
            <a:srgbClr val="C9A34E"/>
          </a:solidFill>
          <a:ln>
            <a:noFill/>
          </a:ln>
        </p:spPr>
        <p:txBody>
          <a:bodyPr rtlCol="0" anchor="ctr"/>
          <a:lstStyle/>
          <a:p>
            <a:endParaRPr/>
          </a:p>
        </p:txBody>
      </p:sp>
      <p:sp>
        <p:nvSpPr>
          <p:cNvPr id="12" name="TextBox 11"/>
          <p:cNvSpPr txBox="1"/>
          <p:nvPr/>
        </p:nvSpPr>
        <p:spPr>
          <a:xfrm>
            <a:off x="672739" y="244792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b</a:t>
            </a:r>
          </a:p>
        </p:txBody>
      </p:sp>
      <p:sp>
        <p:nvSpPr>
          <p:cNvPr id="13" name="TextBox 12"/>
          <p:cNvSpPr txBox="1"/>
          <p:nvPr/>
        </p:nvSpPr>
        <p:spPr>
          <a:xfrm>
            <a:off x="971550" y="2409825"/>
            <a:ext cx="4149014" cy="400050"/>
          </a:xfrm>
          <a:prstGeom prst="rect">
            <a:avLst/>
          </a:prstGeom>
          <a:noFill/>
        </p:spPr>
        <p:txBody>
          <a:bodyPr wrap="square" lIns="0" tIns="0" rIns="0" bIns="0" anchor="t">
            <a:noAutofit/>
          </a:bodyPr>
          <a:lstStyle/>
          <a:p>
            <a:pPr algn="l">
              <a:lnSpc>
                <a:spcPts val="1650"/>
              </a:lnSpc>
              <a:spcBef>
                <a:spcPts val="0"/>
              </a:spcBef>
              <a:spcAft>
                <a:spcPts val="0"/>
              </a:spcAft>
            </a:pPr>
            <a:r>
              <a:rPr sz="1200" b="0" i="0">
                <a:solidFill>
                  <a:srgbClr val="1C2433"/>
                </a:solidFill>
                <a:latin typeface="Inter SemiBold"/>
                <a:ea typeface="Inter SemiBold"/>
                <a:cs typeface="Inter SemiBold"/>
              </a:rPr>
              <a:t>Canon y escaleta:</a:t>
            </a:r>
            <a:r>
              <a:rPr sz="1200" b="0" i="0">
                <a:solidFill>
                  <a:srgbClr val="1C2433"/>
                </a:solidFill>
                <a:latin typeface="Inter"/>
                <a:ea typeface="Inter"/>
                <a:cs typeface="Inter"/>
              </a:rPr>
              <a:t> un crítico en un modelo mayor antes de sellar, que mira coherencia de trama, arcos y fechas</a:t>
            </a:r>
          </a:p>
        </p:txBody>
      </p:sp>
      <p:sp>
        <p:nvSpPr>
          <p:cNvPr id="14" name="Rounded Rectangle 13"/>
          <p:cNvSpPr/>
          <p:nvPr/>
        </p:nvSpPr>
        <p:spPr>
          <a:xfrm>
            <a:off x="609600" y="2943225"/>
            <a:ext cx="247650" cy="247650"/>
          </a:xfrm>
          <a:prstGeom prst="roundRect">
            <a:avLst>
              <a:gd name="adj" fmla="val 50000"/>
            </a:avLst>
          </a:prstGeom>
          <a:solidFill>
            <a:srgbClr val="C9A34E"/>
          </a:solidFill>
          <a:ln>
            <a:noFill/>
          </a:ln>
        </p:spPr>
        <p:txBody>
          <a:bodyPr rtlCol="0" anchor="ctr"/>
          <a:lstStyle/>
          <a:p>
            <a:endParaRPr/>
          </a:p>
        </p:txBody>
      </p:sp>
      <p:sp>
        <p:nvSpPr>
          <p:cNvPr id="15" name="TextBox 14"/>
          <p:cNvSpPr txBox="1"/>
          <p:nvPr/>
        </p:nvSpPr>
        <p:spPr>
          <a:xfrm>
            <a:off x="672739" y="2981325"/>
            <a:ext cx="121372" cy="171450"/>
          </a:xfrm>
          <a:prstGeom prst="rect">
            <a:avLst/>
          </a:prstGeom>
          <a:noFill/>
        </p:spPr>
        <p:txBody>
          <a:bodyPr wrap="none" lIns="0" tIns="0" rIns="0" bIns="0" anchor="t">
            <a:noAutofit/>
          </a:bodyPr>
          <a:lstStyle/>
          <a:p>
            <a:pPr algn="ctr">
              <a:lnSpc>
                <a:spcPts val="1200"/>
              </a:lnSpc>
              <a:spcBef>
                <a:spcPts val="0"/>
              </a:spcBef>
              <a:spcAft>
                <a:spcPts val="0"/>
              </a:spcAft>
            </a:pPr>
            <a:r>
              <a:rPr sz="1050" b="1" i="0">
                <a:solidFill>
                  <a:srgbClr val="1C2433"/>
                </a:solidFill>
                <a:latin typeface="JetBrains Mono"/>
                <a:ea typeface="JetBrains Mono"/>
                <a:cs typeface="JetBrains Mono"/>
              </a:rPr>
              <a:t>c</a:t>
            </a:r>
          </a:p>
        </p:txBody>
      </p:sp>
      <p:sp>
        <p:nvSpPr>
          <p:cNvPr id="16" name="TextBox 15"/>
          <p:cNvSpPr txBox="1"/>
          <p:nvPr/>
        </p:nvSpPr>
        <p:spPr>
          <a:xfrm>
            <a:off x="971550" y="2943225"/>
            <a:ext cx="4149014" cy="400050"/>
          </a:xfrm>
          <a:prstGeom prst="rect">
            <a:avLst/>
          </a:prstGeom>
          <a:noFill/>
        </p:spPr>
        <p:txBody>
          <a:bodyPr wrap="square" lIns="0" tIns="0" rIns="0" bIns="0" anchor="t">
            <a:noAutofit/>
          </a:bodyPr>
          <a:lstStyle/>
          <a:p>
            <a:pPr algn="l">
              <a:lnSpc>
                <a:spcPts val="1650"/>
              </a:lnSpc>
              <a:spcBef>
                <a:spcPts val="0"/>
              </a:spcBef>
              <a:spcAft>
                <a:spcPts val="0"/>
              </a:spcAft>
            </a:pPr>
            <a:r>
              <a:rPr sz="1200" b="0" i="0">
                <a:solidFill>
                  <a:srgbClr val="1C2433"/>
                </a:solidFill>
                <a:latin typeface="Inter SemiBold"/>
                <a:ea typeface="Inter SemiBold"/>
                <a:cs typeface="Inter SemiBold"/>
              </a:rPr>
              <a:t>Redacción:</a:t>
            </a:r>
            <a:r>
              <a:rPr sz="1200" b="0" i="0">
                <a:solidFill>
                  <a:srgbClr val="1C2433"/>
                </a:solidFill>
                <a:latin typeface="Inter"/>
                <a:ea typeface="Inter"/>
                <a:cs typeface="Inter"/>
              </a:rPr>
              <a:t> un crítico por capítulo, además de los validadores deterministas, y escritor y editor en Sonnet 5</a:t>
            </a:r>
          </a:p>
        </p:txBody>
      </p:sp>
      <p:sp>
        <p:nvSpPr>
          <p:cNvPr id="17" name="Rounded Rectangle 16"/>
          <p:cNvSpPr/>
          <p:nvPr/>
        </p:nvSpPr>
        <p:spPr>
          <a:xfrm>
            <a:off x="609600" y="3467100"/>
            <a:ext cx="4476750" cy="819150"/>
          </a:xfrm>
          <a:prstGeom prst="roundRect">
            <a:avLst>
              <a:gd name="adj" fmla="val 9302"/>
            </a:avLst>
          </a:prstGeom>
          <a:solidFill>
            <a:srgbClr val="1C2433"/>
          </a:solidFill>
          <a:ln>
            <a:noFill/>
          </a:ln>
        </p:spPr>
        <p:txBody>
          <a:bodyPr rtlCol="0" anchor="ctr"/>
          <a:lstStyle/>
          <a:p>
            <a:endParaRPr/>
          </a:p>
        </p:txBody>
      </p:sp>
      <p:sp>
        <p:nvSpPr>
          <p:cNvPr id="18" name="TextBox 17"/>
          <p:cNvSpPr txBox="1"/>
          <p:nvPr/>
        </p:nvSpPr>
        <p:spPr>
          <a:xfrm>
            <a:off x="742950" y="3571875"/>
            <a:ext cx="4244835" cy="609600"/>
          </a:xfrm>
          <a:prstGeom prst="rect">
            <a:avLst/>
          </a:prstGeom>
          <a:noFill/>
        </p:spPr>
        <p:txBody>
          <a:bodyPr wrap="square" lIns="0" tIns="0" rIns="0" bIns="0" anchor="t">
            <a:noAutofit/>
          </a:bodyPr>
          <a:lstStyle/>
          <a:p>
            <a:pPr algn="l">
              <a:lnSpc>
                <a:spcPts val="1650"/>
              </a:lnSpc>
              <a:spcBef>
                <a:spcPts val="0"/>
              </a:spcBef>
              <a:spcAft>
                <a:spcPts val="0"/>
              </a:spcAft>
            </a:pPr>
            <a:r>
              <a:rPr sz="1200" b="0" i="0">
                <a:solidFill>
                  <a:srgbClr val="F5EFE3"/>
                </a:solidFill>
                <a:latin typeface="Inter"/>
                <a:ea typeface="Inter"/>
                <a:cs typeface="Inter"/>
              </a:rPr>
              <a:t>Los cinco gates humanos pasan a ser nodos críticos; la persona solo revisa por muestreo (≈5 min por novela en vez de 20)</a:t>
            </a:r>
          </a:p>
        </p:txBody>
      </p:sp>
      <p:sp>
        <p:nvSpPr>
          <p:cNvPr id="19" name="TextBox 18"/>
          <p:cNvSpPr txBox="1"/>
          <p:nvPr/>
        </p:nvSpPr>
        <p:spPr>
          <a:xfrm>
            <a:off x="5391150" y="1428750"/>
            <a:ext cx="4092750"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COSTE UNITARIO POR NOVELA · 300 NOVELAS/MES</a:t>
            </a:r>
          </a:p>
        </p:txBody>
      </p:sp>
      <p:sp>
        <p:nvSpPr>
          <p:cNvPr id="20" name="Rectangle 19"/>
          <p:cNvSpPr/>
          <p:nvPr/>
        </p:nvSpPr>
        <p:spPr>
          <a:xfrm>
            <a:off x="5391150" y="1657350"/>
            <a:ext cx="1962150" cy="809625"/>
          </a:xfrm>
          <a:prstGeom prst="rect">
            <a:avLst/>
          </a:prstGeom>
          <a:solidFill>
            <a:srgbClr val="1C2433"/>
          </a:solidFill>
          <a:ln>
            <a:noFill/>
          </a:ln>
        </p:spPr>
        <p:txBody>
          <a:bodyPr rtlCol="0" anchor="ctr"/>
          <a:lstStyle/>
          <a:p>
            <a:endParaRPr/>
          </a:p>
        </p:txBody>
      </p:sp>
      <p:sp>
        <p:nvSpPr>
          <p:cNvPr id="21" name="Rectangle 20"/>
          <p:cNvSpPr/>
          <p:nvPr/>
        </p:nvSpPr>
        <p:spPr>
          <a:xfrm>
            <a:off x="7353300" y="1657350"/>
            <a:ext cx="1409700" cy="809625"/>
          </a:xfrm>
          <a:prstGeom prst="rect">
            <a:avLst/>
          </a:prstGeom>
          <a:solidFill>
            <a:srgbClr val="1C2433"/>
          </a:solidFill>
          <a:ln>
            <a:noFill/>
          </a:ln>
        </p:spPr>
        <p:txBody>
          <a:bodyPr rtlCol="0" anchor="ctr"/>
          <a:lstStyle/>
          <a:p>
            <a:endParaRPr/>
          </a:p>
        </p:txBody>
      </p:sp>
      <p:sp>
        <p:nvSpPr>
          <p:cNvPr id="22" name="TextBox 21"/>
          <p:cNvSpPr txBox="1"/>
          <p:nvPr/>
        </p:nvSpPr>
        <p:spPr>
          <a:xfrm>
            <a:off x="8147352" y="1876425"/>
            <a:ext cx="520398" cy="180975"/>
          </a:xfrm>
          <a:prstGeom prst="rect">
            <a:avLst/>
          </a:prstGeom>
          <a:noFill/>
        </p:spPr>
        <p:txBody>
          <a:bodyPr wrap="none" lIns="0" tIns="0" rIns="0" bIns="0" anchor="t">
            <a:noAutofit/>
          </a:bodyPr>
          <a:lstStyle/>
          <a:p>
            <a:pPr algn="r">
              <a:lnSpc>
                <a:spcPts val="1350"/>
              </a:lnSpc>
              <a:spcBef>
                <a:spcPts val="0"/>
              </a:spcBef>
              <a:spcAft>
                <a:spcPts val="0"/>
              </a:spcAft>
            </a:pPr>
            <a:r>
              <a:rPr sz="1100" b="0" i="0">
                <a:solidFill>
                  <a:srgbClr val="F5EFE3"/>
                </a:solidFill>
                <a:latin typeface="Inter SemiBold"/>
                <a:ea typeface="Inter SemiBold"/>
                <a:cs typeface="Inter SemiBold"/>
              </a:rPr>
              <a:t>PoC v1</a:t>
            </a:r>
          </a:p>
        </p:txBody>
      </p:sp>
      <p:sp>
        <p:nvSpPr>
          <p:cNvPr id="23" name="TextBox 22"/>
          <p:cNvSpPr txBox="1"/>
          <p:nvPr/>
        </p:nvSpPr>
        <p:spPr>
          <a:xfrm>
            <a:off x="7431710" y="2076450"/>
            <a:ext cx="1236040" cy="323850"/>
          </a:xfrm>
          <a:prstGeom prst="rect">
            <a:avLst/>
          </a:prstGeom>
          <a:noFill/>
        </p:spPr>
        <p:txBody>
          <a:bodyPr wrap="square" lIns="0" tIns="0" rIns="0" bIns="0" anchor="t">
            <a:noAutofit/>
          </a:bodyPr>
          <a:lstStyle/>
          <a:p>
            <a:pPr algn="r">
              <a:lnSpc>
                <a:spcPts val="1275"/>
              </a:lnSpc>
              <a:spcBef>
                <a:spcPts val="0"/>
              </a:spcBef>
              <a:spcAft>
                <a:spcPts val="0"/>
              </a:spcAft>
            </a:pPr>
            <a:r>
              <a:rPr sz="1050" b="0" i="0">
                <a:solidFill>
                  <a:srgbClr val="CFCCC6"/>
                </a:solidFill>
                <a:latin typeface="Inter"/>
                <a:ea typeface="Inter"/>
                <a:cs typeface="Inter"/>
              </a:rPr>
              <a:t>Haiku 4.5 en todos los roles</a:t>
            </a:r>
          </a:p>
        </p:txBody>
      </p:sp>
      <p:sp>
        <p:nvSpPr>
          <p:cNvPr id="24" name="Rectangle 23"/>
          <p:cNvSpPr/>
          <p:nvPr/>
        </p:nvSpPr>
        <p:spPr>
          <a:xfrm>
            <a:off x="8763000" y="1657350"/>
            <a:ext cx="1409700" cy="809625"/>
          </a:xfrm>
          <a:prstGeom prst="rect">
            <a:avLst/>
          </a:prstGeom>
          <a:solidFill>
            <a:srgbClr val="1C2433"/>
          </a:solidFill>
          <a:ln>
            <a:noFill/>
          </a:ln>
        </p:spPr>
        <p:txBody>
          <a:bodyPr rtlCol="0" anchor="ctr"/>
          <a:lstStyle/>
          <a:p>
            <a:endParaRPr/>
          </a:p>
        </p:txBody>
      </p:sp>
      <p:sp>
        <p:nvSpPr>
          <p:cNvPr id="25" name="TextBox 24"/>
          <p:cNvSpPr txBox="1"/>
          <p:nvPr/>
        </p:nvSpPr>
        <p:spPr>
          <a:xfrm>
            <a:off x="9714000" y="1876425"/>
            <a:ext cx="363450" cy="180975"/>
          </a:xfrm>
          <a:prstGeom prst="rect">
            <a:avLst/>
          </a:prstGeom>
          <a:noFill/>
        </p:spPr>
        <p:txBody>
          <a:bodyPr wrap="none" lIns="0" tIns="0" rIns="0" bIns="0" anchor="t">
            <a:noAutofit/>
          </a:bodyPr>
          <a:lstStyle/>
          <a:p>
            <a:pPr algn="r">
              <a:lnSpc>
                <a:spcPts val="1350"/>
              </a:lnSpc>
              <a:spcBef>
                <a:spcPts val="0"/>
              </a:spcBef>
              <a:spcAft>
                <a:spcPts val="0"/>
              </a:spcAft>
            </a:pPr>
            <a:r>
              <a:rPr sz="1100" b="0" i="0">
                <a:solidFill>
                  <a:srgbClr val="F5EFE3"/>
                </a:solidFill>
                <a:latin typeface="Inter SemiBold"/>
                <a:ea typeface="Inter SemiBold"/>
                <a:cs typeface="Inter SemiBold"/>
              </a:rPr>
              <a:t>v2 A</a:t>
            </a:r>
          </a:p>
        </p:txBody>
      </p:sp>
      <p:sp>
        <p:nvSpPr>
          <p:cNvPr id="26" name="TextBox 25"/>
          <p:cNvSpPr txBox="1"/>
          <p:nvPr/>
        </p:nvSpPr>
        <p:spPr>
          <a:xfrm>
            <a:off x="8841410" y="2076450"/>
            <a:ext cx="1236040" cy="323850"/>
          </a:xfrm>
          <a:prstGeom prst="rect">
            <a:avLst/>
          </a:prstGeom>
          <a:noFill/>
        </p:spPr>
        <p:txBody>
          <a:bodyPr wrap="square" lIns="0" tIns="0" rIns="0" bIns="0" anchor="t">
            <a:noAutofit/>
          </a:bodyPr>
          <a:lstStyle/>
          <a:p>
            <a:pPr algn="r">
              <a:lnSpc>
                <a:spcPts val="1275"/>
              </a:lnSpc>
              <a:spcBef>
                <a:spcPts val="0"/>
              </a:spcBef>
              <a:spcAft>
                <a:spcPts val="0"/>
              </a:spcAft>
            </a:pPr>
            <a:r>
              <a:rPr sz="1050" b="0" i="0">
                <a:solidFill>
                  <a:srgbClr val="CFCCC6"/>
                </a:solidFill>
                <a:latin typeface="Inter"/>
                <a:ea typeface="Inter"/>
                <a:cs typeface="Inter"/>
              </a:rPr>
              <a:t>Sonnet 5 en roles clave</a:t>
            </a:r>
          </a:p>
        </p:txBody>
      </p:sp>
      <p:sp>
        <p:nvSpPr>
          <p:cNvPr id="27" name="Rectangle 26"/>
          <p:cNvSpPr/>
          <p:nvPr/>
        </p:nvSpPr>
        <p:spPr>
          <a:xfrm>
            <a:off x="10172700" y="1657350"/>
            <a:ext cx="1409700" cy="809625"/>
          </a:xfrm>
          <a:prstGeom prst="rect">
            <a:avLst/>
          </a:prstGeom>
          <a:solidFill>
            <a:srgbClr val="1C2433"/>
          </a:solidFill>
          <a:ln>
            <a:noFill/>
          </a:ln>
        </p:spPr>
        <p:txBody>
          <a:bodyPr rtlCol="0" anchor="ctr"/>
          <a:lstStyle/>
          <a:p>
            <a:endParaRPr/>
          </a:p>
        </p:txBody>
      </p:sp>
      <p:sp>
        <p:nvSpPr>
          <p:cNvPr id="28" name="TextBox 27"/>
          <p:cNvSpPr txBox="1"/>
          <p:nvPr/>
        </p:nvSpPr>
        <p:spPr>
          <a:xfrm>
            <a:off x="11133761" y="1714500"/>
            <a:ext cx="353389" cy="180975"/>
          </a:xfrm>
          <a:prstGeom prst="rect">
            <a:avLst/>
          </a:prstGeom>
          <a:noFill/>
        </p:spPr>
        <p:txBody>
          <a:bodyPr wrap="none" lIns="0" tIns="0" rIns="0" bIns="0" anchor="t">
            <a:noAutofit/>
          </a:bodyPr>
          <a:lstStyle/>
          <a:p>
            <a:pPr algn="r">
              <a:lnSpc>
                <a:spcPts val="1350"/>
              </a:lnSpc>
              <a:spcBef>
                <a:spcPts val="0"/>
              </a:spcBef>
              <a:spcAft>
                <a:spcPts val="0"/>
              </a:spcAft>
            </a:pPr>
            <a:r>
              <a:rPr sz="1100" b="0" i="0">
                <a:solidFill>
                  <a:srgbClr val="F5EFE3"/>
                </a:solidFill>
                <a:latin typeface="Inter SemiBold"/>
                <a:ea typeface="Inter SemiBold"/>
                <a:cs typeface="Inter SemiBold"/>
              </a:rPr>
              <a:t>v2 B</a:t>
            </a:r>
          </a:p>
        </p:txBody>
      </p:sp>
      <p:sp>
        <p:nvSpPr>
          <p:cNvPr id="29" name="TextBox 28"/>
          <p:cNvSpPr txBox="1"/>
          <p:nvPr/>
        </p:nvSpPr>
        <p:spPr>
          <a:xfrm>
            <a:off x="10251110" y="1914525"/>
            <a:ext cx="1236040" cy="485775"/>
          </a:xfrm>
          <a:prstGeom prst="rect">
            <a:avLst/>
          </a:prstGeom>
          <a:noFill/>
        </p:spPr>
        <p:txBody>
          <a:bodyPr wrap="square" lIns="0" tIns="0" rIns="0" bIns="0" anchor="t">
            <a:noAutofit/>
          </a:bodyPr>
          <a:lstStyle/>
          <a:p>
            <a:pPr algn="r">
              <a:lnSpc>
                <a:spcPts val="1275"/>
              </a:lnSpc>
              <a:spcBef>
                <a:spcPts val="0"/>
              </a:spcBef>
              <a:spcAft>
                <a:spcPts val="0"/>
              </a:spcAft>
            </a:pPr>
            <a:r>
              <a:rPr sz="1050" b="0" i="0">
                <a:solidFill>
                  <a:srgbClr val="CFCCC6"/>
                </a:solidFill>
                <a:latin typeface="Inter"/>
                <a:ea typeface="Inter"/>
                <a:cs typeface="Inter"/>
              </a:rPr>
              <a:t>Opus 5 en arquitecto, críticos y juez</a:t>
            </a:r>
          </a:p>
        </p:txBody>
      </p:sp>
      <p:sp>
        <p:nvSpPr>
          <p:cNvPr id="30" name="Rectangle 29"/>
          <p:cNvSpPr/>
          <p:nvPr/>
        </p:nvSpPr>
        <p:spPr>
          <a:xfrm>
            <a:off x="5391150" y="2466975"/>
            <a:ext cx="1962150" cy="309562"/>
          </a:xfrm>
          <a:prstGeom prst="rect">
            <a:avLst/>
          </a:prstGeom>
          <a:noFill/>
          <a:ln>
            <a:noFill/>
          </a:ln>
        </p:spPr>
        <p:txBody>
          <a:bodyPr rtlCol="0" anchor="ctr"/>
          <a:lstStyle/>
          <a:p>
            <a:endParaRPr/>
          </a:p>
        </p:txBody>
      </p:sp>
      <p:cxnSp>
        <p:nvCxnSpPr>
          <p:cNvPr id="31" name="Connector 30"/>
          <p:cNvCxnSpPr/>
          <p:nvPr/>
        </p:nvCxnSpPr>
        <p:spPr>
          <a:xfrm>
            <a:off x="5391150" y="2771775"/>
            <a:ext cx="1962150" cy="0"/>
          </a:xfrm>
          <a:prstGeom prst="line">
            <a:avLst/>
          </a:prstGeom>
          <a:ln w="9525">
            <a:solidFill>
              <a:srgbClr val="D9D2C3"/>
            </a:solidFill>
          </a:ln>
        </p:spPr>
      </p:cxnSp>
      <p:sp>
        <p:nvSpPr>
          <p:cNvPr id="32" name="TextBox 31"/>
          <p:cNvSpPr txBox="1"/>
          <p:nvPr/>
        </p:nvSpPr>
        <p:spPr>
          <a:xfrm>
            <a:off x="5486400" y="2524125"/>
            <a:ext cx="576274"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a:ea typeface="Inter"/>
                <a:cs typeface="Inter"/>
              </a:rPr>
              <a:t>Tokens</a:t>
            </a:r>
          </a:p>
        </p:txBody>
      </p:sp>
      <p:sp>
        <p:nvSpPr>
          <p:cNvPr id="33" name="Rectangle 32"/>
          <p:cNvSpPr/>
          <p:nvPr/>
        </p:nvSpPr>
        <p:spPr>
          <a:xfrm>
            <a:off x="7353300" y="2466975"/>
            <a:ext cx="1409700" cy="309562"/>
          </a:xfrm>
          <a:prstGeom prst="rect">
            <a:avLst/>
          </a:prstGeom>
          <a:noFill/>
          <a:ln>
            <a:noFill/>
          </a:ln>
        </p:spPr>
        <p:txBody>
          <a:bodyPr rtlCol="0" anchor="ctr"/>
          <a:lstStyle/>
          <a:p>
            <a:endParaRPr/>
          </a:p>
        </p:txBody>
      </p:sp>
      <p:cxnSp>
        <p:nvCxnSpPr>
          <p:cNvPr id="34" name="Connector 33"/>
          <p:cNvCxnSpPr/>
          <p:nvPr/>
        </p:nvCxnSpPr>
        <p:spPr>
          <a:xfrm>
            <a:off x="7353300" y="2771775"/>
            <a:ext cx="1409700" cy="0"/>
          </a:xfrm>
          <a:prstGeom prst="line">
            <a:avLst/>
          </a:prstGeom>
          <a:ln w="9525">
            <a:solidFill>
              <a:srgbClr val="D9D2C3"/>
            </a:solidFill>
          </a:ln>
        </p:spPr>
      </p:cxnSp>
      <p:sp>
        <p:nvSpPr>
          <p:cNvPr id="35" name="TextBox 34"/>
          <p:cNvSpPr txBox="1"/>
          <p:nvPr/>
        </p:nvSpPr>
        <p:spPr>
          <a:xfrm>
            <a:off x="8058972" y="2514600"/>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2,77 €</a:t>
            </a:r>
          </a:p>
        </p:txBody>
      </p:sp>
      <p:sp>
        <p:nvSpPr>
          <p:cNvPr id="36" name="Rectangle 35"/>
          <p:cNvSpPr/>
          <p:nvPr/>
        </p:nvSpPr>
        <p:spPr>
          <a:xfrm>
            <a:off x="8763000" y="2466975"/>
            <a:ext cx="1409700" cy="309562"/>
          </a:xfrm>
          <a:prstGeom prst="rect">
            <a:avLst/>
          </a:prstGeom>
          <a:noFill/>
          <a:ln>
            <a:noFill/>
          </a:ln>
        </p:spPr>
        <p:txBody>
          <a:bodyPr rtlCol="0" anchor="ctr"/>
          <a:lstStyle/>
          <a:p>
            <a:endParaRPr/>
          </a:p>
        </p:txBody>
      </p:sp>
      <p:cxnSp>
        <p:nvCxnSpPr>
          <p:cNvPr id="37" name="Connector 36"/>
          <p:cNvCxnSpPr/>
          <p:nvPr/>
        </p:nvCxnSpPr>
        <p:spPr>
          <a:xfrm>
            <a:off x="8763000" y="2771775"/>
            <a:ext cx="1409700" cy="0"/>
          </a:xfrm>
          <a:prstGeom prst="line">
            <a:avLst/>
          </a:prstGeom>
          <a:ln w="9525">
            <a:solidFill>
              <a:srgbClr val="D9D2C3"/>
            </a:solidFill>
          </a:ln>
        </p:spPr>
      </p:cxnSp>
      <p:sp>
        <p:nvSpPr>
          <p:cNvPr id="38" name="TextBox 37"/>
          <p:cNvSpPr txBox="1"/>
          <p:nvPr/>
        </p:nvSpPr>
        <p:spPr>
          <a:xfrm>
            <a:off x="9468672" y="2514600"/>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7,72 €</a:t>
            </a:r>
          </a:p>
        </p:txBody>
      </p:sp>
      <p:sp>
        <p:nvSpPr>
          <p:cNvPr id="39" name="Rectangle 38"/>
          <p:cNvSpPr/>
          <p:nvPr/>
        </p:nvSpPr>
        <p:spPr>
          <a:xfrm>
            <a:off x="10172700" y="2466975"/>
            <a:ext cx="1409700" cy="309562"/>
          </a:xfrm>
          <a:prstGeom prst="rect">
            <a:avLst/>
          </a:prstGeom>
          <a:noFill/>
          <a:ln>
            <a:noFill/>
          </a:ln>
        </p:spPr>
        <p:txBody>
          <a:bodyPr rtlCol="0" anchor="ctr"/>
          <a:lstStyle/>
          <a:p>
            <a:endParaRPr/>
          </a:p>
        </p:txBody>
      </p:sp>
      <p:cxnSp>
        <p:nvCxnSpPr>
          <p:cNvPr id="40" name="Connector 39"/>
          <p:cNvCxnSpPr/>
          <p:nvPr/>
        </p:nvCxnSpPr>
        <p:spPr>
          <a:xfrm>
            <a:off x="10172700" y="2771775"/>
            <a:ext cx="1409700" cy="0"/>
          </a:xfrm>
          <a:prstGeom prst="line">
            <a:avLst/>
          </a:prstGeom>
          <a:ln w="9525">
            <a:solidFill>
              <a:srgbClr val="D9D2C3"/>
            </a:solidFill>
          </a:ln>
        </p:spPr>
      </p:cxnSp>
      <p:sp>
        <p:nvSpPr>
          <p:cNvPr id="41" name="TextBox 40"/>
          <p:cNvSpPr txBox="1"/>
          <p:nvPr/>
        </p:nvSpPr>
        <p:spPr>
          <a:xfrm>
            <a:off x="10783336" y="2514600"/>
            <a:ext cx="703814"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12,74 €</a:t>
            </a:r>
          </a:p>
        </p:txBody>
      </p:sp>
      <p:sp>
        <p:nvSpPr>
          <p:cNvPr id="42" name="Rectangle 41"/>
          <p:cNvSpPr/>
          <p:nvPr/>
        </p:nvSpPr>
        <p:spPr>
          <a:xfrm>
            <a:off x="5391150" y="2776538"/>
            <a:ext cx="1962150" cy="323850"/>
          </a:xfrm>
          <a:prstGeom prst="rect">
            <a:avLst/>
          </a:prstGeom>
          <a:noFill/>
          <a:ln>
            <a:noFill/>
          </a:ln>
        </p:spPr>
        <p:txBody>
          <a:bodyPr rtlCol="0" anchor="ctr"/>
          <a:lstStyle/>
          <a:p>
            <a:endParaRPr/>
          </a:p>
        </p:txBody>
      </p:sp>
      <p:cxnSp>
        <p:nvCxnSpPr>
          <p:cNvPr id="43" name="Connector 42"/>
          <p:cNvCxnSpPr/>
          <p:nvPr/>
        </p:nvCxnSpPr>
        <p:spPr>
          <a:xfrm>
            <a:off x="5391150" y="3095625"/>
            <a:ext cx="1962150" cy="0"/>
          </a:xfrm>
          <a:prstGeom prst="line">
            <a:avLst/>
          </a:prstGeom>
          <a:ln w="9525">
            <a:solidFill>
              <a:srgbClr val="D9D2C3"/>
            </a:solidFill>
          </a:ln>
        </p:spPr>
      </p:cxnSp>
      <p:sp>
        <p:nvSpPr>
          <p:cNvPr id="44" name="TextBox 43"/>
          <p:cNvSpPr txBox="1"/>
          <p:nvPr/>
        </p:nvSpPr>
        <p:spPr>
          <a:xfrm>
            <a:off x="5486400" y="2838450"/>
            <a:ext cx="1806476"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a:ea typeface="Inter"/>
                <a:cs typeface="Inter"/>
              </a:rPr>
              <a:t>Revisiones </a:t>
            </a:r>
            <a:r>
              <a:rPr sz="1050" b="0" i="0">
                <a:solidFill>
                  <a:srgbClr val="7D7869"/>
                </a:solidFill>
                <a:latin typeface="Inter"/>
                <a:ea typeface="Inter"/>
                <a:cs typeface="Inter"/>
              </a:rPr>
              <a:t>(1,5 de media)</a:t>
            </a:r>
          </a:p>
        </p:txBody>
      </p:sp>
      <p:sp>
        <p:nvSpPr>
          <p:cNvPr id="45" name="Rectangle 44"/>
          <p:cNvSpPr/>
          <p:nvPr/>
        </p:nvSpPr>
        <p:spPr>
          <a:xfrm>
            <a:off x="7353300" y="2776538"/>
            <a:ext cx="1409700" cy="323850"/>
          </a:xfrm>
          <a:prstGeom prst="rect">
            <a:avLst/>
          </a:prstGeom>
          <a:noFill/>
          <a:ln>
            <a:noFill/>
          </a:ln>
        </p:spPr>
        <p:txBody>
          <a:bodyPr rtlCol="0" anchor="ctr"/>
          <a:lstStyle/>
          <a:p>
            <a:endParaRPr/>
          </a:p>
        </p:txBody>
      </p:sp>
      <p:cxnSp>
        <p:nvCxnSpPr>
          <p:cNvPr id="46" name="Connector 45"/>
          <p:cNvCxnSpPr/>
          <p:nvPr/>
        </p:nvCxnSpPr>
        <p:spPr>
          <a:xfrm>
            <a:off x="7353300" y="3095625"/>
            <a:ext cx="1409700" cy="0"/>
          </a:xfrm>
          <a:prstGeom prst="line">
            <a:avLst/>
          </a:prstGeom>
          <a:ln w="9525">
            <a:solidFill>
              <a:srgbClr val="D9D2C3"/>
            </a:solidFill>
          </a:ln>
        </p:spPr>
      </p:cxnSp>
      <p:sp>
        <p:nvSpPr>
          <p:cNvPr id="47" name="TextBox 46"/>
          <p:cNvSpPr txBox="1"/>
          <p:nvPr/>
        </p:nvSpPr>
        <p:spPr>
          <a:xfrm>
            <a:off x="8058972" y="2833688"/>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0,81 €</a:t>
            </a:r>
          </a:p>
        </p:txBody>
      </p:sp>
      <p:sp>
        <p:nvSpPr>
          <p:cNvPr id="48" name="Rectangle 47"/>
          <p:cNvSpPr/>
          <p:nvPr/>
        </p:nvSpPr>
        <p:spPr>
          <a:xfrm>
            <a:off x="8763000" y="2776538"/>
            <a:ext cx="1409700" cy="323850"/>
          </a:xfrm>
          <a:prstGeom prst="rect">
            <a:avLst/>
          </a:prstGeom>
          <a:noFill/>
          <a:ln>
            <a:noFill/>
          </a:ln>
        </p:spPr>
        <p:txBody>
          <a:bodyPr rtlCol="0" anchor="ctr"/>
          <a:lstStyle/>
          <a:p>
            <a:endParaRPr/>
          </a:p>
        </p:txBody>
      </p:sp>
      <p:cxnSp>
        <p:nvCxnSpPr>
          <p:cNvPr id="49" name="Connector 48"/>
          <p:cNvCxnSpPr/>
          <p:nvPr/>
        </p:nvCxnSpPr>
        <p:spPr>
          <a:xfrm>
            <a:off x="8763000" y="3095625"/>
            <a:ext cx="1409700" cy="0"/>
          </a:xfrm>
          <a:prstGeom prst="line">
            <a:avLst/>
          </a:prstGeom>
          <a:ln w="9525">
            <a:solidFill>
              <a:srgbClr val="D9D2C3"/>
            </a:solidFill>
          </a:ln>
        </p:spPr>
      </p:cxnSp>
      <p:sp>
        <p:nvSpPr>
          <p:cNvPr id="50" name="TextBox 49"/>
          <p:cNvSpPr txBox="1"/>
          <p:nvPr/>
        </p:nvSpPr>
        <p:spPr>
          <a:xfrm>
            <a:off x="9468672" y="2833688"/>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2,27 €</a:t>
            </a:r>
          </a:p>
        </p:txBody>
      </p:sp>
      <p:sp>
        <p:nvSpPr>
          <p:cNvPr id="51" name="Rectangle 50"/>
          <p:cNvSpPr/>
          <p:nvPr/>
        </p:nvSpPr>
        <p:spPr>
          <a:xfrm>
            <a:off x="10172700" y="2776538"/>
            <a:ext cx="1409700" cy="323850"/>
          </a:xfrm>
          <a:prstGeom prst="rect">
            <a:avLst/>
          </a:prstGeom>
          <a:noFill/>
          <a:ln>
            <a:noFill/>
          </a:ln>
        </p:spPr>
        <p:txBody>
          <a:bodyPr rtlCol="0" anchor="ctr"/>
          <a:lstStyle/>
          <a:p>
            <a:endParaRPr/>
          </a:p>
        </p:txBody>
      </p:sp>
      <p:cxnSp>
        <p:nvCxnSpPr>
          <p:cNvPr id="52" name="Connector 51"/>
          <p:cNvCxnSpPr/>
          <p:nvPr/>
        </p:nvCxnSpPr>
        <p:spPr>
          <a:xfrm>
            <a:off x="10172700" y="3095625"/>
            <a:ext cx="1409700" cy="0"/>
          </a:xfrm>
          <a:prstGeom prst="line">
            <a:avLst/>
          </a:prstGeom>
          <a:ln w="9525">
            <a:solidFill>
              <a:srgbClr val="D9D2C3"/>
            </a:solidFill>
          </a:ln>
        </p:spPr>
      </p:cxnSp>
      <p:sp>
        <p:nvSpPr>
          <p:cNvPr id="53" name="TextBox 52"/>
          <p:cNvSpPr txBox="1"/>
          <p:nvPr/>
        </p:nvSpPr>
        <p:spPr>
          <a:xfrm>
            <a:off x="10878372" y="2833688"/>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2,70 €</a:t>
            </a:r>
          </a:p>
        </p:txBody>
      </p:sp>
      <p:sp>
        <p:nvSpPr>
          <p:cNvPr id="54" name="Rectangle 53"/>
          <p:cNvSpPr/>
          <p:nvPr/>
        </p:nvSpPr>
        <p:spPr>
          <a:xfrm>
            <a:off x="5391150" y="3100388"/>
            <a:ext cx="1962150" cy="314325"/>
          </a:xfrm>
          <a:prstGeom prst="rect">
            <a:avLst/>
          </a:prstGeom>
          <a:noFill/>
          <a:ln>
            <a:noFill/>
          </a:ln>
        </p:spPr>
        <p:txBody>
          <a:bodyPr rtlCol="0" anchor="ctr"/>
          <a:lstStyle/>
          <a:p>
            <a:endParaRPr/>
          </a:p>
        </p:txBody>
      </p:sp>
      <p:cxnSp>
        <p:nvCxnSpPr>
          <p:cNvPr id="55" name="Connector 54"/>
          <p:cNvCxnSpPr/>
          <p:nvPr/>
        </p:nvCxnSpPr>
        <p:spPr>
          <a:xfrm>
            <a:off x="5391150" y="3409950"/>
            <a:ext cx="1962150" cy="0"/>
          </a:xfrm>
          <a:prstGeom prst="line">
            <a:avLst/>
          </a:prstGeom>
          <a:ln w="9525">
            <a:solidFill>
              <a:srgbClr val="D9D2C3"/>
            </a:solidFill>
          </a:ln>
        </p:spPr>
      </p:cxnSp>
      <p:sp>
        <p:nvSpPr>
          <p:cNvPr id="56" name="TextBox 55"/>
          <p:cNvSpPr txBox="1"/>
          <p:nvPr/>
        </p:nvSpPr>
        <p:spPr>
          <a:xfrm>
            <a:off x="5486400" y="3162300"/>
            <a:ext cx="156579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a:ea typeface="Inter"/>
                <a:cs typeface="Inter"/>
              </a:rPr>
              <a:t>Supervisión humana</a:t>
            </a:r>
          </a:p>
        </p:txBody>
      </p:sp>
      <p:sp>
        <p:nvSpPr>
          <p:cNvPr id="57" name="Rectangle 56"/>
          <p:cNvSpPr/>
          <p:nvPr/>
        </p:nvSpPr>
        <p:spPr>
          <a:xfrm>
            <a:off x="7353300" y="3100388"/>
            <a:ext cx="1409700" cy="314325"/>
          </a:xfrm>
          <a:prstGeom prst="rect">
            <a:avLst/>
          </a:prstGeom>
          <a:noFill/>
          <a:ln>
            <a:noFill/>
          </a:ln>
        </p:spPr>
        <p:txBody>
          <a:bodyPr rtlCol="0" anchor="ctr"/>
          <a:lstStyle/>
          <a:p>
            <a:endParaRPr/>
          </a:p>
        </p:txBody>
      </p:sp>
      <p:cxnSp>
        <p:nvCxnSpPr>
          <p:cNvPr id="58" name="Connector 57"/>
          <p:cNvCxnSpPr/>
          <p:nvPr/>
        </p:nvCxnSpPr>
        <p:spPr>
          <a:xfrm>
            <a:off x="7353300" y="3409950"/>
            <a:ext cx="1409700" cy="0"/>
          </a:xfrm>
          <a:prstGeom prst="line">
            <a:avLst/>
          </a:prstGeom>
          <a:ln w="9525">
            <a:solidFill>
              <a:srgbClr val="D9D2C3"/>
            </a:solidFill>
          </a:ln>
        </p:spPr>
      </p:cxnSp>
      <p:sp>
        <p:nvSpPr>
          <p:cNvPr id="59" name="TextBox 58"/>
          <p:cNvSpPr txBox="1"/>
          <p:nvPr/>
        </p:nvSpPr>
        <p:spPr>
          <a:xfrm>
            <a:off x="7414617" y="3152775"/>
            <a:ext cx="1253133"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8,35 € </a:t>
            </a:r>
            <a:r>
              <a:rPr sz="1050" b="0" i="0">
                <a:solidFill>
                  <a:srgbClr val="7D7869"/>
                </a:solidFill>
                <a:latin typeface="Inter"/>
                <a:ea typeface="Inter"/>
                <a:cs typeface="Inter"/>
              </a:rPr>
              <a:t>(20 min)</a:t>
            </a:r>
          </a:p>
        </p:txBody>
      </p:sp>
      <p:sp>
        <p:nvSpPr>
          <p:cNvPr id="60" name="Rectangle 59"/>
          <p:cNvSpPr/>
          <p:nvPr/>
        </p:nvSpPr>
        <p:spPr>
          <a:xfrm>
            <a:off x="8763000" y="3100388"/>
            <a:ext cx="1409700" cy="314325"/>
          </a:xfrm>
          <a:prstGeom prst="rect">
            <a:avLst/>
          </a:prstGeom>
          <a:noFill/>
          <a:ln>
            <a:noFill/>
          </a:ln>
        </p:spPr>
        <p:txBody>
          <a:bodyPr rtlCol="0" anchor="ctr"/>
          <a:lstStyle/>
          <a:p>
            <a:endParaRPr/>
          </a:p>
        </p:txBody>
      </p:sp>
      <p:cxnSp>
        <p:nvCxnSpPr>
          <p:cNvPr id="61" name="Connector 60"/>
          <p:cNvCxnSpPr/>
          <p:nvPr/>
        </p:nvCxnSpPr>
        <p:spPr>
          <a:xfrm>
            <a:off x="8763000" y="3409950"/>
            <a:ext cx="1409700" cy="0"/>
          </a:xfrm>
          <a:prstGeom prst="line">
            <a:avLst/>
          </a:prstGeom>
          <a:ln w="9525">
            <a:solidFill>
              <a:srgbClr val="D9D2C3"/>
            </a:solidFill>
          </a:ln>
        </p:spPr>
      </p:cxnSp>
      <p:sp>
        <p:nvSpPr>
          <p:cNvPr id="62" name="TextBox 61"/>
          <p:cNvSpPr txBox="1"/>
          <p:nvPr/>
        </p:nvSpPr>
        <p:spPr>
          <a:xfrm>
            <a:off x="8914090" y="3152775"/>
            <a:ext cx="1163360"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2,08 € </a:t>
            </a:r>
            <a:r>
              <a:rPr sz="1050" b="0" i="0">
                <a:solidFill>
                  <a:srgbClr val="7D7869"/>
                </a:solidFill>
                <a:latin typeface="Inter"/>
                <a:ea typeface="Inter"/>
                <a:cs typeface="Inter"/>
              </a:rPr>
              <a:t>(5 min)</a:t>
            </a:r>
          </a:p>
        </p:txBody>
      </p:sp>
      <p:sp>
        <p:nvSpPr>
          <p:cNvPr id="63" name="Rectangle 62"/>
          <p:cNvSpPr/>
          <p:nvPr/>
        </p:nvSpPr>
        <p:spPr>
          <a:xfrm>
            <a:off x="10172700" y="3100388"/>
            <a:ext cx="1409700" cy="314325"/>
          </a:xfrm>
          <a:prstGeom prst="rect">
            <a:avLst/>
          </a:prstGeom>
          <a:noFill/>
          <a:ln>
            <a:noFill/>
          </a:ln>
        </p:spPr>
        <p:txBody>
          <a:bodyPr rtlCol="0" anchor="ctr"/>
          <a:lstStyle/>
          <a:p>
            <a:endParaRPr/>
          </a:p>
        </p:txBody>
      </p:sp>
      <p:cxnSp>
        <p:nvCxnSpPr>
          <p:cNvPr id="64" name="Connector 63"/>
          <p:cNvCxnSpPr/>
          <p:nvPr/>
        </p:nvCxnSpPr>
        <p:spPr>
          <a:xfrm>
            <a:off x="10172700" y="3409950"/>
            <a:ext cx="1409700" cy="0"/>
          </a:xfrm>
          <a:prstGeom prst="line">
            <a:avLst/>
          </a:prstGeom>
          <a:ln w="9525">
            <a:solidFill>
              <a:srgbClr val="D9D2C3"/>
            </a:solidFill>
          </a:ln>
        </p:spPr>
      </p:cxnSp>
      <p:sp>
        <p:nvSpPr>
          <p:cNvPr id="65" name="TextBox 64"/>
          <p:cNvSpPr txBox="1"/>
          <p:nvPr/>
        </p:nvSpPr>
        <p:spPr>
          <a:xfrm>
            <a:off x="10323790" y="3152775"/>
            <a:ext cx="1163360"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2,08 € </a:t>
            </a:r>
            <a:r>
              <a:rPr sz="1050" b="0" i="0">
                <a:solidFill>
                  <a:srgbClr val="7D7869"/>
                </a:solidFill>
                <a:latin typeface="Inter"/>
                <a:ea typeface="Inter"/>
                <a:cs typeface="Inter"/>
              </a:rPr>
              <a:t>(5 min)</a:t>
            </a:r>
          </a:p>
        </p:txBody>
      </p:sp>
      <p:sp>
        <p:nvSpPr>
          <p:cNvPr id="66" name="Rectangle 65"/>
          <p:cNvSpPr/>
          <p:nvPr/>
        </p:nvSpPr>
        <p:spPr>
          <a:xfrm>
            <a:off x="5391150" y="3414712"/>
            <a:ext cx="1962150" cy="504825"/>
          </a:xfrm>
          <a:prstGeom prst="rect">
            <a:avLst/>
          </a:prstGeom>
          <a:noFill/>
          <a:ln>
            <a:noFill/>
          </a:ln>
        </p:spPr>
        <p:txBody>
          <a:bodyPr rtlCol="0" anchor="ctr"/>
          <a:lstStyle/>
          <a:p>
            <a:endParaRPr/>
          </a:p>
        </p:txBody>
      </p:sp>
      <p:cxnSp>
        <p:nvCxnSpPr>
          <p:cNvPr id="67" name="Connector 66"/>
          <p:cNvCxnSpPr/>
          <p:nvPr/>
        </p:nvCxnSpPr>
        <p:spPr>
          <a:xfrm>
            <a:off x="5391150" y="3914775"/>
            <a:ext cx="1962150" cy="0"/>
          </a:xfrm>
          <a:prstGeom prst="line">
            <a:avLst/>
          </a:prstGeom>
          <a:ln w="9525">
            <a:solidFill>
              <a:srgbClr val="D9D2C3"/>
            </a:solidFill>
          </a:ln>
        </p:spPr>
      </p:cxnSp>
      <p:sp>
        <p:nvSpPr>
          <p:cNvPr id="68" name="TextBox 67"/>
          <p:cNvSpPr txBox="1"/>
          <p:nvPr/>
        </p:nvSpPr>
        <p:spPr>
          <a:xfrm>
            <a:off x="5486400" y="3476625"/>
            <a:ext cx="1791805" cy="381000"/>
          </a:xfrm>
          <a:prstGeom prst="rect">
            <a:avLst/>
          </a:prstGeom>
          <a:noFill/>
        </p:spPr>
        <p:txBody>
          <a:bodyPr wrap="square" lIns="0" tIns="0" rIns="0" bIns="0" anchor="t">
            <a:noAutofit/>
          </a:bodyPr>
          <a:lstStyle/>
          <a:p>
            <a:pPr algn="l">
              <a:lnSpc>
                <a:spcPts val="1500"/>
              </a:lnSpc>
              <a:spcBef>
                <a:spcPts val="0"/>
              </a:spcBef>
              <a:spcAft>
                <a:spcPts val="0"/>
              </a:spcAft>
            </a:pPr>
            <a:r>
              <a:rPr sz="1200" b="0" i="0">
                <a:solidFill>
                  <a:srgbClr val="1C2433"/>
                </a:solidFill>
                <a:latin typeface="Inter"/>
                <a:ea typeface="Inter"/>
                <a:cs typeface="Inter"/>
              </a:rPr>
              <a:t>Infraestructura y mantenimiento</a:t>
            </a:r>
          </a:p>
        </p:txBody>
      </p:sp>
      <p:sp>
        <p:nvSpPr>
          <p:cNvPr id="69" name="Rectangle 68"/>
          <p:cNvSpPr/>
          <p:nvPr/>
        </p:nvSpPr>
        <p:spPr>
          <a:xfrm>
            <a:off x="7353300" y="3414712"/>
            <a:ext cx="1409700" cy="504825"/>
          </a:xfrm>
          <a:prstGeom prst="rect">
            <a:avLst/>
          </a:prstGeom>
          <a:noFill/>
          <a:ln>
            <a:noFill/>
          </a:ln>
        </p:spPr>
        <p:txBody>
          <a:bodyPr rtlCol="0" anchor="ctr"/>
          <a:lstStyle/>
          <a:p>
            <a:endParaRPr/>
          </a:p>
        </p:txBody>
      </p:sp>
      <p:cxnSp>
        <p:nvCxnSpPr>
          <p:cNvPr id="70" name="Connector 69"/>
          <p:cNvCxnSpPr/>
          <p:nvPr/>
        </p:nvCxnSpPr>
        <p:spPr>
          <a:xfrm>
            <a:off x="7353300" y="3914775"/>
            <a:ext cx="1409700" cy="0"/>
          </a:xfrm>
          <a:prstGeom prst="line">
            <a:avLst/>
          </a:prstGeom>
          <a:ln w="9525">
            <a:solidFill>
              <a:srgbClr val="D9D2C3"/>
            </a:solidFill>
          </a:ln>
        </p:spPr>
      </p:cxnSp>
      <p:sp>
        <p:nvSpPr>
          <p:cNvPr id="71" name="TextBox 70"/>
          <p:cNvSpPr txBox="1"/>
          <p:nvPr/>
        </p:nvSpPr>
        <p:spPr>
          <a:xfrm>
            <a:off x="8058972" y="3562350"/>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1,97 €</a:t>
            </a:r>
          </a:p>
        </p:txBody>
      </p:sp>
      <p:sp>
        <p:nvSpPr>
          <p:cNvPr id="72" name="Rectangle 71"/>
          <p:cNvSpPr/>
          <p:nvPr/>
        </p:nvSpPr>
        <p:spPr>
          <a:xfrm>
            <a:off x="8763000" y="3414712"/>
            <a:ext cx="1409700" cy="504825"/>
          </a:xfrm>
          <a:prstGeom prst="rect">
            <a:avLst/>
          </a:prstGeom>
          <a:noFill/>
          <a:ln>
            <a:noFill/>
          </a:ln>
        </p:spPr>
        <p:txBody>
          <a:bodyPr rtlCol="0" anchor="ctr"/>
          <a:lstStyle/>
          <a:p>
            <a:endParaRPr/>
          </a:p>
        </p:txBody>
      </p:sp>
      <p:cxnSp>
        <p:nvCxnSpPr>
          <p:cNvPr id="73" name="Connector 72"/>
          <p:cNvCxnSpPr/>
          <p:nvPr/>
        </p:nvCxnSpPr>
        <p:spPr>
          <a:xfrm>
            <a:off x="8763000" y="3914775"/>
            <a:ext cx="1409700" cy="0"/>
          </a:xfrm>
          <a:prstGeom prst="line">
            <a:avLst/>
          </a:prstGeom>
          <a:ln w="9525">
            <a:solidFill>
              <a:srgbClr val="D9D2C3"/>
            </a:solidFill>
          </a:ln>
        </p:spPr>
      </p:cxnSp>
      <p:sp>
        <p:nvSpPr>
          <p:cNvPr id="74" name="TextBox 73"/>
          <p:cNvSpPr txBox="1"/>
          <p:nvPr/>
        </p:nvSpPr>
        <p:spPr>
          <a:xfrm>
            <a:off x="9468672" y="3562350"/>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1,97 €</a:t>
            </a:r>
          </a:p>
        </p:txBody>
      </p:sp>
      <p:sp>
        <p:nvSpPr>
          <p:cNvPr id="75" name="Rectangle 74"/>
          <p:cNvSpPr/>
          <p:nvPr/>
        </p:nvSpPr>
        <p:spPr>
          <a:xfrm>
            <a:off x="10172700" y="3414712"/>
            <a:ext cx="1409700" cy="504825"/>
          </a:xfrm>
          <a:prstGeom prst="rect">
            <a:avLst/>
          </a:prstGeom>
          <a:noFill/>
          <a:ln>
            <a:noFill/>
          </a:ln>
        </p:spPr>
        <p:txBody>
          <a:bodyPr rtlCol="0" anchor="ctr"/>
          <a:lstStyle/>
          <a:p>
            <a:endParaRPr/>
          </a:p>
        </p:txBody>
      </p:sp>
      <p:cxnSp>
        <p:nvCxnSpPr>
          <p:cNvPr id="76" name="Connector 75"/>
          <p:cNvCxnSpPr/>
          <p:nvPr/>
        </p:nvCxnSpPr>
        <p:spPr>
          <a:xfrm>
            <a:off x="10172700" y="3914775"/>
            <a:ext cx="1409700" cy="0"/>
          </a:xfrm>
          <a:prstGeom prst="line">
            <a:avLst/>
          </a:prstGeom>
          <a:ln w="9525">
            <a:solidFill>
              <a:srgbClr val="D9D2C3"/>
            </a:solidFill>
          </a:ln>
        </p:spPr>
      </p:cxnSp>
      <p:sp>
        <p:nvSpPr>
          <p:cNvPr id="77" name="TextBox 76"/>
          <p:cNvSpPr txBox="1"/>
          <p:nvPr/>
        </p:nvSpPr>
        <p:spPr>
          <a:xfrm>
            <a:off x="10878372" y="3562350"/>
            <a:ext cx="608778" cy="200025"/>
          </a:xfrm>
          <a:prstGeom prst="rect">
            <a:avLst/>
          </a:prstGeom>
          <a:noFill/>
        </p:spPr>
        <p:txBody>
          <a:bodyPr wrap="none" lIns="0" tIns="0" rIns="0" bIns="0" anchor="t">
            <a:noAutofit/>
          </a:bodyPr>
          <a:lstStyle/>
          <a:p>
            <a:pPr algn="r">
              <a:lnSpc>
                <a:spcPts val="1500"/>
              </a:lnSpc>
              <a:spcBef>
                <a:spcPts val="0"/>
              </a:spcBef>
              <a:spcAft>
                <a:spcPts val="0"/>
              </a:spcAft>
            </a:pPr>
            <a:r>
              <a:rPr sz="1200" b="0" i="0">
                <a:solidFill>
                  <a:srgbClr val="1C2433"/>
                </a:solidFill>
                <a:latin typeface="JetBrains Mono Medium"/>
                <a:ea typeface="JetBrains Mono Medium"/>
                <a:cs typeface="JetBrains Mono Medium"/>
              </a:rPr>
              <a:t>1,97 €</a:t>
            </a:r>
          </a:p>
        </p:txBody>
      </p:sp>
      <p:sp>
        <p:nvSpPr>
          <p:cNvPr id="78" name="Rectangle 77"/>
          <p:cNvSpPr/>
          <p:nvPr/>
        </p:nvSpPr>
        <p:spPr>
          <a:xfrm>
            <a:off x="5391150" y="3919538"/>
            <a:ext cx="1962150" cy="309562"/>
          </a:xfrm>
          <a:prstGeom prst="rect">
            <a:avLst/>
          </a:prstGeom>
          <a:solidFill>
            <a:srgbClr val="1C2433"/>
          </a:solidFill>
          <a:ln>
            <a:noFill/>
          </a:ln>
        </p:spPr>
        <p:txBody>
          <a:bodyPr rtlCol="0" anchor="ctr"/>
          <a:lstStyle/>
          <a:p>
            <a:endParaRPr/>
          </a:p>
        </p:txBody>
      </p:sp>
      <p:sp>
        <p:nvSpPr>
          <p:cNvPr id="79" name="TextBox 78"/>
          <p:cNvSpPr txBox="1"/>
          <p:nvPr/>
        </p:nvSpPr>
        <p:spPr>
          <a:xfrm>
            <a:off x="5486400" y="3981450"/>
            <a:ext cx="439757" cy="190500"/>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F5EFE3"/>
                </a:solidFill>
                <a:latin typeface="Inter SemiBold"/>
                <a:ea typeface="Inter SemiBold"/>
                <a:cs typeface="Inter SemiBold"/>
              </a:rPr>
              <a:t>Total</a:t>
            </a:r>
          </a:p>
        </p:txBody>
      </p:sp>
      <p:sp>
        <p:nvSpPr>
          <p:cNvPr id="80" name="Rectangle 79"/>
          <p:cNvSpPr/>
          <p:nvPr/>
        </p:nvSpPr>
        <p:spPr>
          <a:xfrm>
            <a:off x="7353300" y="3919538"/>
            <a:ext cx="1409700" cy="309562"/>
          </a:xfrm>
          <a:prstGeom prst="rect">
            <a:avLst/>
          </a:prstGeom>
          <a:solidFill>
            <a:srgbClr val="1C2433"/>
          </a:solidFill>
          <a:ln>
            <a:noFill/>
          </a:ln>
        </p:spPr>
        <p:txBody>
          <a:bodyPr rtlCol="0" anchor="ctr"/>
          <a:lstStyle/>
          <a:p>
            <a:endParaRPr/>
          </a:p>
        </p:txBody>
      </p:sp>
      <p:sp>
        <p:nvSpPr>
          <p:cNvPr id="81" name="TextBox 80"/>
          <p:cNvSpPr txBox="1"/>
          <p:nvPr/>
        </p:nvSpPr>
        <p:spPr>
          <a:xfrm>
            <a:off x="7922300" y="3971925"/>
            <a:ext cx="745450" cy="209550"/>
          </a:xfrm>
          <a:prstGeom prst="rect">
            <a:avLst/>
          </a:prstGeom>
          <a:noFill/>
        </p:spPr>
        <p:txBody>
          <a:bodyPr wrap="none" lIns="0" tIns="0" rIns="0" bIns="0" anchor="t">
            <a:noAutofit/>
          </a:bodyPr>
          <a:lstStyle/>
          <a:p>
            <a:pPr algn="r">
              <a:lnSpc>
                <a:spcPts val="1500"/>
              </a:lnSpc>
              <a:spcBef>
                <a:spcPts val="0"/>
              </a:spcBef>
              <a:spcAft>
                <a:spcPts val="0"/>
              </a:spcAft>
            </a:pPr>
            <a:r>
              <a:rPr sz="1300" b="1" i="0">
                <a:solidFill>
                  <a:srgbClr val="F5EFE3"/>
                </a:solidFill>
                <a:latin typeface="JetBrains Mono"/>
                <a:ea typeface="JetBrains Mono"/>
                <a:cs typeface="JetBrains Mono"/>
              </a:rPr>
              <a:t>13,90 €</a:t>
            </a:r>
          </a:p>
        </p:txBody>
      </p:sp>
      <p:sp>
        <p:nvSpPr>
          <p:cNvPr id="82" name="Rectangle 81"/>
          <p:cNvSpPr/>
          <p:nvPr/>
        </p:nvSpPr>
        <p:spPr>
          <a:xfrm>
            <a:off x="8763000" y="3919538"/>
            <a:ext cx="1409700" cy="309562"/>
          </a:xfrm>
          <a:prstGeom prst="rect">
            <a:avLst/>
          </a:prstGeom>
          <a:solidFill>
            <a:srgbClr val="1C2433"/>
          </a:solidFill>
          <a:ln>
            <a:noFill/>
          </a:ln>
        </p:spPr>
        <p:txBody>
          <a:bodyPr rtlCol="0" anchor="ctr"/>
          <a:lstStyle/>
          <a:p>
            <a:endParaRPr/>
          </a:p>
        </p:txBody>
      </p:sp>
      <p:sp>
        <p:nvSpPr>
          <p:cNvPr id="83" name="TextBox 82"/>
          <p:cNvSpPr txBox="1"/>
          <p:nvPr/>
        </p:nvSpPr>
        <p:spPr>
          <a:xfrm>
            <a:off x="9332000" y="3971925"/>
            <a:ext cx="745450" cy="209550"/>
          </a:xfrm>
          <a:prstGeom prst="rect">
            <a:avLst/>
          </a:prstGeom>
          <a:noFill/>
        </p:spPr>
        <p:txBody>
          <a:bodyPr wrap="none" lIns="0" tIns="0" rIns="0" bIns="0" anchor="t">
            <a:noAutofit/>
          </a:bodyPr>
          <a:lstStyle/>
          <a:p>
            <a:pPr algn="r">
              <a:lnSpc>
                <a:spcPts val="1500"/>
              </a:lnSpc>
              <a:spcBef>
                <a:spcPts val="0"/>
              </a:spcBef>
              <a:spcAft>
                <a:spcPts val="0"/>
              </a:spcAft>
            </a:pPr>
            <a:r>
              <a:rPr sz="1300" b="1" i="0">
                <a:solidFill>
                  <a:srgbClr val="F5EFE3"/>
                </a:solidFill>
                <a:latin typeface="JetBrains Mono"/>
                <a:ea typeface="JetBrains Mono"/>
                <a:cs typeface="JetBrains Mono"/>
              </a:rPr>
              <a:t>14,04 €</a:t>
            </a:r>
          </a:p>
        </p:txBody>
      </p:sp>
      <p:sp>
        <p:nvSpPr>
          <p:cNvPr id="84" name="Rectangle 83"/>
          <p:cNvSpPr/>
          <p:nvPr/>
        </p:nvSpPr>
        <p:spPr>
          <a:xfrm>
            <a:off x="10172700" y="3919538"/>
            <a:ext cx="1409700" cy="309562"/>
          </a:xfrm>
          <a:prstGeom prst="rect">
            <a:avLst/>
          </a:prstGeom>
          <a:solidFill>
            <a:srgbClr val="1C2433"/>
          </a:solidFill>
          <a:ln>
            <a:noFill/>
          </a:ln>
        </p:spPr>
        <p:txBody>
          <a:bodyPr rtlCol="0" anchor="ctr"/>
          <a:lstStyle/>
          <a:p>
            <a:endParaRPr/>
          </a:p>
        </p:txBody>
      </p:sp>
      <p:sp>
        <p:nvSpPr>
          <p:cNvPr id="85" name="TextBox 84"/>
          <p:cNvSpPr txBox="1"/>
          <p:nvPr/>
        </p:nvSpPr>
        <p:spPr>
          <a:xfrm>
            <a:off x="10741700" y="3971925"/>
            <a:ext cx="745450" cy="209550"/>
          </a:xfrm>
          <a:prstGeom prst="rect">
            <a:avLst/>
          </a:prstGeom>
          <a:noFill/>
        </p:spPr>
        <p:txBody>
          <a:bodyPr wrap="none" lIns="0" tIns="0" rIns="0" bIns="0" anchor="t">
            <a:noAutofit/>
          </a:bodyPr>
          <a:lstStyle/>
          <a:p>
            <a:pPr algn="r">
              <a:lnSpc>
                <a:spcPts val="1500"/>
              </a:lnSpc>
              <a:spcBef>
                <a:spcPts val="0"/>
              </a:spcBef>
              <a:spcAft>
                <a:spcPts val="0"/>
              </a:spcAft>
            </a:pPr>
            <a:r>
              <a:rPr sz="1300" b="1" i="0">
                <a:solidFill>
                  <a:srgbClr val="F5EFE3"/>
                </a:solidFill>
                <a:latin typeface="JetBrains Mono"/>
                <a:ea typeface="JetBrains Mono"/>
                <a:cs typeface="JetBrains Mono"/>
              </a:rPr>
              <a:t>19,49 €</a:t>
            </a:r>
          </a:p>
        </p:txBody>
      </p:sp>
      <p:sp>
        <p:nvSpPr>
          <p:cNvPr id="86" name="Rectangle 85"/>
          <p:cNvSpPr/>
          <p:nvPr/>
        </p:nvSpPr>
        <p:spPr>
          <a:xfrm>
            <a:off x="5391150" y="4229100"/>
            <a:ext cx="1962150" cy="314325"/>
          </a:xfrm>
          <a:prstGeom prst="rect">
            <a:avLst/>
          </a:prstGeom>
          <a:solidFill>
            <a:srgbClr val="DDE3D5"/>
          </a:solidFill>
          <a:ln>
            <a:noFill/>
          </a:ln>
        </p:spPr>
        <p:txBody>
          <a:bodyPr rtlCol="0" anchor="ctr"/>
          <a:lstStyle/>
          <a:p>
            <a:endParaRPr/>
          </a:p>
        </p:txBody>
      </p:sp>
      <p:cxnSp>
        <p:nvCxnSpPr>
          <p:cNvPr id="87" name="Connector 86"/>
          <p:cNvCxnSpPr/>
          <p:nvPr/>
        </p:nvCxnSpPr>
        <p:spPr>
          <a:xfrm>
            <a:off x="5391150" y="4533900"/>
            <a:ext cx="1962150" cy="0"/>
          </a:xfrm>
          <a:prstGeom prst="line">
            <a:avLst/>
          </a:prstGeom>
          <a:ln w="19050">
            <a:solidFill>
              <a:srgbClr val="5E8C6A"/>
            </a:solidFill>
          </a:ln>
        </p:spPr>
      </p:cxnSp>
      <p:sp>
        <p:nvSpPr>
          <p:cNvPr id="88" name="TextBox 87"/>
          <p:cNvSpPr txBox="1"/>
          <p:nvPr/>
        </p:nvSpPr>
        <p:spPr>
          <a:xfrm>
            <a:off x="5486400" y="4286250"/>
            <a:ext cx="1141381"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Margen a 59 €</a:t>
            </a:r>
          </a:p>
        </p:txBody>
      </p:sp>
      <p:sp>
        <p:nvSpPr>
          <p:cNvPr id="89" name="Rectangle 88"/>
          <p:cNvSpPr/>
          <p:nvPr/>
        </p:nvSpPr>
        <p:spPr>
          <a:xfrm>
            <a:off x="7353300" y="4229100"/>
            <a:ext cx="1409700" cy="314325"/>
          </a:xfrm>
          <a:prstGeom prst="rect">
            <a:avLst/>
          </a:prstGeom>
          <a:solidFill>
            <a:srgbClr val="DDE3D5"/>
          </a:solidFill>
          <a:ln>
            <a:noFill/>
          </a:ln>
        </p:spPr>
        <p:txBody>
          <a:bodyPr rtlCol="0" anchor="ctr"/>
          <a:lstStyle/>
          <a:p>
            <a:endParaRPr/>
          </a:p>
        </p:txBody>
      </p:sp>
      <p:cxnSp>
        <p:nvCxnSpPr>
          <p:cNvPr id="90" name="Connector 89"/>
          <p:cNvCxnSpPr/>
          <p:nvPr/>
        </p:nvCxnSpPr>
        <p:spPr>
          <a:xfrm>
            <a:off x="7353300" y="4533900"/>
            <a:ext cx="1409700" cy="0"/>
          </a:xfrm>
          <a:prstGeom prst="line">
            <a:avLst/>
          </a:prstGeom>
          <a:ln w="19050">
            <a:solidFill>
              <a:srgbClr val="5E8C6A"/>
            </a:solidFill>
          </a:ln>
        </p:spPr>
      </p:cxnSp>
      <p:sp>
        <p:nvSpPr>
          <p:cNvPr id="91" name="TextBox 90"/>
          <p:cNvSpPr txBox="1"/>
          <p:nvPr/>
        </p:nvSpPr>
        <p:spPr>
          <a:xfrm>
            <a:off x="7438299" y="4276725"/>
            <a:ext cx="1229451" cy="200025"/>
          </a:xfrm>
          <a:prstGeom prst="rect">
            <a:avLst/>
          </a:prstGeom>
          <a:noFill/>
        </p:spPr>
        <p:txBody>
          <a:bodyPr wrap="none" lIns="0" tIns="0" rIns="0" bIns="0" anchor="t">
            <a:noAutofit/>
          </a:bodyPr>
          <a:lstStyle/>
          <a:p>
            <a:pPr algn="r">
              <a:lnSpc>
                <a:spcPts val="1500"/>
              </a:lnSpc>
              <a:spcBef>
                <a:spcPts val="0"/>
              </a:spcBef>
              <a:spcAft>
                <a:spcPts val="0"/>
              </a:spcAft>
            </a:pPr>
            <a:r>
              <a:rPr sz="1200" b="1" i="0">
                <a:solidFill>
                  <a:srgbClr val="1C2433"/>
                </a:solidFill>
                <a:latin typeface="JetBrains Mono"/>
                <a:ea typeface="JetBrains Mono"/>
                <a:cs typeface="JetBrains Mono"/>
              </a:rPr>
              <a:t>34,86 € </a:t>
            </a:r>
            <a:r>
              <a:rPr sz="1050" b="0" i="0">
                <a:solidFill>
                  <a:srgbClr val="1C2433"/>
                </a:solidFill>
                <a:latin typeface="Inter"/>
                <a:ea typeface="Inter"/>
                <a:cs typeface="Inter"/>
              </a:rPr>
              <a:t>71,5 %</a:t>
            </a:r>
          </a:p>
        </p:txBody>
      </p:sp>
      <p:sp>
        <p:nvSpPr>
          <p:cNvPr id="92" name="Rectangle 91"/>
          <p:cNvSpPr/>
          <p:nvPr/>
        </p:nvSpPr>
        <p:spPr>
          <a:xfrm>
            <a:off x="8763000" y="4229100"/>
            <a:ext cx="1409700" cy="314325"/>
          </a:xfrm>
          <a:prstGeom prst="rect">
            <a:avLst/>
          </a:prstGeom>
          <a:solidFill>
            <a:srgbClr val="DDE3D5"/>
          </a:solidFill>
          <a:ln>
            <a:noFill/>
          </a:ln>
        </p:spPr>
        <p:txBody>
          <a:bodyPr rtlCol="0" anchor="ctr"/>
          <a:lstStyle/>
          <a:p>
            <a:endParaRPr/>
          </a:p>
        </p:txBody>
      </p:sp>
      <p:cxnSp>
        <p:nvCxnSpPr>
          <p:cNvPr id="93" name="Connector 92"/>
          <p:cNvCxnSpPr/>
          <p:nvPr/>
        </p:nvCxnSpPr>
        <p:spPr>
          <a:xfrm>
            <a:off x="8763000" y="4533900"/>
            <a:ext cx="1409700" cy="0"/>
          </a:xfrm>
          <a:prstGeom prst="line">
            <a:avLst/>
          </a:prstGeom>
          <a:ln w="19050">
            <a:solidFill>
              <a:srgbClr val="5E8C6A"/>
            </a:solidFill>
          </a:ln>
        </p:spPr>
      </p:cxnSp>
      <p:sp>
        <p:nvSpPr>
          <p:cNvPr id="94" name="TextBox 93"/>
          <p:cNvSpPr txBox="1"/>
          <p:nvPr/>
        </p:nvSpPr>
        <p:spPr>
          <a:xfrm>
            <a:off x="8843820" y="4276725"/>
            <a:ext cx="1233630" cy="200025"/>
          </a:xfrm>
          <a:prstGeom prst="rect">
            <a:avLst/>
          </a:prstGeom>
          <a:noFill/>
        </p:spPr>
        <p:txBody>
          <a:bodyPr wrap="none" lIns="0" tIns="0" rIns="0" bIns="0" anchor="t">
            <a:noAutofit/>
          </a:bodyPr>
          <a:lstStyle/>
          <a:p>
            <a:pPr algn="r">
              <a:lnSpc>
                <a:spcPts val="1500"/>
              </a:lnSpc>
              <a:spcBef>
                <a:spcPts val="0"/>
              </a:spcBef>
              <a:spcAft>
                <a:spcPts val="0"/>
              </a:spcAft>
            </a:pPr>
            <a:r>
              <a:rPr sz="1200" b="1" i="0">
                <a:solidFill>
                  <a:srgbClr val="1C2433"/>
                </a:solidFill>
                <a:latin typeface="JetBrains Mono"/>
                <a:ea typeface="JetBrains Mono"/>
                <a:cs typeface="JetBrains Mono"/>
              </a:rPr>
              <a:t>34,72 € </a:t>
            </a:r>
            <a:r>
              <a:rPr sz="1050" b="0" i="0">
                <a:solidFill>
                  <a:srgbClr val="1C2433"/>
                </a:solidFill>
                <a:latin typeface="Inter"/>
                <a:ea typeface="Inter"/>
                <a:cs typeface="Inter"/>
              </a:rPr>
              <a:t>71,2 %</a:t>
            </a:r>
          </a:p>
        </p:txBody>
      </p:sp>
      <p:sp>
        <p:nvSpPr>
          <p:cNvPr id="95" name="Rectangle 94"/>
          <p:cNvSpPr/>
          <p:nvPr/>
        </p:nvSpPr>
        <p:spPr>
          <a:xfrm>
            <a:off x="10172700" y="4229100"/>
            <a:ext cx="1409700" cy="314325"/>
          </a:xfrm>
          <a:prstGeom prst="rect">
            <a:avLst/>
          </a:prstGeom>
          <a:solidFill>
            <a:srgbClr val="DDE3D5"/>
          </a:solidFill>
          <a:ln>
            <a:noFill/>
          </a:ln>
        </p:spPr>
        <p:txBody>
          <a:bodyPr rtlCol="0" anchor="ctr"/>
          <a:lstStyle/>
          <a:p>
            <a:endParaRPr/>
          </a:p>
        </p:txBody>
      </p:sp>
      <p:cxnSp>
        <p:nvCxnSpPr>
          <p:cNvPr id="96" name="Connector 95"/>
          <p:cNvCxnSpPr/>
          <p:nvPr/>
        </p:nvCxnSpPr>
        <p:spPr>
          <a:xfrm>
            <a:off x="10172700" y="4533900"/>
            <a:ext cx="1409700" cy="0"/>
          </a:xfrm>
          <a:prstGeom prst="line">
            <a:avLst/>
          </a:prstGeom>
          <a:ln w="19050">
            <a:solidFill>
              <a:srgbClr val="5E8C6A"/>
            </a:solidFill>
          </a:ln>
        </p:spPr>
      </p:cxnSp>
      <p:sp>
        <p:nvSpPr>
          <p:cNvPr id="97" name="TextBox 96"/>
          <p:cNvSpPr txBox="1"/>
          <p:nvPr/>
        </p:nvSpPr>
        <p:spPr>
          <a:xfrm>
            <a:off x="10339423" y="4276725"/>
            <a:ext cx="1147727" cy="200025"/>
          </a:xfrm>
          <a:prstGeom prst="rect">
            <a:avLst/>
          </a:prstGeom>
          <a:noFill/>
        </p:spPr>
        <p:txBody>
          <a:bodyPr wrap="none" lIns="0" tIns="0" rIns="0" bIns="0" anchor="t">
            <a:noAutofit/>
          </a:bodyPr>
          <a:lstStyle/>
          <a:p>
            <a:pPr algn="r">
              <a:lnSpc>
                <a:spcPts val="1500"/>
              </a:lnSpc>
              <a:spcBef>
                <a:spcPts val="0"/>
              </a:spcBef>
              <a:spcAft>
                <a:spcPts val="0"/>
              </a:spcAft>
            </a:pPr>
            <a:r>
              <a:rPr sz="1200" b="1" i="0">
                <a:solidFill>
                  <a:srgbClr val="1C2433"/>
                </a:solidFill>
                <a:latin typeface="JetBrains Mono"/>
                <a:ea typeface="JetBrains Mono"/>
                <a:cs typeface="JetBrains Mono"/>
              </a:rPr>
              <a:t>29,27 € </a:t>
            </a:r>
            <a:r>
              <a:rPr sz="1050" b="0" i="0">
                <a:solidFill>
                  <a:srgbClr val="1C2433"/>
                </a:solidFill>
                <a:latin typeface="Inter"/>
                <a:ea typeface="Inter"/>
                <a:cs typeface="Inter"/>
              </a:rPr>
              <a:t>60 %</a:t>
            </a:r>
          </a:p>
        </p:txBody>
      </p:sp>
      <p:sp>
        <p:nvSpPr>
          <p:cNvPr id="98" name="TextBox 97"/>
          <p:cNvSpPr txBox="1"/>
          <p:nvPr/>
        </p:nvSpPr>
        <p:spPr>
          <a:xfrm>
            <a:off x="609600" y="4876800"/>
            <a:ext cx="3175361"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DESARROLLO DE LA VERSIÓN 2 · 65 €/H</a:t>
            </a:r>
          </a:p>
        </p:txBody>
      </p:sp>
      <p:sp>
        <p:nvSpPr>
          <p:cNvPr id="99" name="Rounded Rectangle 98"/>
          <p:cNvSpPr/>
          <p:nvPr/>
        </p:nvSpPr>
        <p:spPr>
          <a:xfrm>
            <a:off x="609600" y="5105400"/>
            <a:ext cx="1032867" cy="285750"/>
          </a:xfrm>
          <a:prstGeom prst="roundRect">
            <a:avLst>
              <a:gd name="adj" fmla="val 23333"/>
            </a:avLst>
          </a:prstGeom>
          <a:solidFill>
            <a:srgbClr val="E8E3D8"/>
          </a:solidFill>
          <a:ln w="9525">
            <a:solidFill>
              <a:srgbClr val="D9D2C3"/>
            </a:solidFill>
          </a:ln>
        </p:spPr>
        <p:txBody>
          <a:bodyPr rtlCol="0" anchor="ctr"/>
          <a:lstStyle/>
          <a:p>
            <a:endParaRPr/>
          </a:p>
        </p:txBody>
      </p:sp>
      <p:sp>
        <p:nvSpPr>
          <p:cNvPr id="100" name="TextBox 99"/>
          <p:cNvSpPr txBox="1"/>
          <p:nvPr/>
        </p:nvSpPr>
        <p:spPr>
          <a:xfrm>
            <a:off x="714375" y="5153025"/>
            <a:ext cx="894350"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Medium"/>
                <a:ea typeface="Inter Medium"/>
                <a:cs typeface="Inter Medium"/>
              </a:rPr>
              <a:t>Diseño </a:t>
            </a:r>
            <a:r>
              <a:rPr sz="1100" b="0" i="0">
                <a:solidFill>
                  <a:srgbClr val="1C2433"/>
                </a:solidFill>
                <a:latin typeface="Inter SemiBold"/>
                <a:ea typeface="Inter SemiBold"/>
                <a:cs typeface="Inter SemiBold"/>
              </a:rPr>
              <a:t>40 h</a:t>
            </a:r>
          </a:p>
        </p:txBody>
      </p:sp>
      <p:sp>
        <p:nvSpPr>
          <p:cNvPr id="101" name="Rounded Rectangle 100"/>
          <p:cNvSpPr/>
          <p:nvPr/>
        </p:nvSpPr>
        <p:spPr>
          <a:xfrm>
            <a:off x="1737717" y="5105400"/>
            <a:ext cx="1256258" cy="285750"/>
          </a:xfrm>
          <a:prstGeom prst="roundRect">
            <a:avLst>
              <a:gd name="adj" fmla="val 23333"/>
            </a:avLst>
          </a:prstGeom>
          <a:solidFill>
            <a:srgbClr val="E8E3D8"/>
          </a:solidFill>
          <a:ln w="9525">
            <a:solidFill>
              <a:srgbClr val="D9D2C3"/>
            </a:solidFill>
          </a:ln>
        </p:spPr>
        <p:txBody>
          <a:bodyPr rtlCol="0" anchor="ctr"/>
          <a:lstStyle/>
          <a:p>
            <a:endParaRPr/>
          </a:p>
        </p:txBody>
      </p:sp>
      <p:sp>
        <p:nvSpPr>
          <p:cNvPr id="102" name="TextBox 101"/>
          <p:cNvSpPr txBox="1"/>
          <p:nvPr/>
        </p:nvSpPr>
        <p:spPr>
          <a:xfrm>
            <a:off x="1842492" y="5153025"/>
            <a:ext cx="1126677"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Medium"/>
                <a:ea typeface="Inter Medium"/>
                <a:cs typeface="Inter Medium"/>
              </a:rPr>
              <a:t>Desarrollo </a:t>
            </a:r>
            <a:r>
              <a:rPr sz="1100" b="0" i="0">
                <a:solidFill>
                  <a:srgbClr val="1C2433"/>
                </a:solidFill>
                <a:latin typeface="Inter SemiBold"/>
                <a:ea typeface="Inter SemiBold"/>
                <a:cs typeface="Inter SemiBold"/>
              </a:rPr>
              <a:t>90 h</a:t>
            </a:r>
          </a:p>
        </p:txBody>
      </p:sp>
      <p:sp>
        <p:nvSpPr>
          <p:cNvPr id="103" name="Rounded Rectangle 102"/>
          <p:cNvSpPr/>
          <p:nvPr/>
        </p:nvSpPr>
        <p:spPr>
          <a:xfrm>
            <a:off x="3089225" y="5105400"/>
            <a:ext cx="1263848" cy="285750"/>
          </a:xfrm>
          <a:prstGeom prst="roundRect">
            <a:avLst>
              <a:gd name="adj" fmla="val 23333"/>
            </a:avLst>
          </a:prstGeom>
          <a:solidFill>
            <a:srgbClr val="E8E3D8"/>
          </a:solidFill>
          <a:ln w="9525">
            <a:solidFill>
              <a:srgbClr val="D9D2C3"/>
            </a:solidFill>
          </a:ln>
        </p:spPr>
        <p:txBody>
          <a:bodyPr rtlCol="0" anchor="ctr"/>
          <a:lstStyle/>
          <a:p>
            <a:endParaRPr/>
          </a:p>
        </p:txBody>
      </p:sp>
      <p:sp>
        <p:nvSpPr>
          <p:cNvPr id="104" name="TextBox 103"/>
          <p:cNvSpPr txBox="1"/>
          <p:nvPr/>
        </p:nvSpPr>
        <p:spPr>
          <a:xfrm>
            <a:off x="3194000" y="5153025"/>
            <a:ext cx="1134570"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Medium"/>
                <a:ea typeface="Inter Medium"/>
                <a:cs typeface="Inter Medium"/>
              </a:rPr>
              <a:t>Validación </a:t>
            </a:r>
            <a:r>
              <a:rPr sz="1100" b="0" i="0">
                <a:solidFill>
                  <a:srgbClr val="1C2433"/>
                </a:solidFill>
                <a:latin typeface="Inter SemiBold"/>
                <a:ea typeface="Inter SemiBold"/>
                <a:cs typeface="Inter SemiBold"/>
              </a:rPr>
              <a:t>60 h</a:t>
            </a:r>
          </a:p>
        </p:txBody>
      </p:sp>
      <p:sp>
        <p:nvSpPr>
          <p:cNvPr id="105" name="Rounded Rectangle 104"/>
          <p:cNvSpPr/>
          <p:nvPr/>
        </p:nvSpPr>
        <p:spPr>
          <a:xfrm>
            <a:off x="4448324" y="5105400"/>
            <a:ext cx="1321296" cy="285750"/>
          </a:xfrm>
          <a:prstGeom prst="roundRect">
            <a:avLst>
              <a:gd name="adj" fmla="val 23333"/>
            </a:avLst>
          </a:prstGeom>
          <a:solidFill>
            <a:srgbClr val="E8E3D8"/>
          </a:solidFill>
          <a:ln w="9525">
            <a:solidFill>
              <a:srgbClr val="D9D2C3"/>
            </a:solidFill>
          </a:ln>
        </p:spPr>
        <p:txBody>
          <a:bodyPr rtlCol="0" anchor="ctr"/>
          <a:lstStyle/>
          <a:p>
            <a:endParaRPr/>
          </a:p>
        </p:txBody>
      </p:sp>
      <p:sp>
        <p:nvSpPr>
          <p:cNvPr id="106" name="TextBox 105"/>
          <p:cNvSpPr txBox="1"/>
          <p:nvPr/>
        </p:nvSpPr>
        <p:spPr>
          <a:xfrm>
            <a:off x="4553099" y="5153025"/>
            <a:ext cx="1194316" cy="180975"/>
          </a:xfrm>
          <a:prstGeom prst="rect">
            <a:avLst/>
          </a:prstGeom>
          <a:noFill/>
        </p:spPr>
        <p:txBody>
          <a:bodyPr wrap="none" lIns="0" tIns="0" rIns="0" bIns="0" anchor="t">
            <a:noAutofit/>
          </a:bodyPr>
          <a:lstStyle/>
          <a:p>
            <a:pPr algn="l">
              <a:lnSpc>
                <a:spcPts val="1350"/>
              </a:lnSpc>
              <a:spcBef>
                <a:spcPts val="0"/>
              </a:spcBef>
              <a:spcAft>
                <a:spcPts val="0"/>
              </a:spcAft>
            </a:pPr>
            <a:r>
              <a:rPr sz="1100" b="0" i="0">
                <a:solidFill>
                  <a:srgbClr val="1C2433"/>
                </a:solidFill>
                <a:latin typeface="Inter Medium"/>
                <a:ea typeface="Inter Medium"/>
                <a:cs typeface="Inter Medium"/>
              </a:rPr>
              <a:t>Despliegue </a:t>
            </a:r>
            <a:r>
              <a:rPr sz="1100" b="0" i="0">
                <a:solidFill>
                  <a:srgbClr val="1C2433"/>
                </a:solidFill>
                <a:latin typeface="Inter SemiBold"/>
                <a:ea typeface="Inter SemiBold"/>
                <a:cs typeface="Inter SemiBold"/>
              </a:rPr>
              <a:t>20 h</a:t>
            </a:r>
          </a:p>
        </p:txBody>
      </p:sp>
      <p:sp>
        <p:nvSpPr>
          <p:cNvPr id="107" name="TextBox 106"/>
          <p:cNvSpPr txBox="1"/>
          <p:nvPr/>
        </p:nvSpPr>
        <p:spPr>
          <a:xfrm>
            <a:off x="5864870" y="5153025"/>
            <a:ext cx="4707696" cy="190500"/>
          </a:xfrm>
          <a:prstGeom prst="rect">
            <a:avLst/>
          </a:prstGeom>
          <a:noFill/>
        </p:spPr>
        <p:txBody>
          <a:bodyPr wrap="none" lIns="0" tIns="0" rIns="0" bIns="0" anchor="t">
            <a:noAutofit/>
          </a:bodyPr>
          <a:lstStyle/>
          <a:p>
            <a:pPr algn="l">
              <a:lnSpc>
                <a:spcPts val="1500"/>
              </a:lnSpc>
              <a:spcBef>
                <a:spcPts val="0"/>
              </a:spcBef>
              <a:spcAft>
                <a:spcPts val="0"/>
              </a:spcAft>
            </a:pPr>
            <a:r>
              <a:rPr sz="1200" b="0" i="0">
                <a:solidFill>
                  <a:srgbClr val="1C2433"/>
                </a:solidFill>
                <a:latin typeface="Inter SemiBold"/>
                <a:ea typeface="Inter SemiBold"/>
                <a:cs typeface="Inter SemiBold"/>
              </a:rPr>
              <a:t>= </a:t>
            </a:r>
            <a:r>
              <a:rPr sz="1200" b="1" i="0">
                <a:solidFill>
                  <a:srgbClr val="9A7A2E"/>
                </a:solidFill>
                <a:latin typeface="Inter"/>
                <a:ea typeface="Inter"/>
                <a:cs typeface="Inter"/>
              </a:rPr>
              <a:t>210 h · 13.650 €</a:t>
            </a:r>
            <a:r>
              <a:rPr sz="1200" b="0" i="0">
                <a:solidFill>
                  <a:srgbClr val="1C2433"/>
                </a:solidFill>
                <a:latin typeface="Inter SemiBold"/>
                <a:ea typeface="Inter SemiBold"/>
                <a:cs typeface="Inter SemiBold"/>
              </a:rPr>
              <a:t>, más ≈300 € de ejecuciones de evaluación</a:t>
            </a:r>
          </a:p>
        </p:txBody>
      </p:sp>
      <p:sp>
        <p:nvSpPr>
          <p:cNvPr id="108" name="TextBox 107"/>
          <p:cNvSpPr txBox="1"/>
          <p:nvPr/>
        </p:nvSpPr>
        <p:spPr>
          <a:xfrm>
            <a:off x="609600" y="5505450"/>
            <a:ext cx="11048162" cy="504825"/>
          </a:xfrm>
          <a:prstGeom prst="rect">
            <a:avLst/>
          </a:prstGeom>
          <a:noFill/>
        </p:spPr>
        <p:txBody>
          <a:bodyPr wrap="square" lIns="0" tIns="0" rIns="0" bIns="0" anchor="t">
            <a:noAutofit/>
          </a:bodyPr>
          <a:lstStyle/>
          <a:p>
            <a:pPr algn="l">
              <a:lnSpc>
                <a:spcPts val="1350"/>
              </a:lnSpc>
              <a:spcBef>
                <a:spcPts val="0"/>
              </a:spcBef>
              <a:spcAft>
                <a:spcPts val="0"/>
              </a:spcAft>
            </a:pPr>
            <a:r>
              <a:rPr sz="1050" b="0" i="0">
                <a:solidFill>
                  <a:srgbClr val="7D7869"/>
                </a:solidFill>
                <a:latin typeface="Inter"/>
                <a:ea typeface="Inter"/>
                <a:cs typeface="Inter"/>
              </a:rPr>
              <a:t>Precios oficiales por millón de tokens (entrada/salida): Haiku 4.5 1/5 $ · Sonnet 5 2/10 $ · Opus 5 5/25 $. Multiplicadores sobre el coste medido por fase (2,98 $ por novela de 10 capítulos): v2 A investigación ×3, trama ×3, escritura ×3, juez ×2; v2 B investigación ×5, trama ×9, escritura ×3, juez ×6 (Opus con ×1,2 por tokenizador). Estimación, no medición.</a:t>
            </a:r>
          </a:p>
        </p:txBody>
      </p:sp>
      <p:pic>
        <p:nvPicPr>
          <p:cNvPr id="109" name="Picture 108" descr="r003.png"/>
          <p:cNvPicPr>
            <a:picLocks noChangeAspect="1"/>
          </p:cNvPicPr>
          <p:nvPr/>
        </p:nvPicPr>
        <p:blipFill>
          <a:blip r:embed="rId3"/>
          <a:stretch>
            <a:fillRect/>
          </a:stretch>
        </p:blipFill>
        <p:spPr>
          <a:xfrm>
            <a:off x="381000" y="6343650"/>
            <a:ext cx="11430000" cy="76200"/>
          </a:xfrm>
          <a:prstGeom prst="rect">
            <a:avLst/>
          </a:prstGeom>
        </p:spPr>
      </p:pic>
      <p:pic>
        <p:nvPicPr>
          <p:cNvPr id="110" name="Picture 109" descr="r004.png"/>
          <p:cNvPicPr>
            <a:picLocks noChangeAspect="1"/>
          </p:cNvPicPr>
          <p:nvPr/>
        </p:nvPicPr>
        <p:blipFill>
          <a:blip r:embed="rId4"/>
          <a:stretch>
            <a:fillRect/>
          </a:stretch>
        </p:blipFill>
        <p:spPr>
          <a:xfrm>
            <a:off x="381000" y="6505575"/>
            <a:ext cx="171450" cy="190500"/>
          </a:xfrm>
          <a:prstGeom prst="rect">
            <a:avLst/>
          </a:prstGeom>
        </p:spPr>
      </p:pic>
      <p:sp>
        <p:nvSpPr>
          <p:cNvPr id="111" name="TextBox 110"/>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112" name="TextBox 111"/>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113" name="TextBox 112"/>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114" name="TextBox 113"/>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21 / 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extBox 1"/>
          <p:cNvSpPr txBox="1"/>
          <p:nvPr/>
        </p:nvSpPr>
        <p:spPr>
          <a:xfrm>
            <a:off x="2140000" y="323850"/>
            <a:ext cx="579215"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7D7869"/>
                </a:solidFill>
                <a:latin typeface="Inter SemiBold"/>
                <a:ea typeface="Inter SemiBold"/>
                <a:cs typeface="Inter SemiBold"/>
              </a:rPr>
              <a:t>CIERRE</a:t>
            </a:r>
          </a:p>
        </p:txBody>
      </p:sp>
      <p:sp>
        <p:nvSpPr>
          <p:cNvPr id="3" name="TextBox 2"/>
          <p:cNvSpPr txBox="1"/>
          <p:nvPr/>
        </p:nvSpPr>
        <p:spPr>
          <a:xfrm>
            <a:off x="609600" y="323850"/>
            <a:ext cx="1114604" cy="142875"/>
          </a:xfrm>
          <a:prstGeom prst="rect">
            <a:avLst/>
          </a:prstGeom>
          <a:noFill/>
        </p:spPr>
        <p:txBody>
          <a:bodyPr wrap="none" lIns="0" tIns="0" rIns="0" bIns="0" anchor="t">
            <a:noAutofit/>
          </a:bodyPr>
          <a:lstStyle/>
          <a:p>
            <a:pPr algn="l">
              <a:lnSpc>
                <a:spcPts val="1200"/>
              </a:lnSpc>
              <a:spcBef>
                <a:spcPts val="0"/>
              </a:spcBef>
              <a:spcAft>
                <a:spcPts val="0"/>
              </a:spcAft>
            </a:pPr>
            <a:r>
              <a:rPr sz="950" b="0" i="0" spc="131">
                <a:solidFill>
                  <a:srgbClr val="1C2433"/>
                </a:solidFill>
                <a:latin typeface="Inter SemiBold"/>
                <a:ea typeface="Inter SemiBold"/>
                <a:cs typeface="Inter SemiBold"/>
              </a:rPr>
              <a:t>CAPÍTULO VIII</a:t>
            </a:r>
          </a:p>
        </p:txBody>
      </p:sp>
      <p:sp>
        <p:nvSpPr>
          <p:cNvPr id="4" name="Rectangle 3"/>
          <p:cNvSpPr/>
          <p:nvPr/>
        </p:nvSpPr>
        <p:spPr>
          <a:xfrm>
            <a:off x="1759000" y="395288"/>
            <a:ext cx="266700" cy="9525"/>
          </a:xfrm>
          <a:prstGeom prst="rect">
            <a:avLst/>
          </a:prstGeom>
          <a:noFill/>
          <a:ln>
            <a:noFill/>
          </a:ln>
        </p:spPr>
        <p:txBody>
          <a:bodyPr rtlCol="0" anchor="ctr"/>
          <a:lstStyle/>
          <a:p>
            <a:endParaRPr/>
          </a:p>
        </p:txBody>
      </p:sp>
      <p:cxnSp>
        <p:nvCxnSpPr>
          <p:cNvPr id="5" name="Connector 4"/>
          <p:cNvCxnSpPr/>
          <p:nvPr/>
        </p:nvCxnSpPr>
        <p:spPr>
          <a:xfrm>
            <a:off x="1759000" y="400050"/>
            <a:ext cx="266700" cy="0"/>
          </a:xfrm>
          <a:prstGeom prst="line">
            <a:avLst/>
          </a:prstGeom>
          <a:ln w="9525">
            <a:solidFill>
              <a:srgbClr val="C9A34E"/>
            </a:solidFill>
          </a:ln>
        </p:spPr>
      </p:cxnSp>
      <p:sp>
        <p:nvSpPr>
          <p:cNvPr id="6" name="TextBox 5"/>
          <p:cNvSpPr txBox="1"/>
          <p:nvPr/>
        </p:nvSpPr>
        <p:spPr>
          <a:xfrm>
            <a:off x="609600" y="561975"/>
            <a:ext cx="9720441" cy="419100"/>
          </a:xfrm>
          <a:prstGeom prst="rect">
            <a:avLst/>
          </a:prstGeom>
          <a:noFill/>
        </p:spPr>
        <p:txBody>
          <a:bodyPr wrap="none" lIns="0" tIns="0" rIns="0" bIns="0" anchor="t">
            <a:noAutofit/>
          </a:bodyPr>
          <a:lstStyle/>
          <a:p>
            <a:pPr algn="l">
              <a:lnSpc>
                <a:spcPts val="3150"/>
              </a:lnSpc>
              <a:spcBef>
                <a:spcPts val="0"/>
              </a:spcBef>
              <a:spcAft>
                <a:spcPts val="0"/>
              </a:spcAft>
            </a:pPr>
            <a:r>
              <a:rPr sz="2700" b="0" i="0" spc="-27">
                <a:solidFill>
                  <a:srgbClr val="1C2433"/>
                </a:solidFill>
                <a:latin typeface="Fraunces SemiBold"/>
                <a:ea typeface="Fraunces SemiBold"/>
                <a:cs typeface="Fraunces SemiBold"/>
              </a:rPr>
              <a:t>Lo que queda por hacer antes de vender la primera novela</a:t>
            </a:r>
          </a:p>
        </p:txBody>
      </p:sp>
      <p:sp>
        <p:nvSpPr>
          <p:cNvPr id="7" name="TextBox 6"/>
          <p:cNvSpPr txBox="1"/>
          <p:nvPr/>
        </p:nvSpPr>
        <p:spPr>
          <a:xfrm>
            <a:off x="609600" y="1257300"/>
            <a:ext cx="725019"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B23A2B"/>
                </a:solidFill>
                <a:latin typeface="Inter SemiBold"/>
                <a:ea typeface="Inter SemiBold"/>
                <a:cs typeface="Inter SemiBold"/>
              </a:rPr>
              <a:t>RIESGOS</a:t>
            </a:r>
          </a:p>
        </p:txBody>
      </p:sp>
      <p:pic>
        <p:nvPicPr>
          <p:cNvPr id="8" name="Picture 7" descr="r060.png"/>
          <p:cNvPicPr>
            <a:picLocks noChangeAspect="1"/>
          </p:cNvPicPr>
          <p:nvPr/>
        </p:nvPicPr>
        <p:blipFill>
          <a:blip r:embed="rId3"/>
          <a:stretch>
            <a:fillRect/>
          </a:stretch>
        </p:blipFill>
        <p:spPr>
          <a:xfrm>
            <a:off x="609600" y="1485900"/>
            <a:ext cx="247650" cy="247650"/>
          </a:xfrm>
          <a:prstGeom prst="rect">
            <a:avLst/>
          </a:prstGeom>
        </p:spPr>
      </p:pic>
      <p:sp>
        <p:nvSpPr>
          <p:cNvPr id="9" name="TextBox 8"/>
          <p:cNvSpPr txBox="1"/>
          <p:nvPr/>
        </p:nvSpPr>
        <p:spPr>
          <a:xfrm>
            <a:off x="990600" y="1495425"/>
            <a:ext cx="48772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Hoy el modelo se usa a través de una sesión de Claude Code: producción necesita </a:t>
            </a:r>
            <a:r>
              <a:rPr sz="1300" b="0" i="0">
                <a:solidFill>
                  <a:srgbClr val="1C2433"/>
                </a:solidFill>
                <a:latin typeface="Inter SemiBold"/>
                <a:ea typeface="Inter SemiBold"/>
                <a:cs typeface="Inter SemiBold"/>
              </a:rPr>
              <a:t>API propia</a:t>
            </a:r>
            <a:r>
              <a:rPr sz="1300" b="0" i="0">
                <a:solidFill>
                  <a:srgbClr val="1C2433"/>
                </a:solidFill>
                <a:latin typeface="Inter"/>
                <a:ea typeface="Inter"/>
                <a:cs typeface="Inter"/>
              </a:rPr>
              <a:t> con límites de throughput</a:t>
            </a:r>
          </a:p>
        </p:txBody>
      </p:sp>
      <p:pic>
        <p:nvPicPr>
          <p:cNvPr id="10" name="Picture 9" descr="r060.png"/>
          <p:cNvPicPr>
            <a:picLocks noChangeAspect="1"/>
          </p:cNvPicPr>
          <p:nvPr/>
        </p:nvPicPr>
        <p:blipFill>
          <a:blip r:embed="rId3"/>
          <a:stretch>
            <a:fillRect/>
          </a:stretch>
        </p:blipFill>
        <p:spPr>
          <a:xfrm>
            <a:off x="609600" y="2057400"/>
            <a:ext cx="247650" cy="247650"/>
          </a:xfrm>
          <a:prstGeom prst="rect">
            <a:avLst/>
          </a:prstGeom>
        </p:spPr>
      </p:pic>
      <p:sp>
        <p:nvSpPr>
          <p:cNvPr id="11" name="TextBox 10"/>
          <p:cNvSpPr txBox="1"/>
          <p:nvPr/>
        </p:nvSpPr>
        <p:spPr>
          <a:xfrm>
            <a:off x="990600" y="2066925"/>
            <a:ext cx="48772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El juez y el writer son el mismo modelo: sesgo; se compensa con revisión humana y el tope de continuidad</a:t>
            </a:r>
          </a:p>
        </p:txBody>
      </p:sp>
      <p:pic>
        <p:nvPicPr>
          <p:cNvPr id="12" name="Picture 11" descr="r060.png"/>
          <p:cNvPicPr>
            <a:picLocks noChangeAspect="1"/>
          </p:cNvPicPr>
          <p:nvPr/>
        </p:nvPicPr>
        <p:blipFill>
          <a:blip r:embed="rId3"/>
          <a:stretch>
            <a:fillRect/>
          </a:stretch>
        </p:blipFill>
        <p:spPr>
          <a:xfrm>
            <a:off x="609600" y="2628900"/>
            <a:ext cx="247650" cy="247650"/>
          </a:xfrm>
          <a:prstGeom prst="rect">
            <a:avLst/>
          </a:prstGeom>
        </p:spPr>
      </p:pic>
      <p:sp>
        <p:nvSpPr>
          <p:cNvPr id="13" name="TextBox 12"/>
          <p:cNvSpPr txBox="1"/>
          <p:nvPr/>
        </p:nvSpPr>
        <p:spPr>
          <a:xfrm>
            <a:off x="990600" y="2638425"/>
            <a:ext cx="4877257" cy="419100"/>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Sin el toolchain de Lean, la cronología se evalúa en Python: la instalación de producción debe llevar </a:t>
            </a:r>
            <a:r>
              <a:rPr sz="1150" b="0" i="0">
                <a:solidFill>
                  <a:srgbClr val="1C2433"/>
                </a:solidFill>
                <a:latin typeface="JetBrains Mono Medium"/>
                <a:ea typeface="JetBrains Mono Medium"/>
                <a:cs typeface="JetBrains Mono Medium"/>
              </a:rPr>
              <a:t>lake</a:t>
            </a:r>
          </a:p>
        </p:txBody>
      </p:sp>
      <p:pic>
        <p:nvPicPr>
          <p:cNvPr id="14" name="Picture 13" descr="r060.png"/>
          <p:cNvPicPr>
            <a:picLocks noChangeAspect="1"/>
          </p:cNvPicPr>
          <p:nvPr/>
        </p:nvPicPr>
        <p:blipFill>
          <a:blip r:embed="rId3"/>
          <a:stretch>
            <a:fillRect/>
          </a:stretch>
        </p:blipFill>
        <p:spPr>
          <a:xfrm>
            <a:off x="609600" y="3200400"/>
            <a:ext cx="247650" cy="247650"/>
          </a:xfrm>
          <a:prstGeom prst="rect">
            <a:avLst/>
          </a:prstGeom>
        </p:spPr>
      </p:pic>
      <p:sp>
        <p:nvSpPr>
          <p:cNvPr id="15" name="TextBox 14"/>
          <p:cNvSpPr txBox="1"/>
          <p:nvPr/>
        </p:nvSpPr>
        <p:spPr>
          <a:xfrm>
            <a:off x="990600" y="3209925"/>
            <a:ext cx="48772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El coste de tokens es una estimación en cliente del SDK, no una factura</a:t>
            </a:r>
          </a:p>
        </p:txBody>
      </p:sp>
      <p:pic>
        <p:nvPicPr>
          <p:cNvPr id="16" name="Picture 15" descr="r060.png"/>
          <p:cNvPicPr>
            <a:picLocks noChangeAspect="1"/>
          </p:cNvPicPr>
          <p:nvPr/>
        </p:nvPicPr>
        <p:blipFill>
          <a:blip r:embed="rId3"/>
          <a:stretch>
            <a:fillRect/>
          </a:stretch>
        </p:blipFill>
        <p:spPr>
          <a:xfrm>
            <a:off x="609600" y="3771900"/>
            <a:ext cx="247650" cy="247650"/>
          </a:xfrm>
          <a:prstGeom prst="rect">
            <a:avLst/>
          </a:prstGeom>
        </p:spPr>
      </p:pic>
      <p:sp>
        <p:nvSpPr>
          <p:cNvPr id="17" name="TextBox 16"/>
          <p:cNvSpPr txBox="1"/>
          <p:nvPr/>
        </p:nvSpPr>
        <p:spPr>
          <a:xfrm>
            <a:off x="990600" y="3781425"/>
            <a:ext cx="4877257" cy="409575"/>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Las fechas vitales de los personajes históricos que no están en el corpus </a:t>
            </a:r>
            <a:r>
              <a:rPr sz="1300" b="0" i="0">
                <a:solidFill>
                  <a:srgbClr val="1C2433"/>
                </a:solidFill>
                <a:latin typeface="Inter SemiBold"/>
                <a:ea typeface="Inter SemiBold"/>
                <a:cs typeface="Inter SemiBold"/>
              </a:rPr>
              <a:t>las pone el arquitecto sin fuente</a:t>
            </a:r>
            <a:r>
              <a:rPr sz="1300" b="0" i="0">
                <a:solidFill>
                  <a:srgbClr val="1C2433"/>
                </a:solidFill>
                <a:latin typeface="Inter"/>
                <a:ea typeface="Inter"/>
                <a:cs typeface="Inter"/>
              </a:rPr>
              <a:t> (RT-09)</a:t>
            </a:r>
          </a:p>
        </p:txBody>
      </p:sp>
      <p:sp>
        <p:nvSpPr>
          <p:cNvPr id="18" name="TextBox 17"/>
          <p:cNvSpPr txBox="1"/>
          <p:nvPr/>
        </p:nvSpPr>
        <p:spPr>
          <a:xfrm>
            <a:off x="6362700" y="1257300"/>
            <a:ext cx="1559445" cy="152400"/>
          </a:xfrm>
          <a:prstGeom prst="rect">
            <a:avLst/>
          </a:prstGeom>
          <a:noFill/>
        </p:spPr>
        <p:txBody>
          <a:bodyPr wrap="none" lIns="0" tIns="0" rIns="0" bIns="0" anchor="t">
            <a:noAutofit/>
          </a:bodyPr>
          <a:lstStyle/>
          <a:p>
            <a:pPr algn="l">
              <a:lnSpc>
                <a:spcPts val="1200"/>
              </a:lnSpc>
              <a:spcBef>
                <a:spcPts val="0"/>
              </a:spcBef>
              <a:spcAft>
                <a:spcPts val="0"/>
              </a:spcAft>
            </a:pPr>
            <a:r>
              <a:rPr sz="1000" b="0" i="0" spc="136">
                <a:solidFill>
                  <a:srgbClr val="7D7869"/>
                </a:solidFill>
                <a:latin typeface="Inter SemiBold"/>
                <a:ea typeface="Inter SemiBold"/>
                <a:cs typeface="Inter SemiBold"/>
              </a:rPr>
              <a:t>SIGUIENTES PASOS</a:t>
            </a:r>
          </a:p>
        </p:txBody>
      </p:sp>
      <p:sp>
        <p:nvSpPr>
          <p:cNvPr id="19" name="TextBox 18"/>
          <p:cNvSpPr txBox="1"/>
          <p:nvPr/>
        </p:nvSpPr>
        <p:spPr>
          <a:xfrm>
            <a:off x="6362700" y="1447800"/>
            <a:ext cx="168116" cy="323850"/>
          </a:xfrm>
          <a:prstGeom prst="rect">
            <a:avLst/>
          </a:prstGeom>
          <a:noFill/>
        </p:spPr>
        <p:txBody>
          <a:bodyPr wrap="none" lIns="0" tIns="0" rIns="0" bIns="0" anchor="t">
            <a:noAutofit/>
          </a:bodyPr>
          <a:lstStyle/>
          <a:p>
            <a:pPr algn="l">
              <a:lnSpc>
                <a:spcPts val="1950"/>
              </a:lnSpc>
              <a:spcBef>
                <a:spcPts val="0"/>
              </a:spcBef>
              <a:spcAft>
                <a:spcPts val="0"/>
              </a:spcAft>
            </a:pPr>
            <a:r>
              <a:rPr sz="2100" b="0" i="0">
                <a:solidFill>
                  <a:srgbClr val="9A7A2E"/>
                </a:solidFill>
                <a:latin typeface="Fraunces SemiBold"/>
                <a:ea typeface="Fraunces SemiBold"/>
                <a:cs typeface="Fraunces SemiBold"/>
              </a:rPr>
              <a:t>1</a:t>
            </a:r>
          </a:p>
        </p:txBody>
      </p:sp>
      <p:sp>
        <p:nvSpPr>
          <p:cNvPr id="20" name="TextBox 19"/>
          <p:cNvSpPr txBox="1"/>
          <p:nvPr/>
        </p:nvSpPr>
        <p:spPr>
          <a:xfrm>
            <a:off x="6743700" y="1495425"/>
            <a:ext cx="4194441" cy="190500"/>
          </a:xfrm>
          <a:prstGeom prst="rect">
            <a:avLst/>
          </a:prstGeom>
          <a:noFill/>
        </p:spPr>
        <p:txBody>
          <a:bodyPr wrap="non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Piloto con </a:t>
            </a:r>
            <a:r>
              <a:rPr sz="1300" b="0" i="0">
                <a:solidFill>
                  <a:srgbClr val="1C2433"/>
                </a:solidFill>
                <a:latin typeface="Inter SemiBold"/>
                <a:ea typeface="Inter SemiBold"/>
                <a:cs typeface="Inter SemiBold"/>
              </a:rPr>
              <a:t>50 novelas reales</a:t>
            </a:r>
            <a:r>
              <a:rPr sz="1300" b="0" i="0">
                <a:solidFill>
                  <a:srgbClr val="1C2433"/>
                </a:solidFill>
                <a:latin typeface="Inter"/>
                <a:ea typeface="Inter"/>
                <a:cs typeface="Inter"/>
              </a:rPr>
              <a:t> de clientes de Relicario</a:t>
            </a:r>
          </a:p>
        </p:txBody>
      </p:sp>
      <p:sp>
        <p:nvSpPr>
          <p:cNvPr id="21" name="TextBox 20"/>
          <p:cNvSpPr txBox="1"/>
          <p:nvPr/>
        </p:nvSpPr>
        <p:spPr>
          <a:xfrm>
            <a:off x="6362700" y="1828800"/>
            <a:ext cx="209598" cy="323850"/>
          </a:xfrm>
          <a:prstGeom prst="rect">
            <a:avLst/>
          </a:prstGeom>
          <a:noFill/>
        </p:spPr>
        <p:txBody>
          <a:bodyPr wrap="none" lIns="0" tIns="0" rIns="0" bIns="0" anchor="t">
            <a:noAutofit/>
          </a:bodyPr>
          <a:lstStyle/>
          <a:p>
            <a:pPr algn="l">
              <a:lnSpc>
                <a:spcPts val="1950"/>
              </a:lnSpc>
              <a:spcBef>
                <a:spcPts val="0"/>
              </a:spcBef>
              <a:spcAft>
                <a:spcPts val="0"/>
              </a:spcAft>
            </a:pPr>
            <a:r>
              <a:rPr sz="2100" b="0" i="0">
                <a:solidFill>
                  <a:srgbClr val="9A7A2E"/>
                </a:solidFill>
                <a:latin typeface="Fraunces SemiBold"/>
                <a:ea typeface="Fraunces SemiBold"/>
                <a:cs typeface="Fraunces SemiBold"/>
              </a:rPr>
              <a:t>2</a:t>
            </a:r>
          </a:p>
        </p:txBody>
      </p:sp>
      <p:sp>
        <p:nvSpPr>
          <p:cNvPr id="22" name="TextBox 21"/>
          <p:cNvSpPr txBox="1"/>
          <p:nvPr/>
        </p:nvSpPr>
        <p:spPr>
          <a:xfrm>
            <a:off x="6743700" y="1876425"/>
            <a:ext cx="4877257" cy="628650"/>
          </a:xfrm>
          <a:prstGeom prst="rect">
            <a:avLst/>
          </a:prstGeom>
          <a:noFill/>
        </p:spPr>
        <p:txBody>
          <a:bodyPr wrap="squar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Fechas vitales de los personajes históricos </a:t>
            </a:r>
            <a:r>
              <a:rPr sz="1300" b="0" i="0">
                <a:solidFill>
                  <a:srgbClr val="1C2433"/>
                </a:solidFill>
                <a:latin typeface="Inter SemiBold"/>
                <a:ea typeface="Inter SemiBold"/>
                <a:cs typeface="Inter SemiBold"/>
              </a:rPr>
              <a:t>solo desde el corpus sellado</a:t>
            </a:r>
            <a:r>
              <a:rPr sz="1300" b="0" i="0">
                <a:solidFill>
                  <a:srgbClr val="1C2433"/>
                </a:solidFill>
                <a:latin typeface="Inter"/>
                <a:ea typeface="Inter"/>
                <a:cs typeface="Inter"/>
              </a:rPr>
              <a:t>: la mitigación determinista de RT-09 va primero, porque «determinista antes que modelo»</a:t>
            </a:r>
          </a:p>
        </p:txBody>
      </p:sp>
      <p:sp>
        <p:nvSpPr>
          <p:cNvPr id="23" name="TextBox 22"/>
          <p:cNvSpPr txBox="1"/>
          <p:nvPr/>
        </p:nvSpPr>
        <p:spPr>
          <a:xfrm>
            <a:off x="6362700" y="2619375"/>
            <a:ext cx="194893" cy="323850"/>
          </a:xfrm>
          <a:prstGeom prst="rect">
            <a:avLst/>
          </a:prstGeom>
          <a:noFill/>
        </p:spPr>
        <p:txBody>
          <a:bodyPr wrap="none" lIns="0" tIns="0" rIns="0" bIns="0" anchor="t">
            <a:noAutofit/>
          </a:bodyPr>
          <a:lstStyle/>
          <a:p>
            <a:pPr algn="l">
              <a:lnSpc>
                <a:spcPts val="1950"/>
              </a:lnSpc>
              <a:spcBef>
                <a:spcPts val="0"/>
              </a:spcBef>
              <a:spcAft>
                <a:spcPts val="0"/>
              </a:spcAft>
            </a:pPr>
            <a:r>
              <a:rPr sz="2100" b="0" i="0">
                <a:solidFill>
                  <a:srgbClr val="9A7A2E"/>
                </a:solidFill>
                <a:latin typeface="Fraunces SemiBold"/>
                <a:ea typeface="Fraunces SemiBold"/>
                <a:cs typeface="Fraunces SemiBold"/>
              </a:rPr>
              <a:t>3</a:t>
            </a:r>
          </a:p>
        </p:txBody>
      </p:sp>
      <p:sp>
        <p:nvSpPr>
          <p:cNvPr id="24" name="TextBox 23"/>
          <p:cNvSpPr txBox="1"/>
          <p:nvPr/>
        </p:nvSpPr>
        <p:spPr>
          <a:xfrm>
            <a:off x="6743700" y="2667000"/>
            <a:ext cx="4596717" cy="190500"/>
          </a:xfrm>
          <a:prstGeom prst="rect">
            <a:avLst/>
          </a:prstGeom>
          <a:noFill/>
        </p:spPr>
        <p:txBody>
          <a:bodyPr wrap="none" lIns="0" tIns="0" rIns="0" bIns="0" anchor="t">
            <a:noAutofit/>
          </a:bodyPr>
          <a:lstStyle/>
          <a:p>
            <a:pPr algn="l">
              <a:lnSpc>
                <a:spcPts val="1725"/>
              </a:lnSpc>
              <a:spcBef>
                <a:spcPts val="0"/>
              </a:spcBef>
              <a:spcAft>
                <a:spcPts val="0"/>
              </a:spcAft>
            </a:pPr>
            <a:r>
              <a:rPr sz="1300" b="0" i="0">
                <a:solidFill>
                  <a:srgbClr val="1C2433"/>
                </a:solidFill>
                <a:latin typeface="Inter"/>
                <a:ea typeface="Inter"/>
                <a:cs typeface="Inter"/>
              </a:rPr>
              <a:t>La </a:t>
            </a:r>
            <a:r>
              <a:rPr sz="1300" b="0" i="0">
                <a:solidFill>
                  <a:srgbClr val="1C2433"/>
                </a:solidFill>
                <a:latin typeface="Inter SemiBold"/>
                <a:ea typeface="Inter SemiBold"/>
                <a:cs typeface="Inter SemiBold"/>
              </a:rPr>
              <a:t>versión 2</a:t>
            </a:r>
            <a:r>
              <a:rPr sz="1300" b="0" i="0">
                <a:solidFill>
                  <a:srgbClr val="1C2433"/>
                </a:solidFill>
                <a:latin typeface="Inter"/>
                <a:ea typeface="Inter"/>
                <a:cs typeface="Inter"/>
              </a:rPr>
              <a:t>: críticos internos y modelos por rol (slide 21)</a:t>
            </a:r>
          </a:p>
        </p:txBody>
      </p:sp>
      <p:sp>
        <p:nvSpPr>
          <p:cNvPr id="25" name="TextBox 24"/>
          <p:cNvSpPr txBox="1"/>
          <p:nvPr/>
        </p:nvSpPr>
        <p:spPr>
          <a:xfrm>
            <a:off x="609600" y="5372100"/>
            <a:ext cx="7417760" cy="180975"/>
          </a:xfrm>
          <a:prstGeom prst="rect">
            <a:avLst/>
          </a:prstGeom>
          <a:noFill/>
        </p:spPr>
        <p:txBody>
          <a:bodyPr wrap="none" lIns="0" tIns="0" rIns="0" bIns="0" anchor="t">
            <a:noAutofit/>
          </a:bodyPr>
          <a:lstStyle/>
          <a:p>
            <a:pPr algn="l">
              <a:lnSpc>
                <a:spcPts val="1425"/>
              </a:lnSpc>
              <a:spcBef>
                <a:spcPts val="0"/>
              </a:spcBef>
              <a:spcAft>
                <a:spcPts val="0"/>
              </a:spcAft>
            </a:pPr>
            <a:r>
              <a:rPr sz="1100" b="0" i="0">
                <a:solidFill>
                  <a:srgbClr val="7D7869"/>
                </a:solidFill>
                <a:latin typeface="Inter"/>
                <a:ea typeface="Inter"/>
                <a:cs typeface="Inter"/>
              </a:rPr>
              <a:t>Los tokens son ~20 % del coste unitario de la PoC; en la v2 suben, pero la supervisión humana baja más.</a:t>
            </a:r>
          </a:p>
        </p:txBody>
      </p:sp>
      <p:pic>
        <p:nvPicPr>
          <p:cNvPr id="26" name="Picture 25" descr="r003.png"/>
          <p:cNvPicPr>
            <a:picLocks noChangeAspect="1"/>
          </p:cNvPicPr>
          <p:nvPr/>
        </p:nvPicPr>
        <p:blipFill>
          <a:blip r:embed="rId4"/>
          <a:stretch>
            <a:fillRect/>
          </a:stretch>
        </p:blipFill>
        <p:spPr>
          <a:xfrm>
            <a:off x="381000" y="6343650"/>
            <a:ext cx="11430000" cy="76200"/>
          </a:xfrm>
          <a:prstGeom prst="rect">
            <a:avLst/>
          </a:prstGeom>
        </p:spPr>
      </p:pic>
      <p:pic>
        <p:nvPicPr>
          <p:cNvPr id="27" name="Picture 26" descr="r004.png"/>
          <p:cNvPicPr>
            <a:picLocks noChangeAspect="1"/>
          </p:cNvPicPr>
          <p:nvPr/>
        </p:nvPicPr>
        <p:blipFill>
          <a:blip r:embed="rId5"/>
          <a:stretch>
            <a:fillRect/>
          </a:stretch>
        </p:blipFill>
        <p:spPr>
          <a:xfrm>
            <a:off x="381000" y="6505575"/>
            <a:ext cx="171450" cy="190500"/>
          </a:xfrm>
          <a:prstGeom prst="rect">
            <a:avLst/>
          </a:prstGeom>
        </p:spPr>
      </p:pic>
      <p:sp>
        <p:nvSpPr>
          <p:cNvPr id="28" name="TextBox 27"/>
          <p:cNvSpPr txBox="1"/>
          <p:nvPr/>
        </p:nvSpPr>
        <p:spPr>
          <a:xfrm>
            <a:off x="628650" y="6504384"/>
            <a:ext cx="666048" cy="180975"/>
          </a:xfrm>
          <a:prstGeom prst="rect">
            <a:avLst/>
          </a:prstGeom>
          <a:noFill/>
        </p:spPr>
        <p:txBody>
          <a:bodyPr wrap="none" lIns="0" tIns="0" rIns="0" bIns="0" anchor="t">
            <a:noAutofit/>
          </a:bodyPr>
          <a:lstStyle/>
          <a:p>
            <a:pPr algn="l">
              <a:lnSpc>
                <a:spcPts val="1518"/>
              </a:lnSpc>
              <a:spcBef>
                <a:spcPts val="0"/>
              </a:spcBef>
              <a:spcAft>
                <a:spcPts val="0"/>
              </a:spcAft>
            </a:pPr>
            <a:r>
              <a:rPr sz="1100" b="0" i="0">
                <a:solidFill>
                  <a:srgbClr val="1C2433"/>
                </a:solidFill>
                <a:latin typeface="Fraunces SemiBold"/>
                <a:ea typeface="Fraunces SemiBold"/>
                <a:cs typeface="Fraunces SemiBold"/>
              </a:rPr>
              <a:t>Qapítulo</a:t>
            </a:r>
          </a:p>
        </p:txBody>
      </p:sp>
      <p:sp>
        <p:nvSpPr>
          <p:cNvPr id="29" name="TextBox 28"/>
          <p:cNvSpPr txBox="1"/>
          <p:nvPr/>
        </p:nvSpPr>
        <p:spPr>
          <a:xfrm>
            <a:off x="1308646" y="6517184"/>
            <a:ext cx="1661136" cy="152400"/>
          </a:xfrm>
          <a:prstGeom prst="rect">
            <a:avLst/>
          </a:prstGeom>
          <a:noFill/>
        </p:spPr>
        <p:txBody>
          <a:bodyPr wrap="none" lIns="0" tIns="0" rIns="0" bIns="0" anchor="t">
            <a:noAutofit/>
          </a:bodyPr>
          <a:lstStyle/>
          <a:p>
            <a:pPr algn="l">
              <a:lnSpc>
                <a:spcPts val="1316"/>
              </a:lnSpc>
              <a:spcBef>
                <a:spcPts val="0"/>
              </a:spcBef>
              <a:spcAft>
                <a:spcPts val="0"/>
              </a:spcAft>
            </a:pPr>
            <a:r>
              <a:rPr sz="1000" b="0" i="0">
                <a:solidFill>
                  <a:srgbClr val="7D7869"/>
                </a:solidFill>
                <a:latin typeface="Inter"/>
                <a:ea typeface="Inter"/>
                <a:cs typeface="Inter"/>
              </a:rPr>
              <a:t>· una iniciativa de Qaracter</a:t>
            </a:r>
          </a:p>
        </p:txBody>
      </p:sp>
      <p:sp>
        <p:nvSpPr>
          <p:cNvPr id="30" name="TextBox 29"/>
          <p:cNvSpPr txBox="1"/>
          <p:nvPr/>
        </p:nvSpPr>
        <p:spPr>
          <a:xfrm>
            <a:off x="5183841" y="6517184"/>
            <a:ext cx="3752386" cy="152400"/>
          </a:xfrm>
          <a:prstGeom prst="rect">
            <a:avLst/>
          </a:prstGeom>
          <a:noFill/>
        </p:spPr>
        <p:txBody>
          <a:bodyPr wrap="none" lIns="0" tIns="0" rIns="0" bIns="0" anchor="t">
            <a:noAutofit/>
          </a:bodyPr>
          <a:lstStyle/>
          <a:p>
            <a:pPr algn="ctr">
              <a:lnSpc>
                <a:spcPts val="1316"/>
              </a:lnSpc>
              <a:spcBef>
                <a:spcPts val="0"/>
              </a:spcBef>
              <a:spcAft>
                <a:spcPts val="0"/>
              </a:spcAft>
            </a:pPr>
            <a:r>
              <a:rPr sz="1000" b="0" i="0">
                <a:solidFill>
                  <a:srgbClr val="7D7869"/>
                </a:solidFill>
                <a:latin typeface="Inter"/>
                <a:ea typeface="Inter"/>
                <a:cs typeface="Inter"/>
              </a:rPr>
              <a:t>Novela Relicario · Propuesta técnico-comercial para Relicario</a:t>
            </a:r>
          </a:p>
        </p:txBody>
      </p:sp>
      <p:sp>
        <p:nvSpPr>
          <p:cNvPr id="31" name="TextBox 30"/>
          <p:cNvSpPr txBox="1"/>
          <p:nvPr/>
        </p:nvSpPr>
        <p:spPr>
          <a:xfrm>
            <a:off x="11250811" y="6510784"/>
            <a:ext cx="620697" cy="171450"/>
          </a:xfrm>
          <a:prstGeom prst="rect">
            <a:avLst/>
          </a:prstGeom>
          <a:noFill/>
        </p:spPr>
        <p:txBody>
          <a:bodyPr wrap="none" lIns="0" tIns="0" rIns="0" bIns="0" anchor="t">
            <a:noAutofit/>
          </a:bodyPr>
          <a:lstStyle/>
          <a:p>
            <a:pPr algn="l">
              <a:lnSpc>
                <a:spcPts val="1417"/>
              </a:lnSpc>
              <a:spcBef>
                <a:spcPts val="0"/>
              </a:spcBef>
              <a:spcAft>
                <a:spcPts val="0"/>
              </a:spcAft>
            </a:pPr>
            <a:r>
              <a:rPr sz="1050" b="0" i="0">
                <a:solidFill>
                  <a:srgbClr val="1C2433"/>
                </a:solidFill>
                <a:latin typeface="JetBrains Mono Medium"/>
                <a:ea typeface="JetBrains Mono Medium"/>
                <a:cs typeface="JetBrains Mono Medium"/>
              </a:rPr>
              <a:t>22 / 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C2433"/>
        </a:solidFill>
        <a:effectLst/>
      </p:bgPr>
    </p:bg>
    <p:spTree>
      <p:nvGrpSpPr>
        <p:cNvPr id="1" name=""/>
        <p:cNvGrpSpPr/>
        <p:nvPr/>
      </p:nvGrpSpPr>
      <p:grpSpPr>
        <a:xfrm>
          <a:off x="0" y="0"/>
          <a:ext cx="0" cy="0"/>
          <a:chOff x="0" y="0"/>
          <a:chExt cx="0" cy="0"/>
        </a:xfrm>
      </p:grpSpPr>
      <p:sp>
        <p:nvSpPr>
          <p:cNvPr id="2" name="Rectangle 1"/>
          <p:cNvSpPr/>
          <p:nvPr/>
        </p:nvSpPr>
        <p:spPr>
          <a:xfrm>
            <a:off x="1428750" y="609600"/>
            <a:ext cx="5143500" cy="5638800"/>
          </a:xfrm>
          <a:prstGeom prst="rect">
            <a:avLst/>
          </a:prstGeom>
          <a:noFill/>
          <a:ln w="9525">
            <a:solidFill>
              <a:srgbClr val="C9A34E"/>
            </a:solidFill>
          </a:ln>
        </p:spPr>
        <p:txBody>
          <a:bodyPr rtlCol="0" anchor="ctr"/>
          <a:lstStyle/>
          <a:p>
            <a:endParaRPr/>
          </a:p>
        </p:txBody>
      </p:sp>
      <p:sp>
        <p:nvSpPr>
          <p:cNvPr id="3" name="Rectangle 2"/>
          <p:cNvSpPr/>
          <p:nvPr/>
        </p:nvSpPr>
        <p:spPr>
          <a:xfrm>
            <a:off x="1552575" y="733425"/>
            <a:ext cx="4895850" cy="5391150"/>
          </a:xfrm>
          <a:prstGeom prst="rect">
            <a:avLst/>
          </a:prstGeom>
          <a:noFill/>
          <a:ln w="9525">
            <a:solidFill>
              <a:srgbClr val="C9A34E"/>
            </a:solidFill>
          </a:ln>
        </p:spPr>
        <p:txBody>
          <a:bodyPr rtlCol="0" anchor="ctr"/>
          <a:lstStyle/>
          <a:p>
            <a:endParaRPr/>
          </a:p>
        </p:txBody>
      </p:sp>
      <p:pic>
        <p:nvPicPr>
          <p:cNvPr id="4" name="Picture 3" descr="r067.png"/>
          <p:cNvPicPr>
            <a:picLocks noChangeAspect="1"/>
          </p:cNvPicPr>
          <p:nvPr/>
        </p:nvPicPr>
        <p:blipFill>
          <a:blip r:embed="rId3"/>
          <a:stretch>
            <a:fillRect/>
          </a:stretch>
        </p:blipFill>
        <p:spPr>
          <a:xfrm>
            <a:off x="2802731" y="1762125"/>
            <a:ext cx="552450" cy="609600"/>
          </a:xfrm>
          <a:prstGeom prst="rect">
            <a:avLst/>
          </a:prstGeom>
        </p:spPr>
      </p:pic>
      <p:sp>
        <p:nvSpPr>
          <p:cNvPr id="5" name="TextBox 4"/>
          <p:cNvSpPr txBox="1"/>
          <p:nvPr/>
        </p:nvSpPr>
        <p:spPr>
          <a:xfrm>
            <a:off x="3454718" y="1819275"/>
            <a:ext cx="1796415" cy="495300"/>
          </a:xfrm>
          <a:prstGeom prst="rect">
            <a:avLst/>
          </a:prstGeom>
          <a:noFill/>
        </p:spPr>
        <p:txBody>
          <a:bodyPr wrap="none" lIns="0" tIns="0" rIns="0" bIns="0" anchor="t">
            <a:noAutofit/>
          </a:bodyPr>
          <a:lstStyle/>
          <a:p>
            <a:pPr algn="ctr">
              <a:lnSpc>
                <a:spcPts val="3600"/>
              </a:lnSpc>
              <a:spcBef>
                <a:spcPts val="0"/>
              </a:spcBef>
              <a:spcAft>
                <a:spcPts val="0"/>
              </a:spcAft>
            </a:pPr>
            <a:r>
              <a:rPr sz="3150" b="0" i="0">
                <a:solidFill>
                  <a:srgbClr val="F5EFE3"/>
                </a:solidFill>
                <a:latin typeface="Fraunces SemiBold"/>
                <a:ea typeface="Fraunces SemiBold"/>
                <a:cs typeface="Fraunces SemiBold"/>
              </a:rPr>
              <a:t>Qapítulo</a:t>
            </a:r>
          </a:p>
        </p:txBody>
      </p:sp>
      <p:sp>
        <p:nvSpPr>
          <p:cNvPr id="6" name="TextBox 5"/>
          <p:cNvSpPr txBox="1"/>
          <p:nvPr/>
        </p:nvSpPr>
        <p:spPr>
          <a:xfrm>
            <a:off x="3087434" y="2447925"/>
            <a:ext cx="1826133" cy="180975"/>
          </a:xfrm>
          <a:prstGeom prst="rect">
            <a:avLst/>
          </a:prstGeom>
          <a:noFill/>
        </p:spPr>
        <p:txBody>
          <a:bodyPr wrap="none" lIns="0" tIns="0" rIns="0" bIns="0" anchor="t">
            <a:noAutofit/>
          </a:bodyPr>
          <a:lstStyle/>
          <a:p>
            <a:pPr algn="ctr">
              <a:lnSpc>
                <a:spcPts val="1500"/>
              </a:lnSpc>
              <a:spcBef>
                <a:spcPts val="0"/>
              </a:spcBef>
              <a:spcAft>
                <a:spcPts val="0"/>
              </a:spcAft>
            </a:pPr>
            <a:r>
              <a:rPr sz="1100" b="0" i="0">
                <a:solidFill>
                  <a:srgbClr val="A5A5A3"/>
                </a:solidFill>
                <a:latin typeface="Inter"/>
                <a:ea typeface="Inter"/>
                <a:cs typeface="Inter"/>
              </a:rPr>
              <a:t>una iniciativa de Qaracter</a:t>
            </a:r>
          </a:p>
        </p:txBody>
      </p:sp>
      <p:sp>
        <p:nvSpPr>
          <p:cNvPr id="7" name="TextBox 6"/>
          <p:cNvSpPr txBox="1"/>
          <p:nvPr/>
        </p:nvSpPr>
        <p:spPr>
          <a:xfrm>
            <a:off x="1801425" y="2962275"/>
            <a:ext cx="4398150" cy="714375"/>
          </a:xfrm>
          <a:prstGeom prst="rect">
            <a:avLst/>
          </a:prstGeom>
          <a:noFill/>
        </p:spPr>
        <p:txBody>
          <a:bodyPr wrap="square" lIns="0" tIns="0" rIns="0" bIns="0" anchor="t">
            <a:noAutofit/>
          </a:bodyPr>
          <a:lstStyle/>
          <a:p>
            <a:pPr algn="ctr">
              <a:lnSpc>
                <a:spcPts val="2850"/>
              </a:lnSpc>
              <a:spcBef>
                <a:spcPts val="0"/>
              </a:spcBef>
              <a:spcAft>
                <a:spcPts val="0"/>
              </a:spcAft>
            </a:pPr>
            <a:r>
              <a:rPr sz="2250" b="0" i="1">
                <a:solidFill>
                  <a:srgbClr val="C9A34E"/>
                </a:solidFill>
                <a:latin typeface="Fraunces Medium"/>
                <a:ea typeface="Fraunces Medium"/>
                <a:cs typeface="Fraunces Medium"/>
              </a:rPr>
              <a:t>«Cada persona merece su capítulo»</a:t>
            </a:r>
          </a:p>
        </p:txBody>
      </p:sp>
      <p:sp>
        <p:nvSpPr>
          <p:cNvPr id="8" name="Rectangle 7"/>
          <p:cNvSpPr/>
          <p:nvPr/>
        </p:nvSpPr>
        <p:spPr>
          <a:xfrm>
            <a:off x="3657600" y="4010025"/>
            <a:ext cx="685800" cy="9525"/>
          </a:xfrm>
          <a:prstGeom prst="rect">
            <a:avLst/>
          </a:prstGeom>
          <a:noFill/>
          <a:ln>
            <a:noFill/>
          </a:ln>
        </p:spPr>
        <p:txBody>
          <a:bodyPr rtlCol="0" anchor="ctr"/>
          <a:lstStyle/>
          <a:p>
            <a:endParaRPr/>
          </a:p>
        </p:txBody>
      </p:sp>
      <p:cxnSp>
        <p:nvCxnSpPr>
          <p:cNvPr id="9" name="Connector 8"/>
          <p:cNvCxnSpPr/>
          <p:nvPr/>
        </p:nvCxnSpPr>
        <p:spPr>
          <a:xfrm>
            <a:off x="3657600" y="4014788"/>
            <a:ext cx="685800" cy="0"/>
          </a:xfrm>
          <a:prstGeom prst="line">
            <a:avLst/>
          </a:prstGeom>
          <a:ln w="9525">
            <a:solidFill>
              <a:srgbClr val="C9A34E"/>
            </a:solidFill>
          </a:ln>
        </p:spPr>
      </p:cxnSp>
      <p:sp>
        <p:nvSpPr>
          <p:cNvPr id="10" name="TextBox 9"/>
          <p:cNvSpPr txBox="1"/>
          <p:nvPr/>
        </p:nvSpPr>
        <p:spPr>
          <a:xfrm>
            <a:off x="1801425" y="4324350"/>
            <a:ext cx="4398150" cy="733425"/>
          </a:xfrm>
          <a:prstGeom prst="rect">
            <a:avLst/>
          </a:prstGeom>
          <a:noFill/>
        </p:spPr>
        <p:txBody>
          <a:bodyPr wrap="square" lIns="0" tIns="0" rIns="0" bIns="0" anchor="t">
            <a:noAutofit/>
          </a:bodyPr>
          <a:lstStyle/>
          <a:p>
            <a:pPr algn="ctr">
              <a:lnSpc>
                <a:spcPts val="2100"/>
              </a:lnSpc>
              <a:spcBef>
                <a:spcPts val="0"/>
              </a:spcBef>
              <a:spcAft>
                <a:spcPts val="0"/>
              </a:spcAft>
            </a:pPr>
            <a:r>
              <a:rPr sz="1300" b="0" i="0">
                <a:solidFill>
                  <a:srgbClr val="CFCCC6"/>
                </a:solidFill>
                <a:latin typeface="Inter"/>
                <a:ea typeface="Inter"/>
                <a:cs typeface="Inter"/>
              </a:rPr>
              <a:t>[TU NOMBRE] · Qapítulo</a:t>
            </a:r>
          </a:p>
          <a:p>
            <a:pPr algn="ctr">
              <a:lnSpc>
                <a:spcPts val="2100"/>
              </a:lnSpc>
              <a:spcBef>
                <a:spcPts val="0"/>
              </a:spcBef>
              <a:spcAft>
                <a:spcPts val="0"/>
              </a:spcAft>
            </a:pPr>
            <a:r>
              <a:rPr sz="1300" b="0" i="0">
                <a:solidFill>
                  <a:srgbClr val="CFCCC6"/>
                </a:solidFill>
                <a:latin typeface="Inter"/>
                <a:ea typeface="Inter"/>
                <a:cs typeface="Inter"/>
              </a:rPr>
              <a:t>[TU EMAIL]</a:t>
            </a:r>
          </a:p>
          <a:p>
            <a:pPr algn="ctr">
              <a:lnSpc>
                <a:spcPts val="2100"/>
              </a:lnSpc>
              <a:spcBef>
                <a:spcPts val="0"/>
              </a:spcBef>
              <a:spcAft>
                <a:spcPts val="0"/>
              </a:spcAft>
            </a:pPr>
            <a:r>
              <a:rPr sz="1200" b="0" i="0">
                <a:solidFill>
                  <a:srgbClr val="F5EFE3"/>
                </a:solidFill>
                <a:latin typeface="JetBrains Mono Medium"/>
                <a:ea typeface="JetBrains Mono Medium"/>
                <a:cs typeface="JetBrains Mono Medium"/>
              </a:rPr>
              <a:t>https://github.com/alberqq/StoryMaker</a:t>
            </a:r>
          </a:p>
        </p:txBody>
      </p:sp>
      <p:pic>
        <p:nvPicPr>
          <p:cNvPr id="11" name="Picture 10" descr="r068.png"/>
          <p:cNvPicPr>
            <a:picLocks noChangeAspect="1"/>
          </p:cNvPicPr>
          <p:nvPr/>
        </p:nvPicPr>
        <p:blipFill>
          <a:blip r:embed="rId4"/>
          <a:stretch>
            <a:fillRect/>
          </a:stretch>
        </p:blipFill>
        <p:spPr>
          <a:xfrm>
            <a:off x="7524750" y="2495550"/>
            <a:ext cx="590550" cy="762000"/>
          </a:xfrm>
          <a:prstGeom prst="rect">
            <a:avLst/>
          </a:prstGeom>
        </p:spPr>
      </p:pic>
      <p:sp>
        <p:nvSpPr>
          <p:cNvPr id="12" name="TextBox 11"/>
          <p:cNvSpPr txBox="1"/>
          <p:nvPr/>
        </p:nvSpPr>
        <p:spPr>
          <a:xfrm>
            <a:off x="8324850" y="2590800"/>
            <a:ext cx="1125593" cy="180975"/>
          </a:xfrm>
          <a:prstGeom prst="rect">
            <a:avLst/>
          </a:prstGeom>
          <a:noFill/>
        </p:spPr>
        <p:txBody>
          <a:bodyPr wrap="none" lIns="0" tIns="0" rIns="0" bIns="0" anchor="t">
            <a:noAutofit/>
          </a:bodyPr>
          <a:lstStyle/>
          <a:p>
            <a:pPr algn="l">
              <a:lnSpc>
                <a:spcPts val="1500"/>
              </a:lnSpc>
              <a:spcBef>
                <a:spcPts val="0"/>
              </a:spcBef>
              <a:spcAft>
                <a:spcPts val="0"/>
              </a:spcAft>
            </a:pPr>
            <a:r>
              <a:rPr sz="1100" b="0" i="0">
                <a:solidFill>
                  <a:srgbClr val="A5A5A3"/>
                </a:solidFill>
                <a:latin typeface="Inter"/>
                <a:ea typeface="Inter"/>
                <a:cs typeface="Inter"/>
              </a:rPr>
              <a:t>Preparado para</a:t>
            </a:r>
          </a:p>
        </p:txBody>
      </p:sp>
      <p:sp>
        <p:nvSpPr>
          <p:cNvPr id="13" name="TextBox 12"/>
          <p:cNvSpPr txBox="1"/>
          <p:nvPr/>
        </p:nvSpPr>
        <p:spPr>
          <a:xfrm>
            <a:off x="8324850" y="2771775"/>
            <a:ext cx="1517809" cy="400050"/>
          </a:xfrm>
          <a:prstGeom prst="rect">
            <a:avLst/>
          </a:prstGeom>
          <a:noFill/>
        </p:spPr>
        <p:txBody>
          <a:bodyPr wrap="none" lIns="0" tIns="0" rIns="0" bIns="0" anchor="t">
            <a:noAutofit/>
          </a:bodyPr>
          <a:lstStyle/>
          <a:p>
            <a:pPr algn="l">
              <a:lnSpc>
                <a:spcPts val="3000"/>
              </a:lnSpc>
              <a:spcBef>
                <a:spcPts val="0"/>
              </a:spcBef>
              <a:spcAft>
                <a:spcPts val="0"/>
              </a:spcAft>
            </a:pPr>
            <a:r>
              <a:rPr sz="2550" b="0" i="0">
                <a:solidFill>
                  <a:srgbClr val="CFCCC6"/>
                </a:solidFill>
                <a:latin typeface="Fraunces SemiBold"/>
                <a:ea typeface="Fraunces SemiBold"/>
                <a:cs typeface="Fraunces SemiBold"/>
              </a:rPr>
              <a:t>Relicario</a:t>
            </a:r>
          </a:p>
        </p:txBody>
      </p:sp>
      <p:sp>
        <p:nvSpPr>
          <p:cNvPr id="14" name="TextBox 13"/>
          <p:cNvSpPr txBox="1"/>
          <p:nvPr/>
        </p:nvSpPr>
        <p:spPr>
          <a:xfrm>
            <a:off x="7524750" y="4962525"/>
            <a:ext cx="3650742" cy="409575"/>
          </a:xfrm>
          <a:prstGeom prst="rect">
            <a:avLst/>
          </a:prstGeom>
          <a:noFill/>
        </p:spPr>
        <p:txBody>
          <a:bodyPr wrap="square" lIns="0" tIns="0" rIns="0" bIns="0" anchor="t">
            <a:noAutofit/>
          </a:bodyPr>
          <a:lstStyle/>
          <a:p>
            <a:pPr algn="l">
              <a:lnSpc>
                <a:spcPts val="1725"/>
              </a:lnSpc>
              <a:spcBef>
                <a:spcPts val="0"/>
              </a:spcBef>
              <a:spcAft>
                <a:spcPts val="0"/>
              </a:spcAft>
            </a:pPr>
            <a:r>
              <a:rPr sz="1200" b="0" i="0">
                <a:solidFill>
                  <a:srgbClr val="CFCCC6"/>
                </a:solidFill>
                <a:latin typeface="Inter"/>
                <a:ea typeface="Inter"/>
                <a:cs typeface="Inter"/>
              </a:rPr>
              <a:t>Gracias. Preguntas técnicas: 5 minutos.</a:t>
            </a:r>
          </a:p>
          <a:p>
            <a:pPr algn="l">
              <a:lnSpc>
                <a:spcPts val="1725"/>
              </a:lnSpc>
              <a:spcBef>
                <a:spcPts val="0"/>
              </a:spcBef>
              <a:spcAft>
                <a:spcPts val="0"/>
              </a:spcAft>
            </a:pPr>
            <a:r>
              <a:rPr sz="1200" b="0" i="0">
                <a:solidFill>
                  <a:srgbClr val="CFCCC6"/>
                </a:solidFill>
                <a:latin typeface="Inter"/>
                <a:ea typeface="Inter"/>
                <a:cs typeface="Inter"/>
              </a:rPr>
              <a:t>Anexos A1–A8, en PDF aparte.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6944</Words>
  <Application>Microsoft Office PowerPoint</Application>
  <PresentationFormat>Widescreen</PresentationFormat>
  <Paragraphs>865</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Inter SemiBold</vt:lpstr>
      <vt:lpstr>Calibri</vt:lpstr>
      <vt:lpstr>Arial</vt:lpstr>
      <vt:lpstr>Fraunces SemiBold</vt:lpstr>
      <vt:lpstr>Fraunces Medium</vt:lpstr>
      <vt:lpstr>Inter Medium</vt:lpstr>
      <vt:lpstr>Inter</vt:lpstr>
      <vt:lpstr>JetBrains Mono</vt:lpstr>
      <vt:lpstr>JetBrains Mono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Novela Relicario · Qapítulo</dc:title>
  <dc:subject/>
  <dc:creator>Qapítulo</dc:creator>
  <cp:keywords/>
  <dc:description>generated using python-pptx</dc:description>
  <cp:lastModifiedBy>Alberto Caldas Camacho</cp:lastModifiedBy>
  <cp:revision>2</cp:revision>
  <dcterms:created xsi:type="dcterms:W3CDTF">2013-01-27T09:14:16Z</dcterms:created>
  <dcterms:modified xsi:type="dcterms:W3CDTF">2026-09-25T06:31:34Z</dcterms:modified>
  <cp:category/>
</cp:coreProperties>
</file>